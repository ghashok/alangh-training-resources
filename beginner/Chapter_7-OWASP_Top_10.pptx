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7" r:id="rId2"/>
    <p:sldId id="28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9" r:id="rId23"/>
    <p:sldId id="278" r:id="rId24"/>
    <p:sldId id="280" r:id="rId25"/>
  </p:sldIdLst>
  <p:sldSz cx="18288000" cy="10287000"/>
  <p:notesSz cx="18288000" cy="10287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7: OWASP Top 10" id="{A434A181-1985-4DB4-8A4F-20D154F3CFB1}">
          <p14:sldIdLst>
            <p14:sldId id="257"/>
          </p14:sldIdLst>
        </p14:section>
        <p14:section name="7.1 Overview and introduction to OWASP" id="{43F43CC7-1D55-48D5-B3C0-31B7FA30E8FA}">
          <p14:sldIdLst>
            <p14:sldId id="281"/>
            <p14:sldId id="258"/>
            <p14:sldId id="259"/>
            <p14:sldId id="260"/>
          </p14:sldIdLst>
        </p14:section>
        <p14:section name="7.2 OWASP Top 10 in detail" id="{C138141C-3728-4395-9423-720D6F220A02}">
          <p14:sldIdLst>
            <p14:sldId id="261"/>
            <p14:sldId id="262"/>
            <p14:sldId id="263"/>
            <p14:sldId id="264"/>
            <p14:sldId id="265"/>
            <p14:sldId id="266"/>
            <p14:sldId id="267"/>
            <p14:sldId id="268"/>
            <p14:sldId id="269"/>
            <p14:sldId id="270"/>
            <p14:sldId id="271"/>
            <p14:sldId id="272"/>
            <p14:sldId id="273"/>
            <p14:sldId id="274"/>
            <p14:sldId id="275"/>
            <p14:sldId id="276"/>
            <p14:sldId id="279"/>
          </p14:sldIdLst>
        </p14:section>
        <p14:section name="7.3 Importance of OWASP in Application Security" id="{B5DC422E-B812-46A3-8007-470F5DF28676}">
          <p14:sldIdLst>
            <p14:sldId id="278"/>
          </p14:sldIdLst>
        </p14:section>
        <p14:section name="Conclusion" id="{61B3174D-31FE-498B-B675-3513DD8540A2}">
          <p14:sldIdLst>
            <p14:sldId id="280"/>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shokmi Pheirim" initials="HP" lastIdx="6" clrIdx="0">
    <p:extLst>
      <p:ext uri="{19B8F6BF-5375-455C-9EA6-DF929625EA0E}">
        <p15:presenceInfo xmlns:p15="http://schemas.microsoft.com/office/powerpoint/2012/main" userId="ff91e0b6b6e63b1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AFDA"/>
    <a:srgbClr val="1E90B4"/>
    <a:srgbClr val="26AFDA"/>
    <a:srgbClr val="3366CC"/>
    <a:srgbClr val="0066FF"/>
    <a:srgbClr val="4F81BD"/>
    <a:srgbClr val="00C4F2"/>
    <a:srgbClr val="00CCFF"/>
    <a:srgbClr val="040910"/>
    <a:srgbClr val="0916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6381" autoAdjust="0"/>
  </p:normalViewPr>
  <p:slideViewPr>
    <p:cSldViewPr>
      <p:cViewPr varScale="1">
        <p:scale>
          <a:sx n="40" d="100"/>
          <a:sy n="40" d="100"/>
        </p:scale>
        <p:origin x="1140"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EB11CB4E-5EC2-44DC-BA54-EDFB9A1CC134}" type="datetimeFigureOut">
              <a:rPr lang="en-IN" smtClean="0"/>
              <a:t>27-03-2026</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FC3CC0DD-EB5B-43F7-942C-2A1D4047D066}" type="slidenum">
              <a:rPr lang="en-IN" smtClean="0"/>
              <a:t>‹#›</a:t>
            </a:fld>
            <a:endParaRPr lang="en-IN"/>
          </a:p>
        </p:txBody>
      </p:sp>
    </p:spTree>
    <p:extLst>
      <p:ext uri="{BB962C8B-B14F-4D97-AF65-F5344CB8AC3E}">
        <p14:creationId xmlns:p14="http://schemas.microsoft.com/office/powerpoint/2010/main" val="2753719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owasp.org/Top10/A06_2021-Vulnerable_and_Outdated_Components/" TargetMode="External"/><Relationship Id="rId3" Type="http://schemas.openxmlformats.org/officeDocument/2006/relationships/hyperlink" Target="https://owasp.org/Top10/A01_2021-Broken_Access_Control/" TargetMode="External"/><Relationship Id="rId7" Type="http://schemas.openxmlformats.org/officeDocument/2006/relationships/hyperlink" Target="https://owasp.org/Top10/A05_2021-Security_Misconfiguration/" TargetMode="External"/><Relationship Id="rId12" Type="http://schemas.openxmlformats.org/officeDocument/2006/relationships/hyperlink" Target="https://owasp.org/Top10/A10_2021-Server-Side_Request_Forgery_%28SSRF%29/"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owasp.org/Top10/A04_2021-Insecure_Design/" TargetMode="External"/><Relationship Id="rId11" Type="http://schemas.openxmlformats.org/officeDocument/2006/relationships/hyperlink" Target="https://owasp.org/Top10/A09_2021-Security_Logging_and_Monitoring_Failures/" TargetMode="External"/><Relationship Id="rId5" Type="http://schemas.openxmlformats.org/officeDocument/2006/relationships/hyperlink" Target="https://owasp.org/Top10/A03_2021-Injection/" TargetMode="External"/><Relationship Id="rId10" Type="http://schemas.openxmlformats.org/officeDocument/2006/relationships/hyperlink" Target="https://owasp.org/Top10/A08_2021-Software_and_Data_Integrity_Failures/" TargetMode="External"/><Relationship Id="rId4" Type="http://schemas.openxmlformats.org/officeDocument/2006/relationships/hyperlink" Target="https://owasp.org/Top10/A02_2021-Cryptographic_Failures/" TargetMode="External"/><Relationship Id="rId9" Type="http://schemas.openxmlformats.org/officeDocument/2006/relationships/hyperlink" Target="https://owasp.org/Top10/A07_2021-Identification_and_Authentication_Failure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bg2"/>
                </a:solidFill>
              </a:rPr>
              <a:t>OWASP stands for the </a:t>
            </a:r>
            <a:r>
              <a:rPr lang="en-US" sz="1200" b="1" dirty="0">
                <a:solidFill>
                  <a:schemeClr val="bg2"/>
                </a:solidFill>
              </a:rPr>
              <a:t>Open Worldwide Application Security Project</a:t>
            </a:r>
            <a:r>
              <a:rPr lang="en-US" sz="1200" dirty="0">
                <a:solidFill>
                  <a:schemeClr val="bg2"/>
                </a:solidFill>
              </a:rPr>
              <a:t>, which is a global non-profit organization focused on improving software security. OWASP which was formerly known as “</a:t>
            </a:r>
            <a:r>
              <a:rPr lang="en-US" sz="1200" b="1" dirty="0">
                <a:solidFill>
                  <a:schemeClr val="bg2"/>
                </a:solidFill>
              </a:rPr>
              <a:t>Open Web Application Security Project”</a:t>
            </a:r>
            <a:r>
              <a:rPr lang="en-US" sz="1200" dirty="0">
                <a:solidFill>
                  <a:schemeClr val="bg2"/>
                </a:solidFill>
              </a:rPr>
              <a:t> is an online community that publishes and provides free and open resources like articles, methodologies, documentation, tools, and technologies covering various domains targeting IoT (Internet Of Things), System’s software and Web application security. </a:t>
            </a:r>
          </a:p>
        </p:txBody>
      </p:sp>
      <p:sp>
        <p:nvSpPr>
          <p:cNvPr id="4" name="Slide Number Placeholder 3"/>
          <p:cNvSpPr>
            <a:spLocks noGrp="1"/>
          </p:cNvSpPr>
          <p:nvPr>
            <p:ph type="sldNum" sz="quarter" idx="5"/>
          </p:nvPr>
        </p:nvSpPr>
        <p:spPr/>
        <p:txBody>
          <a:bodyPr/>
          <a:lstStyle/>
          <a:p>
            <a:fld id="{FC3CC0DD-EB5B-43F7-942C-2A1D4047D066}" type="slidenum">
              <a:rPr lang="en-IN" smtClean="0"/>
              <a:t>1</a:t>
            </a:fld>
            <a:endParaRPr lang="en-IN"/>
          </a:p>
        </p:txBody>
      </p:sp>
    </p:spTree>
    <p:extLst>
      <p:ext uri="{BB962C8B-B14F-4D97-AF65-F5344CB8AC3E}">
        <p14:creationId xmlns:p14="http://schemas.microsoft.com/office/powerpoint/2010/main" val="36131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bg2"/>
                </a:solidFill>
              </a:rPr>
              <a:t>OWASP was started by Mark Curphey on September 9, 2001 and is supported and backed by “</a:t>
            </a:r>
            <a:r>
              <a:rPr lang="en-US" sz="1200" b="1" dirty="0">
                <a:solidFill>
                  <a:schemeClr val="bg2"/>
                </a:solidFill>
              </a:rPr>
              <a:t>OWASP Foundation</a:t>
            </a:r>
            <a:r>
              <a:rPr lang="en-US" sz="1200" dirty="0">
                <a:solidFill>
                  <a:schemeClr val="bg2"/>
                </a:solidFill>
              </a:rPr>
              <a:t>”, a </a:t>
            </a:r>
            <a:r>
              <a:rPr lang="en-US" sz="1200" b="1" u="sng" dirty="0">
                <a:solidFill>
                  <a:schemeClr val="bg2"/>
                </a:solidFill>
              </a:rPr>
              <a:t>501(c)(3) </a:t>
            </a:r>
            <a:r>
              <a:rPr lang="en-US" sz="1200" dirty="0">
                <a:solidFill>
                  <a:schemeClr val="bg2"/>
                </a:solidFill>
              </a:rPr>
              <a:t>– “</a:t>
            </a:r>
            <a:r>
              <a:rPr lang="en-US" sz="1200" i="1" dirty="0">
                <a:solidFill>
                  <a:schemeClr val="bg2"/>
                </a:solidFill>
              </a:rPr>
              <a:t>US Internal Revenue Code that allows for federal tax exemption of non-profit organizations that meet the code's requirements</a:t>
            </a:r>
            <a:r>
              <a:rPr lang="en-US" sz="1200" dirty="0">
                <a:solidFill>
                  <a:schemeClr val="bg2"/>
                </a:solidFill>
              </a:rPr>
              <a:t>” - non-profit organization in the US established in 2004.</a:t>
            </a:r>
          </a:p>
          <a:p>
            <a:endParaRPr lang="en-US" sz="1200" dirty="0">
              <a:solidFill>
                <a:schemeClr val="bg2"/>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2"/>
                </a:solidFill>
              </a:rPr>
              <a:t>The Mission of OWASP is to make the software’s security visible and is dedicated to improving the software security and make it accessible to everyone through awareness, tools, and community collaboration.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sng" dirty="0">
                <a:solidFill>
                  <a:schemeClr val="bg2"/>
                </a:solidFill>
              </a:rPr>
              <a:t>Overview and introduction to OWASP:</a:t>
            </a:r>
          </a:p>
          <a:p>
            <a:endParaRPr lang="en-US" sz="1200" dirty="0">
              <a:solidFill>
                <a:schemeClr val="bg2"/>
              </a:solidFill>
            </a:endParaRPr>
          </a:p>
          <a:p>
            <a:r>
              <a:rPr lang="en-US" sz="1200" dirty="0">
                <a:solidFill>
                  <a:schemeClr val="bg2"/>
                </a:solidFill>
              </a:rPr>
              <a:t>OWASP provides the OWASP Top 10 which is a globally recognized web application security standard which outlines the most critical web application security risks. OWAPS first published the top 10 in the year 2003 and is regularly updated to identify and highlight some of the most critical risks an organization faces.</a:t>
            </a:r>
          </a:p>
          <a:p>
            <a:endParaRPr lang="en-US" sz="1200" dirty="0">
              <a:solidFill>
                <a:schemeClr val="bg2"/>
              </a:solidFill>
            </a:endParaRPr>
          </a:p>
          <a:p>
            <a:r>
              <a:rPr lang="en-US" sz="1200" dirty="0">
                <a:solidFill>
                  <a:schemeClr val="bg2"/>
                </a:solidFill>
              </a:rPr>
              <a:t>The OWASP Top 10 is a collated list of the most critical security risks that web applications faces, as reviewed and validated by various security experts round the globe. This OWASP Top 10 serves as a guideline for organizations in application/software development field, developers, application security team and others who are responsible for ensuring the security of web applications and secure software development to produce a vulnerability and risk free application.</a:t>
            </a:r>
          </a:p>
          <a:p>
            <a:r>
              <a:rPr lang="en-US" sz="1200" dirty="0">
                <a:solidFill>
                  <a:schemeClr val="bg2"/>
                </a:solidFill>
              </a:rPr>
              <a:t>The OWASP Top 10 is a standard awareness document for developers and web application security. It represents a broad consensus about the most critical security risks to web applications. Below are the OWASP top 10 Web Application Security Risks:</a:t>
            </a:r>
          </a:p>
          <a:p>
            <a:endParaRPr lang="en-US" sz="1200" dirty="0">
              <a:solidFill>
                <a:schemeClr val="bg2"/>
              </a:solidFill>
            </a:endParaRPr>
          </a:p>
          <a:p>
            <a:pPr marL="228600" indent="-228600">
              <a:buFont typeface="+mj-lt"/>
              <a:buAutoNum type="arabicPeriod"/>
            </a:pPr>
            <a:r>
              <a:rPr lang="en-US" sz="1200" dirty="0">
                <a:solidFill>
                  <a:schemeClr val="bg2"/>
                </a:solidFill>
              </a:rPr>
              <a:t>A01:2021-Broken Access Control </a:t>
            </a:r>
          </a:p>
          <a:p>
            <a:pPr marL="228600" indent="-228600">
              <a:buFont typeface="+mj-lt"/>
              <a:buAutoNum type="arabicPeriod"/>
            </a:pPr>
            <a:r>
              <a:rPr lang="en-US" sz="1200" dirty="0">
                <a:solidFill>
                  <a:schemeClr val="bg2"/>
                </a:solidFill>
              </a:rPr>
              <a:t>A02:2021-Cryptographic Failures</a:t>
            </a:r>
          </a:p>
          <a:p>
            <a:pPr marL="228600" indent="-228600">
              <a:buFont typeface="+mj-lt"/>
              <a:buAutoNum type="arabicPeriod"/>
            </a:pPr>
            <a:r>
              <a:rPr lang="en-US" sz="1200" dirty="0">
                <a:solidFill>
                  <a:schemeClr val="bg2"/>
                </a:solidFill>
              </a:rPr>
              <a:t>A03:2021-Injection</a:t>
            </a:r>
          </a:p>
          <a:p>
            <a:pPr marL="228600" indent="-228600">
              <a:buFont typeface="+mj-lt"/>
              <a:buAutoNum type="arabicPeriod"/>
            </a:pPr>
            <a:r>
              <a:rPr lang="en-US" sz="1200" dirty="0">
                <a:solidFill>
                  <a:schemeClr val="bg2"/>
                </a:solidFill>
              </a:rPr>
              <a:t>A04:2021-Insecure Design</a:t>
            </a:r>
          </a:p>
          <a:p>
            <a:pPr marL="228600" indent="-228600">
              <a:buFont typeface="+mj-lt"/>
              <a:buAutoNum type="arabicPeriod"/>
            </a:pPr>
            <a:r>
              <a:rPr lang="en-US" sz="1200" dirty="0">
                <a:solidFill>
                  <a:schemeClr val="bg2"/>
                </a:solidFill>
              </a:rPr>
              <a:t>A05:2021-Security Misconfiguration</a:t>
            </a:r>
          </a:p>
          <a:p>
            <a:pPr marL="228600" indent="-228600">
              <a:buFont typeface="+mj-lt"/>
              <a:buAutoNum type="arabicPeriod"/>
            </a:pPr>
            <a:r>
              <a:rPr lang="en-US" sz="1200" dirty="0">
                <a:solidFill>
                  <a:schemeClr val="bg2"/>
                </a:solidFill>
              </a:rPr>
              <a:t>A06:2021-Vulnerable and Outdated Components</a:t>
            </a:r>
          </a:p>
          <a:p>
            <a:pPr marL="228600" indent="-228600">
              <a:buFont typeface="+mj-lt"/>
              <a:buAutoNum type="arabicPeriod"/>
            </a:pPr>
            <a:r>
              <a:rPr lang="en-US" sz="1200" dirty="0">
                <a:solidFill>
                  <a:schemeClr val="bg2"/>
                </a:solidFill>
              </a:rPr>
              <a:t>A07:2021-Identification and Authentication Failures </a:t>
            </a:r>
          </a:p>
          <a:p>
            <a:pPr marL="228600" indent="-228600">
              <a:buFont typeface="+mj-lt"/>
              <a:buAutoNum type="arabicPeriod"/>
            </a:pPr>
            <a:r>
              <a:rPr lang="en-US" sz="1200" dirty="0">
                <a:solidFill>
                  <a:schemeClr val="bg2"/>
                </a:solidFill>
              </a:rPr>
              <a:t>A08:2021-Software and Data Integrity Failures</a:t>
            </a:r>
          </a:p>
          <a:p>
            <a:pPr marL="228600" indent="-228600">
              <a:buFont typeface="+mj-lt"/>
              <a:buAutoNum type="arabicPeriod"/>
            </a:pPr>
            <a:r>
              <a:rPr lang="en-US" sz="1200" dirty="0">
                <a:solidFill>
                  <a:schemeClr val="bg2"/>
                </a:solidFill>
              </a:rPr>
              <a:t>A09:2021-Security Logging and Monitoring Failures </a:t>
            </a:r>
          </a:p>
          <a:p>
            <a:pPr marL="228600" indent="-228600">
              <a:buFont typeface="+mj-lt"/>
              <a:buAutoNum type="arabicPeriod"/>
            </a:pPr>
            <a:r>
              <a:rPr lang="en-US" sz="1200" dirty="0">
                <a:solidFill>
                  <a:schemeClr val="bg2"/>
                </a:solidFill>
              </a:rPr>
              <a:t>A10:2021-Server-Side Request Forgery</a:t>
            </a:r>
          </a:p>
          <a:p>
            <a:endParaRPr lang="en-US" sz="1200" dirty="0">
              <a:solidFill>
                <a:schemeClr val="bg2"/>
              </a:solidFill>
            </a:endParaRPr>
          </a:p>
          <a:p>
            <a:r>
              <a:rPr lang="en-US" sz="1200" dirty="0">
                <a:solidFill>
                  <a:schemeClr val="bg2"/>
                </a:solidFill>
              </a:rPr>
              <a:t>Using the OWASP Top 10 is perhaps the most effective first step in changing the software development culture in an organization to produces more secure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bg2"/>
                </a:solidFill>
              </a:rPr>
              <a:t>The OWASP Top 10 list of web application security threats is derived based on the contribution from security experts around the world which is reviewed and finalized with the consensus from all the contributors and security experts. The top 10 risks are ranked basis on multiple factors including how often each of these top 10 security vulnerability occurs and the severity and magnitude of its potential impact.</a:t>
            </a:r>
          </a:p>
          <a:p>
            <a:endParaRPr lang="en-US" sz="1200" dirty="0">
              <a:solidFill>
                <a:schemeClr val="bg2"/>
              </a:solidFill>
            </a:endParaRPr>
          </a:p>
          <a:p>
            <a:r>
              <a:rPr lang="en-US" sz="1200" dirty="0">
                <a:solidFill>
                  <a:schemeClr val="bg2"/>
                </a:solidFill>
              </a:rPr>
              <a:t>OWASP calculate the average exploit and impact scores following the below methodology to derive the top 10:</a:t>
            </a:r>
          </a:p>
          <a:p>
            <a:endParaRPr lang="en-US" sz="1200" dirty="0">
              <a:solidFill>
                <a:schemeClr val="bg2"/>
              </a:solidFill>
            </a:endParaRPr>
          </a:p>
          <a:p>
            <a:r>
              <a:rPr lang="en-US" sz="1200" dirty="0">
                <a:solidFill>
                  <a:schemeClr val="bg2"/>
                </a:solidFill>
              </a:rPr>
              <a:t>All the CVEs (Common Vulnerabilities and Exposures) are grouped with CVSS (Common Vulnerability Scoring System) scores by CWE (Common Weakness Enumeration) and weighted both exploit and impact scored by the percentage of the population that had CVSSv3 (Common Vulnerability Scoring System Version 3) + the remaining population of CVSSv2 (Common Vulnerability Scoring System Version 2) scores to get an overall average. These averages  are then mapped to the CWEs in the dataset to use as Exploit and (Technical) Impact scoring for the other half of the risk equation.</a:t>
            </a:r>
          </a:p>
          <a:p>
            <a:endParaRPr lang="en-US" sz="1200" dirty="0">
              <a:solidFill>
                <a:schemeClr val="bg2"/>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accent1"/>
                </a:solidFill>
              </a:rPr>
              <a:t>Categorization of OWASP Top 10:</a:t>
            </a:r>
          </a:p>
          <a:p>
            <a:endParaRPr lang="en-US" sz="1200" dirty="0">
              <a:solidFill>
                <a:schemeClr val="bg2"/>
              </a:solidFill>
            </a:endParaRPr>
          </a:p>
          <a:p>
            <a:r>
              <a:rPr lang="en-US" dirty="0"/>
              <a:t>The OWASP Top 10 categorization is based on data from global security experts, real-world vulnerability data, and industry surveys. Risks are ranked by factors such as prevalence, exploitability, detectability, and potential business impact. This collaborative process ensures the list reflects the most critical and widespread web application security threats faced by organizations worldwide.</a:t>
            </a:r>
          </a:p>
          <a:p>
            <a:endParaRPr lang="en-US" sz="1200" dirty="0">
              <a:solidFill>
                <a:schemeClr val="bg2"/>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Vulnerabilities Collection: </a:t>
            </a:r>
            <a:r>
              <a:rPr lang="en-US" b="0" dirty="0"/>
              <a:t>OWASP solicits data from security professionals and organizations about vulnerabilities found in web applications.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dirty="0"/>
              <a:t>Categorization of Vulnerabilities: </a:t>
            </a:r>
            <a:r>
              <a:rPr lang="en-US" sz="1200" b="0" i="0" dirty="0"/>
              <a:t>Submitted vulnerabilities are analyzed and categorized based on its root cause and the impact.</a:t>
            </a:r>
          </a:p>
          <a:p>
            <a:pPr marL="171450" lvl="0" indent="-171450">
              <a:buFont typeface="Arial" panose="020B0604020202020204" pitchFamily="34" charset="0"/>
              <a:buChar char="•"/>
            </a:pPr>
            <a:r>
              <a:rPr lang="en-US" sz="1200" b="1" i="0" dirty="0"/>
              <a:t>Prioritization of Risk: </a:t>
            </a:r>
            <a:r>
              <a:rPr lang="en-US" dirty="0"/>
              <a:t>Risk prioritization based on the vulnerabilities and exploits and lastly selection of the Top 10.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2"/>
                </a:solidFill>
              </a:rPr>
              <a:t>The OWASP Top 10 is reviewed and published every four years which is based on the previous four years data and then compiling the vulnerabilities based on how common they are so that the most common risks can be prevented during the development stage of the application itself to prevent exposure of any sensitive data by the application. In the latest publication of Top 10 2021 t</a:t>
            </a:r>
            <a:r>
              <a:rPr lang="en-US" sz="1200" b="0" i="0" kern="1200" dirty="0">
                <a:solidFill>
                  <a:schemeClr val="tx1"/>
                </a:solidFill>
                <a:effectLst/>
                <a:latin typeface="+mn-lt"/>
                <a:ea typeface="+mn-ea"/>
                <a:cs typeface="+mn-cs"/>
              </a:rPr>
              <a:t>here are three new categories being added, four categories with naming and scoping changes, and some consolidations. Below are the changes overview:</a:t>
            </a:r>
            <a:endParaRPr lang="en-US" sz="1200" b="0" i="0" u="none" strike="noStrike" kern="1200" dirty="0">
              <a:solidFill>
                <a:schemeClr val="tx1"/>
              </a:solidFill>
              <a:effectLst/>
              <a:latin typeface="+mn-lt"/>
              <a:ea typeface="+mn-ea"/>
              <a:cs typeface="+mn-cs"/>
              <a:hlinkClick r:id="rId3"/>
            </a:endParaRPr>
          </a:p>
          <a:p>
            <a:endParaRPr lang="en-US" sz="1200" b="1" i="0" u="none" strike="noStrike" kern="1200" dirty="0">
              <a:solidFill>
                <a:schemeClr val="tx1"/>
              </a:solidFill>
              <a:effectLst/>
              <a:latin typeface="+mn-lt"/>
              <a:ea typeface="+mn-ea"/>
              <a:cs typeface="+mn-cs"/>
              <a:hlinkClick r:id="rId3"/>
            </a:endParaRPr>
          </a:p>
          <a:p>
            <a:r>
              <a:rPr lang="en-US" sz="1200" b="1" i="0" u="none" strike="noStrike" kern="1200" dirty="0">
                <a:solidFill>
                  <a:schemeClr val="tx1"/>
                </a:solidFill>
                <a:effectLst/>
                <a:latin typeface="+mn-lt"/>
                <a:ea typeface="+mn-ea"/>
                <a:cs typeface="+mn-cs"/>
                <a:hlinkClick r:id="rId3"/>
              </a:rPr>
              <a:t>A01:2021-Broken Access Control</a:t>
            </a:r>
            <a:r>
              <a:rPr lang="en-US" sz="1200" b="0" i="0" u="none" strike="noStrike" kern="1200" dirty="0">
                <a:solidFill>
                  <a:schemeClr val="tx1"/>
                </a:solidFill>
                <a:effectLst/>
                <a:latin typeface="+mn-lt"/>
                <a:ea typeface="+mn-ea"/>
                <a:cs typeface="+mn-cs"/>
              </a:rPr>
              <a:t>: This vulnerability have </a:t>
            </a:r>
            <a:r>
              <a:rPr lang="en-US" sz="1200" b="0" i="0" kern="1200" dirty="0">
                <a:solidFill>
                  <a:schemeClr val="tx1"/>
                </a:solidFill>
                <a:effectLst/>
                <a:latin typeface="+mn-lt"/>
                <a:ea typeface="+mn-ea"/>
                <a:cs typeface="+mn-cs"/>
              </a:rPr>
              <a:t>move up from the 5</a:t>
            </a:r>
            <a:r>
              <a:rPr lang="en-US" sz="1200" b="0" i="0" kern="1200" baseline="30000" dirty="0">
                <a:solidFill>
                  <a:schemeClr val="tx1"/>
                </a:solidFill>
                <a:effectLst/>
                <a:latin typeface="+mn-lt"/>
                <a:ea typeface="+mn-ea"/>
                <a:cs typeface="+mn-cs"/>
              </a:rPr>
              <a:t>th</a:t>
            </a:r>
            <a:r>
              <a:rPr lang="en-US" sz="1200" b="0" i="0" kern="1200" dirty="0">
                <a:solidFill>
                  <a:schemeClr val="tx1"/>
                </a:solidFill>
                <a:effectLst/>
                <a:latin typeface="+mn-lt"/>
                <a:ea typeface="+mn-ea"/>
                <a:cs typeface="+mn-cs"/>
              </a:rPr>
              <a:t> to 1</a:t>
            </a:r>
            <a:r>
              <a:rPr lang="en-US" sz="1200" b="0" i="0" kern="1200" baseline="30000" dirty="0">
                <a:solidFill>
                  <a:schemeClr val="tx1"/>
                </a:solidFill>
                <a:effectLst/>
                <a:latin typeface="+mn-lt"/>
                <a:ea typeface="+mn-ea"/>
                <a:cs typeface="+mn-cs"/>
              </a:rPr>
              <a:t>st</a:t>
            </a:r>
            <a:r>
              <a:rPr lang="en-US" sz="1200" b="0" i="0" kern="1200" dirty="0">
                <a:solidFill>
                  <a:schemeClr val="tx1"/>
                </a:solidFill>
                <a:effectLst/>
                <a:latin typeface="+mn-lt"/>
                <a:ea typeface="+mn-ea"/>
                <a:cs typeface="+mn-cs"/>
              </a:rPr>
              <a:t> position, there were about 94% of applications which were tested for some form of broken access control.</a:t>
            </a:r>
          </a:p>
          <a:p>
            <a:r>
              <a:rPr lang="en-US" sz="1200" b="1" i="0" u="none" strike="noStrike" kern="1200" dirty="0">
                <a:solidFill>
                  <a:schemeClr val="tx1"/>
                </a:solidFill>
                <a:effectLst/>
                <a:latin typeface="+mn-lt"/>
                <a:ea typeface="+mn-ea"/>
                <a:cs typeface="+mn-cs"/>
                <a:hlinkClick r:id="rId4"/>
              </a:rPr>
              <a:t>A02:2021-Cryptographic Failures</a:t>
            </a:r>
            <a:r>
              <a:rPr lang="en-US" sz="1200" b="1" i="0" u="none" strike="noStrike"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Shifted up one position to #2, previously known as Sensitive Data Exposure, which was broad symptom rather than a root cause. The renewed focus here is on failures related to cryptography which often leads to sensitive data exposure or system compromise.</a:t>
            </a:r>
          </a:p>
          <a:p>
            <a:r>
              <a:rPr lang="en-US" sz="1200" b="1" i="0" u="none" strike="noStrike" kern="1200" dirty="0">
                <a:solidFill>
                  <a:schemeClr val="tx1"/>
                </a:solidFill>
                <a:effectLst/>
                <a:latin typeface="+mn-lt"/>
                <a:ea typeface="+mn-ea"/>
                <a:cs typeface="+mn-cs"/>
                <a:hlinkClick r:id="rId5"/>
              </a:rPr>
              <a:t>A03:2021-Injection</a:t>
            </a:r>
            <a:r>
              <a:rPr lang="en-US" sz="1200" b="1" i="0" u="none" strike="noStrike"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Moved down to the third position. 94% of the applications were tested for some form of injection, and the 33 CWEs (Common Weakness Enumeration) mapped into this category have the second most occurrences in applications. Cross-site Scripting is now part of this category in this edition.</a:t>
            </a:r>
          </a:p>
          <a:p>
            <a:r>
              <a:rPr lang="en-US" sz="1200" b="1" i="0" u="none" strike="noStrike" kern="1200" dirty="0">
                <a:solidFill>
                  <a:schemeClr val="tx1"/>
                </a:solidFill>
                <a:effectLst/>
                <a:latin typeface="+mn-lt"/>
                <a:ea typeface="+mn-ea"/>
                <a:cs typeface="+mn-cs"/>
                <a:hlinkClick r:id="rId6"/>
              </a:rPr>
              <a:t>A04:2021-Insecure Design</a:t>
            </a:r>
            <a:r>
              <a:rPr lang="en-US" sz="1200" b="1" i="0" u="none" strike="noStrike"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This is a new category introduced in 2021 list, with a focus on risks related to design flaws.</a:t>
            </a:r>
          </a:p>
          <a:p>
            <a:r>
              <a:rPr lang="en-US" sz="1200" b="1" i="0" u="none" strike="noStrike" kern="1200" dirty="0">
                <a:solidFill>
                  <a:schemeClr val="tx1"/>
                </a:solidFill>
                <a:effectLst/>
                <a:latin typeface="+mn-lt"/>
                <a:ea typeface="+mn-ea"/>
                <a:cs typeface="+mn-cs"/>
                <a:hlinkClick r:id="rId7"/>
              </a:rPr>
              <a:t>A05:2021-Security Misconfiguration</a:t>
            </a:r>
            <a:r>
              <a:rPr lang="en-US" sz="1200" b="1" i="0" u="none" strike="noStrike"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Moved up from #6 in the previous edition to 5</a:t>
            </a:r>
            <a:r>
              <a:rPr lang="en-US" sz="1200" b="0" i="0" kern="1200" baseline="30000" dirty="0">
                <a:solidFill>
                  <a:schemeClr val="tx1"/>
                </a:solidFill>
                <a:effectLst/>
                <a:latin typeface="+mn-lt"/>
                <a:ea typeface="+mn-ea"/>
                <a:cs typeface="+mn-cs"/>
              </a:rPr>
              <a:t>th</a:t>
            </a:r>
            <a:r>
              <a:rPr lang="en-US" sz="1200" b="0" i="0" kern="1200" dirty="0">
                <a:solidFill>
                  <a:schemeClr val="tx1"/>
                </a:solidFill>
                <a:effectLst/>
                <a:latin typeface="+mn-lt"/>
                <a:ea typeface="+mn-ea"/>
                <a:cs typeface="+mn-cs"/>
              </a:rPr>
              <a:t> position, 90% of applications were tested for some form of misconfiguration. The former category for XML External Entities (XXE) is now part of this category.</a:t>
            </a:r>
          </a:p>
          <a:p>
            <a:r>
              <a:rPr lang="en-US" sz="1200" b="1" i="0" u="none" strike="noStrike" kern="1200" dirty="0">
                <a:solidFill>
                  <a:schemeClr val="tx1"/>
                </a:solidFill>
                <a:effectLst/>
                <a:latin typeface="+mn-lt"/>
                <a:ea typeface="+mn-ea"/>
                <a:cs typeface="+mn-cs"/>
                <a:hlinkClick r:id="rId8"/>
              </a:rPr>
              <a:t>A06:2021-Vulnerable and Outdated Components</a:t>
            </a:r>
            <a:r>
              <a:rPr lang="en-US" sz="1200" b="1" i="0" u="none" strike="noStrike"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This vulnerability was previously titled “Using Components with Known Vulnerabilities” and moves up from #9 in 2017. It is the only category not to have any Common Vulnerability and Exposures (CVEs) mapped to the included CWEs, so a default exploit and impact weights of 5.0 are factored into their scores.</a:t>
            </a:r>
          </a:p>
          <a:p>
            <a:r>
              <a:rPr lang="en-US" sz="1200" b="1" i="0" u="none" strike="noStrike" kern="1200" dirty="0">
                <a:solidFill>
                  <a:schemeClr val="tx1"/>
                </a:solidFill>
                <a:effectLst/>
                <a:latin typeface="+mn-lt"/>
                <a:ea typeface="+mn-ea"/>
                <a:cs typeface="+mn-cs"/>
                <a:hlinkClick r:id="rId9"/>
              </a:rPr>
              <a:t>A07:2021-Identification and Authentication Failures</a:t>
            </a:r>
            <a:r>
              <a:rPr lang="en-US" sz="1200" b="1" i="0" u="none" strike="noStrike"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This vulnerability was previously listed as “Broken Authentication” and have moved from the 2</a:t>
            </a:r>
            <a:r>
              <a:rPr lang="en-US" sz="1200" b="0" i="0" kern="1200" baseline="30000" dirty="0">
                <a:solidFill>
                  <a:schemeClr val="tx1"/>
                </a:solidFill>
                <a:effectLst/>
                <a:latin typeface="+mn-lt"/>
                <a:ea typeface="+mn-ea"/>
                <a:cs typeface="+mn-cs"/>
              </a:rPr>
              <a:t>nd</a:t>
            </a:r>
            <a:r>
              <a:rPr lang="en-US" sz="1200" b="0" i="0" kern="1200" dirty="0">
                <a:solidFill>
                  <a:schemeClr val="tx1"/>
                </a:solidFill>
                <a:effectLst/>
                <a:latin typeface="+mn-lt"/>
                <a:ea typeface="+mn-ea"/>
                <a:cs typeface="+mn-cs"/>
              </a:rPr>
              <a:t> position included with CWEs that are more related to identification failures. </a:t>
            </a:r>
          </a:p>
          <a:p>
            <a:r>
              <a:rPr lang="en-US" sz="1200" b="1" i="0" u="none" strike="noStrike" kern="1200" dirty="0">
                <a:solidFill>
                  <a:schemeClr val="tx1"/>
                </a:solidFill>
                <a:effectLst/>
                <a:latin typeface="+mn-lt"/>
                <a:ea typeface="+mn-ea"/>
                <a:cs typeface="+mn-cs"/>
                <a:hlinkClick r:id="rId10"/>
              </a:rPr>
              <a:t>A08:2021-Software and Data Integrity Failures</a:t>
            </a:r>
            <a:r>
              <a:rPr lang="en-US" sz="1200" b="1" i="0" u="none" strike="noStrike"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This is a new category in 2021, focusing on making assumptions related to software updates, critical data, and CI/CD pipelines (Continuous Integration/Continuous Delivery or Continuous Deployment) without verifying integrity. </a:t>
            </a:r>
          </a:p>
          <a:p>
            <a:r>
              <a:rPr lang="en-US" sz="1200" b="1" i="0" u="none" strike="noStrike" kern="1200" dirty="0">
                <a:solidFill>
                  <a:schemeClr val="tx1"/>
                </a:solidFill>
                <a:effectLst/>
                <a:latin typeface="+mn-lt"/>
                <a:ea typeface="+mn-ea"/>
                <a:cs typeface="+mn-cs"/>
                <a:hlinkClick r:id="rId11"/>
              </a:rPr>
              <a:t>A09:2021-Security Logging and Monitoring Failures</a:t>
            </a:r>
            <a:r>
              <a:rPr lang="en-US" sz="1200" b="0" i="0" u="none" strike="noStrike" kern="1200" dirty="0">
                <a:solidFill>
                  <a:schemeClr val="tx1"/>
                </a:solidFill>
                <a:effectLst/>
                <a:latin typeface="+mn-lt"/>
                <a:ea typeface="+mn-ea"/>
                <a:cs typeface="+mn-cs"/>
              </a:rPr>
              <a:t>: P</a:t>
            </a:r>
            <a:r>
              <a:rPr lang="en-US" sz="1200" b="0" i="0" kern="1200" dirty="0">
                <a:solidFill>
                  <a:schemeClr val="tx1"/>
                </a:solidFill>
                <a:effectLst/>
                <a:latin typeface="+mn-lt"/>
                <a:ea typeface="+mn-ea"/>
                <a:cs typeface="+mn-cs"/>
              </a:rPr>
              <a:t>reviously listed as “Insufficient Logging &amp; Monitoring” is added from the industry survey (#3), moving up from 10</a:t>
            </a:r>
            <a:r>
              <a:rPr lang="en-US" sz="1200" b="0" i="0" kern="1200" baseline="30000" dirty="0">
                <a:solidFill>
                  <a:schemeClr val="tx1"/>
                </a:solidFill>
                <a:effectLst/>
                <a:latin typeface="+mn-lt"/>
                <a:ea typeface="+mn-ea"/>
                <a:cs typeface="+mn-cs"/>
              </a:rPr>
              <a:t>th</a:t>
            </a:r>
            <a:r>
              <a:rPr lang="en-US" sz="1200" b="0" i="0" kern="1200" dirty="0">
                <a:solidFill>
                  <a:schemeClr val="tx1"/>
                </a:solidFill>
                <a:effectLst/>
                <a:latin typeface="+mn-lt"/>
                <a:ea typeface="+mn-ea"/>
                <a:cs typeface="+mn-cs"/>
              </a:rPr>
              <a:t> position to 9</a:t>
            </a:r>
            <a:r>
              <a:rPr lang="en-US" sz="1200" b="0" i="0" kern="1200" baseline="30000" dirty="0">
                <a:solidFill>
                  <a:schemeClr val="tx1"/>
                </a:solidFill>
                <a:effectLst/>
                <a:latin typeface="+mn-lt"/>
                <a:ea typeface="+mn-ea"/>
                <a:cs typeface="+mn-cs"/>
              </a:rPr>
              <a:t>th</a:t>
            </a:r>
            <a:r>
              <a:rPr lang="en-US" sz="1200" b="0" i="0" kern="1200" dirty="0">
                <a:solidFill>
                  <a:schemeClr val="tx1"/>
                </a:solidFill>
                <a:effectLst/>
                <a:latin typeface="+mn-lt"/>
                <a:ea typeface="+mn-ea"/>
                <a:cs typeface="+mn-cs"/>
              </a:rPr>
              <a:t> in 2021. This category is expanded to include more types of failures, is challenging to test for, and isn’t well represented in the CVE/CVSS (Common Vulnerability Scoring System) data.</a:t>
            </a:r>
          </a:p>
          <a:p>
            <a:r>
              <a:rPr lang="en-US" sz="1200" b="1" i="0" u="none" strike="noStrike" kern="1200" dirty="0">
                <a:solidFill>
                  <a:schemeClr val="tx1"/>
                </a:solidFill>
                <a:effectLst/>
                <a:latin typeface="+mn-lt"/>
                <a:ea typeface="+mn-ea"/>
                <a:cs typeface="+mn-cs"/>
                <a:hlinkClick r:id="rId12"/>
              </a:rPr>
              <a:t>A10:2021-Server-Side Request Forgery</a:t>
            </a:r>
            <a:r>
              <a:rPr lang="en-US" sz="1200" b="1" i="0" u="none" strike="noStrike"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This has been added from the Top 10 community survey (#1). The data shows a relatively low incidence rate with above average testing coverage, along with above-average ratings for Exploit and Impact potential.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chemeClr val="bg2"/>
                </a:solidFill>
              </a:rPr>
              <a:t>OWASP TOP 10 in detail:</a:t>
            </a:r>
          </a:p>
          <a:p>
            <a:endParaRPr lang="en-US" sz="1200" dirty="0">
              <a:solidFill>
                <a:schemeClr val="bg2"/>
              </a:solidFill>
            </a:endParaRPr>
          </a:p>
          <a:p>
            <a:r>
              <a:rPr lang="en-US" sz="1200" dirty="0">
                <a:solidFill>
                  <a:schemeClr val="bg2"/>
                </a:solidFill>
              </a:rPr>
              <a:t>Let us go through each of the OWASP top 10 in detail to understand more about each of the vulnerabilities:</a:t>
            </a:r>
          </a:p>
          <a:p>
            <a:endParaRPr lang="en-US" sz="1200" dirty="0">
              <a:solidFill>
                <a:schemeClr val="bg2"/>
              </a:solidFill>
            </a:endParaRPr>
          </a:p>
          <a:p>
            <a:r>
              <a:rPr lang="en-US" sz="1200" b="1" dirty="0">
                <a:solidFill>
                  <a:schemeClr val="bg2"/>
                </a:solidFill>
              </a:rPr>
              <a:t>A01:2021 Broken access control </a:t>
            </a:r>
            <a:r>
              <a:rPr lang="en-US" sz="1200" dirty="0">
                <a:solidFill>
                  <a:schemeClr val="bg2"/>
                </a:solidFill>
              </a:rPr>
              <a:t>allows attackers to gain access to user accounts and act as users or administrators. Unauthorized users can access or carry out unauthorized or malicious activities such as viewing or modifying others’ data or elevating permissions. Exploiting this vulnerability allows attacker to v</a:t>
            </a:r>
            <a:r>
              <a:rPr lang="en-US" sz="1200" b="0" i="0" kern="1200" dirty="0">
                <a:solidFill>
                  <a:schemeClr val="tx1"/>
                </a:solidFill>
                <a:effectLst/>
                <a:latin typeface="+mn-lt"/>
                <a:ea typeface="+mn-ea"/>
                <a:cs typeface="+mn-cs"/>
              </a:rPr>
              <a:t>iew sensitive data, modify records, delete critical information and even carry out privileged actions (e.g., admin tasks). </a:t>
            </a:r>
            <a:r>
              <a:rPr lang="en-US" dirty="0"/>
              <a:t>This vulnerability occurs when a web application fails to properly enforce user permissions, allowing unauthorized users to access data, functionality, or resources they are not authorized. In simple terms, it means “unauthorized people can access or carry out activities they’re not supposed 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200" dirty="0">
                <a:solidFill>
                  <a:schemeClr val="bg2"/>
                </a:solidFill>
              </a:rPr>
              <a:t>In an example scenario, a vulnerable banking application </a:t>
            </a:r>
            <a:r>
              <a:rPr lang="en-US" dirty="0"/>
              <a:t>allow users to access and view their transaction history by visiting a specific URL or page “</a:t>
            </a:r>
            <a:r>
              <a:rPr lang="en-US" u="sng" dirty="0">
                <a:solidFill>
                  <a:srgbClr val="00B0F0"/>
                </a:solidFill>
              </a:rPr>
              <a:t>https://www.ABCbank.com/</a:t>
            </a:r>
            <a:r>
              <a:rPr lang="en-US" u="sng" dirty="0" err="1">
                <a:solidFill>
                  <a:srgbClr val="00B0F0"/>
                </a:solidFill>
              </a:rPr>
              <a:t>transactions?</a:t>
            </a:r>
            <a:r>
              <a:rPr lang="en-US" b="1" u="sng" dirty="0" err="1">
                <a:solidFill>
                  <a:srgbClr val="00B0F0"/>
                </a:solidFill>
              </a:rPr>
              <a:t>account_id</a:t>
            </a:r>
            <a:r>
              <a:rPr lang="en-US" u="sng" dirty="0">
                <a:solidFill>
                  <a:srgbClr val="00B0F0"/>
                </a:solidFill>
              </a:rPr>
              <a:t>=12345”</a:t>
            </a:r>
            <a:r>
              <a:rPr lang="en-US" u="none" dirty="0">
                <a:solidFill>
                  <a:srgbClr val="00B0F0"/>
                </a:solidFill>
              </a:rPr>
              <a:t>. The vulnerability in the application is that it does not check if the specific  “</a:t>
            </a:r>
            <a:r>
              <a:rPr lang="en-US" b="1" u="sng" dirty="0" err="1">
                <a:solidFill>
                  <a:srgbClr val="00B0F0"/>
                </a:solidFill>
                <a:highlight>
                  <a:srgbClr val="FFFF00"/>
                </a:highlight>
              </a:rPr>
              <a:t>account_id</a:t>
            </a:r>
            <a:r>
              <a:rPr lang="en-US" u="none" dirty="0">
                <a:solidFill>
                  <a:srgbClr val="00B0F0"/>
                </a:solidFill>
              </a:rPr>
              <a:t>” belongs to the logged-in user. An attacker can then exploit this vulnerability by accessing another user account transaction history details by changing the URL to “</a:t>
            </a:r>
            <a:r>
              <a:rPr lang="en-US" u="sng" dirty="0">
                <a:solidFill>
                  <a:srgbClr val="00B0F0"/>
                </a:solidFill>
              </a:rPr>
              <a:t>https://www.ABCbank.com/</a:t>
            </a:r>
            <a:r>
              <a:rPr lang="en-US" u="sng" dirty="0" err="1">
                <a:solidFill>
                  <a:srgbClr val="00B0F0"/>
                </a:solidFill>
              </a:rPr>
              <a:t>transactions?</a:t>
            </a:r>
            <a:r>
              <a:rPr lang="en-US" b="1" u="sng" dirty="0" err="1">
                <a:solidFill>
                  <a:srgbClr val="00B0F0"/>
                </a:solidFill>
              </a:rPr>
              <a:t>account_id</a:t>
            </a:r>
            <a:r>
              <a:rPr lang="en-US" u="sng" dirty="0">
                <a:solidFill>
                  <a:srgbClr val="00B0F0"/>
                </a:solidFill>
              </a:rPr>
              <a:t>=67890</a:t>
            </a:r>
            <a:r>
              <a:rPr lang="en-US" u="none" dirty="0">
                <a:solidFill>
                  <a:srgbClr val="00B0F0"/>
                </a:solidFill>
              </a:rPr>
              <a:t>” where the account ID has been changed.</a:t>
            </a:r>
            <a:endParaRPr lang="en-US" sz="1200" u="none" dirty="0">
              <a:solidFill>
                <a:srgbClr val="00B0F0"/>
              </a:solidFill>
            </a:endParaRPr>
          </a:p>
          <a:p>
            <a:endParaRPr lang="en-US" dirty="0"/>
          </a:p>
          <a:p>
            <a:r>
              <a:rPr lang="en-US" b="1" dirty="0"/>
              <a:t>Common Causes for the vulnerability:</a:t>
            </a:r>
          </a:p>
          <a:p>
            <a:endParaRPr lang="en-US" b="1" dirty="0"/>
          </a:p>
          <a:p>
            <a:pPr marL="228600" indent="-228600">
              <a:buFont typeface="+mj-lt"/>
              <a:buAutoNum type="arabicPeriod"/>
            </a:pPr>
            <a:r>
              <a:rPr lang="en-US" b="1" dirty="0"/>
              <a:t>Lack of role-based access checks</a:t>
            </a:r>
            <a:r>
              <a:rPr lang="en-US" dirty="0"/>
              <a:t> in sensitive areas of the application.</a:t>
            </a:r>
          </a:p>
          <a:p>
            <a:pPr marL="228600" indent="-228600">
              <a:buFont typeface="+mj-lt"/>
              <a:buAutoNum type="arabicPeriod"/>
            </a:pPr>
            <a:r>
              <a:rPr lang="en-US" b="1" dirty="0"/>
              <a:t>Direct object reference</a:t>
            </a:r>
            <a:r>
              <a:rPr lang="en-US" dirty="0"/>
              <a:t> without verifying user rights (e.g., /</a:t>
            </a:r>
            <a:r>
              <a:rPr lang="en-US" dirty="0" err="1"/>
              <a:t>transactions?account_id</a:t>
            </a:r>
            <a:r>
              <a:rPr lang="en-US" dirty="0"/>
              <a:t>=67890 shows data of another user if no ownership check is applied).</a:t>
            </a:r>
          </a:p>
          <a:p>
            <a:pPr marL="228600" indent="-228600">
              <a:buFont typeface="+mj-lt"/>
              <a:buAutoNum type="arabicPeriod"/>
            </a:pPr>
            <a:r>
              <a:rPr lang="en-US" b="1" dirty="0"/>
              <a:t>Failure to enforce server-side checks</a:t>
            </a:r>
            <a:r>
              <a:rPr lang="en-US" dirty="0"/>
              <a:t> and relying only on client-side controls.</a:t>
            </a:r>
          </a:p>
          <a:p>
            <a:pPr marL="228600" indent="-228600">
              <a:buFont typeface="+mj-lt"/>
              <a:buAutoNum type="arabicPeriod"/>
            </a:pPr>
            <a:r>
              <a:rPr lang="en-US" b="1" dirty="0"/>
              <a:t>Misconfigured access control policies</a:t>
            </a:r>
            <a:r>
              <a:rPr lang="en-US" dirty="0"/>
              <a:t> in APIs, cloud storage, or application code.</a:t>
            </a:r>
          </a:p>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Preventing Broken Access Control:</a:t>
            </a:r>
          </a:p>
          <a:p>
            <a:endParaRPr lang="en-US" b="1" dirty="0"/>
          </a:p>
          <a:p>
            <a:pPr marL="228600" indent="-228600">
              <a:buFont typeface="+mj-lt"/>
              <a:buAutoNum type="arabicPeriod"/>
            </a:pPr>
            <a:r>
              <a:rPr lang="en-US" b="1" dirty="0"/>
              <a:t>Implement Role-Based Access Control (RBAC)</a:t>
            </a:r>
            <a:r>
              <a:rPr lang="en-US" dirty="0"/>
              <a:t> or Attribute-Based Access Control (ABAC) for sensitive functions and data. There should be clear defined roles like user, manager &amp; admin.</a:t>
            </a:r>
          </a:p>
          <a:p>
            <a:pPr marL="228600" indent="-228600">
              <a:buFont typeface="+mj-lt"/>
              <a:buAutoNum type="arabicPeriod"/>
            </a:pPr>
            <a:r>
              <a:rPr lang="en-US" b="1" dirty="0"/>
              <a:t>Enforce server-side authorization checks</a:t>
            </a:r>
            <a:r>
              <a:rPr lang="en-US" dirty="0"/>
              <a:t> for every request generated from the application client there should be validation carried out on the server side and never rely on client-side validation alone.</a:t>
            </a:r>
          </a:p>
          <a:p>
            <a:pPr marL="228600" indent="-228600">
              <a:buFont typeface="+mj-lt"/>
              <a:buAutoNum type="arabicPeriod"/>
            </a:pPr>
            <a:r>
              <a:rPr lang="en-US" b="1" dirty="0"/>
              <a:t>Use the principle of least privilege</a:t>
            </a:r>
            <a:r>
              <a:rPr lang="en-US" dirty="0"/>
              <a:t> and provision access to users only the required permissions necessary for their role. </a:t>
            </a:r>
            <a:r>
              <a:rPr lang="en-US" sz="1200" b="0" i="0" kern="1200" dirty="0">
                <a:solidFill>
                  <a:schemeClr val="tx1"/>
                </a:solidFill>
                <a:effectLst/>
                <a:latin typeface="+mn-lt"/>
                <a:ea typeface="+mn-ea"/>
                <a:cs typeface="+mn-cs"/>
              </a:rPr>
              <a:t>Unless explicitly allowed, deny access to any other resources.</a:t>
            </a:r>
            <a:endParaRPr lang="en-US" dirty="0"/>
          </a:p>
          <a:p>
            <a:pPr marL="228600" indent="-228600">
              <a:buFont typeface="+mj-lt"/>
              <a:buAutoNum type="arabicPeriod"/>
            </a:pPr>
            <a:r>
              <a:rPr lang="en-US" b="1" dirty="0"/>
              <a:t>Avoid predictable identifiers</a:t>
            </a:r>
            <a:r>
              <a:rPr lang="en-US" dirty="0"/>
              <a:t> (e.g., sequential IDs) for sensitive resources.</a:t>
            </a:r>
          </a:p>
          <a:p>
            <a:pPr marL="228600" indent="-228600">
              <a:buFont typeface="+mj-lt"/>
              <a:buAutoNum type="arabicPeriod"/>
            </a:pPr>
            <a:r>
              <a:rPr lang="en-US" b="1" dirty="0"/>
              <a:t>Logging and monitoring </a:t>
            </a:r>
            <a:r>
              <a:rPr lang="en-US" dirty="0"/>
              <a:t>to detect and alert malicious activity. Ensure logging’s are enabled to capture and alert suspicious activities like multiple failed login attempts, accessing huge number of records like 100 or 200 within 1 minute, deletion of huge data etc.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200" b="1" dirty="0">
                <a:solidFill>
                  <a:schemeClr val="bg2"/>
                </a:solidFill>
              </a:rPr>
              <a:t>A02:2021</a:t>
            </a:r>
            <a:r>
              <a:rPr lang="en-US" sz="1200" dirty="0">
                <a:solidFill>
                  <a:schemeClr val="bg2"/>
                </a:solidFill>
              </a:rPr>
              <a:t> </a:t>
            </a:r>
            <a:r>
              <a:rPr lang="en-US" sz="1200" b="1" dirty="0">
                <a:solidFill>
                  <a:schemeClr val="bg2"/>
                </a:solidFill>
              </a:rPr>
              <a:t>Cryptographic failures </a:t>
            </a:r>
            <a:r>
              <a:rPr lang="en-US" sz="1200" dirty="0">
                <a:solidFill>
                  <a:schemeClr val="bg2"/>
                </a:solidFill>
              </a:rPr>
              <a:t>happen when important or sensitive data is compromised where it is stored or transmitted due to </a:t>
            </a:r>
            <a:r>
              <a:rPr lang="en-US" dirty="0"/>
              <a:t>encryption not being implemented, incorrectly implemented, outdated, or misconfigured, allowing attackers to read, modify, or steal the data.</a:t>
            </a:r>
            <a:r>
              <a:rPr lang="en-US" sz="1200" dirty="0">
                <a:solidFill>
                  <a:schemeClr val="bg2"/>
                </a:solidFill>
              </a:rPr>
              <a:t>. </a:t>
            </a:r>
            <a:r>
              <a:rPr lang="en-US" dirty="0"/>
              <a:t>Cryptographic Failures (previously known as </a:t>
            </a:r>
            <a:r>
              <a:rPr lang="en-US" i="1" dirty="0"/>
              <a:t>Sensitive Data Exposure</a:t>
            </a:r>
            <a:r>
              <a:rPr lang="en-US" dirty="0"/>
              <a:t> in the 2017 OWASP Top 10) occur when sensitive data is not properly protected in transit, at rest, or during processing. </a:t>
            </a:r>
          </a:p>
          <a:p>
            <a:pPr marL="0" indent="0">
              <a:buFont typeface="+mj-lt"/>
              <a:buNone/>
            </a:pPr>
            <a:endParaRPr lang="en-US" dirty="0"/>
          </a:p>
          <a:p>
            <a:pPr marL="0" indent="0">
              <a:buFont typeface="+mj-lt"/>
              <a:buNone/>
            </a:pPr>
            <a:r>
              <a:rPr lang="en-US" dirty="0"/>
              <a:t>An example of this vulnerability would be an online e-commerce website transmitting login credentials of the users using an HTTP form without TLS encryption, this result in the credentials being sent in plain text over the network. An attacker on the same public Wi-Fi network can use a packet sniffer tool (like Wireshark) to capture the traffic and have access to these plain text credentials leading to account takeover, identity theft, and possible further compromise if credentials are reused in other application where the same credentials is configured by the user.</a:t>
            </a:r>
          </a:p>
          <a:p>
            <a:pPr marL="0" indent="0">
              <a:buFont typeface="+mj-lt"/>
              <a:buNone/>
            </a:pPr>
            <a:endParaRPr lang="en-US" dirty="0"/>
          </a:p>
          <a:p>
            <a:r>
              <a:rPr lang="en-US" b="1" dirty="0"/>
              <a:t>Common Causes for this vulnerability:</a:t>
            </a:r>
          </a:p>
          <a:p>
            <a:endParaRPr lang="en-US" b="1" dirty="0"/>
          </a:p>
          <a:p>
            <a:pPr marL="228600" indent="-228600">
              <a:buFont typeface="+mj-lt"/>
              <a:buAutoNum type="arabicPeriod"/>
            </a:pPr>
            <a:r>
              <a:rPr lang="en-US" b="1" dirty="0"/>
              <a:t>Encryption</a:t>
            </a:r>
            <a:r>
              <a:rPr lang="en-US" dirty="0"/>
              <a:t> </a:t>
            </a:r>
            <a:r>
              <a:rPr lang="en-US" b="1" dirty="0"/>
              <a:t>Not Implemented</a:t>
            </a:r>
            <a:r>
              <a:rPr lang="en-US" dirty="0"/>
              <a:t> for sensitive data storage and transmission (e.g., using HTTP instead of HTTPS).</a:t>
            </a:r>
          </a:p>
          <a:p>
            <a:pPr marL="228600" indent="-228600">
              <a:buFont typeface="+mj-lt"/>
              <a:buAutoNum type="arabicPeriod"/>
            </a:pPr>
            <a:r>
              <a:rPr lang="en-US" b="1" dirty="0"/>
              <a:t>Usage of Weak or outdated algorithms</a:t>
            </a:r>
            <a:r>
              <a:rPr lang="en-US" dirty="0"/>
              <a:t> for example using MD5, SHA-1, RC4.</a:t>
            </a:r>
          </a:p>
          <a:p>
            <a:pPr marL="228600" indent="-228600">
              <a:buFont typeface="+mj-lt"/>
              <a:buAutoNum type="arabicPeriod"/>
            </a:pPr>
            <a:r>
              <a:rPr lang="en-US" b="1" dirty="0"/>
              <a:t>Storing or Hardcoded cryptographic keys or passwords</a:t>
            </a:r>
            <a:r>
              <a:rPr lang="en-US" dirty="0"/>
              <a:t> in the application source code.</a:t>
            </a:r>
          </a:p>
          <a:p>
            <a:pPr marL="228600" indent="-228600">
              <a:buFont typeface="+mj-lt"/>
              <a:buAutoNum type="arabicPeriod"/>
            </a:pPr>
            <a:r>
              <a:rPr lang="en-US" b="1" dirty="0"/>
              <a:t>Improper key management</a:t>
            </a:r>
            <a:r>
              <a:rPr lang="en-US" dirty="0"/>
              <a:t> such as reusing keys or storing them in plain text.</a:t>
            </a:r>
          </a:p>
          <a:p>
            <a:pPr marL="228600" indent="-228600">
              <a:buFont typeface="+mj-lt"/>
              <a:buAutoNum type="arabicPeriod"/>
            </a:pPr>
            <a:r>
              <a:rPr lang="en-US" b="1" dirty="0"/>
              <a:t>Failure to use strong encryption modes</a:t>
            </a:r>
            <a:r>
              <a:rPr lang="en-US" dirty="0"/>
              <a:t> for example ECB (Electronic Codebook) mode instead of CBC (Cipher Block Chaining) or GCM (Galois/Counter Mode).</a:t>
            </a:r>
          </a:p>
          <a:p>
            <a:pPr marL="228600" indent="-228600">
              <a:buFont typeface="+mj-lt"/>
              <a:buAutoNum type="arabicPeriod"/>
            </a:pPr>
            <a:r>
              <a:rPr lang="en-US" b="1" dirty="0"/>
              <a:t>Insecure random number generation</a:t>
            </a:r>
            <a:r>
              <a:rPr lang="en-US" dirty="0"/>
              <a:t> leading to predictable keys by attackers.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Preventing Cryptographic Failures:</a:t>
            </a:r>
          </a:p>
          <a:p>
            <a:endParaRPr lang="en-US" b="1" dirty="0"/>
          </a:p>
          <a:p>
            <a:pPr marL="228600" indent="-228600">
              <a:buFont typeface="+mj-lt"/>
              <a:buAutoNum type="arabicPeriod"/>
            </a:pPr>
            <a:r>
              <a:rPr lang="en-US" b="1" dirty="0"/>
              <a:t>Encrypt all sensitive data</a:t>
            </a:r>
            <a:r>
              <a:rPr lang="en-US" dirty="0"/>
              <a:t> in transit using strong protocols (TLS – Transport Layer Security 1.2 or higher).</a:t>
            </a:r>
          </a:p>
          <a:p>
            <a:pPr marL="228600" indent="-228600">
              <a:buFont typeface="+mj-lt"/>
              <a:buAutoNum type="arabicPeriod"/>
            </a:pPr>
            <a:r>
              <a:rPr lang="en-US" b="1" dirty="0"/>
              <a:t>Encrypt data at rest</a:t>
            </a:r>
            <a:r>
              <a:rPr lang="en-US" dirty="0"/>
              <a:t> with strong algorithms (AES-256 for symmetric encryption, RSA-2048 or ECC for asymmetric).</a:t>
            </a:r>
          </a:p>
          <a:p>
            <a:pPr marL="228600" indent="-228600">
              <a:buFont typeface="+mj-lt"/>
              <a:buAutoNum type="arabicPeriod"/>
            </a:pPr>
            <a:r>
              <a:rPr lang="en-US" b="1" dirty="0"/>
              <a:t>Implement proper key management</a:t>
            </a:r>
            <a:r>
              <a:rPr lang="en-US" dirty="0"/>
              <a:t>, including rotation, secure storage like HSM (Hardware Security Module), and avoiding hardcoded keys.</a:t>
            </a:r>
          </a:p>
          <a:p>
            <a:pPr marL="228600" indent="-228600">
              <a:buFont typeface="+mj-lt"/>
              <a:buAutoNum type="arabicPeriod"/>
            </a:pPr>
            <a:r>
              <a:rPr lang="en-US" b="1" dirty="0"/>
              <a:t>Use proven cryptographic libraries</a:t>
            </a:r>
            <a:r>
              <a:rPr lang="en-US" dirty="0"/>
              <a:t> instead of custom algorithms.</a:t>
            </a:r>
          </a:p>
          <a:p>
            <a:pPr marL="228600" indent="-228600">
              <a:buFont typeface="+mj-lt"/>
              <a:buAutoNum type="arabicPeriod"/>
            </a:pPr>
            <a:r>
              <a:rPr lang="en-US" b="1" dirty="0"/>
              <a:t>Disable outdated cryptographic protocols</a:t>
            </a:r>
            <a:r>
              <a:rPr lang="en-US" dirty="0"/>
              <a:t> such as SSL, TLS 1.0, TLS 1.1 and weak ciphers.</a:t>
            </a:r>
          </a:p>
          <a:p>
            <a:pPr marL="228600" indent="-228600">
              <a:buFont typeface="+mj-lt"/>
              <a:buAutoNum type="arabicPeriod"/>
            </a:pPr>
            <a:r>
              <a:rPr lang="en-US" b="1" dirty="0"/>
              <a:t>Apply secure hashing</a:t>
            </a:r>
            <a:r>
              <a:rPr lang="en-US" dirty="0"/>
              <a:t> with salting for passwords (for example bcrypt, Argon2, PBKDF2 which are password hashing algorithms, used to securely store passwords by transforming them into irreversible hashes.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200" b="1" dirty="0">
                <a:solidFill>
                  <a:schemeClr val="bg2"/>
                </a:solidFill>
              </a:rPr>
              <a:t>A03:2021 Code injection attacks </a:t>
            </a:r>
            <a:r>
              <a:rPr lang="en-US" sz="1200" dirty="0">
                <a:solidFill>
                  <a:schemeClr val="bg2"/>
                </a:solidFill>
              </a:rPr>
              <a:t>happen when invalid data or malicious code or commands in SQL, OS shells, XSS scripts, etc. is sent by an attacker into a web application </a:t>
            </a:r>
            <a:r>
              <a:rPr lang="en-US" dirty="0"/>
              <a:t>as part of a command or query and the </a:t>
            </a:r>
            <a:r>
              <a:rPr lang="en-US" sz="1200" b="0" i="0" kern="1200" dirty="0">
                <a:solidFill>
                  <a:schemeClr val="tx1"/>
                </a:solidFill>
                <a:effectLst/>
                <a:latin typeface="+mn-lt"/>
                <a:ea typeface="+mn-ea"/>
                <a:cs typeface="+mn-cs"/>
              </a:rPr>
              <a:t>data is executed as code due to improper input validation or escaping </a:t>
            </a:r>
            <a:r>
              <a:rPr lang="en-US" sz="1200" dirty="0">
                <a:solidFill>
                  <a:schemeClr val="bg2"/>
                </a:solidFill>
              </a:rPr>
              <a:t>to make the application do something that it’s not supposed to do. </a:t>
            </a:r>
            <a:r>
              <a:rPr lang="en-US" dirty="0"/>
              <a:t>The attacker’s malicious data tricks the interpreter into executing unintended commands, accessing unauthorized data, or altering the application’s behavior</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Among the most dangerous and common vulnerabilities, code injection is a subset where the attacker injects executable code into a vulnerable application, leading to remote code execution (RCE), data theft, or full system compromise.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Unlike command injection (which runs OS commands), code injection executes application-level code (e.g., PHP, Python, JavaScript) in the server’s runtime environment. </a:t>
            </a:r>
            <a:r>
              <a:rPr lang="en-US" dirty="0"/>
              <a:t>It is one of the oldest yet most dangerous vulnerabilities because it can lead to </a:t>
            </a:r>
            <a:r>
              <a:rPr lang="en-US" b="0" dirty="0"/>
              <a:t>full system compromise</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 this example Scenario let us see about how a </a:t>
            </a:r>
            <a:r>
              <a:rPr lang="en-US" b="1" dirty="0"/>
              <a:t>SQL Injection </a:t>
            </a:r>
            <a:r>
              <a:rPr lang="en-US" b="0" dirty="0"/>
              <a:t>is carried out.</a:t>
            </a:r>
          </a:p>
          <a:p>
            <a:endParaRPr lang="en-US" b="1" dirty="0"/>
          </a:p>
          <a:p>
            <a:r>
              <a:rPr lang="en-US" dirty="0"/>
              <a:t>There is website with a login page that takes username and password from a login form and uses them in an SQL query like this:</a:t>
            </a:r>
          </a:p>
          <a:p>
            <a:endParaRPr lang="en-US" dirty="0"/>
          </a:p>
          <a:p>
            <a:pPr algn="ctr" rtl="0"/>
            <a:r>
              <a:rPr lang="en-US" b="1" i="1" dirty="0"/>
              <a:t>SELECT * FROM users WHERE username = ' " + </a:t>
            </a:r>
            <a:r>
              <a:rPr lang="en-US" b="1" i="1" dirty="0" err="1"/>
              <a:t>userInput</a:t>
            </a:r>
            <a:r>
              <a:rPr lang="en-US" b="1" i="1" dirty="0"/>
              <a:t> + " ' AND password = ' " + </a:t>
            </a:r>
            <a:r>
              <a:rPr lang="en-US" b="1" i="1" dirty="0" err="1"/>
              <a:t>passInput</a:t>
            </a:r>
            <a:r>
              <a:rPr lang="en-US" b="1" i="1" dirty="0"/>
              <a:t> + " ‘;</a:t>
            </a:r>
            <a:r>
              <a:rPr lang="en-US" dirty="0"/>
              <a:t> </a:t>
            </a:r>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carrying out the attack an attacker enters the following in the </a:t>
            </a:r>
            <a:r>
              <a:rPr lang="en-US" b="1" dirty="0"/>
              <a:t>username</a:t>
            </a:r>
            <a:r>
              <a:rPr lang="en-US" dirty="0"/>
              <a:t> field leaving the password field blank.</a:t>
            </a:r>
          </a:p>
          <a:p>
            <a:endParaRPr lang="en-US" dirty="0"/>
          </a:p>
          <a:p>
            <a:pPr algn="ctr" rtl="0"/>
            <a:r>
              <a:rPr lang="en-US" b="1" i="1" dirty="0"/>
              <a:t>admin' -- </a:t>
            </a:r>
          </a:p>
          <a:p>
            <a:r>
              <a:rPr lang="en-US" dirty="0"/>
              <a:t>Now the query input becomes:</a:t>
            </a:r>
          </a:p>
          <a:p>
            <a:endParaRPr lang="en-US" dirty="0"/>
          </a:p>
          <a:p>
            <a:pPr algn="ctr" rtl="0"/>
            <a:r>
              <a:rPr lang="en-US" b="1" i="1" dirty="0"/>
              <a:t>SELECT * FROM users WHERE username = 'admin' -- ' AND password = ‘’; </a:t>
            </a:r>
          </a:p>
          <a:p>
            <a:endParaRPr lang="en-US" dirty="0"/>
          </a:p>
          <a:p>
            <a:r>
              <a:rPr lang="en-US" dirty="0"/>
              <a:t>The </a:t>
            </a:r>
            <a:r>
              <a:rPr lang="en-US" b="1" dirty="0">
                <a:highlight>
                  <a:srgbClr val="FFFF00"/>
                </a:highlight>
              </a:rPr>
              <a:t>--</a:t>
            </a:r>
            <a:r>
              <a:rPr lang="en-US" dirty="0"/>
              <a:t> makes the remaining query as a comment and effectively bypass the password check and the attacker logs in as admin without credentials.</a:t>
            </a:r>
          </a:p>
          <a:p>
            <a:endParaRPr lang="en-US" dirty="0"/>
          </a:p>
          <a:p>
            <a:r>
              <a:rPr lang="en-US" b="1" dirty="0"/>
              <a:t>Common Causes for this vulnerability:</a:t>
            </a:r>
          </a:p>
          <a:p>
            <a:endParaRPr lang="en-US" b="1" dirty="0"/>
          </a:p>
          <a:p>
            <a:pPr marL="228600" indent="-228600">
              <a:buFont typeface="+mj-lt"/>
              <a:buAutoNum type="arabicPeriod"/>
            </a:pPr>
            <a:r>
              <a:rPr lang="en-US" b="1" dirty="0"/>
              <a:t>Unvalidated or un-sanitized user input</a:t>
            </a:r>
            <a:r>
              <a:rPr lang="en-US" dirty="0"/>
              <a:t> directly used in queries.</a:t>
            </a:r>
          </a:p>
          <a:p>
            <a:pPr marL="228600" indent="-228600">
              <a:buFont typeface="+mj-lt"/>
              <a:buAutoNum type="arabicPeriod"/>
            </a:pPr>
            <a:r>
              <a:rPr lang="en-US" b="1" dirty="0"/>
              <a:t>String concatenation</a:t>
            </a:r>
            <a:r>
              <a:rPr lang="en-US" dirty="0"/>
              <a:t> when building commands or queries.</a:t>
            </a:r>
          </a:p>
          <a:p>
            <a:pPr marL="228600" indent="-228600">
              <a:buFont typeface="+mj-lt"/>
              <a:buAutoNum type="arabicPeriod"/>
            </a:pPr>
            <a:r>
              <a:rPr lang="en-US" b="1" dirty="0"/>
              <a:t>Failure to use parameterized queries or prepared statements</a:t>
            </a:r>
            <a:r>
              <a:rPr lang="en-US" dirty="0"/>
              <a:t>.</a:t>
            </a:r>
          </a:p>
          <a:p>
            <a:pPr marL="228600" indent="-228600">
              <a:buFont typeface="+mj-lt"/>
              <a:buAutoNum type="arabicPeriod"/>
            </a:pPr>
            <a:r>
              <a:rPr lang="en-US" b="1" dirty="0"/>
              <a:t>Insufficient input validation</a:t>
            </a:r>
            <a:r>
              <a:rPr lang="en-US" dirty="0"/>
              <a:t> (e.g., missing whitelist checks).</a:t>
            </a:r>
          </a:p>
          <a:p>
            <a:pPr marL="228600" indent="-228600">
              <a:buFont typeface="+mj-lt"/>
              <a:buAutoNum type="arabicPeriod"/>
            </a:pPr>
            <a:r>
              <a:rPr lang="en-US" b="1" dirty="0"/>
              <a:t>Poor error handling</a:t>
            </a:r>
            <a:r>
              <a:rPr lang="en-US" dirty="0"/>
              <a:t> that reveals query details to attackers.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Prevention of Injection Attacks:</a:t>
            </a:r>
          </a:p>
          <a:p>
            <a:endParaRPr lang="en-US" b="1" dirty="0"/>
          </a:p>
          <a:p>
            <a:r>
              <a:rPr lang="en-US" b="0" dirty="0"/>
              <a:t>Below are some of the practices to be followed by developers to prevent such injection attacks:</a:t>
            </a:r>
          </a:p>
          <a:p>
            <a:endParaRPr lang="en-US" b="1" dirty="0"/>
          </a:p>
          <a:p>
            <a:pPr marL="228600" indent="-228600">
              <a:buFont typeface="+mj-lt"/>
              <a:buAutoNum type="arabicPeriod"/>
            </a:pPr>
            <a:r>
              <a:rPr lang="en-US" b="1" dirty="0"/>
              <a:t>Using parameterized queries / prepared statements</a:t>
            </a:r>
            <a:r>
              <a:rPr lang="en-US" dirty="0"/>
              <a:t> for example ? placeholders in SQL.</a:t>
            </a:r>
          </a:p>
          <a:p>
            <a:pPr marL="228600" indent="-228600">
              <a:buFont typeface="+mj-lt"/>
              <a:buAutoNum type="arabicPeriod"/>
            </a:pPr>
            <a:r>
              <a:rPr lang="en-US" b="1" dirty="0"/>
              <a:t>Apply input validation</a:t>
            </a:r>
            <a:r>
              <a:rPr lang="en-US" dirty="0"/>
              <a:t> and whitelisting the expected input patterns.</a:t>
            </a:r>
          </a:p>
          <a:p>
            <a:pPr marL="228600" indent="-228600">
              <a:buFont typeface="+mj-lt"/>
              <a:buAutoNum type="arabicPeriod"/>
            </a:pPr>
            <a:r>
              <a:rPr lang="en-US" b="1" dirty="0"/>
              <a:t>Escape user-supplied data</a:t>
            </a:r>
            <a:r>
              <a:rPr lang="en-US" dirty="0"/>
              <a:t> in queries if parameterization is not possible.</a:t>
            </a:r>
          </a:p>
          <a:p>
            <a:pPr marL="228600" indent="-228600">
              <a:buFont typeface="+mj-lt"/>
              <a:buAutoNum type="arabicPeriod"/>
            </a:pPr>
            <a:r>
              <a:rPr lang="en-US" b="1" dirty="0"/>
              <a:t>Use ORM </a:t>
            </a:r>
            <a:r>
              <a:rPr lang="en-US" sz="1200" b="0" i="0" kern="1200" dirty="0">
                <a:solidFill>
                  <a:schemeClr val="tx1"/>
                </a:solidFill>
                <a:effectLst/>
                <a:latin typeface="+mn-lt"/>
                <a:ea typeface="+mn-ea"/>
                <a:cs typeface="+mn-cs"/>
              </a:rPr>
              <a:t>(Object-Relational Mapping) </a:t>
            </a:r>
            <a:r>
              <a:rPr lang="en-US" b="1" dirty="0"/>
              <a:t>frameworks</a:t>
            </a:r>
            <a:r>
              <a:rPr lang="en-US" dirty="0"/>
              <a:t> that automatically handle parameter binding. </a:t>
            </a:r>
            <a:r>
              <a:rPr lang="en-US" sz="1200" b="0" i="0" kern="1200" dirty="0">
                <a:solidFill>
                  <a:schemeClr val="tx1"/>
                </a:solidFill>
                <a:effectLst/>
                <a:latin typeface="+mn-lt"/>
                <a:ea typeface="+mn-ea"/>
                <a:cs typeface="+mn-cs"/>
              </a:rPr>
              <a:t>ORM is a programming technique that maps data between a relational database (like MySQL, PostgreSQL) and objects in an object-oriented programming language (like Python, Java, C#, JavaScript).</a:t>
            </a:r>
            <a:endParaRPr lang="en-US" dirty="0"/>
          </a:p>
          <a:p>
            <a:pPr marL="228600" indent="-228600">
              <a:buFont typeface="+mj-lt"/>
              <a:buAutoNum type="arabicPeriod"/>
            </a:pPr>
            <a:r>
              <a:rPr lang="en-US" b="1" dirty="0"/>
              <a:t>Limit database privileges</a:t>
            </a:r>
            <a:r>
              <a:rPr lang="en-US" dirty="0"/>
              <a:t> for application accounts and ensure only required services are provided the access to the application service account.</a:t>
            </a:r>
          </a:p>
          <a:p>
            <a:pPr marL="228600" indent="-228600">
              <a:buFont typeface="+mj-lt"/>
              <a:buAutoNum type="arabicPeriod"/>
            </a:pPr>
            <a:r>
              <a:rPr lang="en-US" b="1" dirty="0"/>
              <a:t>Disable detailed error messages</a:t>
            </a:r>
            <a:r>
              <a:rPr lang="en-US" dirty="0"/>
              <a:t> in production as it can </a:t>
            </a:r>
            <a:r>
              <a:rPr lang="en-US" sz="1200" b="0" i="0" kern="1200" dirty="0">
                <a:solidFill>
                  <a:schemeClr val="tx1"/>
                </a:solidFill>
                <a:effectLst/>
                <a:latin typeface="+mn-lt"/>
                <a:ea typeface="+mn-ea"/>
                <a:cs typeface="+mn-cs"/>
              </a:rPr>
              <a:t>expose sensitive information to attackers.</a:t>
            </a:r>
            <a:endParaRPr lang="en-US" dirty="0"/>
          </a:p>
          <a:p>
            <a:pPr marL="228600" indent="-228600">
              <a:buFont typeface="+mj-lt"/>
              <a:buAutoNum type="arabicPeriod"/>
            </a:pPr>
            <a:r>
              <a:rPr lang="en-US" b="1" dirty="0"/>
              <a:t>Regularly scan and test</a:t>
            </a:r>
            <a:r>
              <a:rPr lang="en-US" dirty="0"/>
              <a:t> for injection vulnerabilities using security tools, there should be periodic vulnerability assessment and penetration testing (VAPT) carried out to check for any vulnerability in the application.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200" b="1" dirty="0">
                <a:solidFill>
                  <a:schemeClr val="bg2"/>
                </a:solidFill>
              </a:rPr>
              <a:t>A04:2021 Insecure design</a:t>
            </a:r>
            <a:r>
              <a:rPr lang="en-US" sz="1200" dirty="0">
                <a:solidFill>
                  <a:schemeClr val="bg2"/>
                </a:solidFill>
              </a:rPr>
              <a:t> flaws occur when an application is developed around processes that are not secure, such as an app with inadequate authentication processes or a website that’s not designed to prevent bots like captcha missing or MFA (Multi Factor Authentication). I</a:t>
            </a:r>
            <a:r>
              <a:rPr lang="en-US" dirty="0"/>
              <a:t>nsecure design issues arise due to </a:t>
            </a:r>
            <a:r>
              <a:rPr lang="en-US" b="0" dirty="0"/>
              <a:t>failure in considering security at the planning and designing stage </a:t>
            </a:r>
            <a:r>
              <a:rPr lang="en-US" dirty="0"/>
              <a:t>of the software development lifecycle (SDLC), this is a </a:t>
            </a:r>
            <a:r>
              <a:rPr lang="en-US" b="0" dirty="0"/>
              <a:t>security weakness that arises from flawed application architecture, logic, or workflows </a:t>
            </a:r>
            <a:r>
              <a:rPr lang="en-US" dirty="0"/>
              <a:t>rather than implementation mistakes or vulnerabilities in the code.</a:t>
            </a:r>
          </a:p>
          <a:p>
            <a:pPr marL="0" indent="0">
              <a:buFont typeface="+mj-lt"/>
              <a:buNone/>
            </a:pPr>
            <a:endParaRPr lang="en-US" dirty="0"/>
          </a:p>
          <a:p>
            <a:pPr marL="0" indent="0">
              <a:buFont typeface="+mj-lt"/>
              <a:buNone/>
            </a:pPr>
            <a:r>
              <a:rPr lang="en-US" dirty="0"/>
              <a:t>Let us take an example of a vulnerable application with insecure design like an online store that offers an option to users for requesting refunds by simply providing an order number without checking to verify if the order belongs to the logged-in user or in another scenario consider another vulnerable website application such as an online ticket booking platform that allows ticket cancellations and refunds without even having user login for verification.</a:t>
            </a:r>
          </a:p>
          <a:p>
            <a:pPr marL="0" indent="0">
              <a:buFont typeface="+mj-lt"/>
              <a:buNone/>
            </a:pPr>
            <a:endParaRPr lang="en-US" dirty="0"/>
          </a:p>
          <a:p>
            <a:r>
              <a:rPr lang="en-US" b="1" dirty="0"/>
              <a:t>Preventing Insecure Design vulnerability:</a:t>
            </a:r>
          </a:p>
          <a:p>
            <a:endParaRPr lang="en-US" b="1" dirty="0"/>
          </a:p>
          <a:p>
            <a:pPr marL="228600" indent="-228600">
              <a:buFont typeface="+mj-lt"/>
              <a:buAutoNum type="arabicPeriod"/>
            </a:pPr>
            <a:r>
              <a:rPr lang="en-US" b="1" dirty="0"/>
              <a:t>Integrate security into the design phase</a:t>
            </a:r>
            <a:r>
              <a:rPr lang="en-US" dirty="0"/>
              <a:t> of SDLC (Software Development Life Cycle).</a:t>
            </a:r>
          </a:p>
          <a:p>
            <a:pPr marL="228600" indent="-228600">
              <a:buFont typeface="+mj-lt"/>
              <a:buAutoNum type="arabicPeriod"/>
            </a:pPr>
            <a:r>
              <a:rPr lang="en-US" dirty="0"/>
              <a:t>Ensure a proper </a:t>
            </a:r>
            <a:r>
              <a:rPr lang="en-US" b="1" dirty="0"/>
              <a:t>threat modeling</a:t>
            </a:r>
            <a:r>
              <a:rPr lang="en-US" dirty="0"/>
              <a:t> is carried out before the actual coding begins.</a:t>
            </a:r>
          </a:p>
          <a:p>
            <a:pPr marL="228600" indent="-228600">
              <a:buFont typeface="+mj-lt"/>
              <a:buAutoNum type="arabicPeriod"/>
            </a:pPr>
            <a:r>
              <a:rPr lang="en-US" dirty="0"/>
              <a:t>Use </a:t>
            </a:r>
            <a:r>
              <a:rPr lang="en-US" b="1" dirty="0"/>
              <a:t>secure design patterns</a:t>
            </a:r>
            <a:r>
              <a:rPr lang="en-US" dirty="0"/>
              <a:t> and </a:t>
            </a:r>
            <a:r>
              <a:rPr lang="en-US" b="1" dirty="0"/>
              <a:t>architectural best practices</a:t>
            </a:r>
            <a:r>
              <a:rPr lang="en-US" dirty="0"/>
              <a:t>.</a:t>
            </a:r>
          </a:p>
          <a:p>
            <a:pPr marL="228600" indent="-228600">
              <a:buFont typeface="+mj-lt"/>
              <a:buAutoNum type="arabicPeriod"/>
            </a:pPr>
            <a:r>
              <a:rPr lang="en-US" dirty="0"/>
              <a:t>Include </a:t>
            </a:r>
            <a:r>
              <a:rPr lang="en-US" b="1" dirty="0"/>
              <a:t>business logic abuse prevention</a:t>
            </a:r>
            <a:r>
              <a:rPr lang="en-US" dirty="0"/>
              <a:t> in the requirements.</a:t>
            </a:r>
          </a:p>
          <a:p>
            <a:pPr marL="228600" indent="-228600">
              <a:buFont typeface="+mj-lt"/>
              <a:buAutoNum type="arabicPeriod"/>
            </a:pPr>
            <a:r>
              <a:rPr lang="en-US" dirty="0"/>
              <a:t>Ensure to have an </a:t>
            </a:r>
            <a:r>
              <a:rPr lang="en-US" b="1" dirty="0"/>
              <a:t>authorization checks</a:t>
            </a:r>
            <a:r>
              <a:rPr lang="en-US" dirty="0"/>
              <a:t> and validation for every sensitive workflow.</a:t>
            </a:r>
          </a:p>
          <a:p>
            <a:pPr marL="228600" indent="-228600">
              <a:buFont typeface="+mj-lt"/>
              <a:buAutoNum type="arabicPeriod"/>
            </a:pPr>
            <a:r>
              <a:rPr lang="en-US" dirty="0"/>
              <a:t>Carry out in-depth </a:t>
            </a:r>
            <a:r>
              <a:rPr lang="en-US" b="1" dirty="0"/>
              <a:t>design reviews</a:t>
            </a:r>
            <a:r>
              <a:rPr lang="en-US" dirty="0"/>
              <a:t> involving security architects.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200" b="1" dirty="0">
                <a:solidFill>
                  <a:schemeClr val="bg2"/>
                </a:solidFill>
              </a:rPr>
              <a:t>A05:2021 Security misconfiguration</a:t>
            </a:r>
            <a:r>
              <a:rPr lang="en-US" sz="1200" dirty="0">
                <a:solidFill>
                  <a:schemeClr val="bg2"/>
                </a:solidFill>
              </a:rPr>
              <a:t> includes improper configuring of service permissions, Usage of default credentials or installing features that aren’t required, verbose error messages, unsafe configurations etc.. The most common, yet preventable, security failure. </a:t>
            </a:r>
            <a:r>
              <a:rPr lang="en-US" dirty="0"/>
              <a:t>It’s one of the most </a:t>
            </a:r>
            <a:r>
              <a:rPr lang="en-US" b="1" dirty="0"/>
              <a:t>common causes of security breaches</a:t>
            </a:r>
            <a:r>
              <a:rPr lang="en-US" dirty="0"/>
              <a:t>, often due to </a:t>
            </a:r>
            <a:r>
              <a:rPr lang="en-US" b="1" dirty="0"/>
              <a:t>default settings</a:t>
            </a:r>
            <a:r>
              <a:rPr lang="en-US" dirty="0"/>
              <a:t>, </a:t>
            </a:r>
            <a:r>
              <a:rPr lang="en-US" b="1" dirty="0"/>
              <a:t>unnecessary features</a:t>
            </a:r>
            <a:r>
              <a:rPr lang="en-US" dirty="0"/>
              <a:t>, or </a:t>
            </a:r>
            <a:r>
              <a:rPr lang="en-US" b="1" dirty="0"/>
              <a:t>incomplete configurations </a:t>
            </a:r>
            <a:r>
              <a:rPr lang="en-US" b="0" dirty="0"/>
              <a:t>in the application</a:t>
            </a:r>
            <a:r>
              <a:rPr lang="en-US" dirty="0"/>
              <a:t>. </a:t>
            </a:r>
          </a:p>
          <a:p>
            <a:pPr marL="0" indent="0">
              <a:buFont typeface="+mj-lt"/>
              <a:buNone/>
            </a:pPr>
            <a:endParaRPr lang="en-US" dirty="0"/>
          </a:p>
          <a:p>
            <a:pPr marL="0" indent="0">
              <a:buFont typeface="+mj-lt"/>
              <a:buNone/>
            </a:pPr>
            <a:r>
              <a:rPr lang="en-US" dirty="0"/>
              <a:t>Most of the common causes leading to this vulnerability are:</a:t>
            </a:r>
          </a:p>
          <a:p>
            <a:pPr marL="0" indent="0">
              <a:buFont typeface="+mj-lt"/>
              <a:buNone/>
            </a:pPr>
            <a:endParaRPr lang="en-US" dirty="0"/>
          </a:p>
          <a:p>
            <a:pPr marL="228600" indent="-228600">
              <a:buFont typeface="+mj-lt"/>
              <a:buAutoNum type="arabicPeriod"/>
            </a:pPr>
            <a:r>
              <a:rPr lang="en-US" dirty="0"/>
              <a:t>Using </a:t>
            </a:r>
            <a:r>
              <a:rPr lang="en-US" b="1" dirty="0"/>
              <a:t>default credentials</a:t>
            </a:r>
            <a:r>
              <a:rPr lang="en-US" dirty="0"/>
              <a:t> like user name admin and password as admin.</a:t>
            </a:r>
          </a:p>
          <a:p>
            <a:pPr marL="228600" indent="-228600">
              <a:buFont typeface="+mj-lt"/>
              <a:buAutoNum type="arabicPeriod"/>
            </a:pPr>
            <a:r>
              <a:rPr lang="en-US" dirty="0"/>
              <a:t>Unpatched or outdated software components due to poor patch management.</a:t>
            </a:r>
          </a:p>
          <a:p>
            <a:pPr marL="228600" indent="-228600">
              <a:buFont typeface="+mj-lt"/>
              <a:buAutoNum type="arabicPeriod"/>
            </a:pPr>
            <a:r>
              <a:rPr lang="en-US" b="1" dirty="0"/>
              <a:t>Unnecessary services or ports </a:t>
            </a:r>
            <a:r>
              <a:rPr lang="en-US" b="0" dirty="0"/>
              <a:t>are kept enabled making it an entry point for the attackers</a:t>
            </a:r>
            <a:r>
              <a:rPr lang="en-US" dirty="0"/>
              <a:t>.</a:t>
            </a:r>
          </a:p>
          <a:p>
            <a:pPr marL="228600" indent="-228600">
              <a:buFont typeface="+mj-lt"/>
              <a:buAutoNum type="arabicPeriod"/>
            </a:pPr>
            <a:r>
              <a:rPr lang="en-US" dirty="0"/>
              <a:t>Missing </a:t>
            </a:r>
            <a:r>
              <a:rPr lang="en-US" b="1" dirty="0"/>
              <a:t>security headers</a:t>
            </a:r>
            <a:r>
              <a:rPr lang="en-US" dirty="0"/>
              <a:t> in HTTP responses.</a:t>
            </a:r>
          </a:p>
          <a:p>
            <a:pPr marL="228600" indent="-228600">
              <a:buFont typeface="+mj-lt"/>
              <a:buAutoNum type="arabicPeriod"/>
            </a:pPr>
            <a:r>
              <a:rPr lang="en-US" dirty="0"/>
              <a:t>Providing a detailed error messages revealing system information like IIS or Apache server version.</a:t>
            </a:r>
          </a:p>
          <a:p>
            <a:pPr marL="228600" indent="-228600">
              <a:buFont typeface="+mj-lt"/>
              <a:buAutoNum type="arabicPeriod"/>
            </a:pPr>
            <a:r>
              <a:rPr lang="en-US" dirty="0"/>
              <a:t>Incorrect cloud storage permissions (e.g., public S3 buckets).</a:t>
            </a:r>
          </a:p>
          <a:p>
            <a:pPr marL="0" indent="0">
              <a:buFont typeface="+mj-lt"/>
              <a:buNone/>
            </a:pPr>
            <a:endParaRPr lang="en-US" dirty="0"/>
          </a:p>
          <a:p>
            <a:r>
              <a:rPr lang="en-US" b="1" dirty="0"/>
              <a:t>Preventing Security Misconfiguration vulnerability:</a:t>
            </a:r>
          </a:p>
          <a:p>
            <a:endParaRPr lang="en-US" b="1" dirty="0"/>
          </a:p>
          <a:p>
            <a:pPr marL="228600" indent="-228600">
              <a:buFont typeface="+mj-lt"/>
              <a:buAutoNum type="arabicPeriod"/>
            </a:pPr>
            <a:r>
              <a:rPr lang="en-US" b="0" dirty="0"/>
              <a:t>Ensure to </a:t>
            </a:r>
            <a:r>
              <a:rPr lang="en-US" b="1" dirty="0"/>
              <a:t>disable the default accounts &amp; change default passwords</a:t>
            </a:r>
            <a:r>
              <a:rPr lang="en-US" dirty="0"/>
              <a:t> before production.</a:t>
            </a:r>
          </a:p>
          <a:p>
            <a:pPr marL="228600" indent="-228600">
              <a:buFont typeface="+mj-lt"/>
              <a:buAutoNum type="arabicPeriod"/>
            </a:pPr>
            <a:r>
              <a:rPr lang="en-US" dirty="0"/>
              <a:t>Keep </a:t>
            </a:r>
            <a:r>
              <a:rPr lang="en-US" b="1" dirty="0"/>
              <a:t>software, OS, and components updated</a:t>
            </a:r>
            <a:r>
              <a:rPr lang="en-US" dirty="0"/>
              <a:t> with security patches. Ensure regular patching is carried out.</a:t>
            </a:r>
          </a:p>
          <a:p>
            <a:pPr marL="228600" indent="-228600">
              <a:buFont typeface="+mj-lt"/>
              <a:buAutoNum type="arabicPeriod"/>
            </a:pPr>
            <a:r>
              <a:rPr lang="en-US" dirty="0"/>
              <a:t>Remove or disable </a:t>
            </a:r>
            <a:r>
              <a:rPr lang="en-US" b="1" dirty="0"/>
              <a:t>unnecessary features, ports, and services </a:t>
            </a:r>
            <a:r>
              <a:rPr lang="en-US" b="0" dirty="0"/>
              <a:t>not required by the application to function.</a:t>
            </a:r>
            <a:endParaRPr lang="en-US"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Implement </a:t>
            </a:r>
            <a:r>
              <a:rPr lang="en-US" b="1" dirty="0"/>
              <a:t>security hardening guides</a:t>
            </a:r>
            <a:r>
              <a:rPr lang="en-US" dirty="0"/>
              <a:t> (e.g., CIS Benchmarks). </a:t>
            </a:r>
            <a:r>
              <a:rPr lang="en-US" sz="1200" b="0" i="0" kern="1200" dirty="0">
                <a:solidFill>
                  <a:schemeClr val="tx1"/>
                </a:solidFill>
                <a:effectLst/>
                <a:latin typeface="+mn-lt"/>
                <a:ea typeface="+mn-ea"/>
                <a:cs typeface="+mn-cs"/>
              </a:rPr>
              <a:t>Apply secure settings to Web server (Apache, Nginx), Application server (Tomcat, IIS), Databases, Frameworks (Django, Spring, Laravel), Cloud (AWS S3, Azure Blob Storage).</a:t>
            </a:r>
            <a:endParaRPr lang="en-US" dirty="0"/>
          </a:p>
          <a:p>
            <a:pPr marL="228600" indent="-228600">
              <a:buFont typeface="+mj-lt"/>
              <a:buAutoNum type="arabicPeriod"/>
            </a:pPr>
            <a:r>
              <a:rPr lang="en-US" dirty="0"/>
              <a:t>Configure </a:t>
            </a:r>
            <a:r>
              <a:rPr lang="en-US" b="1" dirty="0"/>
              <a:t>security headers</a:t>
            </a:r>
            <a:r>
              <a:rPr lang="en-US" dirty="0"/>
              <a:t> and error handling by adding in the HTTP responses:</a:t>
            </a:r>
          </a:p>
          <a:p>
            <a:pPr marL="1828800" lvl="4" indent="0" algn="l">
              <a:buFont typeface="+mj-lt"/>
              <a:buNone/>
            </a:pPr>
            <a:r>
              <a:rPr lang="en-US" i="1" dirty="0"/>
              <a:t>Content-Security-Policy: default-</a:t>
            </a:r>
            <a:r>
              <a:rPr lang="en-US" i="1" dirty="0" err="1"/>
              <a:t>src</a:t>
            </a:r>
            <a:r>
              <a:rPr lang="en-US" i="1" dirty="0"/>
              <a:t> 'self'</a:t>
            </a:r>
          </a:p>
          <a:p>
            <a:pPr marL="1828800" lvl="4" indent="0" algn="l">
              <a:buFont typeface="+mj-lt"/>
              <a:buNone/>
            </a:pPr>
            <a:r>
              <a:rPr lang="en-US" i="1" dirty="0"/>
              <a:t>X-Content-Type-Options: </a:t>
            </a:r>
            <a:r>
              <a:rPr lang="en-US" i="1" dirty="0" err="1"/>
              <a:t>nosniff</a:t>
            </a:r>
            <a:endParaRPr lang="en-US" i="1" dirty="0"/>
          </a:p>
          <a:p>
            <a:pPr marL="1828800" lvl="4" indent="0" algn="l">
              <a:buFont typeface="+mj-lt"/>
              <a:buNone/>
            </a:pPr>
            <a:r>
              <a:rPr lang="en-US" i="1" dirty="0"/>
              <a:t>X-Frame-Options: DENY</a:t>
            </a:r>
          </a:p>
          <a:p>
            <a:pPr marL="1828800" lvl="4" indent="0" algn="l">
              <a:buFont typeface="+mj-lt"/>
              <a:buNone/>
            </a:pPr>
            <a:r>
              <a:rPr lang="en-US" i="1" dirty="0"/>
              <a:t>Strict-Transport-Security: max-age=31536000; </a:t>
            </a:r>
            <a:r>
              <a:rPr lang="en-US" i="1" dirty="0" err="1"/>
              <a:t>includeSubDomains</a:t>
            </a:r>
            <a:endParaRPr lang="en-US" i="1" dirty="0"/>
          </a:p>
          <a:p>
            <a:pPr marL="1828800" lvl="4" indent="0" algn="l">
              <a:buFont typeface="+mj-lt"/>
              <a:buNone/>
            </a:pPr>
            <a:r>
              <a:rPr lang="en-US" i="1" dirty="0"/>
              <a:t>X-XSS-Protection: 1; mode=block</a:t>
            </a:r>
          </a:p>
          <a:p>
            <a:pPr marL="228600" indent="-228600">
              <a:buFont typeface="+mj-lt"/>
              <a:buAutoNum type="arabicPeriod"/>
            </a:pPr>
            <a:r>
              <a:rPr lang="en-US" dirty="0"/>
              <a:t>Restrict access to </a:t>
            </a:r>
            <a:r>
              <a:rPr lang="en-US" b="1" dirty="0"/>
              <a:t>admin interfaces</a:t>
            </a:r>
            <a:r>
              <a:rPr lang="en-US" dirty="0"/>
              <a:t> or </a:t>
            </a:r>
            <a:r>
              <a:rPr lang="en-US" b="1" dirty="0"/>
              <a:t>console </a:t>
            </a:r>
            <a:r>
              <a:rPr lang="en-US" dirty="0"/>
              <a:t>using VPN, IP whitelisting, or MFA. It is always recommended to allow access to the admin interfaces and console only from whitelisted IPs and corporate network and not exposed to the public internet.</a:t>
            </a:r>
          </a:p>
          <a:p>
            <a:pPr marL="228600" indent="-228600">
              <a:buFont typeface="+mj-lt"/>
              <a:buAutoNum type="arabicPeriod"/>
            </a:pPr>
            <a:r>
              <a:rPr lang="en-US" dirty="0"/>
              <a:t>Carry out </a:t>
            </a:r>
            <a:r>
              <a:rPr lang="en-US" b="1" dirty="0"/>
              <a:t>regular configuration reviews</a:t>
            </a:r>
            <a:r>
              <a:rPr lang="en-US" dirty="0"/>
              <a:t> and automated scanning.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200" b="1" dirty="0">
                <a:solidFill>
                  <a:schemeClr val="bg2"/>
                </a:solidFill>
              </a:rPr>
              <a:t>A06:2021 Vulnerable and outdated components </a:t>
            </a:r>
            <a:r>
              <a:rPr lang="en-US" sz="1200" dirty="0">
                <a:solidFill>
                  <a:schemeClr val="bg2"/>
                </a:solidFill>
              </a:rPr>
              <a:t>is a vulnerability caused by unsupported or outdated software or internal components and using dependencies, libraries, frameworks or plugins with known security issues. This vulnerability category focuses on the security risks introduced when software components, frameworks, or libraries are outdated, unpatched, or unsupported.</a:t>
            </a:r>
          </a:p>
          <a:p>
            <a:pPr marL="0" indent="0">
              <a:buFont typeface="+mj-lt"/>
              <a:buNone/>
            </a:pPr>
            <a:endParaRPr lang="en-US" sz="1200" dirty="0">
              <a:solidFill>
                <a:schemeClr val="bg2"/>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A real life case about this vulnerability is the 2017 Equifax breach due to misconfiguration and vulnerability in Apache Struts where the root cause was identified to be unpatched and misconfigured Apache Struts web application server. The exploit due to this vulnerability resulted in 147 million individuals getting impacted where Equifax, one of the largest U.S. credit reporting agencies stores massive amount of sensitive consumer data which includes names, addresses, birth dates, Social Security numbers, driver’s license details, and financial histories.</a:t>
            </a:r>
          </a:p>
          <a:p>
            <a:pPr marL="0" indent="0">
              <a:buFont typeface="+mj-lt"/>
              <a:buNone/>
            </a:pPr>
            <a:endParaRPr lang="en-US" dirty="0"/>
          </a:p>
          <a:p>
            <a:r>
              <a:rPr lang="en-US" b="1" dirty="0"/>
              <a:t>Common Causes for this vulnerability:</a:t>
            </a:r>
          </a:p>
          <a:p>
            <a:endParaRPr lang="en-US" b="1" dirty="0"/>
          </a:p>
          <a:p>
            <a:pPr marL="228600" indent="-228600">
              <a:buFont typeface="+mj-lt"/>
              <a:buAutoNum type="arabicPeriod"/>
            </a:pPr>
            <a:r>
              <a:rPr lang="en-US" b="1" dirty="0"/>
              <a:t>Lack of Component Inventory: </a:t>
            </a:r>
            <a:r>
              <a:rPr lang="en-US" dirty="0"/>
              <a:t>Organizations not maintaining and tracking the asset inventory of all third-party and open-source components in use.</a:t>
            </a:r>
          </a:p>
          <a:p>
            <a:pPr marL="228600" indent="-228600">
              <a:buFont typeface="+mj-lt"/>
              <a:buAutoNum type="arabicPeriod"/>
            </a:pPr>
            <a:r>
              <a:rPr lang="en-US" b="1" dirty="0"/>
              <a:t>No Regular Updates: </a:t>
            </a:r>
            <a:r>
              <a:rPr lang="en-US" dirty="0"/>
              <a:t>Systems and libraries are not patched on time, improper patch management and vulnerability management process.</a:t>
            </a:r>
          </a:p>
          <a:p>
            <a:pPr marL="228600" indent="-228600">
              <a:buFont typeface="+mj-lt"/>
              <a:buAutoNum type="arabicPeriod"/>
            </a:pPr>
            <a:r>
              <a:rPr lang="en-US" b="1" dirty="0"/>
              <a:t>Unsupported Software:</a:t>
            </a:r>
            <a:r>
              <a:rPr lang="en-US" dirty="0"/>
              <a:t> Using software beyond its vendor’s end-of-life without required support or patches.</a:t>
            </a:r>
          </a:p>
          <a:p>
            <a:pPr marL="228600" indent="-228600">
              <a:buFont typeface="+mj-lt"/>
              <a:buAutoNum type="arabicPeriod"/>
            </a:pPr>
            <a:r>
              <a:rPr lang="en-US" b="1" dirty="0"/>
              <a:t>Usage of unverified components: </a:t>
            </a:r>
            <a:r>
              <a:rPr lang="en-US" dirty="0"/>
              <a:t>Downloading and using of unverified components from unofficial or untrusted repositories.</a:t>
            </a:r>
          </a:p>
          <a:p>
            <a:pPr marL="0" indent="0">
              <a:buFont typeface="+mj-lt"/>
              <a:buNone/>
            </a:pPr>
            <a:endParaRPr lang="en-US" dirty="0"/>
          </a:p>
          <a:p>
            <a:r>
              <a:rPr lang="en-US" b="1" dirty="0"/>
              <a:t>Preventing this vulnerability:</a:t>
            </a:r>
          </a:p>
          <a:p>
            <a:endParaRPr lang="en-US" b="1" dirty="0"/>
          </a:p>
          <a:p>
            <a:pPr marL="228600" indent="-228600">
              <a:buFont typeface="+mj-lt"/>
              <a:buAutoNum type="arabicPeriod"/>
            </a:pPr>
            <a:r>
              <a:rPr lang="en-US" dirty="0"/>
              <a:t>Maintain an updated asset inventory of all components used in the application.</a:t>
            </a:r>
          </a:p>
          <a:p>
            <a:pPr marL="228600" indent="-228600">
              <a:buFont typeface="+mj-lt"/>
              <a:buAutoNum type="arabicPeriod"/>
            </a:pPr>
            <a:r>
              <a:rPr lang="en-US" dirty="0"/>
              <a:t>Subscribe to vendor security bulletins for regular updates.</a:t>
            </a:r>
          </a:p>
          <a:p>
            <a:pPr marL="228600" indent="-228600">
              <a:buFont typeface="+mj-lt"/>
              <a:buAutoNum type="arabicPeriod"/>
            </a:pPr>
            <a:r>
              <a:rPr lang="en-US" dirty="0"/>
              <a:t>Have a robust patch and vulnerability management and automate patch management and vulnerability scanning.</a:t>
            </a:r>
          </a:p>
          <a:p>
            <a:pPr marL="228600" indent="-228600">
              <a:buFont typeface="+mj-lt"/>
              <a:buAutoNum type="arabicPeriod"/>
            </a:pPr>
            <a:r>
              <a:rPr lang="en-US" dirty="0"/>
              <a:t>Review and remove unused dependencies and features.</a:t>
            </a:r>
          </a:p>
          <a:p>
            <a:pPr marL="228600" indent="-228600">
              <a:buFont typeface="+mj-lt"/>
              <a:buAutoNum type="arabicPeriod"/>
            </a:pPr>
            <a:r>
              <a:rPr lang="en-US" dirty="0"/>
              <a:t>Only use verified and trusted sources for downloads and use of components.</a:t>
            </a:r>
          </a:p>
          <a:p>
            <a:pPr marL="228600" indent="-228600">
              <a:buFont typeface="+mj-lt"/>
              <a:buAutoNum type="arabicPeriod"/>
            </a:pPr>
            <a:r>
              <a:rPr lang="en-US" dirty="0"/>
              <a:t>Deploy a web application firewall (WAF) for example Cloudflare, AWS WAF, </a:t>
            </a:r>
            <a:r>
              <a:rPr lang="en-US" dirty="0" err="1"/>
              <a:t>ModSecurity</a:t>
            </a:r>
            <a:r>
              <a:rPr lang="en-US" dirty="0"/>
              <a:t> to block any exploit attempts.</a:t>
            </a:r>
          </a:p>
          <a:p>
            <a:pPr marL="228600" indent="-228600">
              <a:buFont typeface="+mj-lt"/>
              <a:buAutoNum type="arabicPeriod"/>
            </a:pPr>
            <a:r>
              <a:rPr lang="en-US" dirty="0"/>
              <a:t>Implement Network Segmentation to isolate sensitive databases from public-facing web servers.</a:t>
            </a:r>
          </a:p>
          <a:p>
            <a:pPr marL="228600" indent="-228600">
              <a:buFont typeface="+mj-lt"/>
              <a:buAutoNum type="arabicPeriod"/>
            </a:pPr>
            <a:r>
              <a:rPr lang="en-US" dirty="0"/>
              <a:t>Implement continuous Monitoring &amp; Logging to monitor logs for suspicious activity using SIEM (Security Information and Event Management) tools.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200" b="1" dirty="0">
                <a:solidFill>
                  <a:schemeClr val="bg2"/>
                </a:solidFill>
              </a:rPr>
              <a:t>A07:2021 Identification and authentication failures </a:t>
            </a:r>
            <a:r>
              <a:rPr lang="en-US" sz="1200" dirty="0">
                <a:solidFill>
                  <a:schemeClr val="bg2"/>
                </a:solidFill>
              </a:rPr>
              <a:t>occur when apps can’t properly confirm and verify user identities or establish secure session management like having a weak login mechanism like allowing non-complex passwords with no minimum length, no complexity rules like “</a:t>
            </a:r>
            <a:r>
              <a:rPr lang="en-US" sz="1200" b="1" dirty="0">
                <a:solidFill>
                  <a:schemeClr val="bg2"/>
                </a:solidFill>
              </a:rPr>
              <a:t>123456</a:t>
            </a:r>
            <a:r>
              <a:rPr lang="en-US" sz="1200" dirty="0">
                <a:solidFill>
                  <a:schemeClr val="bg2"/>
                </a:solidFill>
              </a:rPr>
              <a:t>” or “</a:t>
            </a:r>
            <a:r>
              <a:rPr lang="en-US" sz="1200" b="1" dirty="0">
                <a:solidFill>
                  <a:schemeClr val="bg2"/>
                </a:solidFill>
              </a:rPr>
              <a:t>password123</a:t>
            </a:r>
            <a:r>
              <a:rPr lang="en-US" sz="1200" dirty="0">
                <a:solidFill>
                  <a:schemeClr val="bg2"/>
                </a:solidFill>
              </a:rPr>
              <a:t>”, session management like using simple and predictable session ID such as “</a:t>
            </a:r>
            <a:r>
              <a:rPr lang="en-US" sz="1200" b="1" dirty="0">
                <a:solidFill>
                  <a:schemeClr val="bg2"/>
                </a:solidFill>
              </a:rPr>
              <a:t>SESSIONID=10001</a:t>
            </a:r>
            <a:r>
              <a:rPr lang="en-US" sz="1200" dirty="0">
                <a:solidFill>
                  <a:schemeClr val="bg2"/>
                </a:solidFill>
              </a:rPr>
              <a:t>” where attacker can change the session ID to “</a:t>
            </a:r>
            <a:r>
              <a:rPr lang="en-US" sz="1200" b="1" dirty="0">
                <a:solidFill>
                  <a:schemeClr val="bg2"/>
                </a:solidFill>
              </a:rPr>
              <a:t>SESSIONID=10002</a:t>
            </a:r>
            <a:r>
              <a:rPr lang="en-US" sz="1200" dirty="0">
                <a:solidFill>
                  <a:schemeClr val="bg2"/>
                </a:solidFill>
              </a:rPr>
              <a:t>” and access another user’s session, credential handling or missing MFA or captcha etc. </a:t>
            </a:r>
            <a:r>
              <a:rPr lang="en-US" dirty="0"/>
              <a:t>This category refers to flaws in the way applications </a:t>
            </a:r>
            <a:r>
              <a:rPr lang="en-US" b="0" dirty="0"/>
              <a:t>identify users </a:t>
            </a:r>
            <a:r>
              <a:rPr lang="en-US" dirty="0"/>
              <a:t>and </a:t>
            </a:r>
            <a:r>
              <a:rPr lang="en-US" b="0" dirty="0"/>
              <a:t>validate their identities </a:t>
            </a:r>
            <a:r>
              <a:rPr lang="en-US" dirty="0"/>
              <a:t>before granting access to sensitive data or functions within the application.</a:t>
            </a:r>
          </a:p>
          <a:p>
            <a:pPr marL="0" indent="0">
              <a:buFont typeface="+mj-lt"/>
              <a:buNone/>
            </a:pPr>
            <a:endParaRPr lang="en-US" dirty="0"/>
          </a:p>
          <a:p>
            <a:pPr marL="0" indent="0">
              <a:buFont typeface="+mj-lt"/>
              <a:buNone/>
            </a:pPr>
            <a:r>
              <a:rPr lang="en-US" dirty="0"/>
              <a:t>A simple example for this vulnerability would be an application that allows user to login with simple username and password without any additional layer of authentication like captcha or MFA where an attacker uses a credential stuffing attack by testing leaked username and password pairs obtained from another credential breach incident.</a:t>
            </a:r>
          </a:p>
          <a:p>
            <a:pPr marL="0" indent="0">
              <a:buFont typeface="+mj-lt"/>
              <a:buNone/>
            </a:pPr>
            <a:endParaRPr lang="en-US" dirty="0"/>
          </a:p>
          <a:p>
            <a:r>
              <a:rPr lang="en-US" b="1" dirty="0"/>
              <a:t>Common Causes for this vulnerability:</a:t>
            </a:r>
          </a:p>
          <a:p>
            <a:endParaRPr lang="en-US" b="1" dirty="0"/>
          </a:p>
          <a:p>
            <a:pPr marL="228600" indent="-228600">
              <a:buFont typeface="+mj-lt"/>
              <a:buAutoNum type="arabicPeriod"/>
            </a:pPr>
            <a:r>
              <a:rPr lang="en-US" b="1" dirty="0"/>
              <a:t>Lack of stringent or complex Password Policy: </a:t>
            </a:r>
            <a:r>
              <a:rPr lang="en-US" b="0" dirty="0"/>
              <a:t>Weak password policy </a:t>
            </a:r>
            <a:r>
              <a:rPr lang="en-US" dirty="0"/>
              <a:t>that allows user to use short, guessable, or reused passwords.</a:t>
            </a:r>
          </a:p>
          <a:p>
            <a:pPr marL="228600" indent="-228600">
              <a:buFont typeface="+mj-lt"/>
              <a:buAutoNum type="arabicPeriod"/>
            </a:pPr>
            <a:r>
              <a:rPr lang="en-US" b="1" dirty="0"/>
              <a:t>Multi-Factor Authentication (MFA)</a:t>
            </a:r>
            <a:r>
              <a:rPr lang="en-US" dirty="0"/>
              <a:t> </a:t>
            </a:r>
            <a:r>
              <a:rPr lang="en-US" b="1" dirty="0"/>
              <a:t>not implemented: </a:t>
            </a:r>
            <a:r>
              <a:rPr lang="en-US" dirty="0"/>
              <a:t>Application configured with a single-factor authentication and no additional layer of authentication like captcha, one time password (OTP) or code.</a:t>
            </a:r>
          </a:p>
          <a:p>
            <a:pPr marL="228600" indent="-228600">
              <a:buFont typeface="+mj-lt"/>
              <a:buAutoNum type="arabicPeriod"/>
            </a:pPr>
            <a:r>
              <a:rPr lang="en-US" b="1" dirty="0"/>
              <a:t>Unencrypted and exposed Credentials:</a:t>
            </a:r>
            <a:r>
              <a:rPr lang="en-US" dirty="0"/>
              <a:t> Application configured to store passwords in plain text or hardcoded within the code.</a:t>
            </a:r>
          </a:p>
          <a:p>
            <a:pPr marL="228600" indent="-228600">
              <a:buFont typeface="+mj-lt"/>
              <a:buAutoNum type="arabicPeriod"/>
            </a:pPr>
            <a:r>
              <a:rPr lang="en-US" b="1" dirty="0"/>
              <a:t>Insecure Session Management:</a:t>
            </a:r>
            <a:r>
              <a:rPr lang="en-US" dirty="0"/>
              <a:t> Application using the same session IDs after login or using a predictable session IDs.</a:t>
            </a:r>
          </a:p>
          <a:p>
            <a:pPr marL="228600" indent="-228600">
              <a:buFont typeface="+mj-lt"/>
              <a:buAutoNum type="arabicPeriod"/>
            </a:pPr>
            <a:r>
              <a:rPr lang="en-US" b="1" dirty="0"/>
              <a:t>Ineffective Credential Recovery Mechanisms:</a:t>
            </a:r>
            <a:r>
              <a:rPr lang="en-US" dirty="0"/>
              <a:t> Weak password recovery mechanism configured on the "</a:t>
            </a:r>
            <a:r>
              <a:rPr lang="en-US" b="1" dirty="0"/>
              <a:t>Forgot Password</a:t>
            </a:r>
            <a:r>
              <a:rPr lang="en-US" dirty="0"/>
              <a:t>“ or “</a:t>
            </a:r>
            <a:r>
              <a:rPr lang="en-US" b="1" dirty="0"/>
              <a:t>Forgot User ID</a:t>
            </a:r>
            <a:r>
              <a:rPr lang="en-US" dirty="0"/>
              <a:t>’ workflow or token handling.</a:t>
            </a:r>
          </a:p>
          <a:p>
            <a:pPr marL="0" indent="0">
              <a:buFont typeface="+mj-lt"/>
              <a:buNone/>
            </a:pPr>
            <a:endParaRPr lang="en-US" dirty="0"/>
          </a:p>
          <a:p>
            <a:r>
              <a:rPr lang="en-US" b="1" dirty="0"/>
              <a:t>Preventing this Vulnerability:</a:t>
            </a:r>
          </a:p>
          <a:p>
            <a:endParaRPr lang="en-US" b="1" dirty="0"/>
          </a:p>
          <a:p>
            <a:pPr marL="228600" indent="-228600">
              <a:buFont typeface="+mj-lt"/>
              <a:buAutoNum type="arabicPeriod"/>
            </a:pPr>
            <a:r>
              <a:rPr lang="en-US" dirty="0"/>
              <a:t>Enforce strong password policies (length, complexity, reuse policy).</a:t>
            </a:r>
          </a:p>
          <a:p>
            <a:pPr marL="228600" indent="-228600">
              <a:buFont typeface="+mj-lt"/>
              <a:buAutoNum type="arabicPeriod"/>
            </a:pPr>
            <a:r>
              <a:rPr lang="en-US" dirty="0"/>
              <a:t>Implement </a:t>
            </a:r>
            <a:r>
              <a:rPr lang="en-US" b="1" dirty="0"/>
              <a:t>Multi-Factor Authentication (MFA)</a:t>
            </a:r>
            <a:r>
              <a:rPr lang="en-US" dirty="0"/>
              <a:t> and </a:t>
            </a:r>
            <a:r>
              <a:rPr lang="en-US" b="1" dirty="0"/>
              <a:t>Captcha</a:t>
            </a:r>
            <a:r>
              <a:rPr lang="en-US" dirty="0"/>
              <a:t> for login authentication.</a:t>
            </a:r>
          </a:p>
          <a:p>
            <a:pPr marL="228600" indent="-228600">
              <a:buFont typeface="+mj-lt"/>
              <a:buAutoNum type="arabicPeriod"/>
            </a:pPr>
            <a:r>
              <a:rPr lang="en-US" dirty="0"/>
              <a:t>Hash and salt all stored passwords with modern algorithms (e.g., bcrypt). Do not store the password in plain text or hard coded in the source code.</a:t>
            </a:r>
          </a:p>
          <a:p>
            <a:pPr marL="228600" indent="-228600">
              <a:buFont typeface="+mj-lt"/>
              <a:buAutoNum type="arabicPeriod"/>
            </a:pPr>
            <a:r>
              <a:rPr lang="en-US" dirty="0"/>
              <a:t>Use secure session management by rotating the session IDs on login and setting proper timeouts of the used session.</a:t>
            </a:r>
          </a:p>
          <a:p>
            <a:pPr marL="228600" indent="-228600">
              <a:buFont typeface="+mj-lt"/>
              <a:buAutoNum type="arabicPeriod"/>
            </a:pPr>
            <a:r>
              <a:rPr lang="en-US" dirty="0"/>
              <a:t>Regularly validate, test and audit the authentication flows.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200" b="1" dirty="0">
                <a:solidFill>
                  <a:schemeClr val="bg2"/>
                </a:solidFill>
              </a:rPr>
              <a:t>A08:2021 Software and data integrity failures </a:t>
            </a:r>
            <a:r>
              <a:rPr lang="en-US" sz="1200" dirty="0">
                <a:solidFill>
                  <a:schemeClr val="bg2"/>
                </a:solidFill>
              </a:rPr>
              <a:t>happen when an application’s code and infrastructure can’t fully protect software or data integrity. Risks from untrusted software/data like CI/CD (Continuous Integration/Continuous Delivery/Continuous Deployment) pipelines or auto‑ Software and Data Integrity Failures occur when applications, updates, or critical data are not properly protected from being altered by unauthorized entities. This vulnerability category and associated risks focuses on ensuring that the software, code, and data consumed or distributed by an application are trustworthy, verified, and free from tampering.  If the code, dependencies, or configuration files are modified or altered by an attacker before they are executed, they can introduce malicious functionality, backdoors, or data theft mechanisms. </a:t>
            </a:r>
          </a:p>
          <a:p>
            <a:pPr marL="0" indent="0">
              <a:buFont typeface="+mj-lt"/>
              <a:buNone/>
            </a:pPr>
            <a:endParaRPr lang="en-US" dirty="0"/>
          </a:p>
          <a:p>
            <a:pPr marL="0" indent="0">
              <a:buFont typeface="+mj-lt"/>
              <a:buNone/>
            </a:pPr>
            <a:r>
              <a:rPr lang="en-US" dirty="0"/>
              <a:t>A real-World example for this vulnerability is the SolarWinds Supply Chain Attack (2020) where a Russian state-sponsored actor compromised SolarWinds’ software build pipeline and inserted a stealth backdoor (“SUNBURST,” a/k/a “</a:t>
            </a:r>
            <a:r>
              <a:rPr lang="en-US" dirty="0" err="1"/>
              <a:t>Solorigate</a:t>
            </a:r>
            <a:r>
              <a:rPr lang="en-US" dirty="0"/>
              <a:t>”) into digitally signed updates of the widely used Orion IT monitoring platform. Roughly 18,000 customers installed the </a:t>
            </a:r>
            <a:r>
              <a:rPr lang="en-US" dirty="0" err="1"/>
              <a:t>trojanized</a:t>
            </a:r>
            <a:r>
              <a:rPr lang="en-US" dirty="0"/>
              <a:t> Orion updates out of which only a subset were then exploited for intelligence objectives. Victims included U.S. federal agencies and major technology and security firms.</a:t>
            </a:r>
          </a:p>
          <a:p>
            <a:pPr marL="0" indent="0">
              <a:buFont typeface="+mj-lt"/>
              <a:buNone/>
            </a:pPr>
            <a:endParaRPr lang="en-US" dirty="0"/>
          </a:p>
          <a:p>
            <a:r>
              <a:rPr lang="en-US" b="1" dirty="0"/>
              <a:t>Common Causes for this vulnerability:</a:t>
            </a:r>
          </a:p>
          <a:p>
            <a:endParaRPr lang="en-US" b="1" dirty="0"/>
          </a:p>
          <a:p>
            <a:pPr marL="228600" indent="-228600">
              <a:buFont typeface="+mj-lt"/>
              <a:buAutoNum type="arabicPeriod"/>
            </a:pPr>
            <a:r>
              <a:rPr lang="en-US" b="1" dirty="0"/>
              <a:t>Untrusted Software Updates:</a:t>
            </a:r>
            <a:r>
              <a:rPr lang="en-US" dirty="0"/>
              <a:t> Applications automatically downloading or applying updates from unverified sources.</a:t>
            </a:r>
          </a:p>
          <a:p>
            <a:pPr marL="228600" indent="-228600">
              <a:buFont typeface="+mj-lt"/>
              <a:buAutoNum type="arabicPeriod"/>
            </a:pPr>
            <a:r>
              <a:rPr lang="en-US" b="1" dirty="0"/>
              <a:t>Insecure Deserialization:</a:t>
            </a:r>
            <a:r>
              <a:rPr lang="en-US" dirty="0"/>
              <a:t> Using serialized data without integrity checks, allowing tampering.</a:t>
            </a:r>
          </a:p>
          <a:p>
            <a:pPr marL="228600" indent="-228600">
              <a:buFont typeface="+mj-lt"/>
              <a:buAutoNum type="arabicPeriod"/>
            </a:pPr>
            <a:r>
              <a:rPr lang="en-US" b="1" dirty="0"/>
              <a:t>Compromised CI/CD Pipelines:</a:t>
            </a:r>
            <a:r>
              <a:rPr lang="en-US" dirty="0"/>
              <a:t> Build and deployment processes without integrity validation or access control.</a:t>
            </a:r>
          </a:p>
          <a:p>
            <a:pPr marL="228600" indent="-228600">
              <a:buFont typeface="+mj-lt"/>
              <a:buAutoNum type="arabicPeriod"/>
            </a:pPr>
            <a:r>
              <a:rPr lang="en-US" b="1" dirty="0"/>
              <a:t>Using open source packages:</a:t>
            </a:r>
            <a:r>
              <a:rPr lang="en-US" dirty="0"/>
              <a:t> Using publicly available or open-source packages without verifying authenticity.</a:t>
            </a:r>
          </a:p>
          <a:p>
            <a:pPr marL="228600" indent="-228600">
              <a:buFont typeface="+mj-lt"/>
              <a:buAutoNum type="arabicPeriod"/>
            </a:pPr>
            <a:r>
              <a:rPr lang="en-US" b="1" dirty="0"/>
              <a:t>Weak or No Digital Signatures:</a:t>
            </a:r>
            <a:r>
              <a:rPr lang="en-US" dirty="0"/>
              <a:t> Signatures of software packages or updates are not verified and validated.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Preventing this vulnerability:</a:t>
            </a:r>
          </a:p>
          <a:p>
            <a:endParaRPr lang="en-US" b="1" dirty="0"/>
          </a:p>
          <a:p>
            <a:pPr marL="228600" indent="-228600">
              <a:buFont typeface="+mj-lt"/>
              <a:buAutoNum type="arabicPeriod"/>
            </a:pPr>
            <a:r>
              <a:rPr lang="en-US" b="0" dirty="0"/>
              <a:t>Ensure to use Digital Signatures </a:t>
            </a:r>
            <a:r>
              <a:rPr lang="en-US" dirty="0"/>
              <a:t>for software updates and verify them before deployment in production environment.</a:t>
            </a:r>
          </a:p>
          <a:p>
            <a:pPr marL="228600" indent="-228600">
              <a:buFont typeface="+mj-lt"/>
              <a:buAutoNum type="arabicPeriod"/>
            </a:pPr>
            <a:r>
              <a:rPr lang="en-US" b="0" dirty="0"/>
              <a:t>Secure CI/CD Pipelines </a:t>
            </a:r>
            <a:r>
              <a:rPr lang="en-US" dirty="0"/>
              <a:t>with strict access controls, MFA, and monitoring.</a:t>
            </a:r>
          </a:p>
          <a:p>
            <a:pPr marL="228600" indent="-228600">
              <a:buFont typeface="+mj-lt"/>
              <a:buAutoNum type="arabicPeriod"/>
            </a:pPr>
            <a:r>
              <a:rPr lang="en-US" b="0" dirty="0"/>
              <a:t>Ensuring there is a robust software supply-chain governance </a:t>
            </a:r>
            <a:r>
              <a:rPr lang="en-US" dirty="0"/>
              <a:t>using trusted registries and tools like SBOM (Software Bill of Materials) verifying update sources and require vendor disclosure of build security practices, carry out a risk-based intake for management tools that demand broad privileges.</a:t>
            </a:r>
          </a:p>
          <a:p>
            <a:pPr marL="228600" indent="-228600">
              <a:buFont typeface="+mj-lt"/>
              <a:buAutoNum type="arabicPeriod"/>
            </a:pPr>
            <a:r>
              <a:rPr lang="en-US" b="0" dirty="0"/>
              <a:t>Stringent integrity checking </a:t>
            </a:r>
            <a:r>
              <a:rPr lang="en-US" dirty="0"/>
              <a:t>to be carried out for Hash verification for critical data and files.</a:t>
            </a:r>
          </a:p>
          <a:p>
            <a:pPr marL="228600" indent="-228600">
              <a:buFont typeface="+mj-lt"/>
              <a:buAutoNum type="arabicPeriod"/>
            </a:pPr>
            <a:r>
              <a:rPr lang="en-US" b="0" dirty="0"/>
              <a:t>Implement Zero Trust Practices n</a:t>
            </a:r>
            <a:r>
              <a:rPr lang="en-US" dirty="0"/>
              <a:t>ever blindly trusting external or third-party components.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200" b="1" dirty="0">
                <a:solidFill>
                  <a:schemeClr val="bg2"/>
                </a:solidFill>
              </a:rPr>
              <a:t>A09:2021 Security logging and monitoring failures </a:t>
            </a:r>
            <a:r>
              <a:rPr lang="en-US" sz="1200" dirty="0">
                <a:solidFill>
                  <a:schemeClr val="bg2"/>
                </a:solidFill>
              </a:rPr>
              <a:t>are weaknesses in an application’s ability to detect and respond to security risks. Audit logs not configured or enabled, additionally enabled logs are not monitored, alerting failure leading to breaches going undetected and delay in incident response. Lack of logging and monitoring hampers real-time detection, incident response, and for any forensic analysis in the event any security incident or breach happens.</a:t>
            </a:r>
          </a:p>
          <a:p>
            <a:pPr marL="0" indent="0">
              <a:buFont typeface="+mj-lt"/>
              <a:buNone/>
            </a:pPr>
            <a:endParaRPr lang="en-US" sz="1200" dirty="0">
              <a:solidFill>
                <a:schemeClr val="bg2"/>
              </a:solidFill>
            </a:endParaRPr>
          </a:p>
          <a:p>
            <a:r>
              <a:rPr lang="en-US" b="0" dirty="0"/>
              <a:t>Let us now go through a real-world recent example of</a:t>
            </a:r>
            <a:r>
              <a:rPr lang="en-US" b="1" dirty="0"/>
              <a:t> </a:t>
            </a:r>
            <a:r>
              <a:rPr lang="en-US" b="0" dirty="0"/>
              <a:t>U.S. Federal Courts CM/ECF (Case Management/Electronic Case Filing ) Breach that happened in 2025. </a:t>
            </a:r>
            <a:r>
              <a:rPr lang="en-US" dirty="0"/>
              <a:t>A major cybersecurity breach hit the U.S. federal judiciary’s </a:t>
            </a:r>
            <a:r>
              <a:rPr lang="en-US" b="0" dirty="0"/>
              <a:t>CM/ECF </a:t>
            </a:r>
            <a:r>
              <a:rPr lang="en-US" dirty="0"/>
              <a:t>system where the breach was discovered in July 4, 2025 and at least 12 districts were compromised and sealed and sensitive court documents got exposed. The intrusion affected sealed court files causing a potential compromise of identities of confidential informants and witnesses. The CM/ECF breach was identified when IT staff noticed suspicious activity within the judiciary’s electronic case filing infrastructure. Hackers were able to access sealed and highly sensitive documents, including sealed indictments, arrest warrants, grand jury materials, and possibly confidential informant identity files which caused a significant national security risks.</a:t>
            </a:r>
          </a:p>
          <a:p>
            <a:endParaRPr lang="en-US" dirty="0"/>
          </a:p>
          <a:p>
            <a:r>
              <a:rPr lang="en-US" dirty="0"/>
              <a:t>The intrusion exploited long-standing vulnerabilities dating back to an initial breach in 2020, which remained unpatched across decentralized court systems.</a:t>
            </a:r>
          </a:p>
          <a:p>
            <a:endParaRPr lang="en-US" dirty="0"/>
          </a:p>
          <a:p>
            <a:r>
              <a:rPr lang="en-US" b="1" dirty="0"/>
              <a:t>Common cause of this vulnerability exploit:</a:t>
            </a:r>
          </a:p>
          <a:p>
            <a:endParaRPr lang="en-US" dirty="0"/>
          </a:p>
          <a:p>
            <a:pPr marL="228600" indent="-228600">
              <a:buFont typeface="+mj-lt"/>
              <a:buAutoNum type="arabicPeriod"/>
            </a:pPr>
            <a:r>
              <a:rPr lang="en-US" b="1" dirty="0"/>
              <a:t>Missing critical events</a:t>
            </a:r>
            <a:r>
              <a:rPr lang="en-US" dirty="0"/>
              <a:t>: Audit loggings not configured properly, logins, failed logins, and high-value transactions not captured. </a:t>
            </a:r>
          </a:p>
          <a:p>
            <a:pPr marL="228600" indent="-228600">
              <a:buFont typeface="+mj-lt"/>
              <a:buAutoNum type="arabicPeriod"/>
            </a:pPr>
            <a:r>
              <a:rPr lang="en-US" b="1" dirty="0"/>
              <a:t>Poor log quality</a:t>
            </a:r>
            <a:r>
              <a:rPr lang="en-US" dirty="0"/>
              <a:t>: Inadequate, unclear, or unstructured messages that hinder analysis.</a:t>
            </a:r>
          </a:p>
          <a:p>
            <a:pPr marL="228600" indent="-228600">
              <a:buFont typeface="+mj-lt"/>
              <a:buAutoNum type="arabicPeriod"/>
            </a:pPr>
            <a:r>
              <a:rPr lang="en-US" b="1" dirty="0"/>
              <a:t>Local storage only</a:t>
            </a:r>
            <a:r>
              <a:rPr lang="en-US" dirty="0"/>
              <a:t>: Logs retained only on local systems, risking loss or tampering. No centralized logging repository.</a:t>
            </a:r>
          </a:p>
          <a:p>
            <a:pPr marL="228600" indent="-228600">
              <a:buFont typeface="+mj-lt"/>
              <a:buAutoNum type="arabicPeriod"/>
            </a:pPr>
            <a:r>
              <a:rPr lang="en-US" b="1" dirty="0"/>
              <a:t>Lack of real-time alerts</a:t>
            </a:r>
            <a:r>
              <a:rPr lang="en-US" dirty="0"/>
              <a:t>: No alerting mechanisms or thresholds to flag suspicious behavior.</a:t>
            </a:r>
          </a:p>
          <a:p>
            <a:pPr marL="228600" indent="-228600">
              <a:buFont typeface="+mj-lt"/>
              <a:buAutoNum type="arabicPeriod"/>
            </a:pPr>
            <a:r>
              <a:rPr lang="en-US" b="1" dirty="0"/>
              <a:t>Insufficient retention and backup</a:t>
            </a:r>
            <a:r>
              <a:rPr lang="en-US" dirty="0"/>
              <a:t>: Logs not stored long enough or not backed up, weakening forensic investigations.</a:t>
            </a:r>
          </a:p>
          <a:p>
            <a:pPr marL="228600" indent="-228600">
              <a:buFont typeface="+mj-lt"/>
              <a:buAutoNum type="arabicPeriod"/>
            </a:pPr>
            <a:r>
              <a:rPr lang="en-US" b="1" dirty="0"/>
              <a:t>Lack of monitoring and regular review</a:t>
            </a:r>
            <a:r>
              <a:rPr lang="en-US" dirty="0"/>
              <a:t>: Logs exist but aren’t actively monitored or analyzed, allowing attackers to proceed with attacks undetected.</a:t>
            </a:r>
          </a:p>
          <a:p>
            <a:endParaRPr lang="en-US" dirty="0"/>
          </a:p>
          <a:p>
            <a:r>
              <a:rPr lang="en-US" b="1" dirty="0"/>
              <a:t>Best practices to prevent this vulnerability exploit:</a:t>
            </a:r>
          </a:p>
          <a:p>
            <a:endParaRPr lang="en-US" b="1" dirty="0"/>
          </a:p>
          <a:p>
            <a:pPr marL="228600" indent="-228600">
              <a:buFont typeface="+mj-lt"/>
              <a:buAutoNum type="arabicPeriod"/>
            </a:pPr>
            <a:r>
              <a:rPr lang="en-US" b="1" dirty="0"/>
              <a:t>Comprehensive logging</a:t>
            </a:r>
            <a:r>
              <a:rPr lang="en-US" dirty="0"/>
              <a:t>: Ensure all critical events are captured (logins, access control failures, high-value transactions) with sufficient context including user ID, timestamps, source IP. </a:t>
            </a:r>
          </a:p>
          <a:p>
            <a:pPr marL="228600" indent="-228600">
              <a:buFont typeface="+mj-lt"/>
              <a:buAutoNum type="arabicPeriod"/>
            </a:pPr>
            <a:r>
              <a:rPr lang="en-US" b="1" dirty="0"/>
              <a:t>Structured, centralized logs</a:t>
            </a:r>
            <a:r>
              <a:rPr lang="en-US" dirty="0"/>
              <a:t>: Use consistent formats and forward logs to centralized systems like SIEM solution. </a:t>
            </a:r>
          </a:p>
          <a:p>
            <a:pPr marL="228600" indent="-228600">
              <a:buFont typeface="+mj-lt"/>
              <a:buAutoNum type="arabicPeriod"/>
            </a:pPr>
            <a:r>
              <a:rPr lang="en-US" b="1" dirty="0"/>
              <a:t>Protect log integrity</a:t>
            </a:r>
            <a:r>
              <a:rPr lang="en-US" dirty="0"/>
              <a:t>: Prevent tampering by restricting access, using append-only storage, and ensuring secure encoding to avoid log injection vulnerabilities. Ensure access to the logs specially with privileged access are limited only to approved authorized users.</a:t>
            </a:r>
          </a:p>
          <a:p>
            <a:pPr marL="228600" indent="-228600">
              <a:buFont typeface="+mj-lt"/>
              <a:buAutoNum type="arabicPeriod"/>
            </a:pPr>
            <a:r>
              <a:rPr lang="en-US" b="1" dirty="0"/>
              <a:t>Real-time monitoring &amp; alerting</a:t>
            </a:r>
            <a:r>
              <a:rPr lang="en-US" dirty="0"/>
              <a:t>: Configure relevant use cases and define alert thresholds and automate response actions like session invalidation.</a:t>
            </a:r>
          </a:p>
          <a:p>
            <a:pPr marL="228600" indent="-228600">
              <a:buFont typeface="+mj-lt"/>
              <a:buAutoNum type="arabicPeriod"/>
            </a:pPr>
            <a:r>
              <a:rPr lang="en-US" b="1" dirty="0"/>
              <a:t>Log retention &amp; backups</a:t>
            </a:r>
            <a:r>
              <a:rPr lang="en-US" dirty="0"/>
              <a:t>: Ensure all the logs are securely stored offsite for sufficient durations to support any forensic investigations.</a:t>
            </a:r>
          </a:p>
          <a:p>
            <a:pPr marL="228600" indent="-228600">
              <a:buFont typeface="+mj-lt"/>
              <a:buAutoNum type="arabicPeriod"/>
            </a:pPr>
            <a:r>
              <a:rPr lang="en-US" b="1" dirty="0"/>
              <a:t>Regular review &amp; incident response</a:t>
            </a:r>
            <a:r>
              <a:rPr lang="en-US" dirty="0"/>
              <a:t>: Have a dedicated team to monitor the logs, investigate alerts and have a robust incident management policy and procedures.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200" b="1" dirty="0">
                <a:solidFill>
                  <a:schemeClr val="bg2"/>
                </a:solidFill>
              </a:rPr>
              <a:t>A10:2021 Server-side request forgery</a:t>
            </a:r>
            <a:r>
              <a:rPr lang="en-US" sz="1200" dirty="0">
                <a:solidFill>
                  <a:schemeClr val="bg2"/>
                </a:solidFill>
              </a:rPr>
              <a:t> happens when an attacker tricks a vulnerable server into making HTTP requests to an internal or external resource on behalf of the attacker. In this vulnerability an application fetches a remote resource based on user-supplied input without validating or sanitizing it properly. This allows attackers to trick the server into making unintended requests to internal or external systems. In short, SSRF arises when user-controlled input is used to generate server-side requests without strict validation, restrictions, or segmentation.</a:t>
            </a:r>
          </a:p>
          <a:p>
            <a:pPr marL="0" indent="0">
              <a:buFont typeface="+mj-lt"/>
              <a:buNone/>
            </a:pPr>
            <a:endParaRPr lang="en-US" sz="1200" dirty="0">
              <a:solidFill>
                <a:schemeClr val="bg2"/>
              </a:solidFill>
            </a:endParaRPr>
          </a:p>
          <a:p>
            <a:pPr marL="0" indent="0">
              <a:buFont typeface="+mj-lt"/>
              <a:buNone/>
            </a:pPr>
            <a:r>
              <a:rPr lang="en-US" sz="1200" dirty="0">
                <a:solidFill>
                  <a:schemeClr val="bg2"/>
                </a:solidFill>
              </a:rPr>
              <a:t>In a real world example let us study about the </a:t>
            </a:r>
            <a:r>
              <a:rPr lang="en-US" dirty="0"/>
              <a:t>most recent globally significant SSRF attack campaign. Between March 9–13, 2025, threat-intel firms observed a coordinated, global campaign abusing multiple SSRF CVEs at once across multiple platforms like Zimbra, GitLab, </a:t>
            </a:r>
            <a:r>
              <a:rPr lang="en-US" dirty="0" err="1"/>
              <a:t>DotNetNuke</a:t>
            </a:r>
            <a:r>
              <a:rPr lang="en-US" dirty="0"/>
              <a:t>, VMware (vCenter, Workspace ONE UEM), Ivanti Connect Secure, </a:t>
            </a:r>
            <a:r>
              <a:rPr lang="en-US" dirty="0" err="1"/>
              <a:t>BerriAI</a:t>
            </a:r>
            <a:r>
              <a:rPr lang="en-US" dirty="0"/>
              <a:t> </a:t>
            </a:r>
            <a:r>
              <a:rPr lang="en-US" dirty="0" err="1"/>
              <a:t>LiteLLM</a:t>
            </a:r>
            <a:r>
              <a:rPr lang="en-US" dirty="0"/>
              <a:t>, and </a:t>
            </a:r>
            <a:r>
              <a:rPr lang="en-US" dirty="0" err="1"/>
              <a:t>OpenBMCS</a:t>
            </a:r>
            <a:r>
              <a:rPr lang="en-US" dirty="0"/>
              <a:t>. There were 400 unique IPs being recorded to actively probing and exploiting these SSRF endpoints in parallel, with targeting concentrated in the </a:t>
            </a:r>
            <a:r>
              <a:rPr lang="en-US" b="1" dirty="0"/>
              <a:t>U.S., Germany, Singapore, India, Japan, and later Israel &amp; the Netherlands</a:t>
            </a:r>
            <a:r>
              <a:rPr lang="en-US" dirty="0"/>
              <a:t>. </a:t>
            </a:r>
          </a:p>
          <a:p>
            <a:pPr marL="0" indent="0">
              <a:buFont typeface="+mj-lt"/>
              <a:buNone/>
            </a:pPr>
            <a:endParaRPr lang="en-US" dirty="0"/>
          </a:p>
          <a:p>
            <a:pPr marL="0" indent="0">
              <a:buFont typeface="+mj-lt"/>
              <a:buNone/>
            </a:pPr>
            <a:r>
              <a:rPr lang="en-US" dirty="0"/>
              <a:t>Let us reconstruct and understand the attack chain that happened:</a:t>
            </a:r>
          </a:p>
          <a:p>
            <a:pPr marL="0" indent="0">
              <a:buFont typeface="+mj-lt"/>
              <a:buNone/>
            </a:pPr>
            <a:endParaRPr lang="en-US" sz="1200" dirty="0">
              <a:solidFill>
                <a:schemeClr val="bg2"/>
              </a:solidFill>
            </a:endParaRPr>
          </a:p>
          <a:p>
            <a:pPr marL="171450" indent="-171450">
              <a:buFont typeface="Wingdings" panose="05000000000000000000" pitchFamily="2" charset="2"/>
              <a:buChar char="Ø"/>
            </a:pPr>
            <a:r>
              <a:rPr lang="en-US" b="1" dirty="0"/>
              <a:t>Reconnaissance: </a:t>
            </a:r>
            <a:r>
              <a:rPr lang="en-US" dirty="0"/>
              <a:t>Automated scans carried out for exposed dashboards and apps (for example </a:t>
            </a:r>
            <a:r>
              <a:rPr lang="en-US" b="0" dirty="0"/>
              <a:t>Grafana path traversal </a:t>
            </a:r>
            <a:r>
              <a:rPr lang="en-US" dirty="0"/>
              <a:t>to read the application configs file, enumerate targets, or learn about the internal endpoints). </a:t>
            </a:r>
          </a:p>
          <a:p>
            <a:pPr marL="171450" indent="-171450">
              <a:buFont typeface="Wingdings" panose="05000000000000000000" pitchFamily="2" charset="2"/>
              <a:buChar char="Ø"/>
            </a:pPr>
            <a:r>
              <a:rPr lang="en-US" b="1" dirty="0"/>
              <a:t>Initial access via SSRF: </a:t>
            </a:r>
            <a:r>
              <a:rPr lang="en-US" b="0" dirty="0"/>
              <a:t>P</a:t>
            </a:r>
            <a:r>
              <a:rPr lang="en-US" dirty="0"/>
              <a:t>ublic SSRF endpoints exploited like Zimbra/GitLab/VMware/Ivanti to </a:t>
            </a:r>
            <a:r>
              <a:rPr lang="en-US" b="0" dirty="0"/>
              <a:t>coerce backend services </a:t>
            </a:r>
            <a:r>
              <a:rPr lang="en-US" dirty="0"/>
              <a:t>into making attacker-controlled outbound requests to </a:t>
            </a:r>
            <a:r>
              <a:rPr lang="en-US" b="0" dirty="0"/>
              <a:t>internal or external resources</a:t>
            </a:r>
            <a:r>
              <a:rPr lang="en-US" dirty="0"/>
              <a:t>. </a:t>
            </a:r>
          </a:p>
          <a:p>
            <a:pPr marL="171450" indent="-171450">
              <a:buFont typeface="Wingdings" panose="05000000000000000000" pitchFamily="2" charset="2"/>
              <a:buChar char="Ø"/>
            </a:pPr>
            <a:r>
              <a:rPr lang="en-US" b="1" dirty="0"/>
              <a:t>Credential/secret access &amp; pivot: </a:t>
            </a:r>
            <a:r>
              <a:rPr lang="en-US" dirty="0"/>
              <a:t>Use SSRF to query </a:t>
            </a:r>
            <a:r>
              <a:rPr lang="en-US" b="0" dirty="0"/>
              <a:t>cloud metadata APIs </a:t>
            </a:r>
            <a:r>
              <a:rPr lang="en-US" dirty="0"/>
              <a:t>(IMDS-Instance Metadata Services - IMDS is a web service that applications and scripts running on a cloud instance can query to retrieve information about that instance and its environment), steal tokens, or hit internal admin panels, sometimes chaining with </a:t>
            </a:r>
            <a:r>
              <a:rPr lang="en-US" b="0" dirty="0"/>
              <a:t>auth bypass / command injection </a:t>
            </a:r>
            <a:r>
              <a:rPr lang="en-US" dirty="0"/>
              <a:t>where available. </a:t>
            </a:r>
          </a:p>
          <a:p>
            <a:pPr marL="171450" indent="-171450">
              <a:buFont typeface="Wingdings" panose="05000000000000000000" pitchFamily="2" charset="2"/>
              <a:buChar char="Ø"/>
            </a:pPr>
            <a:r>
              <a:rPr lang="en-US" b="1" dirty="0"/>
              <a:t>Post-exploitation objectives: </a:t>
            </a:r>
            <a:r>
              <a:rPr lang="en-US" dirty="0"/>
              <a:t>Established persistence, enumerate services, exfiltrate data or carry out follow-on attacks through lateral movement toward mail, identity systems, CI/CD (Continuous Integration/Continuous Delivery or Continuous Deployment) pipelines - CI/CD pipelines automate the software delivery process, connecting developers workstations directly to production environments. This automation through CI/CD pipelines while beneficial creates new attack vectors if it is not properly secured.</a:t>
            </a:r>
          </a:p>
          <a:p>
            <a:endParaRPr lang="en-US" b="1" dirty="0"/>
          </a:p>
          <a:p>
            <a:r>
              <a:rPr lang="en-US" b="1" dirty="0"/>
              <a:t>Most Common causes of SSRF vulnerability:</a:t>
            </a:r>
          </a:p>
          <a:p>
            <a:endParaRPr lang="en-US" dirty="0"/>
          </a:p>
          <a:p>
            <a:pPr marL="228600" indent="-228600">
              <a:buFont typeface="+mj-lt"/>
              <a:buAutoNum type="arabicPeriod"/>
            </a:pPr>
            <a:r>
              <a:rPr lang="en-US" b="1" dirty="0"/>
              <a:t>Insufficient Input Validation: </a:t>
            </a:r>
            <a:r>
              <a:rPr lang="en-US" dirty="0"/>
              <a:t>Applications accept user-supplied URLs or endpoints without validating or sanitizing them. Example: Allowing raw URL parameters like ?</a:t>
            </a:r>
            <a:r>
              <a:rPr lang="en-US" dirty="0" err="1"/>
              <a:t>url</a:t>
            </a:r>
            <a:r>
              <a:rPr lang="en-US" dirty="0"/>
              <a:t>=http://attackme.com.</a:t>
            </a:r>
          </a:p>
          <a:p>
            <a:pPr marL="228600" indent="-228600">
              <a:buFont typeface="+mj-lt"/>
              <a:buAutoNum type="arabicPeriod"/>
            </a:pPr>
            <a:r>
              <a:rPr lang="en-US" b="1" dirty="0"/>
              <a:t>Unrestricted URL Access: </a:t>
            </a:r>
            <a:r>
              <a:rPr lang="en-US" dirty="0"/>
              <a:t>No restrictions on what hosts or IP addresses the server can request. Proper whitelisting to allow only authorized IPs not configured. This allows attackers to target </a:t>
            </a:r>
            <a:r>
              <a:rPr lang="en-US" b="0" dirty="0"/>
              <a:t>internal networks within the LAN (Local Area Network) </a:t>
            </a:r>
            <a:r>
              <a:rPr lang="en-US" dirty="0"/>
              <a:t>(for example, http://127.0.0.1:8080/admin).</a:t>
            </a:r>
          </a:p>
          <a:p>
            <a:pPr marL="228600" indent="-228600">
              <a:buFont typeface="+mj-lt"/>
              <a:buAutoNum type="arabicPeriod"/>
            </a:pPr>
            <a:r>
              <a:rPr lang="en-US" b="1" dirty="0"/>
              <a:t>Insecure Use of User-Supplied Data: </a:t>
            </a:r>
            <a:r>
              <a:rPr lang="en-US" dirty="0"/>
              <a:t>Application logic directly uses user input in server-side HTTP requests. </a:t>
            </a:r>
          </a:p>
          <a:p>
            <a:pPr marL="228600" indent="-228600">
              <a:buFont typeface="+mj-lt"/>
              <a:buAutoNum type="arabicPeriod"/>
            </a:pPr>
            <a:r>
              <a:rPr lang="en-US" b="1" dirty="0"/>
              <a:t>Misconfigured Network or Proxy Settings: </a:t>
            </a:r>
            <a:r>
              <a:rPr lang="en-US" dirty="0"/>
              <a:t>Lack of proper egress filtering or firewall rules allowing outbound requests to internal or external systems.</a:t>
            </a:r>
          </a:p>
          <a:p>
            <a:pPr marL="228600" indent="-228600">
              <a:buFont typeface="+mj-lt"/>
              <a:buAutoNum type="arabicPeriod"/>
            </a:pPr>
            <a:r>
              <a:rPr lang="en-US" b="1" dirty="0"/>
              <a:t>Trust in Internal Services: </a:t>
            </a:r>
            <a:r>
              <a:rPr lang="en-US" dirty="0"/>
              <a:t>Many organizations assume internal services (e.g., cloud metadata APIs, databases, admin panels) are safe, so they don’t enforce strict access controls. These is where attackers exploit SSRF to enumerate, reach and access these trusted services.</a:t>
            </a:r>
          </a:p>
          <a:p>
            <a:pPr marL="228600" indent="-228600">
              <a:buFont typeface="+mj-lt"/>
              <a:buAutoNum type="arabicPeriod"/>
            </a:pPr>
            <a:r>
              <a:rPr lang="en-US" b="1" dirty="0"/>
              <a:t>Poor URL Parsing / Validation Libraries: </a:t>
            </a:r>
            <a:r>
              <a:rPr lang="en-US" dirty="0"/>
              <a:t>Custom or weak parsers may mishandle redirects, DNS rebinding, or encoded payloads (http://127.0.0.1@attackme.com).</a:t>
            </a:r>
          </a:p>
          <a:p>
            <a:pPr marL="228600" indent="-228600">
              <a:buFont typeface="+mj-lt"/>
              <a:buAutoNum type="arabicPeriod"/>
            </a:pPr>
            <a:r>
              <a:rPr lang="en-US" b="1" dirty="0"/>
              <a:t>Lack of Network Segmentation: </a:t>
            </a:r>
            <a:r>
              <a:rPr lang="en-US" b="0" dirty="0"/>
              <a:t>This is one of the critical control where network segmentation are not effectively or not implemented at all. </a:t>
            </a:r>
            <a:r>
              <a:rPr lang="en-US" dirty="0"/>
              <a:t>If application servers and sensitive services like databases, cloud control APIs shares the same network without logical segmentation, SSRF exploit can penetrate into the critical systems within the same logical network.</a:t>
            </a:r>
          </a:p>
          <a:p>
            <a:endParaRPr lang="en-US" dirty="0"/>
          </a:p>
          <a:p>
            <a:r>
              <a:rPr lang="en-US" b="1" dirty="0"/>
              <a:t>Preventive controls:</a:t>
            </a:r>
          </a:p>
          <a:p>
            <a:endParaRPr lang="en-US" b="1" dirty="0"/>
          </a:p>
          <a:p>
            <a:pPr marL="228600" indent="-228600">
              <a:buFont typeface="+mj-lt"/>
              <a:buAutoNum type="arabicPeriod"/>
            </a:pPr>
            <a:r>
              <a:rPr lang="en-US" b="1" dirty="0"/>
              <a:t>Input Validation &amp; Sanitization</a:t>
            </a:r>
            <a:r>
              <a:rPr lang="en-US" dirty="0"/>
              <a:t> – Allow only whitelisted URLs/hosts.</a:t>
            </a:r>
          </a:p>
          <a:p>
            <a:pPr marL="228600" indent="-228600">
              <a:buFont typeface="+mj-lt"/>
              <a:buAutoNum type="arabicPeriod"/>
            </a:pPr>
            <a:r>
              <a:rPr lang="en-US" b="1" dirty="0"/>
              <a:t>Block Internal Requests</a:t>
            </a:r>
            <a:r>
              <a:rPr lang="en-US" dirty="0"/>
              <a:t> – Prevent requests to internal IP ranges (e.g., 127.0.0.1, 169.254.*.*, 10.*.*.*).</a:t>
            </a:r>
          </a:p>
          <a:p>
            <a:pPr marL="228600" indent="-228600">
              <a:buFont typeface="+mj-lt"/>
              <a:buAutoNum type="arabicPeriod"/>
            </a:pPr>
            <a:r>
              <a:rPr lang="en-US" b="1" dirty="0"/>
              <a:t>Use URL Parsing Libraries</a:t>
            </a:r>
            <a:r>
              <a:rPr lang="en-US" dirty="0"/>
              <a:t> – Rely on safe libraries to parse/validate URLs rather than custom code.</a:t>
            </a:r>
          </a:p>
          <a:p>
            <a:pPr marL="228600" indent="-228600">
              <a:buFont typeface="+mj-lt"/>
              <a:buAutoNum type="arabicPeriod"/>
            </a:pPr>
            <a:r>
              <a:rPr lang="en-US" b="1" dirty="0"/>
              <a:t>Network Segmentation</a:t>
            </a:r>
            <a:r>
              <a:rPr lang="en-US" dirty="0"/>
              <a:t> – Isolate internal services from application servers where possible.</a:t>
            </a:r>
          </a:p>
          <a:p>
            <a:pPr marL="228600" indent="-228600">
              <a:buFont typeface="+mj-lt"/>
              <a:buAutoNum type="arabicPeriod"/>
            </a:pPr>
            <a:r>
              <a:rPr lang="en-US" b="1" dirty="0"/>
              <a:t>Metadata Service Protection</a:t>
            </a:r>
            <a:r>
              <a:rPr lang="en-US" dirty="0"/>
              <a:t> – For cloud (AWS, GCP, Azure), enforce IMDSv2 or equivalent protections.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chemeClr val="bg2"/>
                </a:solidFill>
              </a:rPr>
              <a:t>Importance of OWASP in Application Security:</a:t>
            </a:r>
          </a:p>
          <a:p>
            <a:endParaRPr lang="en-US" sz="1200" b="1" dirty="0">
              <a:solidFill>
                <a:schemeClr val="bg2"/>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b="1" dirty="0"/>
              <a:t>OWASP (</a:t>
            </a:r>
            <a:r>
              <a:rPr lang="en-US" sz="1200" b="1" dirty="0">
                <a:solidFill>
                  <a:schemeClr val="bg2"/>
                </a:solidFill>
              </a:rPr>
              <a:t>Open Worldwide Application Security Project</a:t>
            </a:r>
            <a:r>
              <a:rPr lang="en-US" b="1" dirty="0"/>
              <a:t>)</a:t>
            </a:r>
            <a:r>
              <a:rPr lang="en-US" dirty="0"/>
              <a:t> plays a crucial role in strengthening web application security worldwide. It provides freely available resources, such as the </a:t>
            </a:r>
            <a:r>
              <a:rPr lang="en-US" b="1" dirty="0"/>
              <a:t>OWASP Top 10</a:t>
            </a:r>
            <a:r>
              <a:rPr lang="en-US" dirty="0"/>
              <a:t>, secure coding guidelines, tools, and community-driven projects that help organizations identify, understand, and mitigate the most critical security risks. By promoting industry best practices, OWASP empowers developers, security professionals, and businesses to build more resilient applications, reduce vulnerabilities, and protect sensitive data from evolving cyber threats. Its importance lies in creating a global standard for web application security awareness and defense.</a:t>
            </a:r>
            <a:endParaRPr lang="en-US" sz="1200" dirty="0">
              <a:solidFill>
                <a:schemeClr val="bg2"/>
              </a:solidFill>
            </a:endParaRPr>
          </a:p>
          <a:p>
            <a:endParaRPr lang="en-US" sz="1200" b="1" dirty="0">
              <a:solidFill>
                <a:schemeClr val="bg2"/>
              </a:solidFill>
            </a:endParaRPr>
          </a:p>
          <a:p>
            <a:r>
              <a:rPr lang="en-US" sz="1200" dirty="0">
                <a:solidFill>
                  <a:schemeClr val="bg2"/>
                </a:solidFill>
              </a:rPr>
              <a:t>The OWASP Top 10 is a trusted standard and widely adopted by developers, security teams, and regulatory bodies like PCI-DSS (Payment Card Industry Data Security Standard) and the FTC (Federal trade commission). The OWASP Top 10 is derived and based on real-world testing data plus inputs from various expert community around the world.</a:t>
            </a:r>
          </a:p>
          <a:p>
            <a:endParaRPr lang="en-US" sz="1200" dirty="0">
              <a:solidFill>
                <a:schemeClr val="bg2"/>
              </a:solidFill>
            </a:endParaRPr>
          </a:p>
          <a:p>
            <a:r>
              <a:rPr lang="en-US" sz="1200" dirty="0">
                <a:solidFill>
                  <a:schemeClr val="bg2"/>
                </a:solidFill>
              </a:rPr>
              <a:t>The OWASP Top 10 are vulnerabilities that any application should not posses and provide a secure application free of exploits.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2"/>
                </a:solidFill>
              </a:rPr>
              <a:t>OWASP offers standardized guidance that is recognized globally and the security requirements and controls are often included in development guidelines, procurement standards, and compliance frameworks. These helps in reducing ambiguity by defining common terminology and threat categories. It serves as an awareness document and guideline for developers, managers, and organizations to understand and prioritize security risks in an application.</a:t>
            </a:r>
          </a:p>
          <a:p>
            <a:endParaRPr lang="en-US" sz="1200" dirty="0">
              <a:solidFill>
                <a:schemeClr val="bg2"/>
              </a:solidFill>
            </a:endParaRPr>
          </a:p>
          <a:p>
            <a:r>
              <a:rPr lang="en-US" sz="1200" dirty="0">
                <a:solidFill>
                  <a:schemeClr val="bg2"/>
                </a:solidFill>
              </a:rPr>
              <a:t>OWASP supports Secure Development Lifecycles (SDLC) by integrating security into every stages of the SDLC listed below:</a:t>
            </a:r>
          </a:p>
          <a:p>
            <a:endParaRPr lang="en-US" sz="1200" dirty="0">
              <a:solidFill>
                <a:schemeClr val="bg2"/>
              </a:solidFill>
            </a:endParaRPr>
          </a:p>
          <a:p>
            <a:pPr marL="742950" indent="-742950">
              <a:buFont typeface="+mj-lt"/>
              <a:buAutoNum type="arabicPeriod"/>
            </a:pPr>
            <a:r>
              <a:rPr lang="en-US" sz="1200" b="1" dirty="0">
                <a:solidFill>
                  <a:schemeClr val="bg2"/>
                </a:solidFill>
              </a:rPr>
              <a:t>For Requirements Gathering: </a:t>
            </a:r>
            <a:r>
              <a:rPr lang="en-US" sz="1200" dirty="0">
                <a:solidFill>
                  <a:schemeClr val="bg2"/>
                </a:solidFill>
              </a:rPr>
              <a:t>OWASP ASVS (Application Security Verification Standard)</a:t>
            </a:r>
          </a:p>
          <a:p>
            <a:pPr marL="742950" indent="-742950">
              <a:buFont typeface="+mj-lt"/>
              <a:buAutoNum type="arabicPeriod"/>
            </a:pPr>
            <a:r>
              <a:rPr lang="en-US" sz="1200" b="1" dirty="0">
                <a:solidFill>
                  <a:schemeClr val="bg2"/>
                </a:solidFill>
              </a:rPr>
              <a:t>For Application Design</a:t>
            </a:r>
            <a:r>
              <a:rPr lang="en-US" sz="1200" dirty="0">
                <a:solidFill>
                  <a:schemeClr val="bg2"/>
                </a:solidFill>
              </a:rPr>
              <a:t>: Threat modeling guidance</a:t>
            </a:r>
          </a:p>
          <a:p>
            <a:pPr marL="742950" indent="-742950">
              <a:buFont typeface="+mj-lt"/>
              <a:buAutoNum type="arabicPeriod"/>
            </a:pPr>
            <a:r>
              <a:rPr lang="en-US" sz="1200" b="1" dirty="0">
                <a:solidFill>
                  <a:schemeClr val="bg2"/>
                </a:solidFill>
              </a:rPr>
              <a:t>For Application Development</a:t>
            </a:r>
            <a:r>
              <a:rPr lang="en-US" sz="1200" dirty="0">
                <a:solidFill>
                  <a:schemeClr val="bg2"/>
                </a:solidFill>
              </a:rPr>
              <a:t>: Secure coding practices</a:t>
            </a:r>
          </a:p>
          <a:p>
            <a:pPr marL="742950" indent="-742950">
              <a:buFont typeface="+mj-lt"/>
              <a:buAutoNum type="arabicPeriod"/>
            </a:pPr>
            <a:r>
              <a:rPr lang="en-US" sz="1200" b="1" dirty="0">
                <a:solidFill>
                  <a:schemeClr val="bg2"/>
                </a:solidFill>
              </a:rPr>
              <a:t>For Application Testing</a:t>
            </a:r>
            <a:r>
              <a:rPr lang="en-US" sz="1200" dirty="0">
                <a:solidFill>
                  <a:schemeClr val="bg2"/>
                </a:solidFill>
              </a:rPr>
              <a:t>: ZAP Proxy, OWASP Testing Guide</a:t>
            </a:r>
          </a:p>
          <a:p>
            <a:pPr marL="742950" indent="-742950">
              <a:buFont typeface="+mj-lt"/>
              <a:buAutoNum type="arabicPeriod"/>
            </a:pPr>
            <a:r>
              <a:rPr lang="en-US" sz="1200" b="1" dirty="0">
                <a:solidFill>
                  <a:schemeClr val="bg2"/>
                </a:solidFill>
              </a:rPr>
              <a:t>For Final Deployment</a:t>
            </a:r>
            <a:r>
              <a:rPr lang="en-US" sz="1200" dirty="0">
                <a:solidFill>
                  <a:schemeClr val="bg2"/>
                </a:solidFill>
              </a:rPr>
              <a:t>: Security configuration guidelines</a:t>
            </a:r>
          </a:p>
          <a:p>
            <a:endParaRPr lang="en-US" sz="1200" dirty="0">
              <a:solidFill>
                <a:schemeClr val="bg2"/>
              </a:solidFill>
            </a:endParaRPr>
          </a:p>
          <a:p>
            <a:r>
              <a:rPr lang="en-US" sz="1200" dirty="0">
                <a:solidFill>
                  <a:schemeClr val="bg2"/>
                </a:solidFill>
              </a:rPr>
              <a:t>At the end OWASP helps organization to demonstrate required security control implementation and operating effectiveness and for Compliance.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chapter we have learned about the OWASP top 10 vulnerabilities, its exploits with examples, common causes and the preventive control to mitigate these vulnerabilities. We have also learned about the importance the OWASP project plays in web application security and how an organization and application developers can implement the best practices to build a secure application.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700" b="0" i="0">
                <a:solidFill>
                  <a:srgbClr val="00B583"/>
                </a:solidFill>
                <a:latin typeface="Microsoft Sans Serif"/>
                <a:cs typeface="Microsoft Sans Serif"/>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700" b="0" i="0">
                <a:solidFill>
                  <a:srgbClr val="00B583"/>
                </a:solidFill>
                <a:latin typeface="Microsoft Sans Serif"/>
                <a:cs typeface="Microsoft Sans Serif"/>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1259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247777" y="458463"/>
            <a:ext cx="11792445" cy="2044064"/>
          </a:xfrm>
          <a:prstGeom prst="rect">
            <a:avLst/>
          </a:prstGeom>
        </p:spPr>
        <p:txBody>
          <a:bodyPr wrap="square" lIns="0" tIns="0" rIns="0" bIns="0">
            <a:spAutoFit/>
          </a:bodyPr>
          <a:lstStyle>
            <a:lvl1pPr>
              <a:defRPr sz="5700" b="0" i="0">
                <a:solidFill>
                  <a:srgbClr val="00B583"/>
                </a:solidFill>
                <a:latin typeface="Microsoft Sans Serif"/>
                <a:cs typeface="Microsoft Sans Serif"/>
              </a:defRPr>
            </a:lvl1pPr>
          </a:lstStyle>
          <a:p>
            <a:endParaRPr/>
          </a:p>
        </p:txBody>
      </p:sp>
      <p:sp>
        <p:nvSpPr>
          <p:cNvPr id="3" name="Holder 3"/>
          <p:cNvSpPr>
            <a:spLocks noGrp="1"/>
          </p:cNvSpPr>
          <p:nvPr>
            <p:ph type="body" idx="1"/>
          </p:nvPr>
        </p:nvSpPr>
        <p:spPr>
          <a:xfrm>
            <a:off x="1607987" y="4003519"/>
            <a:ext cx="14972030" cy="426529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3/27/2026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74B356-80AE-4401-9A6B-46CB7DF7CF4D}"/>
              </a:ext>
            </a:extLst>
          </p:cNvPr>
          <p:cNvPicPr>
            <a:picLocks noChangeAspect="1"/>
          </p:cNvPicPr>
          <p:nvPr/>
        </p:nvPicPr>
        <p:blipFill>
          <a:blip r:embed="rId3"/>
          <a:stretch>
            <a:fillRect/>
          </a:stretch>
        </p:blipFill>
        <p:spPr>
          <a:xfrm>
            <a:off x="0" y="0"/>
            <a:ext cx="18288000" cy="10287000"/>
          </a:xfrm>
          <a:prstGeom prst="rect">
            <a:avLst/>
          </a:prstGeom>
        </p:spPr>
      </p:pic>
      <p:sp>
        <p:nvSpPr>
          <p:cNvPr id="5" name="object 5"/>
          <p:cNvSpPr/>
          <p:nvPr/>
        </p:nvSpPr>
        <p:spPr>
          <a:xfrm>
            <a:off x="1247854" y="2082070"/>
            <a:ext cx="15583535" cy="38100"/>
          </a:xfrm>
          <a:custGeom>
            <a:avLst/>
            <a:gdLst/>
            <a:ahLst/>
            <a:cxnLst/>
            <a:rect l="l" t="t" r="r" b="b"/>
            <a:pathLst>
              <a:path w="15583535" h="38100">
                <a:moveTo>
                  <a:pt x="15582971" y="38099"/>
                </a:moveTo>
                <a:lnTo>
                  <a:pt x="0" y="38099"/>
                </a:lnTo>
                <a:lnTo>
                  <a:pt x="0" y="0"/>
                </a:lnTo>
                <a:lnTo>
                  <a:pt x="15582971" y="0"/>
                </a:lnTo>
                <a:lnTo>
                  <a:pt x="15582971" y="38099"/>
                </a:lnTo>
                <a:close/>
              </a:path>
            </a:pathLst>
          </a:custGeom>
          <a:solidFill>
            <a:srgbClr val="FFFFFF"/>
          </a:solidFill>
        </p:spPr>
        <p:txBody>
          <a:bodyPr wrap="square" lIns="0" tIns="0" rIns="0" bIns="0" rtlCol="0"/>
          <a:lstStyle/>
          <a:p>
            <a:endParaRPr/>
          </a:p>
        </p:txBody>
      </p:sp>
      <p:sp>
        <p:nvSpPr>
          <p:cNvPr id="9" name="Rectangle 8">
            <a:extLst>
              <a:ext uri="{FF2B5EF4-FFF2-40B4-BE49-F238E27FC236}">
                <a16:creationId xmlns:a16="http://schemas.microsoft.com/office/drawing/2014/main" id="{6AB1B62F-6DA1-40FA-8088-F040504597FF}"/>
              </a:ext>
            </a:extLst>
          </p:cNvPr>
          <p:cNvSpPr/>
          <p:nvPr/>
        </p:nvSpPr>
        <p:spPr>
          <a:xfrm>
            <a:off x="8610600" y="5143500"/>
            <a:ext cx="11277600" cy="3170099"/>
          </a:xfrm>
          <a:prstGeom prst="rect">
            <a:avLst/>
          </a:prstGeom>
          <a:noFill/>
        </p:spPr>
        <p:txBody>
          <a:bodyPr wrap="square" lIns="91440" tIns="45720" rIns="91440" bIns="45720">
            <a:spAutoFit/>
          </a:bodyPr>
          <a:lstStyle/>
          <a:p>
            <a:pPr algn="ctr"/>
            <a:r>
              <a:rPr lang="en-US" sz="20000" b="1" cap="none" spc="0" dirty="0">
                <a:ln w="0"/>
                <a:solidFill>
                  <a:schemeClr val="bg1"/>
                </a:solidFill>
                <a:effectLst>
                  <a:reflection blurRad="6350" stA="53000" endA="300" endPos="35500" dir="5400000" sy="-90000" algn="bl" rotWithShape="0"/>
                </a:effectLst>
              </a:rPr>
              <a:t>Top 10</a:t>
            </a:r>
          </a:p>
        </p:txBody>
      </p:sp>
      <p:pic>
        <p:nvPicPr>
          <p:cNvPr id="10" name="Picture 9">
            <a:extLst>
              <a:ext uri="{FF2B5EF4-FFF2-40B4-BE49-F238E27FC236}">
                <a16:creationId xmlns:a16="http://schemas.microsoft.com/office/drawing/2014/main" id="{FA74C8F0-6CED-4C96-90FA-F1025611CA0B}"/>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artisticPhotocopy/>
                    </a14:imgEffect>
                  </a14:imgLayer>
                </a14:imgProps>
              </a:ext>
            </a:extLst>
          </a:blip>
          <a:stretch>
            <a:fillRect/>
          </a:stretch>
        </p:blipFill>
        <p:spPr>
          <a:xfrm>
            <a:off x="241934" y="30726"/>
            <a:ext cx="8902066" cy="2497182"/>
          </a:xfrm>
          <a:prstGeom prst="rect">
            <a:avLst/>
          </a:prstGeom>
        </p:spPr>
      </p:pic>
      <p:pic>
        <p:nvPicPr>
          <p:cNvPr id="4" name="Picture 3">
            <a:extLst>
              <a:ext uri="{FF2B5EF4-FFF2-40B4-BE49-F238E27FC236}">
                <a16:creationId xmlns:a16="http://schemas.microsoft.com/office/drawing/2014/main" id="{23074B57-37F0-A3A6-B48C-83C906619D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910813" y="8313599"/>
            <a:ext cx="5377187" cy="19734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828800"/>
          </a:xfrm>
          <a:prstGeom prst="rect">
            <a:avLst/>
          </a:prstGeom>
          <a:solidFill>
            <a:srgbClr val="004D5B"/>
          </a:solidFill>
          <a:ln w="12700">
            <a:solidFill>
              <a:srgbClr val="004D5B"/>
            </a:solidFill>
            <a:prstDash val="solid"/>
          </a:ln>
        </p:spPr>
      </p:sp>
      <p:sp>
        <p:nvSpPr>
          <p:cNvPr id="3" name="Text 1"/>
          <p:cNvSpPr/>
          <p:nvPr/>
        </p:nvSpPr>
        <p:spPr>
          <a:xfrm>
            <a:off x="548640" y="91440"/>
            <a:ext cx="15544800" cy="1097280"/>
          </a:xfrm>
          <a:prstGeom prst="rect">
            <a:avLst/>
          </a:prstGeom>
          <a:noFill/>
          <a:ln/>
        </p:spPr>
        <p:txBody>
          <a:bodyPr wrap="square" rtlCol="0" anchor="ctr"/>
          <a:lstStyle/>
          <a:p>
            <a:r>
              <a:rPr lang="en-US" sz="4800" b="1" dirty="0">
                <a:solidFill>
                  <a:srgbClr val="FFFFFF"/>
                </a:solidFill>
                <a:latin typeface="Arial Black" pitchFamily="34" charset="0"/>
                <a:ea typeface="Arial Black" pitchFamily="34" charset="-122"/>
                <a:cs typeface="Arial Black" pitchFamily="34" charset="-120"/>
              </a:rPr>
              <a:t>What is OWASP?</a:t>
            </a:r>
            <a:endParaRPr lang="en-US" sz="4800" dirty="0"/>
          </a:p>
        </p:txBody>
      </p:sp>
      <p:sp>
        <p:nvSpPr>
          <p:cNvPr id="4" name="Text 2"/>
          <p:cNvSpPr/>
          <p:nvPr/>
        </p:nvSpPr>
        <p:spPr>
          <a:xfrm>
            <a:off x="548640" y="1133856"/>
            <a:ext cx="15544800" cy="585216"/>
          </a:xfrm>
          <a:prstGeom prst="rect">
            <a:avLst/>
          </a:prstGeom>
          <a:noFill/>
          <a:ln/>
        </p:spPr>
        <p:txBody>
          <a:bodyPr wrap="square" rtlCol="0" anchor="ctr"/>
          <a:lstStyle/>
          <a:p>
            <a:r>
              <a:rPr lang="en-US" sz="2200" dirty="0">
                <a:solidFill>
                  <a:srgbClr val="00B4C8"/>
                </a:solidFill>
                <a:latin typeface="Calibri" pitchFamily="34" charset="0"/>
                <a:ea typeface="Calibri" pitchFamily="34" charset="-122"/>
                <a:cs typeface="Calibri" pitchFamily="34" charset="-120"/>
              </a:rPr>
              <a:t>Open Worldwide Application Security Project</a:t>
            </a:r>
            <a:endParaRPr lang="en-US" sz="2200" dirty="0"/>
          </a:p>
        </p:txBody>
      </p:sp>
      <p:sp>
        <p:nvSpPr>
          <p:cNvPr id="5" name="Shape 3"/>
          <p:cNvSpPr/>
          <p:nvPr/>
        </p:nvSpPr>
        <p:spPr>
          <a:xfrm>
            <a:off x="0" y="1828800"/>
            <a:ext cx="18288000" cy="73152"/>
          </a:xfrm>
          <a:prstGeom prst="rect">
            <a:avLst/>
          </a:prstGeom>
          <a:solidFill>
            <a:srgbClr val="00B4C8"/>
          </a:solidFill>
          <a:ln w="12700">
            <a:solidFill>
              <a:srgbClr val="00B4C8"/>
            </a:solidFill>
            <a:prstDash val="solid"/>
          </a:ln>
        </p:spPr>
      </p:sp>
      <p:sp>
        <p:nvSpPr>
          <p:cNvPr id="6" name="Shape 4"/>
          <p:cNvSpPr/>
          <p:nvPr/>
        </p:nvSpPr>
        <p:spPr>
          <a:xfrm>
            <a:off x="548640" y="2194560"/>
            <a:ext cx="17190720" cy="1828800"/>
          </a:xfrm>
          <a:prstGeom prst="rect">
            <a:avLst/>
          </a:prstGeom>
          <a:solidFill>
            <a:srgbClr val="005F73"/>
          </a:solidFill>
          <a:ln w="12700">
            <a:solidFill>
              <a:srgbClr val="005F73"/>
            </a:solidFill>
            <a:prstDash val="solid"/>
          </a:ln>
          <a:effectLst>
            <a:outerShdw blurRad="101600" dist="38100" dir="8100000" algn="bl" rotWithShape="0">
              <a:srgbClr val="000000">
                <a:alpha val="12000"/>
              </a:srgbClr>
            </a:outerShdw>
          </a:effectLst>
        </p:spPr>
      </p:sp>
      <p:sp>
        <p:nvSpPr>
          <p:cNvPr id="7" name="Text 5"/>
          <p:cNvSpPr/>
          <p:nvPr/>
        </p:nvSpPr>
        <p:spPr>
          <a:xfrm>
            <a:off x="914400" y="2231136"/>
            <a:ext cx="16459200" cy="1755648"/>
          </a:xfrm>
          <a:prstGeom prst="rect">
            <a:avLst/>
          </a:prstGeom>
          <a:noFill/>
          <a:ln/>
        </p:spPr>
        <p:txBody>
          <a:bodyPr wrap="square" rtlCol="0" anchor="ctr"/>
          <a:lstStyle/>
          <a:p>
            <a:r>
              <a:rPr lang="en-US" sz="2500" dirty="0">
                <a:solidFill>
                  <a:srgbClr val="FFFFFF"/>
                </a:solidFill>
                <a:latin typeface="Calibri" pitchFamily="34" charset="0"/>
                <a:ea typeface="Calibri" pitchFamily="34" charset="-122"/>
                <a:cs typeface="Calibri" pitchFamily="34" charset="-120"/>
              </a:rPr>
              <a:t>OWASP is a global non-profit organization dedicated to improving software security through free, open resources — articles, tools, methodologies, and community collaboration.</a:t>
            </a:r>
            <a:endParaRPr lang="en-US" sz="2500" dirty="0"/>
          </a:p>
        </p:txBody>
      </p:sp>
      <p:sp>
        <p:nvSpPr>
          <p:cNvPr id="8" name="Shape 6"/>
          <p:cNvSpPr/>
          <p:nvPr/>
        </p:nvSpPr>
        <p:spPr>
          <a:xfrm>
            <a:off x="548640" y="4297680"/>
            <a:ext cx="5486400" cy="2834640"/>
          </a:xfrm>
          <a:prstGeom prst="rect">
            <a:avLst/>
          </a:prstGeom>
          <a:solidFill>
            <a:srgbClr val="FFFFFF"/>
          </a:solidFill>
          <a:ln w="12700">
            <a:solidFill>
              <a:srgbClr val="D0E8ED"/>
            </a:solidFill>
            <a:prstDash val="solid"/>
          </a:ln>
          <a:effectLst>
            <a:outerShdw blurRad="76200" dist="25400" dir="8100000" algn="bl" rotWithShape="0">
              <a:srgbClr val="000000">
                <a:alpha val="10000"/>
              </a:srgbClr>
            </a:outerShdw>
          </a:effectLst>
        </p:spPr>
      </p:sp>
      <p:sp>
        <p:nvSpPr>
          <p:cNvPr id="9" name="Shape 7"/>
          <p:cNvSpPr/>
          <p:nvPr/>
        </p:nvSpPr>
        <p:spPr>
          <a:xfrm>
            <a:off x="548640" y="4297680"/>
            <a:ext cx="5486400" cy="768096"/>
          </a:xfrm>
          <a:prstGeom prst="rect">
            <a:avLst/>
          </a:prstGeom>
          <a:solidFill>
            <a:srgbClr val="00B4C8"/>
          </a:solidFill>
          <a:ln w="12700">
            <a:solidFill>
              <a:srgbClr val="00B4C8"/>
            </a:solidFill>
            <a:prstDash val="solid"/>
          </a:ln>
        </p:spPr>
      </p:sp>
      <p:sp>
        <p:nvSpPr>
          <p:cNvPr id="10" name="Text 8"/>
          <p:cNvSpPr/>
          <p:nvPr/>
        </p:nvSpPr>
        <p:spPr>
          <a:xfrm>
            <a:off x="731520" y="4334256"/>
            <a:ext cx="5120640" cy="694944"/>
          </a:xfrm>
          <a:prstGeom prst="rect">
            <a:avLst/>
          </a:prstGeom>
          <a:noFill/>
          <a:ln/>
        </p:spPr>
        <p:txBody>
          <a:bodyPr wrap="square" rtlCol="0" anchor="ctr"/>
          <a:lstStyle/>
          <a:p>
            <a:r>
              <a:rPr lang="en-US" sz="2400" b="1" dirty="0">
                <a:solidFill>
                  <a:srgbClr val="FFFFFF"/>
                </a:solidFill>
                <a:latin typeface="Arial" pitchFamily="34" charset="0"/>
                <a:ea typeface="Arial" pitchFamily="34" charset="-122"/>
                <a:cs typeface="Arial" pitchFamily="34" charset="-120"/>
              </a:rPr>
              <a:t>📅  Founded</a:t>
            </a:r>
            <a:endParaRPr lang="en-US" sz="2400" dirty="0"/>
          </a:p>
        </p:txBody>
      </p:sp>
      <p:sp>
        <p:nvSpPr>
          <p:cNvPr id="11" name="Text 9"/>
          <p:cNvSpPr/>
          <p:nvPr/>
        </p:nvSpPr>
        <p:spPr>
          <a:xfrm>
            <a:off x="768096" y="5157216"/>
            <a:ext cx="5047488" cy="1828800"/>
          </a:xfrm>
          <a:prstGeom prst="rect">
            <a:avLst/>
          </a:prstGeom>
          <a:noFill/>
          <a:ln/>
        </p:spPr>
        <p:txBody>
          <a:bodyPr wrap="square" rtlCol="0" anchor="t"/>
          <a:lstStyle/>
          <a:p>
            <a:r>
              <a:rPr lang="en-US" sz="2200" dirty="0">
                <a:solidFill>
                  <a:srgbClr val="2C3E50"/>
                </a:solidFill>
                <a:latin typeface="Calibri" pitchFamily="34" charset="0"/>
                <a:ea typeface="Calibri" pitchFamily="34" charset="-122"/>
                <a:cs typeface="Calibri" pitchFamily="34" charset="-120"/>
              </a:rPr>
              <a:t>Started by Mark Curphey on</a:t>
            </a:r>
            <a:endParaRPr lang="en-US" sz="2200" dirty="0"/>
          </a:p>
          <a:p>
            <a:r>
              <a:rPr lang="en-US" sz="2200" dirty="0">
                <a:solidFill>
                  <a:srgbClr val="2C3E50"/>
                </a:solidFill>
                <a:latin typeface="Calibri" pitchFamily="34" charset="0"/>
                <a:ea typeface="Calibri" pitchFamily="34" charset="-122"/>
                <a:cs typeface="Calibri" pitchFamily="34" charset="-120"/>
              </a:rPr>
              <a:t>September 9, 2001</a:t>
            </a:r>
            <a:endParaRPr lang="en-US" sz="2200" dirty="0"/>
          </a:p>
        </p:txBody>
      </p:sp>
      <p:sp>
        <p:nvSpPr>
          <p:cNvPr id="12" name="Shape 10"/>
          <p:cNvSpPr/>
          <p:nvPr/>
        </p:nvSpPr>
        <p:spPr>
          <a:xfrm>
            <a:off x="6345936" y="4297680"/>
            <a:ext cx="5486400" cy="2834640"/>
          </a:xfrm>
          <a:prstGeom prst="rect">
            <a:avLst/>
          </a:prstGeom>
          <a:solidFill>
            <a:srgbClr val="FFFFFF"/>
          </a:solidFill>
          <a:ln w="12700">
            <a:solidFill>
              <a:srgbClr val="D0E8ED"/>
            </a:solidFill>
            <a:prstDash val="solid"/>
          </a:ln>
          <a:effectLst>
            <a:outerShdw blurRad="76200" dist="25400" dir="8100000" algn="bl" rotWithShape="0">
              <a:srgbClr val="000000">
                <a:alpha val="10000"/>
              </a:srgbClr>
            </a:outerShdw>
          </a:effectLst>
        </p:spPr>
      </p:sp>
      <p:sp>
        <p:nvSpPr>
          <p:cNvPr id="13" name="Shape 11"/>
          <p:cNvSpPr/>
          <p:nvPr/>
        </p:nvSpPr>
        <p:spPr>
          <a:xfrm>
            <a:off x="6345936" y="4297680"/>
            <a:ext cx="5486400" cy="768096"/>
          </a:xfrm>
          <a:prstGeom prst="rect">
            <a:avLst/>
          </a:prstGeom>
          <a:solidFill>
            <a:srgbClr val="005F73"/>
          </a:solidFill>
          <a:ln w="12700">
            <a:solidFill>
              <a:srgbClr val="005F73"/>
            </a:solidFill>
            <a:prstDash val="solid"/>
          </a:ln>
        </p:spPr>
      </p:sp>
      <p:sp>
        <p:nvSpPr>
          <p:cNvPr id="14" name="Text 12"/>
          <p:cNvSpPr/>
          <p:nvPr/>
        </p:nvSpPr>
        <p:spPr>
          <a:xfrm>
            <a:off x="6528816" y="4334256"/>
            <a:ext cx="5120640" cy="694944"/>
          </a:xfrm>
          <a:prstGeom prst="rect">
            <a:avLst/>
          </a:prstGeom>
          <a:noFill/>
          <a:ln/>
        </p:spPr>
        <p:txBody>
          <a:bodyPr wrap="square" rtlCol="0" anchor="ctr"/>
          <a:lstStyle/>
          <a:p>
            <a:r>
              <a:rPr lang="en-US" sz="2400" b="1" dirty="0">
                <a:solidFill>
                  <a:srgbClr val="FFFFFF"/>
                </a:solidFill>
                <a:latin typeface="Arial" pitchFamily="34" charset="0"/>
                <a:ea typeface="Arial" pitchFamily="34" charset="-122"/>
                <a:cs typeface="Arial" pitchFamily="34" charset="-120"/>
              </a:rPr>
              <a:t>🏛️  Organization</a:t>
            </a:r>
            <a:endParaRPr lang="en-US" sz="2400" dirty="0"/>
          </a:p>
        </p:txBody>
      </p:sp>
      <p:sp>
        <p:nvSpPr>
          <p:cNvPr id="15" name="Text 13"/>
          <p:cNvSpPr/>
          <p:nvPr/>
        </p:nvSpPr>
        <p:spPr>
          <a:xfrm>
            <a:off x="6565392" y="5157216"/>
            <a:ext cx="5047488" cy="1828800"/>
          </a:xfrm>
          <a:prstGeom prst="rect">
            <a:avLst/>
          </a:prstGeom>
          <a:noFill/>
          <a:ln/>
        </p:spPr>
        <p:txBody>
          <a:bodyPr wrap="square" rtlCol="0" anchor="t"/>
          <a:lstStyle/>
          <a:p>
            <a:r>
              <a:rPr lang="en-US" sz="2200" dirty="0">
                <a:solidFill>
                  <a:srgbClr val="2C3E50"/>
                </a:solidFill>
                <a:latin typeface="Calibri" pitchFamily="34" charset="0"/>
                <a:ea typeface="Calibri" pitchFamily="34" charset="-122"/>
                <a:cs typeface="Calibri" pitchFamily="34" charset="-120"/>
              </a:rPr>
              <a:t>Backed by OWASP Foundation</a:t>
            </a:r>
            <a:endParaRPr lang="en-US" sz="2200" dirty="0"/>
          </a:p>
          <a:p>
            <a:r>
              <a:rPr lang="en-US" sz="2200" dirty="0">
                <a:solidFill>
                  <a:srgbClr val="2C3E50"/>
                </a:solidFill>
                <a:latin typeface="Calibri" pitchFamily="34" charset="0"/>
                <a:ea typeface="Calibri" pitchFamily="34" charset="-122"/>
                <a:cs typeface="Calibri" pitchFamily="34" charset="-120"/>
              </a:rPr>
              <a:t>501(c)(3) Non-profit (est. 2004)</a:t>
            </a:r>
            <a:endParaRPr lang="en-US" sz="2200" dirty="0"/>
          </a:p>
        </p:txBody>
      </p:sp>
      <p:sp>
        <p:nvSpPr>
          <p:cNvPr id="16" name="Shape 14"/>
          <p:cNvSpPr/>
          <p:nvPr/>
        </p:nvSpPr>
        <p:spPr>
          <a:xfrm>
            <a:off x="12143232" y="4297680"/>
            <a:ext cx="5486400" cy="2834640"/>
          </a:xfrm>
          <a:prstGeom prst="rect">
            <a:avLst/>
          </a:prstGeom>
          <a:solidFill>
            <a:srgbClr val="FFFFFF"/>
          </a:solidFill>
          <a:ln w="12700">
            <a:solidFill>
              <a:srgbClr val="D0E8ED"/>
            </a:solidFill>
            <a:prstDash val="solid"/>
          </a:ln>
          <a:effectLst>
            <a:outerShdw blurRad="76200" dist="25400" dir="8100000" algn="bl" rotWithShape="0">
              <a:srgbClr val="000000">
                <a:alpha val="10000"/>
              </a:srgbClr>
            </a:outerShdw>
          </a:effectLst>
        </p:spPr>
      </p:sp>
      <p:sp>
        <p:nvSpPr>
          <p:cNvPr id="17" name="Shape 15"/>
          <p:cNvSpPr/>
          <p:nvPr/>
        </p:nvSpPr>
        <p:spPr>
          <a:xfrm>
            <a:off x="12143232" y="4297680"/>
            <a:ext cx="5486400" cy="768096"/>
          </a:xfrm>
          <a:prstGeom prst="rect">
            <a:avLst/>
          </a:prstGeom>
          <a:solidFill>
            <a:srgbClr val="004D5B"/>
          </a:solidFill>
          <a:ln w="12700">
            <a:solidFill>
              <a:srgbClr val="004D5B"/>
            </a:solidFill>
            <a:prstDash val="solid"/>
          </a:ln>
        </p:spPr>
      </p:sp>
      <p:sp>
        <p:nvSpPr>
          <p:cNvPr id="18" name="Text 16"/>
          <p:cNvSpPr/>
          <p:nvPr/>
        </p:nvSpPr>
        <p:spPr>
          <a:xfrm>
            <a:off x="12326112" y="4334256"/>
            <a:ext cx="5120640" cy="694944"/>
          </a:xfrm>
          <a:prstGeom prst="rect">
            <a:avLst/>
          </a:prstGeom>
          <a:noFill/>
          <a:ln/>
        </p:spPr>
        <p:txBody>
          <a:bodyPr wrap="square" rtlCol="0" anchor="ctr"/>
          <a:lstStyle/>
          <a:p>
            <a:r>
              <a:rPr lang="en-US" sz="2400" b="1" dirty="0">
                <a:solidFill>
                  <a:srgbClr val="FFFFFF"/>
                </a:solidFill>
                <a:latin typeface="Arial" pitchFamily="34" charset="0"/>
                <a:ea typeface="Arial" pitchFamily="34" charset="-122"/>
                <a:cs typeface="Arial" pitchFamily="34" charset="-120"/>
              </a:rPr>
              <a:t>🎯  Mission</a:t>
            </a:r>
            <a:endParaRPr lang="en-US" sz="2400" dirty="0"/>
          </a:p>
        </p:txBody>
      </p:sp>
      <p:sp>
        <p:nvSpPr>
          <p:cNvPr id="19" name="Text 17"/>
          <p:cNvSpPr/>
          <p:nvPr/>
        </p:nvSpPr>
        <p:spPr>
          <a:xfrm>
            <a:off x="12362688" y="5157216"/>
            <a:ext cx="5047488" cy="1828800"/>
          </a:xfrm>
          <a:prstGeom prst="rect">
            <a:avLst/>
          </a:prstGeom>
          <a:noFill/>
          <a:ln/>
        </p:spPr>
        <p:txBody>
          <a:bodyPr wrap="square" rtlCol="0" anchor="t"/>
          <a:lstStyle/>
          <a:p>
            <a:r>
              <a:rPr lang="en-US" sz="2200" dirty="0">
                <a:solidFill>
                  <a:srgbClr val="2C3E50"/>
                </a:solidFill>
                <a:latin typeface="Calibri" pitchFamily="34" charset="0"/>
                <a:ea typeface="Calibri" pitchFamily="34" charset="-122"/>
                <a:cs typeface="Calibri" pitchFamily="34" charset="-120"/>
              </a:rPr>
              <a:t>Make software security visible</a:t>
            </a:r>
            <a:endParaRPr lang="en-US" sz="2200" dirty="0"/>
          </a:p>
          <a:p>
            <a:r>
              <a:rPr lang="en-US" sz="2200" dirty="0">
                <a:solidFill>
                  <a:srgbClr val="2C3E50"/>
                </a:solidFill>
                <a:latin typeface="Calibri" pitchFamily="34" charset="0"/>
                <a:ea typeface="Calibri" pitchFamily="34" charset="-122"/>
                <a:cs typeface="Calibri" pitchFamily="34" charset="-120"/>
              </a:rPr>
              <a:t>and accessible to everyone</a:t>
            </a:r>
            <a:endParaRPr lang="en-US" sz="2200" dirty="0"/>
          </a:p>
        </p:txBody>
      </p:sp>
      <p:sp>
        <p:nvSpPr>
          <p:cNvPr id="20" name="Text 18"/>
          <p:cNvSpPr/>
          <p:nvPr/>
        </p:nvSpPr>
        <p:spPr>
          <a:xfrm>
            <a:off x="548640" y="7315200"/>
            <a:ext cx="7315200" cy="548640"/>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Coverage Areas</a:t>
            </a:r>
            <a:endParaRPr lang="en-US" sz="2600" dirty="0"/>
          </a:p>
        </p:txBody>
      </p:sp>
      <p:sp>
        <p:nvSpPr>
          <p:cNvPr id="21" name="Shape 19"/>
          <p:cNvSpPr/>
          <p:nvPr/>
        </p:nvSpPr>
        <p:spPr>
          <a:xfrm>
            <a:off x="548640" y="7955280"/>
            <a:ext cx="8412480" cy="548640"/>
          </a:xfrm>
          <a:prstGeom prst="rect">
            <a:avLst/>
          </a:prstGeom>
          <a:solidFill>
            <a:srgbClr val="E8F6F8"/>
          </a:solidFill>
          <a:ln w="12700">
            <a:solidFill>
              <a:srgbClr val="00B4C8"/>
            </a:solidFill>
            <a:prstDash val="solid"/>
          </a:ln>
        </p:spPr>
      </p:sp>
      <p:sp>
        <p:nvSpPr>
          <p:cNvPr id="22" name="Text 20"/>
          <p:cNvSpPr/>
          <p:nvPr/>
        </p:nvSpPr>
        <p:spPr>
          <a:xfrm>
            <a:off x="731520" y="7973568"/>
            <a:ext cx="8046720" cy="512064"/>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 Web Application Security</a:t>
            </a:r>
            <a:endParaRPr lang="en-US" sz="2100" dirty="0"/>
          </a:p>
        </p:txBody>
      </p:sp>
      <p:sp>
        <p:nvSpPr>
          <p:cNvPr id="23" name="Shape 21"/>
          <p:cNvSpPr/>
          <p:nvPr/>
        </p:nvSpPr>
        <p:spPr>
          <a:xfrm>
            <a:off x="548640" y="8595360"/>
            <a:ext cx="8412480" cy="548640"/>
          </a:xfrm>
          <a:prstGeom prst="rect">
            <a:avLst/>
          </a:prstGeom>
          <a:solidFill>
            <a:srgbClr val="E8F6F8"/>
          </a:solidFill>
          <a:ln w="12700">
            <a:solidFill>
              <a:srgbClr val="00B4C8"/>
            </a:solidFill>
            <a:prstDash val="solid"/>
          </a:ln>
        </p:spPr>
      </p:sp>
      <p:sp>
        <p:nvSpPr>
          <p:cNvPr id="24" name="Text 22"/>
          <p:cNvSpPr/>
          <p:nvPr/>
        </p:nvSpPr>
        <p:spPr>
          <a:xfrm>
            <a:off x="731520" y="8613648"/>
            <a:ext cx="8046720" cy="512064"/>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 IoT (Internet of Things)</a:t>
            </a:r>
            <a:endParaRPr lang="en-US" sz="2100" dirty="0"/>
          </a:p>
        </p:txBody>
      </p:sp>
      <p:sp>
        <p:nvSpPr>
          <p:cNvPr id="25" name="Shape 23"/>
          <p:cNvSpPr/>
          <p:nvPr/>
        </p:nvSpPr>
        <p:spPr>
          <a:xfrm>
            <a:off x="548640" y="9235440"/>
            <a:ext cx="8412480" cy="548640"/>
          </a:xfrm>
          <a:prstGeom prst="rect">
            <a:avLst/>
          </a:prstGeom>
          <a:solidFill>
            <a:srgbClr val="E8F6F8"/>
          </a:solidFill>
          <a:ln w="12700">
            <a:solidFill>
              <a:srgbClr val="00B4C8"/>
            </a:solidFill>
            <a:prstDash val="solid"/>
          </a:ln>
        </p:spPr>
      </p:sp>
      <p:sp>
        <p:nvSpPr>
          <p:cNvPr id="26" name="Text 24"/>
          <p:cNvSpPr/>
          <p:nvPr/>
        </p:nvSpPr>
        <p:spPr>
          <a:xfrm>
            <a:off x="731520" y="9253728"/>
            <a:ext cx="8046720" cy="512064"/>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 System Software Security</a:t>
            </a:r>
            <a:endParaRPr lang="en-US" sz="2100" dirty="0"/>
          </a:p>
        </p:txBody>
      </p:sp>
      <p:sp>
        <p:nvSpPr>
          <p:cNvPr id="27" name="Shape 25"/>
          <p:cNvSpPr/>
          <p:nvPr/>
        </p:nvSpPr>
        <p:spPr>
          <a:xfrm>
            <a:off x="9326880" y="7955280"/>
            <a:ext cx="8412480" cy="548640"/>
          </a:xfrm>
          <a:prstGeom prst="rect">
            <a:avLst/>
          </a:prstGeom>
          <a:solidFill>
            <a:srgbClr val="EAF8F0"/>
          </a:solidFill>
          <a:ln w="12700">
            <a:solidFill>
              <a:srgbClr val="27AE60"/>
            </a:solidFill>
            <a:prstDash val="solid"/>
          </a:ln>
        </p:spPr>
      </p:sp>
      <p:sp>
        <p:nvSpPr>
          <p:cNvPr id="28" name="Text 26"/>
          <p:cNvSpPr/>
          <p:nvPr/>
        </p:nvSpPr>
        <p:spPr>
          <a:xfrm>
            <a:off x="9509760" y="7973568"/>
            <a:ext cx="8046720" cy="512064"/>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 Tools &amp; Methodologies</a:t>
            </a:r>
            <a:endParaRPr lang="en-US" sz="2100" dirty="0"/>
          </a:p>
        </p:txBody>
      </p:sp>
      <p:sp>
        <p:nvSpPr>
          <p:cNvPr id="29" name="Shape 27"/>
          <p:cNvSpPr/>
          <p:nvPr/>
        </p:nvSpPr>
        <p:spPr>
          <a:xfrm>
            <a:off x="9326880" y="8595360"/>
            <a:ext cx="8412480" cy="548640"/>
          </a:xfrm>
          <a:prstGeom prst="rect">
            <a:avLst/>
          </a:prstGeom>
          <a:solidFill>
            <a:srgbClr val="EAF8F0"/>
          </a:solidFill>
          <a:ln w="12700">
            <a:solidFill>
              <a:srgbClr val="27AE60"/>
            </a:solidFill>
            <a:prstDash val="solid"/>
          </a:ln>
        </p:spPr>
      </p:sp>
      <p:sp>
        <p:nvSpPr>
          <p:cNvPr id="30" name="Text 28"/>
          <p:cNvSpPr/>
          <p:nvPr/>
        </p:nvSpPr>
        <p:spPr>
          <a:xfrm>
            <a:off x="9509760" y="8613648"/>
            <a:ext cx="8046720" cy="512064"/>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 Documentation &amp; Guidelines</a:t>
            </a:r>
            <a:endParaRPr lang="en-US" sz="2100" dirty="0"/>
          </a:p>
        </p:txBody>
      </p:sp>
      <p:sp>
        <p:nvSpPr>
          <p:cNvPr id="31" name="Shape 29"/>
          <p:cNvSpPr/>
          <p:nvPr/>
        </p:nvSpPr>
        <p:spPr>
          <a:xfrm>
            <a:off x="0" y="9875520"/>
            <a:ext cx="18288000" cy="411480"/>
          </a:xfrm>
          <a:prstGeom prst="rect">
            <a:avLst/>
          </a:prstGeom>
          <a:solidFill>
            <a:srgbClr val="004D5B"/>
          </a:solidFill>
          <a:ln w="12700">
            <a:solidFill>
              <a:srgbClr val="004D5B"/>
            </a:solidFill>
            <a:prstDash val="solid"/>
          </a:ln>
        </p:spPr>
      </p:sp>
      <p:sp>
        <p:nvSpPr>
          <p:cNvPr id="32" name="Text 30"/>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34" name="Picture 33">
            <a:extLst>
              <a:ext uri="{FF2B5EF4-FFF2-40B4-BE49-F238E27FC236}">
                <a16:creationId xmlns:a16="http://schemas.microsoft.com/office/drawing/2014/main" id="{64258F9C-EF4C-999C-7E5B-50FEAC3288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58800" y="56568"/>
            <a:ext cx="4922520" cy="180654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2011680"/>
          </a:xfrm>
          <a:prstGeom prst="rect">
            <a:avLst/>
          </a:prstGeom>
          <a:solidFill>
            <a:srgbClr val="003845"/>
          </a:solidFill>
          <a:ln w="12700">
            <a:solidFill>
              <a:srgbClr val="003845"/>
            </a:solidFill>
            <a:prstDash val="solid"/>
          </a:ln>
        </p:spPr>
      </p:sp>
      <p:sp>
        <p:nvSpPr>
          <p:cNvPr id="3" name="Text 1"/>
          <p:cNvSpPr/>
          <p:nvPr/>
        </p:nvSpPr>
        <p:spPr>
          <a:xfrm>
            <a:off x="548640" y="182880"/>
            <a:ext cx="16459200" cy="1005840"/>
          </a:xfrm>
          <a:prstGeom prst="rect">
            <a:avLst/>
          </a:prstGeom>
          <a:noFill/>
          <a:ln/>
        </p:spPr>
        <p:txBody>
          <a:bodyPr wrap="square" rtlCol="0" anchor="ctr"/>
          <a:lstStyle/>
          <a:p>
            <a:r>
              <a:rPr lang="en-US" sz="5200" b="1" dirty="0">
                <a:solidFill>
                  <a:srgbClr val="FFFFFF"/>
                </a:solidFill>
                <a:latin typeface="Arial Black" pitchFamily="34" charset="0"/>
                <a:ea typeface="Arial Black" pitchFamily="34" charset="-122"/>
                <a:cs typeface="Arial Black" pitchFamily="34" charset="-120"/>
              </a:rPr>
              <a:t>OWASP Top 10 — 2021 Edition</a:t>
            </a:r>
            <a:endParaRPr lang="en-US" sz="5200" dirty="0"/>
          </a:p>
        </p:txBody>
      </p:sp>
      <p:sp>
        <p:nvSpPr>
          <p:cNvPr id="4" name="Text 2"/>
          <p:cNvSpPr/>
          <p:nvPr/>
        </p:nvSpPr>
        <p:spPr>
          <a:xfrm>
            <a:off x="548640" y="1188720"/>
            <a:ext cx="16459200" cy="585216"/>
          </a:xfrm>
          <a:prstGeom prst="rect">
            <a:avLst/>
          </a:prstGeom>
          <a:noFill/>
          <a:ln/>
        </p:spPr>
        <p:txBody>
          <a:bodyPr wrap="square" rtlCol="0" anchor="ctr"/>
          <a:lstStyle/>
          <a:p>
            <a:r>
              <a:rPr lang="en-US" sz="2200" dirty="0">
                <a:solidFill>
                  <a:srgbClr val="00B4C8"/>
                </a:solidFill>
                <a:latin typeface="Calibri" pitchFamily="34" charset="0"/>
                <a:ea typeface="Calibri" pitchFamily="34" charset="-122"/>
                <a:cs typeface="Calibri" pitchFamily="34" charset="-120"/>
              </a:rPr>
              <a:t>The 10 Most Critical Web Application Security Risks</a:t>
            </a:r>
            <a:endParaRPr lang="en-US" sz="2200" dirty="0"/>
          </a:p>
        </p:txBody>
      </p:sp>
      <p:sp>
        <p:nvSpPr>
          <p:cNvPr id="5" name="Shape 3"/>
          <p:cNvSpPr/>
          <p:nvPr/>
        </p:nvSpPr>
        <p:spPr>
          <a:xfrm>
            <a:off x="0" y="2011680"/>
            <a:ext cx="18288000" cy="73152"/>
          </a:xfrm>
          <a:prstGeom prst="rect">
            <a:avLst/>
          </a:prstGeom>
          <a:solidFill>
            <a:srgbClr val="00B4C8"/>
          </a:solidFill>
          <a:ln w="12700">
            <a:solidFill>
              <a:srgbClr val="00B4C8"/>
            </a:solidFill>
            <a:prstDash val="solid"/>
          </a:ln>
        </p:spPr>
      </p:sp>
      <p:sp>
        <p:nvSpPr>
          <p:cNvPr id="6" name="Shape 4"/>
          <p:cNvSpPr/>
          <p:nvPr/>
        </p:nvSpPr>
        <p:spPr>
          <a:xfrm>
            <a:off x="365760" y="2194560"/>
            <a:ext cx="8686800" cy="1371600"/>
          </a:xfrm>
          <a:prstGeom prst="rect">
            <a:avLst/>
          </a:prstGeom>
          <a:solidFill>
            <a:srgbClr val="00404F"/>
          </a:solidFill>
          <a:ln w="12700">
            <a:solidFill>
              <a:srgbClr val="005060"/>
            </a:solidFill>
            <a:prstDash val="solid"/>
          </a:ln>
          <a:effectLst>
            <a:outerShdw blurRad="76200" dist="25400" dir="8100000" algn="bl" rotWithShape="0">
              <a:srgbClr val="000000">
                <a:alpha val="10000"/>
              </a:srgbClr>
            </a:outerShdw>
          </a:effectLst>
        </p:spPr>
      </p:sp>
      <p:sp>
        <p:nvSpPr>
          <p:cNvPr id="7" name="Shape 5"/>
          <p:cNvSpPr/>
          <p:nvPr/>
        </p:nvSpPr>
        <p:spPr>
          <a:xfrm>
            <a:off x="365760" y="2194560"/>
            <a:ext cx="1005840" cy="1371600"/>
          </a:xfrm>
          <a:prstGeom prst="rect">
            <a:avLst/>
          </a:prstGeom>
          <a:solidFill>
            <a:srgbClr val="C0392B"/>
          </a:solidFill>
          <a:ln w="12700">
            <a:solidFill>
              <a:srgbClr val="C0392B"/>
            </a:solidFill>
            <a:prstDash val="solid"/>
          </a:ln>
        </p:spPr>
      </p:sp>
      <p:sp>
        <p:nvSpPr>
          <p:cNvPr id="8" name="Text 6"/>
          <p:cNvSpPr/>
          <p:nvPr/>
        </p:nvSpPr>
        <p:spPr>
          <a:xfrm>
            <a:off x="365760" y="2267712"/>
            <a:ext cx="1005840" cy="658368"/>
          </a:xfrm>
          <a:prstGeom prst="rect">
            <a:avLst/>
          </a:prstGeom>
          <a:noFill/>
          <a:ln/>
        </p:spPr>
        <p:txBody>
          <a:bodyPr wrap="square" rtlCol="0" anchor="ctr"/>
          <a:lstStyle/>
          <a:p>
            <a:pPr algn="ctr"/>
            <a:r>
              <a:rPr lang="en-US" b="1" dirty="0">
                <a:solidFill>
                  <a:srgbClr val="FFFFFF"/>
                </a:solidFill>
                <a:latin typeface="Arial Black" pitchFamily="34" charset="0"/>
                <a:ea typeface="Arial Black" pitchFamily="34" charset="-122"/>
                <a:cs typeface="Arial Black" pitchFamily="34" charset="-120"/>
              </a:rPr>
              <a:t>A01</a:t>
            </a:r>
            <a:endParaRPr lang="en-US" dirty="0"/>
          </a:p>
        </p:txBody>
      </p:sp>
      <p:sp>
        <p:nvSpPr>
          <p:cNvPr id="9" name="Text 7"/>
          <p:cNvSpPr/>
          <p:nvPr/>
        </p:nvSpPr>
        <p:spPr>
          <a:xfrm>
            <a:off x="365760" y="2889504"/>
            <a:ext cx="1005840" cy="457200"/>
          </a:xfrm>
          <a:prstGeom prst="rect">
            <a:avLst/>
          </a:prstGeom>
          <a:noFill/>
          <a:ln/>
        </p:spPr>
        <p:txBody>
          <a:bodyPr wrap="square" rtlCol="0" anchor="ctr"/>
          <a:lstStyle/>
          <a:p>
            <a:pPr algn="ctr"/>
            <a:r>
              <a:rPr lang="en-US" sz="1300" dirty="0">
                <a:solidFill>
                  <a:srgbClr val="CCDDDF"/>
                </a:solidFill>
                <a:latin typeface="Calibri" pitchFamily="34" charset="0"/>
                <a:ea typeface="Calibri" pitchFamily="34" charset="-122"/>
                <a:cs typeface="Calibri" pitchFamily="34" charset="-120"/>
              </a:rPr>
              <a:t>:2021</a:t>
            </a:r>
            <a:endParaRPr lang="en-US" sz="1300" dirty="0"/>
          </a:p>
        </p:txBody>
      </p:sp>
      <p:sp>
        <p:nvSpPr>
          <p:cNvPr id="10" name="Shape 8"/>
          <p:cNvSpPr/>
          <p:nvPr/>
        </p:nvSpPr>
        <p:spPr>
          <a:xfrm rot="2700000">
            <a:off x="1517904" y="2560320"/>
            <a:ext cx="512064" cy="512064"/>
          </a:xfrm>
          <a:prstGeom prst="rect">
            <a:avLst/>
          </a:prstGeom>
          <a:solidFill>
            <a:srgbClr val="FFFFFF"/>
          </a:solidFill>
          <a:ln w="12700">
            <a:solidFill>
              <a:srgbClr val="C0392B"/>
            </a:solidFill>
            <a:prstDash val="solid"/>
          </a:ln>
        </p:spPr>
      </p:sp>
      <p:sp>
        <p:nvSpPr>
          <p:cNvPr id="11" name="Text 9"/>
          <p:cNvSpPr/>
          <p:nvPr/>
        </p:nvSpPr>
        <p:spPr>
          <a:xfrm>
            <a:off x="2157984" y="2414016"/>
            <a:ext cx="6675120" cy="950976"/>
          </a:xfrm>
          <a:prstGeom prst="rect">
            <a:avLst/>
          </a:prstGeom>
          <a:noFill/>
          <a:ln/>
        </p:spPr>
        <p:txBody>
          <a:bodyPr wrap="square" rtlCol="0" anchor="ctr"/>
          <a:lstStyle/>
          <a:p>
            <a:r>
              <a:rPr lang="en-US" sz="2300" b="1" dirty="0">
                <a:solidFill>
                  <a:srgbClr val="FFFFFF"/>
                </a:solidFill>
                <a:latin typeface="Calibri" pitchFamily="34" charset="0"/>
                <a:ea typeface="Calibri" pitchFamily="34" charset="-122"/>
                <a:cs typeface="Calibri" pitchFamily="34" charset="-120"/>
              </a:rPr>
              <a:t>Broken Access Control</a:t>
            </a:r>
            <a:endParaRPr lang="en-US" sz="2300" dirty="0"/>
          </a:p>
        </p:txBody>
      </p:sp>
      <p:sp>
        <p:nvSpPr>
          <p:cNvPr id="12" name="Shape 10"/>
          <p:cNvSpPr/>
          <p:nvPr/>
        </p:nvSpPr>
        <p:spPr>
          <a:xfrm>
            <a:off x="365760" y="3730752"/>
            <a:ext cx="8686800" cy="1371600"/>
          </a:xfrm>
          <a:prstGeom prst="rect">
            <a:avLst/>
          </a:prstGeom>
          <a:solidFill>
            <a:srgbClr val="00404F"/>
          </a:solidFill>
          <a:ln w="12700">
            <a:solidFill>
              <a:srgbClr val="005060"/>
            </a:solidFill>
            <a:prstDash val="solid"/>
          </a:ln>
          <a:effectLst>
            <a:outerShdw blurRad="76200" dist="25400" dir="8100000" algn="bl" rotWithShape="0">
              <a:srgbClr val="000000">
                <a:alpha val="10000"/>
              </a:srgbClr>
            </a:outerShdw>
          </a:effectLst>
        </p:spPr>
      </p:sp>
      <p:sp>
        <p:nvSpPr>
          <p:cNvPr id="13" name="Shape 11"/>
          <p:cNvSpPr/>
          <p:nvPr/>
        </p:nvSpPr>
        <p:spPr>
          <a:xfrm>
            <a:off x="365760" y="3730752"/>
            <a:ext cx="1005840" cy="1371600"/>
          </a:xfrm>
          <a:prstGeom prst="rect">
            <a:avLst/>
          </a:prstGeom>
          <a:solidFill>
            <a:srgbClr val="8E44AD"/>
          </a:solidFill>
          <a:ln w="12700">
            <a:solidFill>
              <a:srgbClr val="8E44AD"/>
            </a:solidFill>
            <a:prstDash val="solid"/>
          </a:ln>
        </p:spPr>
      </p:sp>
      <p:sp>
        <p:nvSpPr>
          <p:cNvPr id="14" name="Text 12"/>
          <p:cNvSpPr/>
          <p:nvPr/>
        </p:nvSpPr>
        <p:spPr>
          <a:xfrm>
            <a:off x="365760" y="3803904"/>
            <a:ext cx="1005840" cy="658368"/>
          </a:xfrm>
          <a:prstGeom prst="rect">
            <a:avLst/>
          </a:prstGeom>
          <a:noFill/>
          <a:ln/>
        </p:spPr>
        <p:txBody>
          <a:bodyPr wrap="square" rtlCol="0" anchor="ctr"/>
          <a:lstStyle/>
          <a:p>
            <a:pPr algn="ctr"/>
            <a:r>
              <a:rPr lang="en-US" b="1" dirty="0">
                <a:solidFill>
                  <a:srgbClr val="FFFFFF"/>
                </a:solidFill>
                <a:latin typeface="Arial Black" pitchFamily="34" charset="0"/>
                <a:ea typeface="Arial Black" pitchFamily="34" charset="-122"/>
                <a:cs typeface="Arial Black" pitchFamily="34" charset="-120"/>
              </a:rPr>
              <a:t>A02</a:t>
            </a:r>
            <a:endParaRPr lang="en-US" dirty="0"/>
          </a:p>
        </p:txBody>
      </p:sp>
      <p:sp>
        <p:nvSpPr>
          <p:cNvPr id="15" name="Text 13"/>
          <p:cNvSpPr/>
          <p:nvPr/>
        </p:nvSpPr>
        <p:spPr>
          <a:xfrm>
            <a:off x="365760" y="4425696"/>
            <a:ext cx="1005840" cy="457200"/>
          </a:xfrm>
          <a:prstGeom prst="rect">
            <a:avLst/>
          </a:prstGeom>
          <a:noFill/>
          <a:ln/>
        </p:spPr>
        <p:txBody>
          <a:bodyPr wrap="square" rtlCol="0" anchor="ctr"/>
          <a:lstStyle/>
          <a:p>
            <a:pPr algn="ctr"/>
            <a:r>
              <a:rPr lang="en-US" sz="1300" dirty="0">
                <a:solidFill>
                  <a:srgbClr val="CCDDDF"/>
                </a:solidFill>
                <a:latin typeface="Calibri" pitchFamily="34" charset="0"/>
                <a:ea typeface="Calibri" pitchFamily="34" charset="-122"/>
                <a:cs typeface="Calibri" pitchFamily="34" charset="-120"/>
              </a:rPr>
              <a:t>:2021</a:t>
            </a:r>
            <a:endParaRPr lang="en-US" sz="1300" dirty="0"/>
          </a:p>
        </p:txBody>
      </p:sp>
      <p:sp>
        <p:nvSpPr>
          <p:cNvPr id="16" name="Shape 14"/>
          <p:cNvSpPr/>
          <p:nvPr/>
        </p:nvSpPr>
        <p:spPr>
          <a:xfrm rot="2700000">
            <a:off x="1517904" y="4096512"/>
            <a:ext cx="512064" cy="512064"/>
          </a:xfrm>
          <a:prstGeom prst="rect">
            <a:avLst/>
          </a:prstGeom>
          <a:solidFill>
            <a:srgbClr val="FFFFFF"/>
          </a:solidFill>
          <a:ln w="12700">
            <a:solidFill>
              <a:srgbClr val="8E44AD"/>
            </a:solidFill>
            <a:prstDash val="solid"/>
          </a:ln>
        </p:spPr>
      </p:sp>
      <p:sp>
        <p:nvSpPr>
          <p:cNvPr id="17" name="Text 15"/>
          <p:cNvSpPr/>
          <p:nvPr/>
        </p:nvSpPr>
        <p:spPr>
          <a:xfrm>
            <a:off x="2157984" y="3950208"/>
            <a:ext cx="6675120" cy="950976"/>
          </a:xfrm>
          <a:prstGeom prst="rect">
            <a:avLst/>
          </a:prstGeom>
          <a:noFill/>
          <a:ln/>
        </p:spPr>
        <p:txBody>
          <a:bodyPr wrap="square" rtlCol="0" anchor="ctr"/>
          <a:lstStyle/>
          <a:p>
            <a:r>
              <a:rPr lang="en-US" sz="2300" b="1" dirty="0">
                <a:solidFill>
                  <a:srgbClr val="FFFFFF"/>
                </a:solidFill>
                <a:latin typeface="Calibri" pitchFamily="34" charset="0"/>
                <a:ea typeface="Calibri" pitchFamily="34" charset="-122"/>
                <a:cs typeface="Calibri" pitchFamily="34" charset="-120"/>
              </a:rPr>
              <a:t>Cryptographic Failures</a:t>
            </a:r>
            <a:endParaRPr lang="en-US" sz="2300" dirty="0"/>
          </a:p>
        </p:txBody>
      </p:sp>
      <p:sp>
        <p:nvSpPr>
          <p:cNvPr id="18" name="Shape 16"/>
          <p:cNvSpPr/>
          <p:nvPr/>
        </p:nvSpPr>
        <p:spPr>
          <a:xfrm>
            <a:off x="365760" y="5266944"/>
            <a:ext cx="8686800" cy="1371600"/>
          </a:xfrm>
          <a:prstGeom prst="rect">
            <a:avLst/>
          </a:prstGeom>
          <a:solidFill>
            <a:srgbClr val="00404F"/>
          </a:solidFill>
          <a:ln w="12700">
            <a:solidFill>
              <a:srgbClr val="005060"/>
            </a:solidFill>
            <a:prstDash val="solid"/>
          </a:ln>
          <a:effectLst>
            <a:outerShdw blurRad="76200" dist="25400" dir="8100000" algn="bl" rotWithShape="0">
              <a:srgbClr val="000000">
                <a:alpha val="10000"/>
              </a:srgbClr>
            </a:outerShdw>
          </a:effectLst>
        </p:spPr>
      </p:sp>
      <p:sp>
        <p:nvSpPr>
          <p:cNvPr id="19" name="Shape 17"/>
          <p:cNvSpPr/>
          <p:nvPr/>
        </p:nvSpPr>
        <p:spPr>
          <a:xfrm>
            <a:off x="365760" y="5266944"/>
            <a:ext cx="1005840" cy="1371600"/>
          </a:xfrm>
          <a:prstGeom prst="rect">
            <a:avLst/>
          </a:prstGeom>
          <a:solidFill>
            <a:srgbClr val="E67E22"/>
          </a:solidFill>
          <a:ln w="12700">
            <a:solidFill>
              <a:srgbClr val="E67E22"/>
            </a:solidFill>
            <a:prstDash val="solid"/>
          </a:ln>
        </p:spPr>
      </p:sp>
      <p:sp>
        <p:nvSpPr>
          <p:cNvPr id="20" name="Text 18"/>
          <p:cNvSpPr/>
          <p:nvPr/>
        </p:nvSpPr>
        <p:spPr>
          <a:xfrm>
            <a:off x="365760" y="5340096"/>
            <a:ext cx="1005840" cy="658368"/>
          </a:xfrm>
          <a:prstGeom prst="rect">
            <a:avLst/>
          </a:prstGeom>
          <a:noFill/>
          <a:ln/>
        </p:spPr>
        <p:txBody>
          <a:bodyPr wrap="square" rtlCol="0" anchor="ctr"/>
          <a:lstStyle/>
          <a:p>
            <a:pPr algn="ctr"/>
            <a:r>
              <a:rPr lang="en-US" b="1" dirty="0">
                <a:solidFill>
                  <a:srgbClr val="FFFFFF"/>
                </a:solidFill>
                <a:latin typeface="Arial Black" pitchFamily="34" charset="0"/>
                <a:ea typeface="Arial Black" pitchFamily="34" charset="-122"/>
                <a:cs typeface="Arial Black" pitchFamily="34" charset="-120"/>
              </a:rPr>
              <a:t>A03</a:t>
            </a:r>
            <a:endParaRPr lang="en-US" dirty="0"/>
          </a:p>
        </p:txBody>
      </p:sp>
      <p:sp>
        <p:nvSpPr>
          <p:cNvPr id="21" name="Text 19"/>
          <p:cNvSpPr/>
          <p:nvPr/>
        </p:nvSpPr>
        <p:spPr>
          <a:xfrm>
            <a:off x="365760" y="5961888"/>
            <a:ext cx="1005840" cy="457200"/>
          </a:xfrm>
          <a:prstGeom prst="rect">
            <a:avLst/>
          </a:prstGeom>
          <a:noFill/>
          <a:ln/>
        </p:spPr>
        <p:txBody>
          <a:bodyPr wrap="square" rtlCol="0" anchor="ctr"/>
          <a:lstStyle/>
          <a:p>
            <a:pPr algn="ctr"/>
            <a:r>
              <a:rPr lang="en-US" sz="1300" dirty="0">
                <a:solidFill>
                  <a:srgbClr val="CCDDDF"/>
                </a:solidFill>
                <a:latin typeface="Calibri" pitchFamily="34" charset="0"/>
                <a:ea typeface="Calibri" pitchFamily="34" charset="-122"/>
                <a:cs typeface="Calibri" pitchFamily="34" charset="-120"/>
              </a:rPr>
              <a:t>:2021</a:t>
            </a:r>
            <a:endParaRPr lang="en-US" sz="1300" dirty="0"/>
          </a:p>
        </p:txBody>
      </p:sp>
      <p:sp>
        <p:nvSpPr>
          <p:cNvPr id="22" name="Shape 20"/>
          <p:cNvSpPr/>
          <p:nvPr/>
        </p:nvSpPr>
        <p:spPr>
          <a:xfrm rot="2700000">
            <a:off x="1517904" y="5632704"/>
            <a:ext cx="512064" cy="512064"/>
          </a:xfrm>
          <a:prstGeom prst="rect">
            <a:avLst/>
          </a:prstGeom>
          <a:solidFill>
            <a:srgbClr val="FFFFFF"/>
          </a:solidFill>
          <a:ln w="12700">
            <a:solidFill>
              <a:srgbClr val="E67E22"/>
            </a:solidFill>
            <a:prstDash val="solid"/>
          </a:ln>
        </p:spPr>
      </p:sp>
      <p:sp>
        <p:nvSpPr>
          <p:cNvPr id="23" name="Text 21"/>
          <p:cNvSpPr/>
          <p:nvPr/>
        </p:nvSpPr>
        <p:spPr>
          <a:xfrm>
            <a:off x="2157984" y="5486400"/>
            <a:ext cx="6675120" cy="950976"/>
          </a:xfrm>
          <a:prstGeom prst="rect">
            <a:avLst/>
          </a:prstGeom>
          <a:noFill/>
          <a:ln/>
        </p:spPr>
        <p:txBody>
          <a:bodyPr wrap="square" rtlCol="0" anchor="ctr"/>
          <a:lstStyle/>
          <a:p>
            <a:r>
              <a:rPr lang="en-US" sz="2300" b="1" dirty="0">
                <a:solidFill>
                  <a:srgbClr val="FFFFFF"/>
                </a:solidFill>
                <a:latin typeface="Calibri" pitchFamily="34" charset="0"/>
                <a:ea typeface="Calibri" pitchFamily="34" charset="-122"/>
                <a:cs typeface="Calibri" pitchFamily="34" charset="-120"/>
              </a:rPr>
              <a:t>Injection</a:t>
            </a:r>
            <a:endParaRPr lang="en-US" sz="2300" dirty="0"/>
          </a:p>
        </p:txBody>
      </p:sp>
      <p:sp>
        <p:nvSpPr>
          <p:cNvPr id="24" name="Shape 22"/>
          <p:cNvSpPr/>
          <p:nvPr/>
        </p:nvSpPr>
        <p:spPr>
          <a:xfrm>
            <a:off x="365760" y="6803136"/>
            <a:ext cx="8686800" cy="1371600"/>
          </a:xfrm>
          <a:prstGeom prst="rect">
            <a:avLst/>
          </a:prstGeom>
          <a:solidFill>
            <a:srgbClr val="00404F"/>
          </a:solidFill>
          <a:ln w="12700">
            <a:solidFill>
              <a:srgbClr val="005060"/>
            </a:solidFill>
            <a:prstDash val="solid"/>
          </a:ln>
          <a:effectLst>
            <a:outerShdw blurRad="76200" dist="25400" dir="8100000" algn="bl" rotWithShape="0">
              <a:srgbClr val="000000">
                <a:alpha val="10000"/>
              </a:srgbClr>
            </a:outerShdw>
          </a:effectLst>
        </p:spPr>
      </p:sp>
      <p:sp>
        <p:nvSpPr>
          <p:cNvPr id="25" name="Shape 23"/>
          <p:cNvSpPr/>
          <p:nvPr/>
        </p:nvSpPr>
        <p:spPr>
          <a:xfrm>
            <a:off x="365760" y="6803136"/>
            <a:ext cx="1005840" cy="1371600"/>
          </a:xfrm>
          <a:prstGeom prst="rect">
            <a:avLst/>
          </a:prstGeom>
          <a:solidFill>
            <a:srgbClr val="2980B9"/>
          </a:solidFill>
          <a:ln w="12700">
            <a:solidFill>
              <a:srgbClr val="2980B9"/>
            </a:solidFill>
            <a:prstDash val="solid"/>
          </a:ln>
        </p:spPr>
      </p:sp>
      <p:sp>
        <p:nvSpPr>
          <p:cNvPr id="26" name="Text 24"/>
          <p:cNvSpPr/>
          <p:nvPr/>
        </p:nvSpPr>
        <p:spPr>
          <a:xfrm>
            <a:off x="365760" y="6876288"/>
            <a:ext cx="1005840" cy="658368"/>
          </a:xfrm>
          <a:prstGeom prst="rect">
            <a:avLst/>
          </a:prstGeom>
          <a:noFill/>
          <a:ln/>
        </p:spPr>
        <p:txBody>
          <a:bodyPr wrap="square" rtlCol="0" anchor="ctr"/>
          <a:lstStyle/>
          <a:p>
            <a:pPr algn="ctr"/>
            <a:r>
              <a:rPr lang="en-US" b="1" dirty="0">
                <a:solidFill>
                  <a:srgbClr val="FFFFFF"/>
                </a:solidFill>
                <a:latin typeface="Arial Black" pitchFamily="34" charset="0"/>
                <a:ea typeface="Arial Black" pitchFamily="34" charset="-122"/>
                <a:cs typeface="Arial Black" pitchFamily="34" charset="-120"/>
              </a:rPr>
              <a:t>A04</a:t>
            </a:r>
            <a:endParaRPr lang="en-US" dirty="0"/>
          </a:p>
        </p:txBody>
      </p:sp>
      <p:sp>
        <p:nvSpPr>
          <p:cNvPr id="27" name="Text 25"/>
          <p:cNvSpPr/>
          <p:nvPr/>
        </p:nvSpPr>
        <p:spPr>
          <a:xfrm>
            <a:off x="365760" y="7498080"/>
            <a:ext cx="1005840" cy="457200"/>
          </a:xfrm>
          <a:prstGeom prst="rect">
            <a:avLst/>
          </a:prstGeom>
          <a:noFill/>
          <a:ln/>
        </p:spPr>
        <p:txBody>
          <a:bodyPr wrap="square" rtlCol="0" anchor="ctr"/>
          <a:lstStyle/>
          <a:p>
            <a:pPr algn="ctr"/>
            <a:r>
              <a:rPr lang="en-US" sz="1300" dirty="0">
                <a:solidFill>
                  <a:srgbClr val="CCDDDF"/>
                </a:solidFill>
                <a:latin typeface="Calibri" pitchFamily="34" charset="0"/>
                <a:ea typeface="Calibri" pitchFamily="34" charset="-122"/>
                <a:cs typeface="Calibri" pitchFamily="34" charset="-120"/>
              </a:rPr>
              <a:t>:2021</a:t>
            </a:r>
            <a:endParaRPr lang="en-US" sz="1300" dirty="0"/>
          </a:p>
        </p:txBody>
      </p:sp>
      <p:sp>
        <p:nvSpPr>
          <p:cNvPr id="28" name="Shape 26"/>
          <p:cNvSpPr/>
          <p:nvPr/>
        </p:nvSpPr>
        <p:spPr>
          <a:xfrm rot="2700000">
            <a:off x="1517904" y="7168896"/>
            <a:ext cx="512064" cy="512064"/>
          </a:xfrm>
          <a:prstGeom prst="rect">
            <a:avLst/>
          </a:prstGeom>
          <a:solidFill>
            <a:srgbClr val="FFFFFF"/>
          </a:solidFill>
          <a:ln w="12700">
            <a:solidFill>
              <a:srgbClr val="2980B9"/>
            </a:solidFill>
            <a:prstDash val="solid"/>
          </a:ln>
        </p:spPr>
      </p:sp>
      <p:sp>
        <p:nvSpPr>
          <p:cNvPr id="29" name="Text 27"/>
          <p:cNvSpPr/>
          <p:nvPr/>
        </p:nvSpPr>
        <p:spPr>
          <a:xfrm>
            <a:off x="2157984" y="7022592"/>
            <a:ext cx="6675120" cy="950976"/>
          </a:xfrm>
          <a:prstGeom prst="rect">
            <a:avLst/>
          </a:prstGeom>
          <a:noFill/>
          <a:ln/>
        </p:spPr>
        <p:txBody>
          <a:bodyPr wrap="square" rtlCol="0" anchor="ctr"/>
          <a:lstStyle/>
          <a:p>
            <a:r>
              <a:rPr lang="en-US" sz="2300" b="1" dirty="0">
                <a:solidFill>
                  <a:srgbClr val="FFFFFF"/>
                </a:solidFill>
                <a:latin typeface="Calibri" pitchFamily="34" charset="0"/>
                <a:ea typeface="Calibri" pitchFamily="34" charset="-122"/>
                <a:cs typeface="Calibri" pitchFamily="34" charset="-120"/>
              </a:rPr>
              <a:t>Insecure Design</a:t>
            </a:r>
            <a:endParaRPr lang="en-US" sz="2300" dirty="0"/>
          </a:p>
        </p:txBody>
      </p:sp>
      <p:sp>
        <p:nvSpPr>
          <p:cNvPr id="30" name="Shape 28"/>
          <p:cNvSpPr/>
          <p:nvPr/>
        </p:nvSpPr>
        <p:spPr>
          <a:xfrm>
            <a:off x="365760" y="8339328"/>
            <a:ext cx="8686800" cy="1371600"/>
          </a:xfrm>
          <a:prstGeom prst="rect">
            <a:avLst/>
          </a:prstGeom>
          <a:solidFill>
            <a:srgbClr val="00404F"/>
          </a:solidFill>
          <a:ln w="12700">
            <a:solidFill>
              <a:srgbClr val="005060"/>
            </a:solidFill>
            <a:prstDash val="solid"/>
          </a:ln>
          <a:effectLst>
            <a:outerShdw blurRad="76200" dist="25400" dir="8100000" algn="bl" rotWithShape="0">
              <a:srgbClr val="000000">
                <a:alpha val="10000"/>
              </a:srgbClr>
            </a:outerShdw>
          </a:effectLst>
        </p:spPr>
      </p:sp>
      <p:sp>
        <p:nvSpPr>
          <p:cNvPr id="31" name="Shape 29"/>
          <p:cNvSpPr/>
          <p:nvPr/>
        </p:nvSpPr>
        <p:spPr>
          <a:xfrm>
            <a:off x="365760" y="8339328"/>
            <a:ext cx="1005840" cy="1371600"/>
          </a:xfrm>
          <a:prstGeom prst="rect">
            <a:avLst/>
          </a:prstGeom>
          <a:solidFill>
            <a:srgbClr val="D35400"/>
          </a:solidFill>
          <a:ln w="12700">
            <a:solidFill>
              <a:srgbClr val="D35400"/>
            </a:solidFill>
            <a:prstDash val="solid"/>
          </a:ln>
        </p:spPr>
      </p:sp>
      <p:sp>
        <p:nvSpPr>
          <p:cNvPr id="32" name="Text 30"/>
          <p:cNvSpPr/>
          <p:nvPr/>
        </p:nvSpPr>
        <p:spPr>
          <a:xfrm>
            <a:off x="365760" y="8412480"/>
            <a:ext cx="1005840" cy="658368"/>
          </a:xfrm>
          <a:prstGeom prst="rect">
            <a:avLst/>
          </a:prstGeom>
          <a:noFill/>
          <a:ln/>
        </p:spPr>
        <p:txBody>
          <a:bodyPr wrap="square" rtlCol="0" anchor="ctr"/>
          <a:lstStyle/>
          <a:p>
            <a:pPr algn="ctr"/>
            <a:r>
              <a:rPr lang="en-US" b="1" dirty="0">
                <a:solidFill>
                  <a:srgbClr val="FFFFFF"/>
                </a:solidFill>
                <a:latin typeface="Arial Black" pitchFamily="34" charset="0"/>
                <a:ea typeface="Arial Black" pitchFamily="34" charset="-122"/>
                <a:cs typeface="Arial Black" pitchFamily="34" charset="-120"/>
              </a:rPr>
              <a:t>A05</a:t>
            </a:r>
            <a:endParaRPr lang="en-US" dirty="0"/>
          </a:p>
        </p:txBody>
      </p:sp>
      <p:sp>
        <p:nvSpPr>
          <p:cNvPr id="33" name="Text 31"/>
          <p:cNvSpPr/>
          <p:nvPr/>
        </p:nvSpPr>
        <p:spPr>
          <a:xfrm>
            <a:off x="365760" y="9034272"/>
            <a:ext cx="1005840" cy="457200"/>
          </a:xfrm>
          <a:prstGeom prst="rect">
            <a:avLst/>
          </a:prstGeom>
          <a:noFill/>
          <a:ln/>
        </p:spPr>
        <p:txBody>
          <a:bodyPr wrap="square" rtlCol="0" anchor="ctr"/>
          <a:lstStyle/>
          <a:p>
            <a:pPr algn="ctr"/>
            <a:r>
              <a:rPr lang="en-US" sz="1300" dirty="0">
                <a:solidFill>
                  <a:srgbClr val="CCDDDF"/>
                </a:solidFill>
                <a:latin typeface="Calibri" pitchFamily="34" charset="0"/>
                <a:ea typeface="Calibri" pitchFamily="34" charset="-122"/>
                <a:cs typeface="Calibri" pitchFamily="34" charset="-120"/>
              </a:rPr>
              <a:t>:2021</a:t>
            </a:r>
            <a:endParaRPr lang="en-US" sz="1300" dirty="0"/>
          </a:p>
        </p:txBody>
      </p:sp>
      <p:sp>
        <p:nvSpPr>
          <p:cNvPr id="34" name="Shape 32"/>
          <p:cNvSpPr/>
          <p:nvPr/>
        </p:nvSpPr>
        <p:spPr>
          <a:xfrm rot="2700000">
            <a:off x="1517904" y="8705088"/>
            <a:ext cx="512064" cy="512064"/>
          </a:xfrm>
          <a:prstGeom prst="rect">
            <a:avLst/>
          </a:prstGeom>
          <a:solidFill>
            <a:srgbClr val="FFFFFF"/>
          </a:solidFill>
          <a:ln w="12700">
            <a:solidFill>
              <a:srgbClr val="D35400"/>
            </a:solidFill>
            <a:prstDash val="solid"/>
          </a:ln>
        </p:spPr>
      </p:sp>
      <p:sp>
        <p:nvSpPr>
          <p:cNvPr id="35" name="Text 33"/>
          <p:cNvSpPr/>
          <p:nvPr/>
        </p:nvSpPr>
        <p:spPr>
          <a:xfrm>
            <a:off x="2157984" y="8558784"/>
            <a:ext cx="6675120" cy="950976"/>
          </a:xfrm>
          <a:prstGeom prst="rect">
            <a:avLst/>
          </a:prstGeom>
          <a:noFill/>
          <a:ln/>
        </p:spPr>
        <p:txBody>
          <a:bodyPr wrap="square" rtlCol="0" anchor="ctr"/>
          <a:lstStyle/>
          <a:p>
            <a:r>
              <a:rPr lang="en-US" sz="2300" b="1" dirty="0">
                <a:solidFill>
                  <a:srgbClr val="FFFFFF"/>
                </a:solidFill>
                <a:latin typeface="Calibri" pitchFamily="34" charset="0"/>
                <a:ea typeface="Calibri" pitchFamily="34" charset="-122"/>
                <a:cs typeface="Calibri" pitchFamily="34" charset="-120"/>
              </a:rPr>
              <a:t>Security Misconfiguration</a:t>
            </a:r>
            <a:endParaRPr lang="en-US" sz="2300" dirty="0"/>
          </a:p>
        </p:txBody>
      </p:sp>
      <p:sp>
        <p:nvSpPr>
          <p:cNvPr id="36" name="Shape 34"/>
          <p:cNvSpPr/>
          <p:nvPr/>
        </p:nvSpPr>
        <p:spPr>
          <a:xfrm>
            <a:off x="9509760" y="2194560"/>
            <a:ext cx="8686800" cy="1371600"/>
          </a:xfrm>
          <a:prstGeom prst="rect">
            <a:avLst/>
          </a:prstGeom>
          <a:solidFill>
            <a:srgbClr val="00404F"/>
          </a:solidFill>
          <a:ln w="12700">
            <a:solidFill>
              <a:srgbClr val="005060"/>
            </a:solidFill>
            <a:prstDash val="solid"/>
          </a:ln>
          <a:effectLst>
            <a:outerShdw blurRad="76200" dist="25400" dir="8100000" algn="bl" rotWithShape="0">
              <a:srgbClr val="000000">
                <a:alpha val="10000"/>
              </a:srgbClr>
            </a:outerShdw>
          </a:effectLst>
        </p:spPr>
      </p:sp>
      <p:sp>
        <p:nvSpPr>
          <p:cNvPr id="37" name="Shape 35"/>
          <p:cNvSpPr/>
          <p:nvPr/>
        </p:nvSpPr>
        <p:spPr>
          <a:xfrm>
            <a:off x="9509760" y="2194560"/>
            <a:ext cx="1005840" cy="1371600"/>
          </a:xfrm>
          <a:prstGeom prst="rect">
            <a:avLst/>
          </a:prstGeom>
          <a:solidFill>
            <a:srgbClr val="C0392B"/>
          </a:solidFill>
          <a:ln w="12700">
            <a:solidFill>
              <a:srgbClr val="C0392B"/>
            </a:solidFill>
            <a:prstDash val="solid"/>
          </a:ln>
        </p:spPr>
      </p:sp>
      <p:sp>
        <p:nvSpPr>
          <p:cNvPr id="38" name="Text 36"/>
          <p:cNvSpPr/>
          <p:nvPr/>
        </p:nvSpPr>
        <p:spPr>
          <a:xfrm>
            <a:off x="9509760" y="2267712"/>
            <a:ext cx="1005840" cy="658368"/>
          </a:xfrm>
          <a:prstGeom prst="rect">
            <a:avLst/>
          </a:prstGeom>
          <a:noFill/>
          <a:ln/>
        </p:spPr>
        <p:txBody>
          <a:bodyPr wrap="square" rtlCol="0" anchor="ctr"/>
          <a:lstStyle/>
          <a:p>
            <a:pPr algn="ctr"/>
            <a:r>
              <a:rPr lang="en-US" b="1" dirty="0">
                <a:solidFill>
                  <a:srgbClr val="FFFFFF"/>
                </a:solidFill>
                <a:latin typeface="Arial Black" pitchFamily="34" charset="0"/>
                <a:ea typeface="Arial Black" pitchFamily="34" charset="-122"/>
                <a:cs typeface="Arial Black" pitchFamily="34" charset="-120"/>
              </a:rPr>
              <a:t>A06</a:t>
            </a:r>
            <a:endParaRPr lang="en-US" dirty="0"/>
          </a:p>
        </p:txBody>
      </p:sp>
      <p:sp>
        <p:nvSpPr>
          <p:cNvPr id="39" name="Text 37"/>
          <p:cNvSpPr/>
          <p:nvPr/>
        </p:nvSpPr>
        <p:spPr>
          <a:xfrm>
            <a:off x="9509760" y="2889504"/>
            <a:ext cx="1005840" cy="457200"/>
          </a:xfrm>
          <a:prstGeom prst="rect">
            <a:avLst/>
          </a:prstGeom>
          <a:noFill/>
          <a:ln/>
        </p:spPr>
        <p:txBody>
          <a:bodyPr wrap="square" rtlCol="0" anchor="ctr"/>
          <a:lstStyle/>
          <a:p>
            <a:pPr algn="ctr"/>
            <a:r>
              <a:rPr lang="en-US" sz="1300" dirty="0">
                <a:solidFill>
                  <a:srgbClr val="CCDDDF"/>
                </a:solidFill>
                <a:latin typeface="Calibri" pitchFamily="34" charset="0"/>
                <a:ea typeface="Calibri" pitchFamily="34" charset="-122"/>
                <a:cs typeface="Calibri" pitchFamily="34" charset="-120"/>
              </a:rPr>
              <a:t>:2021</a:t>
            </a:r>
            <a:endParaRPr lang="en-US" sz="1300" dirty="0"/>
          </a:p>
        </p:txBody>
      </p:sp>
      <p:sp>
        <p:nvSpPr>
          <p:cNvPr id="40" name="Shape 38"/>
          <p:cNvSpPr/>
          <p:nvPr/>
        </p:nvSpPr>
        <p:spPr>
          <a:xfrm rot="2700000">
            <a:off x="10661904" y="2560320"/>
            <a:ext cx="512064" cy="512064"/>
          </a:xfrm>
          <a:prstGeom prst="rect">
            <a:avLst/>
          </a:prstGeom>
          <a:solidFill>
            <a:srgbClr val="FFFFFF"/>
          </a:solidFill>
          <a:ln w="12700">
            <a:solidFill>
              <a:srgbClr val="C0392B"/>
            </a:solidFill>
            <a:prstDash val="solid"/>
          </a:ln>
        </p:spPr>
      </p:sp>
      <p:sp>
        <p:nvSpPr>
          <p:cNvPr id="41" name="Text 39"/>
          <p:cNvSpPr/>
          <p:nvPr/>
        </p:nvSpPr>
        <p:spPr>
          <a:xfrm>
            <a:off x="11301984" y="2414016"/>
            <a:ext cx="6675120" cy="950976"/>
          </a:xfrm>
          <a:prstGeom prst="rect">
            <a:avLst/>
          </a:prstGeom>
          <a:noFill/>
          <a:ln/>
        </p:spPr>
        <p:txBody>
          <a:bodyPr wrap="square" rtlCol="0" anchor="ctr"/>
          <a:lstStyle/>
          <a:p>
            <a:r>
              <a:rPr lang="en-US" sz="2300" b="1" dirty="0">
                <a:solidFill>
                  <a:srgbClr val="FFFFFF"/>
                </a:solidFill>
                <a:latin typeface="Calibri" pitchFamily="34" charset="0"/>
                <a:ea typeface="Calibri" pitchFamily="34" charset="-122"/>
                <a:cs typeface="Calibri" pitchFamily="34" charset="-120"/>
              </a:rPr>
              <a:t>Vulnerable &amp; Outdated Components</a:t>
            </a:r>
            <a:endParaRPr lang="en-US" sz="2300" dirty="0"/>
          </a:p>
        </p:txBody>
      </p:sp>
      <p:sp>
        <p:nvSpPr>
          <p:cNvPr id="42" name="Shape 40"/>
          <p:cNvSpPr/>
          <p:nvPr/>
        </p:nvSpPr>
        <p:spPr>
          <a:xfrm>
            <a:off x="9509760" y="3730752"/>
            <a:ext cx="8686800" cy="1371600"/>
          </a:xfrm>
          <a:prstGeom prst="rect">
            <a:avLst/>
          </a:prstGeom>
          <a:solidFill>
            <a:srgbClr val="00404F"/>
          </a:solidFill>
          <a:ln w="12700">
            <a:solidFill>
              <a:srgbClr val="005060"/>
            </a:solidFill>
            <a:prstDash val="solid"/>
          </a:ln>
          <a:effectLst>
            <a:outerShdw blurRad="76200" dist="25400" dir="8100000" algn="bl" rotWithShape="0">
              <a:srgbClr val="000000">
                <a:alpha val="10000"/>
              </a:srgbClr>
            </a:outerShdw>
          </a:effectLst>
        </p:spPr>
      </p:sp>
      <p:sp>
        <p:nvSpPr>
          <p:cNvPr id="43" name="Shape 41"/>
          <p:cNvSpPr/>
          <p:nvPr/>
        </p:nvSpPr>
        <p:spPr>
          <a:xfrm>
            <a:off x="9509760" y="3730752"/>
            <a:ext cx="1005840" cy="1371600"/>
          </a:xfrm>
          <a:prstGeom prst="rect">
            <a:avLst/>
          </a:prstGeom>
          <a:solidFill>
            <a:srgbClr val="8E44AD"/>
          </a:solidFill>
          <a:ln w="12700">
            <a:solidFill>
              <a:srgbClr val="8E44AD"/>
            </a:solidFill>
            <a:prstDash val="solid"/>
          </a:ln>
        </p:spPr>
      </p:sp>
      <p:sp>
        <p:nvSpPr>
          <p:cNvPr id="44" name="Text 42"/>
          <p:cNvSpPr/>
          <p:nvPr/>
        </p:nvSpPr>
        <p:spPr>
          <a:xfrm>
            <a:off x="9509760" y="3803904"/>
            <a:ext cx="1005840" cy="658368"/>
          </a:xfrm>
          <a:prstGeom prst="rect">
            <a:avLst/>
          </a:prstGeom>
          <a:noFill/>
          <a:ln/>
        </p:spPr>
        <p:txBody>
          <a:bodyPr wrap="square" rtlCol="0" anchor="ctr"/>
          <a:lstStyle/>
          <a:p>
            <a:pPr algn="ctr"/>
            <a:r>
              <a:rPr lang="en-US" b="1" dirty="0">
                <a:solidFill>
                  <a:srgbClr val="FFFFFF"/>
                </a:solidFill>
                <a:latin typeface="Arial Black" pitchFamily="34" charset="0"/>
                <a:ea typeface="Arial Black" pitchFamily="34" charset="-122"/>
                <a:cs typeface="Arial Black" pitchFamily="34" charset="-120"/>
              </a:rPr>
              <a:t>A07</a:t>
            </a:r>
            <a:endParaRPr lang="en-US" dirty="0"/>
          </a:p>
        </p:txBody>
      </p:sp>
      <p:sp>
        <p:nvSpPr>
          <p:cNvPr id="45" name="Text 43"/>
          <p:cNvSpPr/>
          <p:nvPr/>
        </p:nvSpPr>
        <p:spPr>
          <a:xfrm>
            <a:off x="9509760" y="4425696"/>
            <a:ext cx="1005840" cy="457200"/>
          </a:xfrm>
          <a:prstGeom prst="rect">
            <a:avLst/>
          </a:prstGeom>
          <a:noFill/>
          <a:ln/>
        </p:spPr>
        <p:txBody>
          <a:bodyPr wrap="square" rtlCol="0" anchor="ctr"/>
          <a:lstStyle/>
          <a:p>
            <a:pPr algn="ctr"/>
            <a:r>
              <a:rPr lang="en-US" sz="1300" dirty="0">
                <a:solidFill>
                  <a:srgbClr val="CCDDDF"/>
                </a:solidFill>
                <a:latin typeface="Calibri" pitchFamily="34" charset="0"/>
                <a:ea typeface="Calibri" pitchFamily="34" charset="-122"/>
                <a:cs typeface="Calibri" pitchFamily="34" charset="-120"/>
              </a:rPr>
              <a:t>:2021</a:t>
            </a:r>
            <a:endParaRPr lang="en-US" sz="1300" dirty="0"/>
          </a:p>
        </p:txBody>
      </p:sp>
      <p:sp>
        <p:nvSpPr>
          <p:cNvPr id="46" name="Shape 44"/>
          <p:cNvSpPr/>
          <p:nvPr/>
        </p:nvSpPr>
        <p:spPr>
          <a:xfrm rot="2700000">
            <a:off x="10661904" y="4096512"/>
            <a:ext cx="512064" cy="512064"/>
          </a:xfrm>
          <a:prstGeom prst="rect">
            <a:avLst/>
          </a:prstGeom>
          <a:solidFill>
            <a:srgbClr val="FFFFFF"/>
          </a:solidFill>
          <a:ln w="12700">
            <a:solidFill>
              <a:srgbClr val="8E44AD"/>
            </a:solidFill>
            <a:prstDash val="solid"/>
          </a:ln>
        </p:spPr>
      </p:sp>
      <p:sp>
        <p:nvSpPr>
          <p:cNvPr id="47" name="Text 45"/>
          <p:cNvSpPr/>
          <p:nvPr/>
        </p:nvSpPr>
        <p:spPr>
          <a:xfrm>
            <a:off x="11301984" y="3950208"/>
            <a:ext cx="6675120" cy="950976"/>
          </a:xfrm>
          <a:prstGeom prst="rect">
            <a:avLst/>
          </a:prstGeom>
          <a:noFill/>
          <a:ln/>
        </p:spPr>
        <p:txBody>
          <a:bodyPr wrap="square" rtlCol="0" anchor="ctr"/>
          <a:lstStyle/>
          <a:p>
            <a:r>
              <a:rPr lang="en-US" sz="2300" b="1" dirty="0">
                <a:solidFill>
                  <a:srgbClr val="FFFFFF"/>
                </a:solidFill>
                <a:latin typeface="Calibri" pitchFamily="34" charset="0"/>
                <a:ea typeface="Calibri" pitchFamily="34" charset="-122"/>
                <a:cs typeface="Calibri" pitchFamily="34" charset="-120"/>
              </a:rPr>
              <a:t>Identification &amp; Authentication Failures</a:t>
            </a:r>
            <a:endParaRPr lang="en-US" sz="2300" dirty="0"/>
          </a:p>
        </p:txBody>
      </p:sp>
      <p:sp>
        <p:nvSpPr>
          <p:cNvPr id="48" name="Shape 46"/>
          <p:cNvSpPr/>
          <p:nvPr/>
        </p:nvSpPr>
        <p:spPr>
          <a:xfrm>
            <a:off x="9509760" y="5266944"/>
            <a:ext cx="8686800" cy="1371600"/>
          </a:xfrm>
          <a:prstGeom prst="rect">
            <a:avLst/>
          </a:prstGeom>
          <a:solidFill>
            <a:srgbClr val="00404F"/>
          </a:solidFill>
          <a:ln w="12700">
            <a:solidFill>
              <a:srgbClr val="005060"/>
            </a:solidFill>
            <a:prstDash val="solid"/>
          </a:ln>
          <a:effectLst>
            <a:outerShdw blurRad="76200" dist="25400" dir="8100000" algn="bl" rotWithShape="0">
              <a:srgbClr val="000000">
                <a:alpha val="10000"/>
              </a:srgbClr>
            </a:outerShdw>
          </a:effectLst>
        </p:spPr>
      </p:sp>
      <p:sp>
        <p:nvSpPr>
          <p:cNvPr id="49" name="Shape 47"/>
          <p:cNvSpPr/>
          <p:nvPr/>
        </p:nvSpPr>
        <p:spPr>
          <a:xfrm>
            <a:off x="9509760" y="5266944"/>
            <a:ext cx="1005840" cy="1371600"/>
          </a:xfrm>
          <a:prstGeom prst="rect">
            <a:avLst/>
          </a:prstGeom>
          <a:solidFill>
            <a:srgbClr val="27AE60"/>
          </a:solidFill>
          <a:ln w="12700">
            <a:solidFill>
              <a:srgbClr val="27AE60"/>
            </a:solidFill>
            <a:prstDash val="solid"/>
          </a:ln>
        </p:spPr>
      </p:sp>
      <p:sp>
        <p:nvSpPr>
          <p:cNvPr id="50" name="Text 48"/>
          <p:cNvSpPr/>
          <p:nvPr/>
        </p:nvSpPr>
        <p:spPr>
          <a:xfrm>
            <a:off x="9509760" y="5340096"/>
            <a:ext cx="1005840" cy="658368"/>
          </a:xfrm>
          <a:prstGeom prst="rect">
            <a:avLst/>
          </a:prstGeom>
          <a:noFill/>
          <a:ln/>
        </p:spPr>
        <p:txBody>
          <a:bodyPr wrap="square" rtlCol="0" anchor="ctr"/>
          <a:lstStyle/>
          <a:p>
            <a:pPr algn="ctr"/>
            <a:r>
              <a:rPr lang="en-US" b="1" dirty="0">
                <a:solidFill>
                  <a:srgbClr val="FFFFFF"/>
                </a:solidFill>
                <a:latin typeface="Arial Black" pitchFamily="34" charset="0"/>
                <a:ea typeface="Arial Black" pitchFamily="34" charset="-122"/>
                <a:cs typeface="Arial Black" pitchFamily="34" charset="-120"/>
              </a:rPr>
              <a:t>A08</a:t>
            </a:r>
            <a:endParaRPr lang="en-US" dirty="0"/>
          </a:p>
        </p:txBody>
      </p:sp>
      <p:sp>
        <p:nvSpPr>
          <p:cNvPr id="51" name="Text 49"/>
          <p:cNvSpPr/>
          <p:nvPr/>
        </p:nvSpPr>
        <p:spPr>
          <a:xfrm>
            <a:off x="9509760" y="5961888"/>
            <a:ext cx="1005840" cy="457200"/>
          </a:xfrm>
          <a:prstGeom prst="rect">
            <a:avLst/>
          </a:prstGeom>
          <a:noFill/>
          <a:ln/>
        </p:spPr>
        <p:txBody>
          <a:bodyPr wrap="square" rtlCol="0" anchor="ctr"/>
          <a:lstStyle/>
          <a:p>
            <a:pPr algn="ctr"/>
            <a:r>
              <a:rPr lang="en-US" sz="1300" dirty="0">
                <a:solidFill>
                  <a:srgbClr val="CCDDDF"/>
                </a:solidFill>
                <a:latin typeface="Calibri" pitchFamily="34" charset="0"/>
                <a:ea typeface="Calibri" pitchFamily="34" charset="-122"/>
                <a:cs typeface="Calibri" pitchFamily="34" charset="-120"/>
              </a:rPr>
              <a:t>:2021</a:t>
            </a:r>
            <a:endParaRPr lang="en-US" sz="1300" dirty="0"/>
          </a:p>
        </p:txBody>
      </p:sp>
      <p:sp>
        <p:nvSpPr>
          <p:cNvPr id="52" name="Shape 50"/>
          <p:cNvSpPr/>
          <p:nvPr/>
        </p:nvSpPr>
        <p:spPr>
          <a:xfrm rot="2700000">
            <a:off x="10661904" y="5632704"/>
            <a:ext cx="512064" cy="512064"/>
          </a:xfrm>
          <a:prstGeom prst="rect">
            <a:avLst/>
          </a:prstGeom>
          <a:solidFill>
            <a:srgbClr val="FFFFFF"/>
          </a:solidFill>
          <a:ln w="12700">
            <a:solidFill>
              <a:srgbClr val="27AE60"/>
            </a:solidFill>
            <a:prstDash val="solid"/>
          </a:ln>
        </p:spPr>
      </p:sp>
      <p:sp>
        <p:nvSpPr>
          <p:cNvPr id="53" name="Text 51"/>
          <p:cNvSpPr/>
          <p:nvPr/>
        </p:nvSpPr>
        <p:spPr>
          <a:xfrm>
            <a:off x="11301984" y="5486400"/>
            <a:ext cx="6675120" cy="950976"/>
          </a:xfrm>
          <a:prstGeom prst="rect">
            <a:avLst/>
          </a:prstGeom>
          <a:noFill/>
          <a:ln/>
        </p:spPr>
        <p:txBody>
          <a:bodyPr wrap="square" rtlCol="0" anchor="ctr"/>
          <a:lstStyle/>
          <a:p>
            <a:r>
              <a:rPr lang="en-US" sz="2300" b="1" dirty="0">
                <a:solidFill>
                  <a:srgbClr val="FFFFFF"/>
                </a:solidFill>
                <a:latin typeface="Calibri" pitchFamily="34" charset="0"/>
                <a:ea typeface="Calibri" pitchFamily="34" charset="-122"/>
                <a:cs typeface="Calibri" pitchFamily="34" charset="-120"/>
              </a:rPr>
              <a:t>Software &amp; Data Integrity Failures</a:t>
            </a:r>
            <a:endParaRPr lang="en-US" sz="2300" dirty="0"/>
          </a:p>
        </p:txBody>
      </p:sp>
      <p:sp>
        <p:nvSpPr>
          <p:cNvPr id="54" name="Shape 52"/>
          <p:cNvSpPr/>
          <p:nvPr/>
        </p:nvSpPr>
        <p:spPr>
          <a:xfrm>
            <a:off x="9509760" y="6803136"/>
            <a:ext cx="8686800" cy="1371600"/>
          </a:xfrm>
          <a:prstGeom prst="rect">
            <a:avLst/>
          </a:prstGeom>
          <a:solidFill>
            <a:srgbClr val="00404F"/>
          </a:solidFill>
          <a:ln w="12700">
            <a:solidFill>
              <a:srgbClr val="005060"/>
            </a:solidFill>
            <a:prstDash val="solid"/>
          </a:ln>
          <a:effectLst>
            <a:outerShdw blurRad="76200" dist="25400" dir="8100000" algn="bl" rotWithShape="0">
              <a:srgbClr val="000000">
                <a:alpha val="10000"/>
              </a:srgbClr>
            </a:outerShdw>
          </a:effectLst>
        </p:spPr>
      </p:sp>
      <p:sp>
        <p:nvSpPr>
          <p:cNvPr id="55" name="Shape 53"/>
          <p:cNvSpPr/>
          <p:nvPr/>
        </p:nvSpPr>
        <p:spPr>
          <a:xfrm>
            <a:off x="9509760" y="6803136"/>
            <a:ext cx="1005840" cy="1371600"/>
          </a:xfrm>
          <a:prstGeom prst="rect">
            <a:avLst/>
          </a:prstGeom>
          <a:solidFill>
            <a:srgbClr val="E67E22"/>
          </a:solidFill>
          <a:ln w="12700">
            <a:solidFill>
              <a:srgbClr val="E67E22"/>
            </a:solidFill>
            <a:prstDash val="solid"/>
          </a:ln>
        </p:spPr>
      </p:sp>
      <p:sp>
        <p:nvSpPr>
          <p:cNvPr id="56" name="Text 54"/>
          <p:cNvSpPr/>
          <p:nvPr/>
        </p:nvSpPr>
        <p:spPr>
          <a:xfrm>
            <a:off x="9509760" y="6876288"/>
            <a:ext cx="1005840" cy="658368"/>
          </a:xfrm>
          <a:prstGeom prst="rect">
            <a:avLst/>
          </a:prstGeom>
          <a:noFill/>
          <a:ln/>
        </p:spPr>
        <p:txBody>
          <a:bodyPr wrap="square" rtlCol="0" anchor="ctr"/>
          <a:lstStyle/>
          <a:p>
            <a:pPr algn="ctr"/>
            <a:r>
              <a:rPr lang="en-US" b="1" dirty="0">
                <a:solidFill>
                  <a:srgbClr val="FFFFFF"/>
                </a:solidFill>
                <a:latin typeface="Arial Black" pitchFamily="34" charset="0"/>
                <a:ea typeface="Arial Black" pitchFamily="34" charset="-122"/>
                <a:cs typeface="Arial Black" pitchFamily="34" charset="-120"/>
              </a:rPr>
              <a:t>A09</a:t>
            </a:r>
            <a:endParaRPr lang="en-US" dirty="0"/>
          </a:p>
        </p:txBody>
      </p:sp>
      <p:sp>
        <p:nvSpPr>
          <p:cNvPr id="57" name="Text 55"/>
          <p:cNvSpPr/>
          <p:nvPr/>
        </p:nvSpPr>
        <p:spPr>
          <a:xfrm>
            <a:off x="9509760" y="7498080"/>
            <a:ext cx="1005840" cy="457200"/>
          </a:xfrm>
          <a:prstGeom prst="rect">
            <a:avLst/>
          </a:prstGeom>
          <a:noFill/>
          <a:ln/>
        </p:spPr>
        <p:txBody>
          <a:bodyPr wrap="square" rtlCol="0" anchor="ctr"/>
          <a:lstStyle/>
          <a:p>
            <a:pPr algn="ctr"/>
            <a:r>
              <a:rPr lang="en-US" sz="1300" dirty="0">
                <a:solidFill>
                  <a:srgbClr val="CCDDDF"/>
                </a:solidFill>
                <a:latin typeface="Calibri" pitchFamily="34" charset="0"/>
                <a:ea typeface="Calibri" pitchFamily="34" charset="-122"/>
                <a:cs typeface="Calibri" pitchFamily="34" charset="-120"/>
              </a:rPr>
              <a:t>:2021</a:t>
            </a:r>
            <a:endParaRPr lang="en-US" sz="1300" dirty="0"/>
          </a:p>
        </p:txBody>
      </p:sp>
      <p:sp>
        <p:nvSpPr>
          <p:cNvPr id="58" name="Shape 56"/>
          <p:cNvSpPr/>
          <p:nvPr/>
        </p:nvSpPr>
        <p:spPr>
          <a:xfrm rot="2700000">
            <a:off x="10661904" y="7168896"/>
            <a:ext cx="512064" cy="512064"/>
          </a:xfrm>
          <a:prstGeom prst="rect">
            <a:avLst/>
          </a:prstGeom>
          <a:solidFill>
            <a:srgbClr val="FFFFFF"/>
          </a:solidFill>
          <a:ln w="12700">
            <a:solidFill>
              <a:srgbClr val="E67E22"/>
            </a:solidFill>
            <a:prstDash val="solid"/>
          </a:ln>
        </p:spPr>
      </p:sp>
      <p:sp>
        <p:nvSpPr>
          <p:cNvPr id="59" name="Text 57"/>
          <p:cNvSpPr/>
          <p:nvPr/>
        </p:nvSpPr>
        <p:spPr>
          <a:xfrm>
            <a:off x="11301984" y="7022592"/>
            <a:ext cx="6675120" cy="950976"/>
          </a:xfrm>
          <a:prstGeom prst="rect">
            <a:avLst/>
          </a:prstGeom>
          <a:noFill/>
          <a:ln/>
        </p:spPr>
        <p:txBody>
          <a:bodyPr wrap="square" rtlCol="0" anchor="ctr"/>
          <a:lstStyle/>
          <a:p>
            <a:r>
              <a:rPr lang="en-US" sz="2300" b="1" dirty="0">
                <a:solidFill>
                  <a:srgbClr val="FFFFFF"/>
                </a:solidFill>
                <a:latin typeface="Calibri" pitchFamily="34" charset="0"/>
                <a:ea typeface="Calibri" pitchFamily="34" charset="-122"/>
                <a:cs typeface="Calibri" pitchFamily="34" charset="-120"/>
              </a:rPr>
              <a:t>Security Logging &amp; Monitoring Failures</a:t>
            </a:r>
            <a:endParaRPr lang="en-US" sz="2300" dirty="0"/>
          </a:p>
        </p:txBody>
      </p:sp>
      <p:sp>
        <p:nvSpPr>
          <p:cNvPr id="60" name="Shape 58"/>
          <p:cNvSpPr/>
          <p:nvPr/>
        </p:nvSpPr>
        <p:spPr>
          <a:xfrm>
            <a:off x="9509760" y="8339328"/>
            <a:ext cx="8686800" cy="1371600"/>
          </a:xfrm>
          <a:prstGeom prst="rect">
            <a:avLst/>
          </a:prstGeom>
          <a:solidFill>
            <a:srgbClr val="00404F"/>
          </a:solidFill>
          <a:ln w="12700">
            <a:solidFill>
              <a:srgbClr val="005060"/>
            </a:solidFill>
            <a:prstDash val="solid"/>
          </a:ln>
          <a:effectLst>
            <a:outerShdw blurRad="76200" dist="25400" dir="8100000" algn="bl" rotWithShape="0">
              <a:srgbClr val="000000">
                <a:alpha val="10000"/>
              </a:srgbClr>
            </a:outerShdw>
          </a:effectLst>
        </p:spPr>
      </p:sp>
      <p:sp>
        <p:nvSpPr>
          <p:cNvPr id="61" name="Shape 59"/>
          <p:cNvSpPr/>
          <p:nvPr/>
        </p:nvSpPr>
        <p:spPr>
          <a:xfrm>
            <a:off x="9509760" y="8339328"/>
            <a:ext cx="1005840" cy="1371600"/>
          </a:xfrm>
          <a:prstGeom prst="rect">
            <a:avLst/>
          </a:prstGeom>
          <a:solidFill>
            <a:srgbClr val="1ABC9C"/>
          </a:solidFill>
          <a:ln w="12700">
            <a:solidFill>
              <a:srgbClr val="1ABC9C"/>
            </a:solidFill>
            <a:prstDash val="solid"/>
          </a:ln>
        </p:spPr>
      </p:sp>
      <p:sp>
        <p:nvSpPr>
          <p:cNvPr id="62" name="Text 60"/>
          <p:cNvSpPr/>
          <p:nvPr/>
        </p:nvSpPr>
        <p:spPr>
          <a:xfrm>
            <a:off x="9509760" y="8412480"/>
            <a:ext cx="1005840" cy="658368"/>
          </a:xfrm>
          <a:prstGeom prst="rect">
            <a:avLst/>
          </a:prstGeom>
          <a:noFill/>
          <a:ln/>
        </p:spPr>
        <p:txBody>
          <a:bodyPr wrap="square" rtlCol="0" anchor="ctr"/>
          <a:lstStyle/>
          <a:p>
            <a:pPr algn="ctr"/>
            <a:r>
              <a:rPr lang="en-US" b="1" dirty="0">
                <a:solidFill>
                  <a:srgbClr val="FFFFFF"/>
                </a:solidFill>
                <a:latin typeface="Arial Black" pitchFamily="34" charset="0"/>
                <a:ea typeface="Arial Black" pitchFamily="34" charset="-122"/>
                <a:cs typeface="Arial Black" pitchFamily="34" charset="-120"/>
              </a:rPr>
              <a:t>A10</a:t>
            </a:r>
            <a:endParaRPr lang="en-US" dirty="0"/>
          </a:p>
        </p:txBody>
      </p:sp>
      <p:sp>
        <p:nvSpPr>
          <p:cNvPr id="63" name="Text 61"/>
          <p:cNvSpPr/>
          <p:nvPr/>
        </p:nvSpPr>
        <p:spPr>
          <a:xfrm>
            <a:off x="9509760" y="9034272"/>
            <a:ext cx="1005840" cy="457200"/>
          </a:xfrm>
          <a:prstGeom prst="rect">
            <a:avLst/>
          </a:prstGeom>
          <a:noFill/>
          <a:ln/>
        </p:spPr>
        <p:txBody>
          <a:bodyPr wrap="square" rtlCol="0" anchor="ctr"/>
          <a:lstStyle/>
          <a:p>
            <a:pPr algn="ctr"/>
            <a:r>
              <a:rPr lang="en-US" sz="1300" dirty="0">
                <a:solidFill>
                  <a:srgbClr val="CCDDDF"/>
                </a:solidFill>
                <a:latin typeface="Calibri" pitchFamily="34" charset="0"/>
                <a:ea typeface="Calibri" pitchFamily="34" charset="-122"/>
                <a:cs typeface="Calibri" pitchFamily="34" charset="-120"/>
              </a:rPr>
              <a:t>:2021</a:t>
            </a:r>
            <a:endParaRPr lang="en-US" sz="1300" dirty="0"/>
          </a:p>
        </p:txBody>
      </p:sp>
      <p:sp>
        <p:nvSpPr>
          <p:cNvPr id="64" name="Shape 62"/>
          <p:cNvSpPr/>
          <p:nvPr/>
        </p:nvSpPr>
        <p:spPr>
          <a:xfrm rot="2700000">
            <a:off x="10661904" y="8705088"/>
            <a:ext cx="512064" cy="512064"/>
          </a:xfrm>
          <a:prstGeom prst="rect">
            <a:avLst/>
          </a:prstGeom>
          <a:solidFill>
            <a:srgbClr val="FFFFFF"/>
          </a:solidFill>
          <a:ln w="12700">
            <a:solidFill>
              <a:srgbClr val="1ABC9C"/>
            </a:solidFill>
            <a:prstDash val="solid"/>
          </a:ln>
        </p:spPr>
      </p:sp>
      <p:sp>
        <p:nvSpPr>
          <p:cNvPr id="65" name="Text 63"/>
          <p:cNvSpPr/>
          <p:nvPr/>
        </p:nvSpPr>
        <p:spPr>
          <a:xfrm>
            <a:off x="11301984" y="8558784"/>
            <a:ext cx="6675120" cy="950976"/>
          </a:xfrm>
          <a:prstGeom prst="rect">
            <a:avLst/>
          </a:prstGeom>
          <a:noFill/>
          <a:ln/>
        </p:spPr>
        <p:txBody>
          <a:bodyPr wrap="square" rtlCol="0" anchor="ctr"/>
          <a:lstStyle/>
          <a:p>
            <a:r>
              <a:rPr lang="en-US" sz="2300" b="1" dirty="0">
                <a:solidFill>
                  <a:srgbClr val="FFFFFF"/>
                </a:solidFill>
                <a:latin typeface="Calibri" pitchFamily="34" charset="0"/>
                <a:ea typeface="Calibri" pitchFamily="34" charset="-122"/>
                <a:cs typeface="Calibri" pitchFamily="34" charset="-120"/>
              </a:rPr>
              <a:t>Server-Side Request Forgery (SSRF)</a:t>
            </a:r>
            <a:endParaRPr lang="en-US" sz="2300" dirty="0"/>
          </a:p>
        </p:txBody>
      </p:sp>
      <p:sp>
        <p:nvSpPr>
          <p:cNvPr id="67" name="Shape 64"/>
          <p:cNvSpPr/>
          <p:nvPr/>
        </p:nvSpPr>
        <p:spPr>
          <a:xfrm>
            <a:off x="0" y="9875520"/>
            <a:ext cx="18288000" cy="411480"/>
          </a:xfrm>
          <a:prstGeom prst="rect">
            <a:avLst/>
          </a:prstGeom>
          <a:solidFill>
            <a:srgbClr val="003845"/>
          </a:solidFill>
          <a:ln w="12700">
            <a:solidFill>
              <a:srgbClr val="003845"/>
            </a:solidFill>
            <a:prstDash val="solid"/>
          </a:ln>
        </p:spPr>
      </p:sp>
      <p:sp>
        <p:nvSpPr>
          <p:cNvPr id="68" name="Text 65"/>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66" name="Picture 65">
            <a:extLst>
              <a:ext uri="{FF2B5EF4-FFF2-40B4-BE49-F238E27FC236}">
                <a16:creationId xmlns:a16="http://schemas.microsoft.com/office/drawing/2014/main" id="{DF22786A-14EF-878F-34D6-459A481361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30200" y="56568"/>
            <a:ext cx="5151120" cy="189043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828800"/>
          </a:xfrm>
          <a:prstGeom prst="rect">
            <a:avLst/>
          </a:prstGeom>
          <a:solidFill>
            <a:srgbClr val="004D5B"/>
          </a:solidFill>
          <a:ln w="12700">
            <a:solidFill>
              <a:srgbClr val="004D5B"/>
            </a:solidFill>
            <a:prstDash val="solid"/>
          </a:ln>
        </p:spPr>
      </p:sp>
      <p:sp>
        <p:nvSpPr>
          <p:cNvPr id="3" name="Text 1"/>
          <p:cNvSpPr/>
          <p:nvPr/>
        </p:nvSpPr>
        <p:spPr>
          <a:xfrm>
            <a:off x="548640" y="91440"/>
            <a:ext cx="15544800" cy="1097280"/>
          </a:xfrm>
          <a:prstGeom prst="rect">
            <a:avLst/>
          </a:prstGeom>
          <a:noFill/>
          <a:ln/>
        </p:spPr>
        <p:txBody>
          <a:bodyPr wrap="square" rtlCol="0" anchor="ctr"/>
          <a:lstStyle/>
          <a:p>
            <a:r>
              <a:rPr lang="en-US" sz="4800" b="1" dirty="0">
                <a:solidFill>
                  <a:srgbClr val="FFFFFF"/>
                </a:solidFill>
                <a:latin typeface="Arial Black" pitchFamily="34" charset="0"/>
                <a:ea typeface="Arial Black" pitchFamily="34" charset="-122"/>
                <a:cs typeface="Arial Black" pitchFamily="34" charset="-120"/>
              </a:rPr>
              <a:t>How the OWASP Top 10 is Derived</a:t>
            </a:r>
            <a:endParaRPr lang="en-US" sz="4800" dirty="0"/>
          </a:p>
        </p:txBody>
      </p:sp>
      <p:sp>
        <p:nvSpPr>
          <p:cNvPr id="4" name="Text 2"/>
          <p:cNvSpPr/>
          <p:nvPr/>
        </p:nvSpPr>
        <p:spPr>
          <a:xfrm>
            <a:off x="548640" y="1133856"/>
            <a:ext cx="15544800" cy="585216"/>
          </a:xfrm>
          <a:prstGeom prst="rect">
            <a:avLst/>
          </a:prstGeom>
          <a:noFill/>
          <a:ln/>
        </p:spPr>
        <p:txBody>
          <a:bodyPr wrap="square" rtlCol="0" anchor="ctr"/>
          <a:lstStyle/>
          <a:p>
            <a:r>
              <a:rPr lang="en-US" sz="2200" dirty="0">
                <a:solidFill>
                  <a:srgbClr val="00B4C8"/>
                </a:solidFill>
                <a:latin typeface="Calibri" pitchFamily="34" charset="0"/>
                <a:ea typeface="Calibri" pitchFamily="34" charset="-122"/>
                <a:cs typeface="Calibri" pitchFamily="34" charset="-120"/>
              </a:rPr>
              <a:t>Methodology &amp; Categorization Process</a:t>
            </a:r>
            <a:endParaRPr lang="en-US" sz="2200" dirty="0"/>
          </a:p>
        </p:txBody>
      </p:sp>
      <p:sp>
        <p:nvSpPr>
          <p:cNvPr id="5" name="Shape 3"/>
          <p:cNvSpPr/>
          <p:nvPr/>
        </p:nvSpPr>
        <p:spPr>
          <a:xfrm>
            <a:off x="0" y="1828800"/>
            <a:ext cx="18288000" cy="73152"/>
          </a:xfrm>
          <a:prstGeom prst="rect">
            <a:avLst/>
          </a:prstGeom>
          <a:solidFill>
            <a:srgbClr val="00B4C8"/>
          </a:solidFill>
          <a:ln w="12700">
            <a:solidFill>
              <a:srgbClr val="00B4C8"/>
            </a:solidFill>
            <a:prstDash val="solid"/>
          </a:ln>
        </p:spPr>
      </p:sp>
      <p:sp>
        <p:nvSpPr>
          <p:cNvPr id="6" name="Shape 4"/>
          <p:cNvSpPr/>
          <p:nvPr/>
        </p:nvSpPr>
        <p:spPr>
          <a:xfrm>
            <a:off x="1554480" y="2377440"/>
            <a:ext cx="1316736" cy="1316736"/>
          </a:xfrm>
          <a:prstGeom prst="ellipse">
            <a:avLst/>
          </a:prstGeom>
          <a:solidFill>
            <a:srgbClr val="004D5B"/>
          </a:solidFill>
          <a:ln w="12700">
            <a:solidFill>
              <a:srgbClr val="004D5B"/>
            </a:solidFill>
            <a:prstDash val="solid"/>
          </a:ln>
        </p:spPr>
      </p:sp>
      <p:sp>
        <p:nvSpPr>
          <p:cNvPr id="7" name="Text 5"/>
          <p:cNvSpPr/>
          <p:nvPr/>
        </p:nvSpPr>
        <p:spPr>
          <a:xfrm>
            <a:off x="1554480" y="2377440"/>
            <a:ext cx="1316736" cy="1316736"/>
          </a:xfrm>
          <a:prstGeom prst="rect">
            <a:avLst/>
          </a:prstGeom>
          <a:noFill/>
          <a:ln/>
        </p:spPr>
        <p:txBody>
          <a:bodyPr wrap="square" rtlCol="0" anchor="ctr"/>
          <a:lstStyle/>
          <a:p>
            <a:pPr algn="ctr"/>
            <a:r>
              <a:rPr lang="en-US" sz="4400" b="1" dirty="0">
                <a:solidFill>
                  <a:srgbClr val="FFFFFF"/>
                </a:solidFill>
                <a:latin typeface="Arial Black" pitchFamily="34" charset="0"/>
                <a:ea typeface="Arial Black" pitchFamily="34" charset="-122"/>
                <a:cs typeface="Arial Black" pitchFamily="34" charset="-120"/>
              </a:rPr>
              <a:t>1</a:t>
            </a:r>
            <a:endParaRPr lang="en-US" sz="4400" dirty="0"/>
          </a:p>
        </p:txBody>
      </p:sp>
      <p:sp>
        <p:nvSpPr>
          <p:cNvPr id="8" name="Shape 6"/>
          <p:cNvSpPr/>
          <p:nvPr/>
        </p:nvSpPr>
        <p:spPr>
          <a:xfrm>
            <a:off x="2907792" y="2944368"/>
            <a:ext cx="1024128" cy="146304"/>
          </a:xfrm>
          <a:prstGeom prst="rect">
            <a:avLst/>
          </a:prstGeom>
          <a:solidFill>
            <a:srgbClr val="00B4C8"/>
          </a:solidFill>
          <a:ln w="12700">
            <a:solidFill>
              <a:srgbClr val="00B4C8"/>
            </a:solidFill>
            <a:prstDash val="solid"/>
          </a:ln>
        </p:spPr>
      </p:sp>
      <p:sp>
        <p:nvSpPr>
          <p:cNvPr id="9" name="Shape 7"/>
          <p:cNvSpPr/>
          <p:nvPr/>
        </p:nvSpPr>
        <p:spPr>
          <a:xfrm>
            <a:off x="3840480" y="2779776"/>
            <a:ext cx="256032" cy="438912"/>
          </a:xfrm>
          <a:prstGeom prst="triangle">
            <a:avLst/>
          </a:prstGeom>
          <a:solidFill>
            <a:srgbClr val="00B4C8"/>
          </a:solidFill>
          <a:ln w="12700">
            <a:solidFill>
              <a:srgbClr val="00B4C8"/>
            </a:solidFill>
            <a:prstDash val="solid"/>
          </a:ln>
        </p:spPr>
      </p:sp>
      <p:sp>
        <p:nvSpPr>
          <p:cNvPr id="10" name="Shape 8"/>
          <p:cNvSpPr/>
          <p:nvPr/>
        </p:nvSpPr>
        <p:spPr>
          <a:xfrm>
            <a:off x="640080" y="3931920"/>
            <a:ext cx="3108960" cy="466344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11" name="Shape 9"/>
          <p:cNvSpPr/>
          <p:nvPr/>
        </p:nvSpPr>
        <p:spPr>
          <a:xfrm>
            <a:off x="640080" y="3931920"/>
            <a:ext cx="3108960" cy="109728"/>
          </a:xfrm>
          <a:prstGeom prst="rect">
            <a:avLst/>
          </a:prstGeom>
          <a:solidFill>
            <a:srgbClr val="004D5B"/>
          </a:solidFill>
          <a:ln w="12700">
            <a:solidFill>
              <a:srgbClr val="004D5B"/>
            </a:solidFill>
            <a:prstDash val="solid"/>
          </a:ln>
        </p:spPr>
      </p:sp>
      <p:sp>
        <p:nvSpPr>
          <p:cNvPr id="12" name="Text 10"/>
          <p:cNvSpPr/>
          <p:nvPr/>
        </p:nvSpPr>
        <p:spPr>
          <a:xfrm>
            <a:off x="640080" y="4059936"/>
            <a:ext cx="3108960" cy="731520"/>
          </a:xfrm>
          <a:prstGeom prst="rect">
            <a:avLst/>
          </a:prstGeom>
          <a:noFill/>
          <a:ln/>
        </p:spPr>
        <p:txBody>
          <a:bodyPr wrap="square" rtlCol="0" anchor="ctr"/>
          <a:lstStyle/>
          <a:p>
            <a:pPr algn="ctr"/>
            <a:r>
              <a:rPr lang="en-US" sz="3600" dirty="0">
                <a:solidFill>
                  <a:srgbClr val="000000"/>
                </a:solidFill>
                <a:latin typeface="Segoe UI Emoji" pitchFamily="34" charset="0"/>
                <a:ea typeface="Segoe UI Emoji" pitchFamily="34" charset="-122"/>
                <a:cs typeface="Segoe UI Emoji" pitchFamily="34" charset="-120"/>
              </a:rPr>
              <a:t>🗂️</a:t>
            </a:r>
            <a:endParaRPr lang="en-US" sz="3600" dirty="0"/>
          </a:p>
        </p:txBody>
      </p:sp>
      <p:sp>
        <p:nvSpPr>
          <p:cNvPr id="13" name="Text 11"/>
          <p:cNvSpPr/>
          <p:nvPr/>
        </p:nvSpPr>
        <p:spPr>
          <a:xfrm>
            <a:off x="731520" y="4791456"/>
            <a:ext cx="2926080" cy="914400"/>
          </a:xfrm>
          <a:prstGeom prst="rect">
            <a:avLst/>
          </a:prstGeom>
          <a:noFill/>
          <a:ln/>
        </p:spPr>
        <p:txBody>
          <a:bodyPr wrap="square" rtlCol="0" anchor="ctr"/>
          <a:lstStyle/>
          <a:p>
            <a:pPr algn="ctr"/>
            <a:r>
              <a:rPr lang="en-US" sz="1900" b="1" dirty="0">
                <a:solidFill>
                  <a:srgbClr val="004D5B"/>
                </a:solidFill>
                <a:latin typeface="Arial" pitchFamily="34" charset="0"/>
                <a:ea typeface="Arial" pitchFamily="34" charset="-122"/>
                <a:cs typeface="Arial" pitchFamily="34" charset="-120"/>
              </a:rPr>
              <a:t>Vulnerability Collection</a:t>
            </a:r>
            <a:endParaRPr lang="en-US" sz="1900" dirty="0"/>
          </a:p>
        </p:txBody>
      </p:sp>
      <p:sp>
        <p:nvSpPr>
          <p:cNvPr id="14" name="Text 12"/>
          <p:cNvSpPr/>
          <p:nvPr/>
        </p:nvSpPr>
        <p:spPr>
          <a:xfrm>
            <a:off x="731520" y="5742432"/>
            <a:ext cx="2926080" cy="2743200"/>
          </a:xfrm>
          <a:prstGeom prst="rect">
            <a:avLst/>
          </a:prstGeom>
          <a:noFill/>
          <a:ln/>
        </p:spPr>
        <p:txBody>
          <a:bodyPr wrap="square" rtlCol="0" anchor="t"/>
          <a:lstStyle/>
          <a:p>
            <a:r>
              <a:rPr lang="en-US" sz="1700" dirty="0">
                <a:solidFill>
                  <a:srgbClr val="2C3E50"/>
                </a:solidFill>
                <a:latin typeface="Calibri" pitchFamily="34" charset="0"/>
                <a:ea typeface="Calibri" pitchFamily="34" charset="-122"/>
                <a:cs typeface="Calibri" pitchFamily="34" charset="-120"/>
              </a:rPr>
              <a:t>Security professionals &amp; organizations submit vulnerability data from real-world web applications</a:t>
            </a:r>
            <a:endParaRPr lang="en-US" sz="1700" dirty="0"/>
          </a:p>
        </p:txBody>
      </p:sp>
      <p:sp>
        <p:nvSpPr>
          <p:cNvPr id="15" name="Shape 13"/>
          <p:cNvSpPr/>
          <p:nvPr/>
        </p:nvSpPr>
        <p:spPr>
          <a:xfrm>
            <a:off x="5029200" y="2377440"/>
            <a:ext cx="1316736" cy="1316736"/>
          </a:xfrm>
          <a:prstGeom prst="ellipse">
            <a:avLst/>
          </a:prstGeom>
          <a:solidFill>
            <a:srgbClr val="005F73"/>
          </a:solidFill>
          <a:ln w="12700">
            <a:solidFill>
              <a:srgbClr val="005F73"/>
            </a:solidFill>
            <a:prstDash val="solid"/>
          </a:ln>
        </p:spPr>
      </p:sp>
      <p:sp>
        <p:nvSpPr>
          <p:cNvPr id="16" name="Text 14"/>
          <p:cNvSpPr/>
          <p:nvPr/>
        </p:nvSpPr>
        <p:spPr>
          <a:xfrm>
            <a:off x="5029200" y="2377440"/>
            <a:ext cx="1316736" cy="1316736"/>
          </a:xfrm>
          <a:prstGeom prst="rect">
            <a:avLst/>
          </a:prstGeom>
          <a:noFill/>
          <a:ln/>
        </p:spPr>
        <p:txBody>
          <a:bodyPr wrap="square" rtlCol="0" anchor="ctr"/>
          <a:lstStyle/>
          <a:p>
            <a:pPr algn="ctr"/>
            <a:r>
              <a:rPr lang="en-US" sz="4400" b="1" dirty="0">
                <a:solidFill>
                  <a:srgbClr val="FFFFFF"/>
                </a:solidFill>
                <a:latin typeface="Arial Black" pitchFamily="34" charset="0"/>
                <a:ea typeface="Arial Black" pitchFamily="34" charset="-122"/>
                <a:cs typeface="Arial Black" pitchFamily="34" charset="-120"/>
              </a:rPr>
              <a:t>2</a:t>
            </a:r>
            <a:endParaRPr lang="en-US" sz="4400" dirty="0"/>
          </a:p>
        </p:txBody>
      </p:sp>
      <p:sp>
        <p:nvSpPr>
          <p:cNvPr id="17" name="Shape 15"/>
          <p:cNvSpPr/>
          <p:nvPr/>
        </p:nvSpPr>
        <p:spPr>
          <a:xfrm>
            <a:off x="6382512" y="2944368"/>
            <a:ext cx="1024128" cy="146304"/>
          </a:xfrm>
          <a:prstGeom prst="rect">
            <a:avLst/>
          </a:prstGeom>
          <a:solidFill>
            <a:srgbClr val="00B4C8"/>
          </a:solidFill>
          <a:ln w="12700">
            <a:solidFill>
              <a:srgbClr val="00B4C8"/>
            </a:solidFill>
            <a:prstDash val="solid"/>
          </a:ln>
        </p:spPr>
      </p:sp>
      <p:sp>
        <p:nvSpPr>
          <p:cNvPr id="18" name="Shape 16"/>
          <p:cNvSpPr/>
          <p:nvPr/>
        </p:nvSpPr>
        <p:spPr>
          <a:xfrm>
            <a:off x="7315200" y="2779776"/>
            <a:ext cx="256032" cy="438912"/>
          </a:xfrm>
          <a:prstGeom prst="triangle">
            <a:avLst/>
          </a:prstGeom>
          <a:solidFill>
            <a:srgbClr val="00B4C8"/>
          </a:solidFill>
          <a:ln w="12700">
            <a:solidFill>
              <a:srgbClr val="00B4C8"/>
            </a:solidFill>
            <a:prstDash val="solid"/>
          </a:ln>
        </p:spPr>
      </p:sp>
      <p:sp>
        <p:nvSpPr>
          <p:cNvPr id="19" name="Shape 17"/>
          <p:cNvSpPr/>
          <p:nvPr/>
        </p:nvSpPr>
        <p:spPr>
          <a:xfrm>
            <a:off x="4114800" y="3931920"/>
            <a:ext cx="3108960" cy="466344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0" name="Shape 18"/>
          <p:cNvSpPr/>
          <p:nvPr/>
        </p:nvSpPr>
        <p:spPr>
          <a:xfrm>
            <a:off x="4114800" y="3931920"/>
            <a:ext cx="3108960" cy="109728"/>
          </a:xfrm>
          <a:prstGeom prst="rect">
            <a:avLst/>
          </a:prstGeom>
          <a:solidFill>
            <a:srgbClr val="005F73"/>
          </a:solidFill>
          <a:ln w="12700">
            <a:solidFill>
              <a:srgbClr val="005F73"/>
            </a:solidFill>
            <a:prstDash val="solid"/>
          </a:ln>
        </p:spPr>
      </p:sp>
      <p:sp>
        <p:nvSpPr>
          <p:cNvPr id="21" name="Text 19"/>
          <p:cNvSpPr/>
          <p:nvPr/>
        </p:nvSpPr>
        <p:spPr>
          <a:xfrm>
            <a:off x="4114800" y="4059936"/>
            <a:ext cx="3108960" cy="731520"/>
          </a:xfrm>
          <a:prstGeom prst="rect">
            <a:avLst/>
          </a:prstGeom>
          <a:noFill/>
          <a:ln/>
        </p:spPr>
        <p:txBody>
          <a:bodyPr wrap="square" rtlCol="0" anchor="ctr"/>
          <a:lstStyle/>
          <a:p>
            <a:pPr algn="ctr"/>
            <a:r>
              <a:rPr lang="en-US" sz="3600" dirty="0">
                <a:solidFill>
                  <a:srgbClr val="000000"/>
                </a:solidFill>
                <a:latin typeface="Segoe UI Emoji" pitchFamily="34" charset="0"/>
                <a:ea typeface="Segoe UI Emoji" pitchFamily="34" charset="-122"/>
                <a:cs typeface="Segoe UI Emoji" pitchFamily="34" charset="-120"/>
              </a:rPr>
              <a:t>🏷️</a:t>
            </a:r>
            <a:endParaRPr lang="en-US" sz="3600" dirty="0"/>
          </a:p>
        </p:txBody>
      </p:sp>
      <p:sp>
        <p:nvSpPr>
          <p:cNvPr id="22" name="Text 20"/>
          <p:cNvSpPr/>
          <p:nvPr/>
        </p:nvSpPr>
        <p:spPr>
          <a:xfrm>
            <a:off x="4206240" y="4791456"/>
            <a:ext cx="2926080" cy="914400"/>
          </a:xfrm>
          <a:prstGeom prst="rect">
            <a:avLst/>
          </a:prstGeom>
          <a:noFill/>
          <a:ln/>
        </p:spPr>
        <p:txBody>
          <a:bodyPr wrap="square" rtlCol="0" anchor="ctr"/>
          <a:lstStyle/>
          <a:p>
            <a:pPr algn="ctr"/>
            <a:r>
              <a:rPr lang="en-US" sz="1900" b="1" dirty="0">
                <a:solidFill>
                  <a:srgbClr val="005F73"/>
                </a:solidFill>
                <a:latin typeface="Arial" pitchFamily="34" charset="0"/>
                <a:ea typeface="Arial" pitchFamily="34" charset="-122"/>
                <a:cs typeface="Arial" pitchFamily="34" charset="-120"/>
              </a:rPr>
              <a:t>Categorization by CWE</a:t>
            </a:r>
            <a:endParaRPr lang="en-US" sz="1900" dirty="0"/>
          </a:p>
        </p:txBody>
      </p:sp>
      <p:sp>
        <p:nvSpPr>
          <p:cNvPr id="23" name="Text 21"/>
          <p:cNvSpPr/>
          <p:nvPr/>
        </p:nvSpPr>
        <p:spPr>
          <a:xfrm>
            <a:off x="4206240" y="5742432"/>
            <a:ext cx="2926080" cy="2743200"/>
          </a:xfrm>
          <a:prstGeom prst="rect">
            <a:avLst/>
          </a:prstGeom>
          <a:noFill/>
          <a:ln/>
        </p:spPr>
        <p:txBody>
          <a:bodyPr wrap="square" rtlCol="0" anchor="t"/>
          <a:lstStyle/>
          <a:p>
            <a:r>
              <a:rPr lang="en-US" sz="1700" dirty="0">
                <a:solidFill>
                  <a:srgbClr val="2C3E50"/>
                </a:solidFill>
                <a:latin typeface="Calibri" pitchFamily="34" charset="0"/>
                <a:ea typeface="Calibri" pitchFamily="34" charset="-122"/>
                <a:cs typeface="Calibri" pitchFamily="34" charset="-120"/>
              </a:rPr>
              <a:t>Submitted vulnerabilities are analyzed &amp; grouped by root cause using CWE (Common Weakness Enumeration)</a:t>
            </a:r>
            <a:endParaRPr lang="en-US" sz="1700" dirty="0"/>
          </a:p>
        </p:txBody>
      </p:sp>
      <p:sp>
        <p:nvSpPr>
          <p:cNvPr id="24" name="Shape 22"/>
          <p:cNvSpPr/>
          <p:nvPr/>
        </p:nvSpPr>
        <p:spPr>
          <a:xfrm>
            <a:off x="8503920" y="2377440"/>
            <a:ext cx="1316736" cy="1316736"/>
          </a:xfrm>
          <a:prstGeom prst="ellipse">
            <a:avLst/>
          </a:prstGeom>
          <a:solidFill>
            <a:srgbClr val="00B4C8"/>
          </a:solidFill>
          <a:ln w="12700">
            <a:solidFill>
              <a:srgbClr val="00B4C8"/>
            </a:solidFill>
            <a:prstDash val="solid"/>
          </a:ln>
        </p:spPr>
      </p:sp>
      <p:sp>
        <p:nvSpPr>
          <p:cNvPr id="25" name="Text 23"/>
          <p:cNvSpPr/>
          <p:nvPr/>
        </p:nvSpPr>
        <p:spPr>
          <a:xfrm>
            <a:off x="8503920" y="2377440"/>
            <a:ext cx="1316736" cy="1316736"/>
          </a:xfrm>
          <a:prstGeom prst="rect">
            <a:avLst/>
          </a:prstGeom>
          <a:noFill/>
          <a:ln/>
        </p:spPr>
        <p:txBody>
          <a:bodyPr wrap="square" rtlCol="0" anchor="ctr"/>
          <a:lstStyle/>
          <a:p>
            <a:pPr algn="ctr"/>
            <a:r>
              <a:rPr lang="en-US" sz="4400" b="1" dirty="0">
                <a:solidFill>
                  <a:srgbClr val="FFFFFF"/>
                </a:solidFill>
                <a:latin typeface="Arial Black" pitchFamily="34" charset="0"/>
                <a:ea typeface="Arial Black" pitchFamily="34" charset="-122"/>
                <a:cs typeface="Arial Black" pitchFamily="34" charset="-120"/>
              </a:rPr>
              <a:t>3</a:t>
            </a:r>
            <a:endParaRPr lang="en-US" sz="4400" dirty="0"/>
          </a:p>
        </p:txBody>
      </p:sp>
      <p:sp>
        <p:nvSpPr>
          <p:cNvPr id="26" name="Shape 24"/>
          <p:cNvSpPr/>
          <p:nvPr/>
        </p:nvSpPr>
        <p:spPr>
          <a:xfrm>
            <a:off x="9857232" y="2944368"/>
            <a:ext cx="1024128" cy="146304"/>
          </a:xfrm>
          <a:prstGeom prst="rect">
            <a:avLst/>
          </a:prstGeom>
          <a:solidFill>
            <a:srgbClr val="00B4C8"/>
          </a:solidFill>
          <a:ln w="12700">
            <a:solidFill>
              <a:srgbClr val="00B4C8"/>
            </a:solidFill>
            <a:prstDash val="solid"/>
          </a:ln>
        </p:spPr>
      </p:sp>
      <p:sp>
        <p:nvSpPr>
          <p:cNvPr id="27" name="Shape 25"/>
          <p:cNvSpPr/>
          <p:nvPr/>
        </p:nvSpPr>
        <p:spPr>
          <a:xfrm>
            <a:off x="10789920" y="2779776"/>
            <a:ext cx="256032" cy="438912"/>
          </a:xfrm>
          <a:prstGeom prst="triangle">
            <a:avLst/>
          </a:prstGeom>
          <a:solidFill>
            <a:srgbClr val="00B4C8"/>
          </a:solidFill>
          <a:ln w="12700">
            <a:solidFill>
              <a:srgbClr val="00B4C8"/>
            </a:solidFill>
            <a:prstDash val="solid"/>
          </a:ln>
        </p:spPr>
      </p:sp>
      <p:sp>
        <p:nvSpPr>
          <p:cNvPr id="28" name="Shape 26"/>
          <p:cNvSpPr/>
          <p:nvPr/>
        </p:nvSpPr>
        <p:spPr>
          <a:xfrm>
            <a:off x="7589520" y="3931920"/>
            <a:ext cx="3108960" cy="466344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9" name="Shape 27"/>
          <p:cNvSpPr/>
          <p:nvPr/>
        </p:nvSpPr>
        <p:spPr>
          <a:xfrm>
            <a:off x="7589520" y="3931920"/>
            <a:ext cx="3108960" cy="109728"/>
          </a:xfrm>
          <a:prstGeom prst="rect">
            <a:avLst/>
          </a:prstGeom>
          <a:solidFill>
            <a:srgbClr val="00B4C8"/>
          </a:solidFill>
          <a:ln w="12700">
            <a:solidFill>
              <a:srgbClr val="00B4C8"/>
            </a:solidFill>
            <a:prstDash val="solid"/>
          </a:ln>
        </p:spPr>
      </p:sp>
      <p:sp>
        <p:nvSpPr>
          <p:cNvPr id="30" name="Text 28"/>
          <p:cNvSpPr/>
          <p:nvPr/>
        </p:nvSpPr>
        <p:spPr>
          <a:xfrm>
            <a:off x="7589520" y="4059936"/>
            <a:ext cx="3108960" cy="731520"/>
          </a:xfrm>
          <a:prstGeom prst="rect">
            <a:avLst/>
          </a:prstGeom>
          <a:noFill/>
          <a:ln/>
        </p:spPr>
        <p:txBody>
          <a:bodyPr wrap="square" rtlCol="0" anchor="ctr"/>
          <a:lstStyle/>
          <a:p>
            <a:pPr algn="ctr"/>
            <a:r>
              <a:rPr lang="en-US" sz="3600" dirty="0">
                <a:solidFill>
                  <a:srgbClr val="000000"/>
                </a:solidFill>
                <a:latin typeface="Segoe UI Emoji" pitchFamily="34" charset="0"/>
                <a:ea typeface="Segoe UI Emoji" pitchFamily="34" charset="-122"/>
                <a:cs typeface="Segoe UI Emoji" pitchFamily="34" charset="-120"/>
              </a:rPr>
              <a:t>📊</a:t>
            </a:r>
            <a:endParaRPr lang="en-US" sz="3600" dirty="0"/>
          </a:p>
        </p:txBody>
      </p:sp>
      <p:sp>
        <p:nvSpPr>
          <p:cNvPr id="31" name="Text 29"/>
          <p:cNvSpPr/>
          <p:nvPr/>
        </p:nvSpPr>
        <p:spPr>
          <a:xfrm>
            <a:off x="7680960" y="4791456"/>
            <a:ext cx="2926080" cy="914400"/>
          </a:xfrm>
          <a:prstGeom prst="rect">
            <a:avLst/>
          </a:prstGeom>
          <a:noFill/>
          <a:ln/>
        </p:spPr>
        <p:txBody>
          <a:bodyPr wrap="square" rtlCol="0" anchor="ctr"/>
          <a:lstStyle/>
          <a:p>
            <a:pPr algn="ctr"/>
            <a:r>
              <a:rPr lang="en-US" sz="1900" b="1" dirty="0">
                <a:solidFill>
                  <a:srgbClr val="00B4C8"/>
                </a:solidFill>
                <a:latin typeface="Arial" pitchFamily="34" charset="0"/>
                <a:ea typeface="Arial" pitchFamily="34" charset="-122"/>
                <a:cs typeface="Arial" pitchFamily="34" charset="-120"/>
              </a:rPr>
              <a:t>CVE + CVSS Scoring</a:t>
            </a:r>
            <a:endParaRPr lang="en-US" sz="1900" dirty="0"/>
          </a:p>
        </p:txBody>
      </p:sp>
      <p:sp>
        <p:nvSpPr>
          <p:cNvPr id="32" name="Text 30"/>
          <p:cNvSpPr/>
          <p:nvPr/>
        </p:nvSpPr>
        <p:spPr>
          <a:xfrm>
            <a:off x="7680960" y="5742432"/>
            <a:ext cx="2926080" cy="2743200"/>
          </a:xfrm>
          <a:prstGeom prst="rect">
            <a:avLst/>
          </a:prstGeom>
          <a:noFill/>
          <a:ln/>
        </p:spPr>
        <p:txBody>
          <a:bodyPr wrap="square" rtlCol="0" anchor="t"/>
          <a:lstStyle/>
          <a:p>
            <a:r>
              <a:rPr lang="en-US" sz="1700" dirty="0">
                <a:solidFill>
                  <a:srgbClr val="2C3E50"/>
                </a:solidFill>
                <a:latin typeface="Calibri" pitchFamily="34" charset="0"/>
                <a:ea typeface="Calibri" pitchFamily="34" charset="-122"/>
                <a:cs typeface="Calibri" pitchFamily="34" charset="-120"/>
              </a:rPr>
              <a:t>CVEs grouped with CVSSv3 &amp; CVSSv2 scores. Exploit and impact scores weighted by population percentage</a:t>
            </a:r>
            <a:endParaRPr lang="en-US" sz="1700" dirty="0"/>
          </a:p>
        </p:txBody>
      </p:sp>
      <p:sp>
        <p:nvSpPr>
          <p:cNvPr id="33" name="Shape 31"/>
          <p:cNvSpPr/>
          <p:nvPr/>
        </p:nvSpPr>
        <p:spPr>
          <a:xfrm>
            <a:off x="11978640" y="2377440"/>
            <a:ext cx="1316736" cy="1316736"/>
          </a:xfrm>
          <a:prstGeom prst="ellipse">
            <a:avLst/>
          </a:prstGeom>
          <a:solidFill>
            <a:srgbClr val="27AE60"/>
          </a:solidFill>
          <a:ln w="12700">
            <a:solidFill>
              <a:srgbClr val="27AE60"/>
            </a:solidFill>
            <a:prstDash val="solid"/>
          </a:ln>
        </p:spPr>
      </p:sp>
      <p:sp>
        <p:nvSpPr>
          <p:cNvPr id="34" name="Text 32"/>
          <p:cNvSpPr/>
          <p:nvPr/>
        </p:nvSpPr>
        <p:spPr>
          <a:xfrm>
            <a:off x="11978640" y="2377440"/>
            <a:ext cx="1316736" cy="1316736"/>
          </a:xfrm>
          <a:prstGeom prst="rect">
            <a:avLst/>
          </a:prstGeom>
          <a:noFill/>
          <a:ln/>
        </p:spPr>
        <p:txBody>
          <a:bodyPr wrap="square" rtlCol="0" anchor="ctr"/>
          <a:lstStyle/>
          <a:p>
            <a:pPr algn="ctr"/>
            <a:r>
              <a:rPr lang="en-US" sz="4400" b="1" dirty="0">
                <a:solidFill>
                  <a:srgbClr val="FFFFFF"/>
                </a:solidFill>
                <a:latin typeface="Arial Black" pitchFamily="34" charset="0"/>
                <a:ea typeface="Arial Black" pitchFamily="34" charset="-122"/>
                <a:cs typeface="Arial Black" pitchFamily="34" charset="-120"/>
              </a:rPr>
              <a:t>4</a:t>
            </a:r>
            <a:endParaRPr lang="en-US" sz="4400" dirty="0"/>
          </a:p>
        </p:txBody>
      </p:sp>
      <p:sp>
        <p:nvSpPr>
          <p:cNvPr id="35" name="Shape 33"/>
          <p:cNvSpPr/>
          <p:nvPr/>
        </p:nvSpPr>
        <p:spPr>
          <a:xfrm>
            <a:off x="13331952" y="2944368"/>
            <a:ext cx="1024128" cy="146304"/>
          </a:xfrm>
          <a:prstGeom prst="rect">
            <a:avLst/>
          </a:prstGeom>
          <a:solidFill>
            <a:srgbClr val="00B4C8"/>
          </a:solidFill>
          <a:ln w="12700">
            <a:solidFill>
              <a:srgbClr val="00B4C8"/>
            </a:solidFill>
            <a:prstDash val="solid"/>
          </a:ln>
        </p:spPr>
      </p:sp>
      <p:sp>
        <p:nvSpPr>
          <p:cNvPr id="36" name="Shape 34"/>
          <p:cNvSpPr/>
          <p:nvPr/>
        </p:nvSpPr>
        <p:spPr>
          <a:xfrm>
            <a:off x="14264640" y="2779776"/>
            <a:ext cx="256032" cy="438912"/>
          </a:xfrm>
          <a:prstGeom prst="triangle">
            <a:avLst/>
          </a:prstGeom>
          <a:solidFill>
            <a:srgbClr val="00B4C8"/>
          </a:solidFill>
          <a:ln w="12700">
            <a:solidFill>
              <a:srgbClr val="00B4C8"/>
            </a:solidFill>
            <a:prstDash val="solid"/>
          </a:ln>
        </p:spPr>
      </p:sp>
      <p:sp>
        <p:nvSpPr>
          <p:cNvPr id="37" name="Shape 35"/>
          <p:cNvSpPr/>
          <p:nvPr/>
        </p:nvSpPr>
        <p:spPr>
          <a:xfrm>
            <a:off x="11064240" y="3931920"/>
            <a:ext cx="3108960" cy="466344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38" name="Shape 36"/>
          <p:cNvSpPr/>
          <p:nvPr/>
        </p:nvSpPr>
        <p:spPr>
          <a:xfrm>
            <a:off x="11064240" y="3931920"/>
            <a:ext cx="3108960" cy="109728"/>
          </a:xfrm>
          <a:prstGeom prst="rect">
            <a:avLst/>
          </a:prstGeom>
          <a:solidFill>
            <a:srgbClr val="27AE60"/>
          </a:solidFill>
          <a:ln w="12700">
            <a:solidFill>
              <a:srgbClr val="27AE60"/>
            </a:solidFill>
            <a:prstDash val="solid"/>
          </a:ln>
        </p:spPr>
      </p:sp>
      <p:sp>
        <p:nvSpPr>
          <p:cNvPr id="39" name="Text 37"/>
          <p:cNvSpPr/>
          <p:nvPr/>
        </p:nvSpPr>
        <p:spPr>
          <a:xfrm>
            <a:off x="11064240" y="4059936"/>
            <a:ext cx="3108960" cy="731520"/>
          </a:xfrm>
          <a:prstGeom prst="rect">
            <a:avLst/>
          </a:prstGeom>
          <a:noFill/>
          <a:ln/>
        </p:spPr>
        <p:txBody>
          <a:bodyPr wrap="square" rtlCol="0" anchor="ctr"/>
          <a:lstStyle/>
          <a:p>
            <a:pPr algn="ctr"/>
            <a:r>
              <a:rPr lang="en-US" sz="3600" dirty="0">
                <a:solidFill>
                  <a:srgbClr val="000000"/>
                </a:solidFill>
                <a:latin typeface="Segoe UI Emoji" pitchFamily="34" charset="0"/>
                <a:ea typeface="Segoe UI Emoji" pitchFamily="34" charset="-122"/>
                <a:cs typeface="Segoe UI Emoji" pitchFamily="34" charset="-120"/>
              </a:rPr>
              <a:t>⚡</a:t>
            </a:r>
            <a:endParaRPr lang="en-US" sz="3600" dirty="0"/>
          </a:p>
        </p:txBody>
      </p:sp>
      <p:sp>
        <p:nvSpPr>
          <p:cNvPr id="40" name="Text 38"/>
          <p:cNvSpPr/>
          <p:nvPr/>
        </p:nvSpPr>
        <p:spPr>
          <a:xfrm>
            <a:off x="11155680" y="4791456"/>
            <a:ext cx="2926080" cy="914400"/>
          </a:xfrm>
          <a:prstGeom prst="rect">
            <a:avLst/>
          </a:prstGeom>
          <a:noFill/>
          <a:ln/>
        </p:spPr>
        <p:txBody>
          <a:bodyPr wrap="square" rtlCol="0" anchor="ctr"/>
          <a:lstStyle/>
          <a:p>
            <a:pPr algn="ctr"/>
            <a:r>
              <a:rPr lang="en-US" sz="1900" b="1" dirty="0">
                <a:solidFill>
                  <a:srgbClr val="27AE60"/>
                </a:solidFill>
                <a:latin typeface="Arial" pitchFamily="34" charset="0"/>
                <a:ea typeface="Arial" pitchFamily="34" charset="-122"/>
                <a:cs typeface="Arial" pitchFamily="34" charset="-120"/>
              </a:rPr>
              <a:t>Risk Prioritization</a:t>
            </a:r>
            <a:endParaRPr lang="en-US" sz="1900" dirty="0"/>
          </a:p>
        </p:txBody>
      </p:sp>
      <p:sp>
        <p:nvSpPr>
          <p:cNvPr id="41" name="Text 39"/>
          <p:cNvSpPr/>
          <p:nvPr/>
        </p:nvSpPr>
        <p:spPr>
          <a:xfrm>
            <a:off x="11155680" y="5742432"/>
            <a:ext cx="2926080" cy="2743200"/>
          </a:xfrm>
          <a:prstGeom prst="rect">
            <a:avLst/>
          </a:prstGeom>
          <a:noFill/>
          <a:ln/>
        </p:spPr>
        <p:txBody>
          <a:bodyPr wrap="square" rtlCol="0" anchor="t"/>
          <a:lstStyle/>
          <a:p>
            <a:r>
              <a:rPr lang="en-US" sz="1700" dirty="0">
                <a:solidFill>
                  <a:srgbClr val="2C3E50"/>
                </a:solidFill>
                <a:latin typeface="Calibri" pitchFamily="34" charset="0"/>
                <a:ea typeface="Calibri" pitchFamily="34" charset="-122"/>
                <a:cs typeface="Calibri" pitchFamily="34" charset="-120"/>
              </a:rPr>
              <a:t>Ranked by prevalence, exploitability, detectability &amp; business impact from data + expert survey</a:t>
            </a:r>
            <a:endParaRPr lang="en-US" sz="1700" dirty="0"/>
          </a:p>
        </p:txBody>
      </p:sp>
      <p:sp>
        <p:nvSpPr>
          <p:cNvPr id="42" name="Shape 40"/>
          <p:cNvSpPr/>
          <p:nvPr/>
        </p:nvSpPr>
        <p:spPr>
          <a:xfrm>
            <a:off x="15453360" y="2377440"/>
            <a:ext cx="1316736" cy="1316736"/>
          </a:xfrm>
          <a:prstGeom prst="ellipse">
            <a:avLst/>
          </a:prstGeom>
          <a:solidFill>
            <a:srgbClr val="E67E22"/>
          </a:solidFill>
          <a:ln w="12700">
            <a:solidFill>
              <a:srgbClr val="E67E22"/>
            </a:solidFill>
            <a:prstDash val="solid"/>
          </a:ln>
        </p:spPr>
      </p:sp>
      <p:sp>
        <p:nvSpPr>
          <p:cNvPr id="43" name="Text 41"/>
          <p:cNvSpPr/>
          <p:nvPr/>
        </p:nvSpPr>
        <p:spPr>
          <a:xfrm>
            <a:off x="15453360" y="2377440"/>
            <a:ext cx="1316736" cy="1316736"/>
          </a:xfrm>
          <a:prstGeom prst="rect">
            <a:avLst/>
          </a:prstGeom>
          <a:noFill/>
          <a:ln/>
        </p:spPr>
        <p:txBody>
          <a:bodyPr wrap="square" rtlCol="0" anchor="ctr"/>
          <a:lstStyle/>
          <a:p>
            <a:pPr algn="ctr"/>
            <a:r>
              <a:rPr lang="en-US" sz="4400" b="1" dirty="0">
                <a:solidFill>
                  <a:srgbClr val="FFFFFF"/>
                </a:solidFill>
                <a:latin typeface="Arial Black" pitchFamily="34" charset="0"/>
                <a:ea typeface="Arial Black" pitchFamily="34" charset="-122"/>
                <a:cs typeface="Arial Black" pitchFamily="34" charset="-120"/>
              </a:rPr>
              <a:t>5</a:t>
            </a:r>
            <a:endParaRPr lang="en-US" sz="4400" dirty="0"/>
          </a:p>
        </p:txBody>
      </p:sp>
      <p:sp>
        <p:nvSpPr>
          <p:cNvPr id="44" name="Shape 42"/>
          <p:cNvSpPr/>
          <p:nvPr/>
        </p:nvSpPr>
        <p:spPr>
          <a:xfrm>
            <a:off x="14538960" y="3931920"/>
            <a:ext cx="3108960" cy="466344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45" name="Shape 43"/>
          <p:cNvSpPr/>
          <p:nvPr/>
        </p:nvSpPr>
        <p:spPr>
          <a:xfrm>
            <a:off x="14538960" y="3931920"/>
            <a:ext cx="3108960" cy="109728"/>
          </a:xfrm>
          <a:prstGeom prst="rect">
            <a:avLst/>
          </a:prstGeom>
          <a:solidFill>
            <a:srgbClr val="E67E22"/>
          </a:solidFill>
          <a:ln w="12700">
            <a:solidFill>
              <a:srgbClr val="E67E22"/>
            </a:solidFill>
            <a:prstDash val="solid"/>
          </a:ln>
        </p:spPr>
      </p:sp>
      <p:sp>
        <p:nvSpPr>
          <p:cNvPr id="46" name="Text 44"/>
          <p:cNvSpPr/>
          <p:nvPr/>
        </p:nvSpPr>
        <p:spPr>
          <a:xfrm>
            <a:off x="14538960" y="4059936"/>
            <a:ext cx="3108960" cy="731520"/>
          </a:xfrm>
          <a:prstGeom prst="rect">
            <a:avLst/>
          </a:prstGeom>
          <a:noFill/>
          <a:ln/>
        </p:spPr>
        <p:txBody>
          <a:bodyPr wrap="square" rtlCol="0" anchor="ctr"/>
          <a:lstStyle/>
          <a:p>
            <a:pPr algn="ctr"/>
            <a:r>
              <a:rPr lang="en-US" sz="3600" dirty="0">
                <a:solidFill>
                  <a:srgbClr val="000000"/>
                </a:solidFill>
                <a:latin typeface="Segoe UI Emoji" pitchFamily="34" charset="0"/>
                <a:ea typeface="Segoe UI Emoji" pitchFamily="34" charset="-122"/>
                <a:cs typeface="Segoe UI Emoji" pitchFamily="34" charset="-120"/>
              </a:rPr>
              <a:t>📢</a:t>
            </a:r>
            <a:endParaRPr lang="en-US" sz="3600" dirty="0"/>
          </a:p>
        </p:txBody>
      </p:sp>
      <p:sp>
        <p:nvSpPr>
          <p:cNvPr id="47" name="Text 45"/>
          <p:cNvSpPr/>
          <p:nvPr/>
        </p:nvSpPr>
        <p:spPr>
          <a:xfrm>
            <a:off x="14630400" y="4791456"/>
            <a:ext cx="2926080" cy="914400"/>
          </a:xfrm>
          <a:prstGeom prst="rect">
            <a:avLst/>
          </a:prstGeom>
          <a:noFill/>
          <a:ln/>
        </p:spPr>
        <p:txBody>
          <a:bodyPr wrap="square" rtlCol="0" anchor="ctr"/>
          <a:lstStyle/>
          <a:p>
            <a:pPr algn="ctr"/>
            <a:r>
              <a:rPr lang="en-US" sz="1900" b="1" dirty="0">
                <a:solidFill>
                  <a:srgbClr val="E67E22"/>
                </a:solidFill>
                <a:latin typeface="Arial" pitchFamily="34" charset="0"/>
                <a:ea typeface="Arial" pitchFamily="34" charset="-122"/>
                <a:cs typeface="Arial" pitchFamily="34" charset="-120"/>
              </a:rPr>
              <a:t>Top 10 Published</a:t>
            </a:r>
            <a:endParaRPr lang="en-US" sz="1900" dirty="0"/>
          </a:p>
        </p:txBody>
      </p:sp>
      <p:sp>
        <p:nvSpPr>
          <p:cNvPr id="48" name="Text 46"/>
          <p:cNvSpPr/>
          <p:nvPr/>
        </p:nvSpPr>
        <p:spPr>
          <a:xfrm>
            <a:off x="14630400" y="5742432"/>
            <a:ext cx="2926080" cy="2743200"/>
          </a:xfrm>
          <a:prstGeom prst="rect">
            <a:avLst/>
          </a:prstGeom>
          <a:noFill/>
          <a:ln/>
        </p:spPr>
        <p:txBody>
          <a:bodyPr wrap="square" rtlCol="0" anchor="t"/>
          <a:lstStyle/>
          <a:p>
            <a:r>
              <a:rPr lang="en-US" sz="1700" dirty="0">
                <a:solidFill>
                  <a:srgbClr val="2C3E50"/>
                </a:solidFill>
                <a:latin typeface="Calibri" pitchFamily="34" charset="0"/>
                <a:ea typeface="Calibri" pitchFamily="34" charset="-122"/>
                <a:cs typeface="Calibri" pitchFamily="34" charset="-120"/>
              </a:rPr>
              <a:t>Final list reviewed &amp; published by global community consensus every 4 years</a:t>
            </a:r>
            <a:endParaRPr lang="en-US" sz="1700" dirty="0"/>
          </a:p>
        </p:txBody>
      </p:sp>
      <p:sp>
        <p:nvSpPr>
          <p:cNvPr id="49" name="Shape 47"/>
          <p:cNvSpPr/>
          <p:nvPr/>
        </p:nvSpPr>
        <p:spPr>
          <a:xfrm>
            <a:off x="548640" y="8778240"/>
            <a:ext cx="17190720" cy="822960"/>
          </a:xfrm>
          <a:prstGeom prst="rect">
            <a:avLst/>
          </a:prstGeom>
          <a:solidFill>
            <a:srgbClr val="E8F4F6"/>
          </a:solidFill>
          <a:ln w="12700">
            <a:solidFill>
              <a:srgbClr val="00B4C8"/>
            </a:solidFill>
            <a:prstDash val="solid"/>
          </a:ln>
        </p:spPr>
      </p:sp>
      <p:sp>
        <p:nvSpPr>
          <p:cNvPr id="50" name="Text 48"/>
          <p:cNvSpPr/>
          <p:nvPr/>
        </p:nvSpPr>
        <p:spPr>
          <a:xfrm>
            <a:off x="822960" y="8833104"/>
            <a:ext cx="16642080" cy="694944"/>
          </a:xfrm>
          <a:prstGeom prst="rect">
            <a:avLst/>
          </a:prstGeom>
          <a:noFill/>
          <a:ln/>
        </p:spPr>
        <p:txBody>
          <a:bodyPr wrap="square" rtlCol="0" anchor="ctr"/>
          <a:lstStyle/>
          <a:p>
            <a:r>
              <a:rPr lang="en-US" sz="1900" i="1" dirty="0">
                <a:solidFill>
                  <a:srgbClr val="004D5B"/>
                </a:solidFill>
                <a:latin typeface="Calibri" pitchFamily="34" charset="0"/>
                <a:ea typeface="Calibri" pitchFamily="34" charset="-122"/>
                <a:cs typeface="Calibri" pitchFamily="34" charset="-120"/>
              </a:rPr>
              <a:t>📌  The OWASP Top 10 is published every 4 years based on real-world data and community expert consensus — making it the gold standard for web application security risk awareness.</a:t>
            </a:r>
            <a:endParaRPr lang="en-US" sz="1900" dirty="0"/>
          </a:p>
        </p:txBody>
      </p:sp>
      <p:sp>
        <p:nvSpPr>
          <p:cNvPr id="51" name="Shape 49"/>
          <p:cNvSpPr/>
          <p:nvPr/>
        </p:nvSpPr>
        <p:spPr>
          <a:xfrm>
            <a:off x="0" y="9875520"/>
            <a:ext cx="18288000" cy="411480"/>
          </a:xfrm>
          <a:prstGeom prst="rect">
            <a:avLst/>
          </a:prstGeom>
          <a:solidFill>
            <a:srgbClr val="004D5B"/>
          </a:solidFill>
          <a:ln w="12700">
            <a:solidFill>
              <a:srgbClr val="004D5B"/>
            </a:solidFill>
            <a:prstDash val="solid"/>
          </a:ln>
        </p:spPr>
      </p:sp>
      <p:sp>
        <p:nvSpPr>
          <p:cNvPr id="52" name="Text 50"/>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54" name="Picture 53">
            <a:extLst>
              <a:ext uri="{FF2B5EF4-FFF2-40B4-BE49-F238E27FC236}">
                <a16:creationId xmlns:a16="http://schemas.microsoft.com/office/drawing/2014/main" id="{1B436C75-7A77-9DB6-5116-DB936B1F46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6776" y="-36576"/>
            <a:ext cx="4435024" cy="16276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828800"/>
          </a:xfrm>
          <a:prstGeom prst="rect">
            <a:avLst/>
          </a:prstGeom>
          <a:solidFill>
            <a:srgbClr val="004D5B"/>
          </a:solidFill>
          <a:ln w="12700">
            <a:solidFill>
              <a:srgbClr val="004D5B"/>
            </a:solidFill>
            <a:prstDash val="solid"/>
          </a:ln>
        </p:spPr>
      </p:sp>
      <p:sp>
        <p:nvSpPr>
          <p:cNvPr id="3" name="Text 1"/>
          <p:cNvSpPr/>
          <p:nvPr/>
        </p:nvSpPr>
        <p:spPr>
          <a:xfrm>
            <a:off x="548640" y="91440"/>
            <a:ext cx="15544800" cy="1097280"/>
          </a:xfrm>
          <a:prstGeom prst="rect">
            <a:avLst/>
          </a:prstGeom>
          <a:noFill/>
          <a:ln/>
        </p:spPr>
        <p:txBody>
          <a:bodyPr wrap="square" rtlCol="0" anchor="ctr"/>
          <a:lstStyle/>
          <a:p>
            <a:r>
              <a:rPr lang="en-US" sz="4800" b="1" dirty="0">
                <a:solidFill>
                  <a:srgbClr val="FFFFFF"/>
                </a:solidFill>
                <a:latin typeface="Arial Black" pitchFamily="34" charset="0"/>
                <a:ea typeface="Arial Black" pitchFamily="34" charset="-122"/>
                <a:cs typeface="Arial Black" pitchFamily="34" charset="-120"/>
              </a:rPr>
              <a:t>OWASP Top 10: 2017 → 2021 Changes</a:t>
            </a:r>
            <a:endParaRPr lang="en-US" sz="4800" dirty="0"/>
          </a:p>
        </p:txBody>
      </p:sp>
      <p:sp>
        <p:nvSpPr>
          <p:cNvPr id="4" name="Text 2"/>
          <p:cNvSpPr/>
          <p:nvPr/>
        </p:nvSpPr>
        <p:spPr>
          <a:xfrm>
            <a:off x="548640" y="1133856"/>
            <a:ext cx="15544800" cy="585216"/>
          </a:xfrm>
          <a:prstGeom prst="rect">
            <a:avLst/>
          </a:prstGeom>
          <a:noFill/>
          <a:ln/>
        </p:spPr>
        <p:txBody>
          <a:bodyPr wrap="square" rtlCol="0" anchor="ctr"/>
          <a:lstStyle/>
          <a:p>
            <a:r>
              <a:rPr lang="en-US" sz="2200" dirty="0">
                <a:solidFill>
                  <a:srgbClr val="00B4C8"/>
                </a:solidFill>
                <a:latin typeface="Calibri" pitchFamily="34" charset="0"/>
                <a:ea typeface="Calibri" pitchFamily="34" charset="-122"/>
                <a:cs typeface="Calibri" pitchFamily="34" charset="-120"/>
              </a:rPr>
              <a:t>Evolution of Critical Web Application Security Risks</a:t>
            </a:r>
            <a:endParaRPr lang="en-US" sz="2200" dirty="0"/>
          </a:p>
        </p:txBody>
      </p:sp>
      <p:sp>
        <p:nvSpPr>
          <p:cNvPr id="5" name="Shape 3"/>
          <p:cNvSpPr/>
          <p:nvPr/>
        </p:nvSpPr>
        <p:spPr>
          <a:xfrm>
            <a:off x="0" y="1828800"/>
            <a:ext cx="18288000" cy="73152"/>
          </a:xfrm>
          <a:prstGeom prst="rect">
            <a:avLst/>
          </a:prstGeom>
          <a:solidFill>
            <a:srgbClr val="00B4C8"/>
          </a:solidFill>
          <a:ln w="12700">
            <a:solidFill>
              <a:srgbClr val="00B4C8"/>
            </a:solidFill>
            <a:prstDash val="solid"/>
          </a:ln>
        </p:spPr>
      </p:sp>
      <p:sp>
        <p:nvSpPr>
          <p:cNvPr id="6" name="Shape 4"/>
          <p:cNvSpPr/>
          <p:nvPr/>
        </p:nvSpPr>
        <p:spPr>
          <a:xfrm>
            <a:off x="365760" y="2048256"/>
            <a:ext cx="6400800" cy="768096"/>
          </a:xfrm>
          <a:prstGeom prst="rect">
            <a:avLst/>
          </a:prstGeom>
          <a:solidFill>
            <a:srgbClr val="607D8B"/>
          </a:solidFill>
          <a:ln w="12700">
            <a:solidFill>
              <a:srgbClr val="607D8B"/>
            </a:solidFill>
            <a:prstDash val="solid"/>
          </a:ln>
        </p:spPr>
      </p:sp>
      <p:sp>
        <p:nvSpPr>
          <p:cNvPr id="7" name="Text 5"/>
          <p:cNvSpPr/>
          <p:nvPr/>
        </p:nvSpPr>
        <p:spPr>
          <a:xfrm>
            <a:off x="365760" y="2048256"/>
            <a:ext cx="6400800" cy="768096"/>
          </a:xfrm>
          <a:prstGeom prst="rect">
            <a:avLst/>
          </a:prstGeom>
          <a:noFill/>
          <a:ln/>
        </p:spPr>
        <p:txBody>
          <a:bodyPr wrap="square" rtlCol="0" anchor="ctr"/>
          <a:lstStyle/>
          <a:p>
            <a:pPr algn="ctr"/>
            <a:r>
              <a:rPr lang="en-US" sz="2400" b="1" dirty="0">
                <a:solidFill>
                  <a:srgbClr val="FFFFFF"/>
                </a:solidFill>
                <a:latin typeface="Arial" pitchFamily="34" charset="0"/>
                <a:ea typeface="Arial" pitchFamily="34" charset="-122"/>
                <a:cs typeface="Arial" pitchFamily="34" charset="-120"/>
              </a:rPr>
              <a:t>⬅  OWASP Top 10: 2017</a:t>
            </a:r>
            <a:endParaRPr lang="en-US" sz="2400" dirty="0"/>
          </a:p>
        </p:txBody>
      </p:sp>
      <p:sp>
        <p:nvSpPr>
          <p:cNvPr id="8" name="Shape 6"/>
          <p:cNvSpPr/>
          <p:nvPr/>
        </p:nvSpPr>
        <p:spPr>
          <a:xfrm>
            <a:off x="11521440" y="2048256"/>
            <a:ext cx="6400800" cy="768096"/>
          </a:xfrm>
          <a:prstGeom prst="rect">
            <a:avLst/>
          </a:prstGeom>
          <a:solidFill>
            <a:srgbClr val="004D5B"/>
          </a:solidFill>
          <a:ln w="12700">
            <a:solidFill>
              <a:srgbClr val="004D5B"/>
            </a:solidFill>
            <a:prstDash val="solid"/>
          </a:ln>
        </p:spPr>
      </p:sp>
      <p:sp>
        <p:nvSpPr>
          <p:cNvPr id="9" name="Text 7"/>
          <p:cNvSpPr/>
          <p:nvPr/>
        </p:nvSpPr>
        <p:spPr>
          <a:xfrm>
            <a:off x="11521440" y="2048256"/>
            <a:ext cx="6400800" cy="768096"/>
          </a:xfrm>
          <a:prstGeom prst="rect">
            <a:avLst/>
          </a:prstGeom>
          <a:noFill/>
          <a:ln/>
        </p:spPr>
        <p:txBody>
          <a:bodyPr wrap="square" rtlCol="0" anchor="ctr"/>
          <a:lstStyle/>
          <a:p>
            <a:pPr algn="ctr"/>
            <a:r>
              <a:rPr lang="en-US" sz="2400" b="1" dirty="0">
                <a:solidFill>
                  <a:srgbClr val="FFFFFF"/>
                </a:solidFill>
                <a:latin typeface="Arial" pitchFamily="34" charset="0"/>
                <a:ea typeface="Arial" pitchFamily="34" charset="-122"/>
                <a:cs typeface="Arial" pitchFamily="34" charset="-120"/>
              </a:rPr>
              <a:t>OWASP Top 10: 2021  ➡</a:t>
            </a:r>
            <a:endParaRPr lang="en-US" sz="2400" dirty="0"/>
          </a:p>
        </p:txBody>
      </p:sp>
      <p:sp>
        <p:nvSpPr>
          <p:cNvPr id="10" name="Shape 8"/>
          <p:cNvSpPr/>
          <p:nvPr/>
        </p:nvSpPr>
        <p:spPr>
          <a:xfrm>
            <a:off x="365760" y="3017520"/>
            <a:ext cx="6400800" cy="585216"/>
          </a:xfrm>
          <a:prstGeom prst="rect">
            <a:avLst/>
          </a:prstGeom>
          <a:solidFill>
            <a:srgbClr val="ECEFF1"/>
          </a:solidFill>
          <a:ln w="12700">
            <a:solidFill>
              <a:srgbClr val="B0BEC5"/>
            </a:solidFill>
            <a:prstDash val="solid"/>
          </a:ln>
        </p:spPr>
      </p:sp>
      <p:sp>
        <p:nvSpPr>
          <p:cNvPr id="11" name="Text 9"/>
          <p:cNvSpPr/>
          <p:nvPr/>
        </p:nvSpPr>
        <p:spPr>
          <a:xfrm>
            <a:off x="548640" y="3054096"/>
            <a:ext cx="6035040" cy="512064"/>
          </a:xfrm>
          <a:prstGeom prst="rect">
            <a:avLst/>
          </a:prstGeom>
          <a:noFill/>
          <a:ln/>
        </p:spPr>
        <p:txBody>
          <a:bodyPr wrap="square" rtlCol="0" anchor="ctr"/>
          <a:lstStyle/>
          <a:p>
            <a:r>
              <a:rPr lang="en-US" sz="1700" dirty="0">
                <a:solidFill>
                  <a:srgbClr val="37474F"/>
                </a:solidFill>
                <a:latin typeface="Calibri" pitchFamily="34" charset="0"/>
                <a:ea typeface="Calibri" pitchFamily="34" charset="-122"/>
                <a:cs typeface="Calibri" pitchFamily="34" charset="-120"/>
              </a:rPr>
              <a:t>A01: Injection</a:t>
            </a:r>
            <a:endParaRPr lang="en-US" sz="1700" dirty="0"/>
          </a:p>
        </p:txBody>
      </p:sp>
      <p:sp>
        <p:nvSpPr>
          <p:cNvPr id="12" name="Shape 10"/>
          <p:cNvSpPr/>
          <p:nvPr/>
        </p:nvSpPr>
        <p:spPr>
          <a:xfrm>
            <a:off x="365760" y="3675888"/>
            <a:ext cx="6400800" cy="585216"/>
          </a:xfrm>
          <a:prstGeom prst="rect">
            <a:avLst/>
          </a:prstGeom>
          <a:solidFill>
            <a:srgbClr val="CFD8DC"/>
          </a:solidFill>
          <a:ln w="12700">
            <a:solidFill>
              <a:srgbClr val="B0BEC5"/>
            </a:solidFill>
            <a:prstDash val="solid"/>
          </a:ln>
        </p:spPr>
      </p:sp>
      <p:sp>
        <p:nvSpPr>
          <p:cNvPr id="13" name="Text 11"/>
          <p:cNvSpPr/>
          <p:nvPr/>
        </p:nvSpPr>
        <p:spPr>
          <a:xfrm>
            <a:off x="548640" y="3712464"/>
            <a:ext cx="6035040" cy="512064"/>
          </a:xfrm>
          <a:prstGeom prst="rect">
            <a:avLst/>
          </a:prstGeom>
          <a:noFill/>
          <a:ln/>
        </p:spPr>
        <p:txBody>
          <a:bodyPr wrap="square" rtlCol="0" anchor="ctr"/>
          <a:lstStyle/>
          <a:p>
            <a:r>
              <a:rPr lang="en-US" sz="1700" dirty="0">
                <a:solidFill>
                  <a:srgbClr val="37474F"/>
                </a:solidFill>
                <a:latin typeface="Calibri" pitchFamily="34" charset="0"/>
                <a:ea typeface="Calibri" pitchFamily="34" charset="-122"/>
                <a:cs typeface="Calibri" pitchFamily="34" charset="-120"/>
              </a:rPr>
              <a:t>A02: Broken Authentication</a:t>
            </a:r>
            <a:endParaRPr lang="en-US" sz="1700" dirty="0"/>
          </a:p>
        </p:txBody>
      </p:sp>
      <p:sp>
        <p:nvSpPr>
          <p:cNvPr id="14" name="Shape 12"/>
          <p:cNvSpPr/>
          <p:nvPr/>
        </p:nvSpPr>
        <p:spPr>
          <a:xfrm>
            <a:off x="365760" y="4334256"/>
            <a:ext cx="6400800" cy="585216"/>
          </a:xfrm>
          <a:prstGeom prst="rect">
            <a:avLst/>
          </a:prstGeom>
          <a:solidFill>
            <a:srgbClr val="ECEFF1"/>
          </a:solidFill>
          <a:ln w="12700">
            <a:solidFill>
              <a:srgbClr val="B0BEC5"/>
            </a:solidFill>
            <a:prstDash val="solid"/>
          </a:ln>
        </p:spPr>
      </p:sp>
      <p:sp>
        <p:nvSpPr>
          <p:cNvPr id="15" name="Text 13"/>
          <p:cNvSpPr/>
          <p:nvPr/>
        </p:nvSpPr>
        <p:spPr>
          <a:xfrm>
            <a:off x="548640" y="4370832"/>
            <a:ext cx="6035040" cy="512064"/>
          </a:xfrm>
          <a:prstGeom prst="rect">
            <a:avLst/>
          </a:prstGeom>
          <a:noFill/>
          <a:ln/>
        </p:spPr>
        <p:txBody>
          <a:bodyPr wrap="square" rtlCol="0" anchor="ctr"/>
          <a:lstStyle/>
          <a:p>
            <a:r>
              <a:rPr lang="en-US" sz="1700" dirty="0">
                <a:solidFill>
                  <a:srgbClr val="37474F"/>
                </a:solidFill>
                <a:latin typeface="Calibri" pitchFamily="34" charset="0"/>
                <a:ea typeface="Calibri" pitchFamily="34" charset="-122"/>
                <a:cs typeface="Calibri" pitchFamily="34" charset="-120"/>
              </a:rPr>
              <a:t>A03: Sensitive Data Exposure</a:t>
            </a:r>
            <a:endParaRPr lang="en-US" sz="1700" dirty="0"/>
          </a:p>
        </p:txBody>
      </p:sp>
      <p:sp>
        <p:nvSpPr>
          <p:cNvPr id="16" name="Shape 14"/>
          <p:cNvSpPr/>
          <p:nvPr/>
        </p:nvSpPr>
        <p:spPr>
          <a:xfrm>
            <a:off x="365760" y="4992624"/>
            <a:ext cx="6400800" cy="585216"/>
          </a:xfrm>
          <a:prstGeom prst="rect">
            <a:avLst/>
          </a:prstGeom>
          <a:solidFill>
            <a:srgbClr val="CFD8DC"/>
          </a:solidFill>
          <a:ln w="12700">
            <a:solidFill>
              <a:srgbClr val="B0BEC5"/>
            </a:solidFill>
            <a:prstDash val="solid"/>
          </a:ln>
        </p:spPr>
      </p:sp>
      <p:sp>
        <p:nvSpPr>
          <p:cNvPr id="17" name="Text 15"/>
          <p:cNvSpPr/>
          <p:nvPr/>
        </p:nvSpPr>
        <p:spPr>
          <a:xfrm>
            <a:off x="548640" y="5029200"/>
            <a:ext cx="6035040" cy="512064"/>
          </a:xfrm>
          <a:prstGeom prst="rect">
            <a:avLst/>
          </a:prstGeom>
          <a:noFill/>
          <a:ln/>
        </p:spPr>
        <p:txBody>
          <a:bodyPr wrap="square" rtlCol="0" anchor="ctr"/>
          <a:lstStyle/>
          <a:p>
            <a:r>
              <a:rPr lang="en-US" sz="1700" dirty="0">
                <a:solidFill>
                  <a:srgbClr val="37474F"/>
                </a:solidFill>
                <a:latin typeface="Calibri" pitchFamily="34" charset="0"/>
                <a:ea typeface="Calibri" pitchFamily="34" charset="-122"/>
                <a:cs typeface="Calibri" pitchFamily="34" charset="-120"/>
              </a:rPr>
              <a:t>A04: XML External Entities (XXE)</a:t>
            </a:r>
            <a:endParaRPr lang="en-US" sz="1700" dirty="0"/>
          </a:p>
        </p:txBody>
      </p:sp>
      <p:sp>
        <p:nvSpPr>
          <p:cNvPr id="18" name="Shape 16"/>
          <p:cNvSpPr/>
          <p:nvPr/>
        </p:nvSpPr>
        <p:spPr>
          <a:xfrm>
            <a:off x="365760" y="5650992"/>
            <a:ext cx="6400800" cy="585216"/>
          </a:xfrm>
          <a:prstGeom prst="rect">
            <a:avLst/>
          </a:prstGeom>
          <a:solidFill>
            <a:srgbClr val="ECEFF1"/>
          </a:solidFill>
          <a:ln w="12700">
            <a:solidFill>
              <a:srgbClr val="B0BEC5"/>
            </a:solidFill>
            <a:prstDash val="solid"/>
          </a:ln>
        </p:spPr>
      </p:sp>
      <p:sp>
        <p:nvSpPr>
          <p:cNvPr id="19" name="Text 17"/>
          <p:cNvSpPr/>
          <p:nvPr/>
        </p:nvSpPr>
        <p:spPr>
          <a:xfrm>
            <a:off x="548640" y="5687568"/>
            <a:ext cx="6035040" cy="512064"/>
          </a:xfrm>
          <a:prstGeom prst="rect">
            <a:avLst/>
          </a:prstGeom>
          <a:noFill/>
          <a:ln/>
        </p:spPr>
        <p:txBody>
          <a:bodyPr wrap="square" rtlCol="0" anchor="ctr"/>
          <a:lstStyle/>
          <a:p>
            <a:r>
              <a:rPr lang="en-US" sz="1700" dirty="0">
                <a:solidFill>
                  <a:srgbClr val="37474F"/>
                </a:solidFill>
                <a:latin typeface="Calibri" pitchFamily="34" charset="0"/>
                <a:ea typeface="Calibri" pitchFamily="34" charset="-122"/>
                <a:cs typeface="Calibri" pitchFamily="34" charset="-120"/>
              </a:rPr>
              <a:t>A05: Broken Access Control</a:t>
            </a:r>
            <a:endParaRPr lang="en-US" sz="1700" dirty="0"/>
          </a:p>
        </p:txBody>
      </p:sp>
      <p:sp>
        <p:nvSpPr>
          <p:cNvPr id="20" name="Shape 18"/>
          <p:cNvSpPr/>
          <p:nvPr/>
        </p:nvSpPr>
        <p:spPr>
          <a:xfrm>
            <a:off x="365760" y="6309360"/>
            <a:ext cx="6400800" cy="585216"/>
          </a:xfrm>
          <a:prstGeom prst="rect">
            <a:avLst/>
          </a:prstGeom>
          <a:solidFill>
            <a:srgbClr val="CFD8DC"/>
          </a:solidFill>
          <a:ln w="12700">
            <a:solidFill>
              <a:srgbClr val="B0BEC5"/>
            </a:solidFill>
            <a:prstDash val="solid"/>
          </a:ln>
        </p:spPr>
      </p:sp>
      <p:sp>
        <p:nvSpPr>
          <p:cNvPr id="21" name="Text 19"/>
          <p:cNvSpPr/>
          <p:nvPr/>
        </p:nvSpPr>
        <p:spPr>
          <a:xfrm>
            <a:off x="548640" y="6345936"/>
            <a:ext cx="6035040" cy="512064"/>
          </a:xfrm>
          <a:prstGeom prst="rect">
            <a:avLst/>
          </a:prstGeom>
          <a:noFill/>
          <a:ln/>
        </p:spPr>
        <p:txBody>
          <a:bodyPr wrap="square" rtlCol="0" anchor="ctr"/>
          <a:lstStyle/>
          <a:p>
            <a:r>
              <a:rPr lang="en-US" sz="1700" dirty="0">
                <a:solidFill>
                  <a:srgbClr val="37474F"/>
                </a:solidFill>
                <a:latin typeface="Calibri" pitchFamily="34" charset="0"/>
                <a:ea typeface="Calibri" pitchFamily="34" charset="-122"/>
                <a:cs typeface="Calibri" pitchFamily="34" charset="-120"/>
              </a:rPr>
              <a:t>A06: Security Misconfiguration</a:t>
            </a:r>
            <a:endParaRPr lang="en-US" sz="1700" dirty="0"/>
          </a:p>
        </p:txBody>
      </p:sp>
      <p:sp>
        <p:nvSpPr>
          <p:cNvPr id="22" name="Shape 20"/>
          <p:cNvSpPr/>
          <p:nvPr/>
        </p:nvSpPr>
        <p:spPr>
          <a:xfrm>
            <a:off x="365760" y="6967728"/>
            <a:ext cx="6400800" cy="585216"/>
          </a:xfrm>
          <a:prstGeom prst="rect">
            <a:avLst/>
          </a:prstGeom>
          <a:solidFill>
            <a:srgbClr val="ECEFF1"/>
          </a:solidFill>
          <a:ln w="12700">
            <a:solidFill>
              <a:srgbClr val="B0BEC5"/>
            </a:solidFill>
            <a:prstDash val="solid"/>
          </a:ln>
        </p:spPr>
      </p:sp>
      <p:sp>
        <p:nvSpPr>
          <p:cNvPr id="23" name="Text 21"/>
          <p:cNvSpPr/>
          <p:nvPr/>
        </p:nvSpPr>
        <p:spPr>
          <a:xfrm>
            <a:off x="548640" y="7004304"/>
            <a:ext cx="6035040" cy="512064"/>
          </a:xfrm>
          <a:prstGeom prst="rect">
            <a:avLst/>
          </a:prstGeom>
          <a:noFill/>
          <a:ln/>
        </p:spPr>
        <p:txBody>
          <a:bodyPr wrap="square" rtlCol="0" anchor="ctr"/>
          <a:lstStyle/>
          <a:p>
            <a:r>
              <a:rPr lang="en-US" sz="1700" dirty="0">
                <a:solidFill>
                  <a:srgbClr val="37474F"/>
                </a:solidFill>
                <a:latin typeface="Calibri" pitchFamily="34" charset="0"/>
                <a:ea typeface="Calibri" pitchFamily="34" charset="-122"/>
                <a:cs typeface="Calibri" pitchFamily="34" charset="-120"/>
              </a:rPr>
              <a:t>A07: XSS</a:t>
            </a:r>
            <a:endParaRPr lang="en-US" sz="1700" dirty="0"/>
          </a:p>
        </p:txBody>
      </p:sp>
      <p:sp>
        <p:nvSpPr>
          <p:cNvPr id="24" name="Shape 22"/>
          <p:cNvSpPr/>
          <p:nvPr/>
        </p:nvSpPr>
        <p:spPr>
          <a:xfrm>
            <a:off x="365760" y="7626096"/>
            <a:ext cx="6400800" cy="585216"/>
          </a:xfrm>
          <a:prstGeom prst="rect">
            <a:avLst/>
          </a:prstGeom>
          <a:solidFill>
            <a:srgbClr val="CFD8DC"/>
          </a:solidFill>
          <a:ln w="12700">
            <a:solidFill>
              <a:srgbClr val="B0BEC5"/>
            </a:solidFill>
            <a:prstDash val="solid"/>
          </a:ln>
        </p:spPr>
      </p:sp>
      <p:sp>
        <p:nvSpPr>
          <p:cNvPr id="25" name="Text 23"/>
          <p:cNvSpPr/>
          <p:nvPr/>
        </p:nvSpPr>
        <p:spPr>
          <a:xfrm>
            <a:off x="548640" y="7662672"/>
            <a:ext cx="6035040" cy="512064"/>
          </a:xfrm>
          <a:prstGeom prst="rect">
            <a:avLst/>
          </a:prstGeom>
          <a:noFill/>
          <a:ln/>
        </p:spPr>
        <p:txBody>
          <a:bodyPr wrap="square" rtlCol="0" anchor="ctr"/>
          <a:lstStyle/>
          <a:p>
            <a:r>
              <a:rPr lang="en-US" sz="1700" dirty="0">
                <a:solidFill>
                  <a:srgbClr val="37474F"/>
                </a:solidFill>
                <a:latin typeface="Calibri" pitchFamily="34" charset="0"/>
                <a:ea typeface="Calibri" pitchFamily="34" charset="-122"/>
                <a:cs typeface="Calibri" pitchFamily="34" charset="-120"/>
              </a:rPr>
              <a:t>A08: Insecure Deserialization</a:t>
            </a:r>
            <a:endParaRPr lang="en-US" sz="1700" dirty="0"/>
          </a:p>
        </p:txBody>
      </p:sp>
      <p:sp>
        <p:nvSpPr>
          <p:cNvPr id="26" name="Shape 24"/>
          <p:cNvSpPr/>
          <p:nvPr/>
        </p:nvSpPr>
        <p:spPr>
          <a:xfrm>
            <a:off x="365760" y="8284464"/>
            <a:ext cx="6400800" cy="585216"/>
          </a:xfrm>
          <a:prstGeom prst="rect">
            <a:avLst/>
          </a:prstGeom>
          <a:solidFill>
            <a:srgbClr val="ECEFF1"/>
          </a:solidFill>
          <a:ln w="12700">
            <a:solidFill>
              <a:srgbClr val="B0BEC5"/>
            </a:solidFill>
            <a:prstDash val="solid"/>
          </a:ln>
        </p:spPr>
      </p:sp>
      <p:sp>
        <p:nvSpPr>
          <p:cNvPr id="27" name="Text 25"/>
          <p:cNvSpPr/>
          <p:nvPr/>
        </p:nvSpPr>
        <p:spPr>
          <a:xfrm>
            <a:off x="548640" y="8321040"/>
            <a:ext cx="6035040" cy="512064"/>
          </a:xfrm>
          <a:prstGeom prst="rect">
            <a:avLst/>
          </a:prstGeom>
          <a:noFill/>
          <a:ln/>
        </p:spPr>
        <p:txBody>
          <a:bodyPr wrap="square" rtlCol="0" anchor="ctr"/>
          <a:lstStyle/>
          <a:p>
            <a:r>
              <a:rPr lang="en-US" sz="1700" dirty="0">
                <a:solidFill>
                  <a:srgbClr val="37474F"/>
                </a:solidFill>
                <a:latin typeface="Calibri" pitchFamily="34" charset="0"/>
                <a:ea typeface="Calibri" pitchFamily="34" charset="-122"/>
                <a:cs typeface="Calibri" pitchFamily="34" charset="-120"/>
              </a:rPr>
              <a:t>A09: Using Known Vuln. Components</a:t>
            </a:r>
            <a:endParaRPr lang="en-US" sz="1700" dirty="0"/>
          </a:p>
        </p:txBody>
      </p:sp>
      <p:sp>
        <p:nvSpPr>
          <p:cNvPr id="28" name="Shape 26"/>
          <p:cNvSpPr/>
          <p:nvPr/>
        </p:nvSpPr>
        <p:spPr>
          <a:xfrm>
            <a:off x="365760" y="8942832"/>
            <a:ext cx="6400800" cy="585216"/>
          </a:xfrm>
          <a:prstGeom prst="rect">
            <a:avLst/>
          </a:prstGeom>
          <a:solidFill>
            <a:srgbClr val="CFD8DC"/>
          </a:solidFill>
          <a:ln w="12700">
            <a:solidFill>
              <a:srgbClr val="B0BEC5"/>
            </a:solidFill>
            <a:prstDash val="solid"/>
          </a:ln>
        </p:spPr>
      </p:sp>
      <p:sp>
        <p:nvSpPr>
          <p:cNvPr id="29" name="Text 27"/>
          <p:cNvSpPr/>
          <p:nvPr/>
        </p:nvSpPr>
        <p:spPr>
          <a:xfrm>
            <a:off x="548640" y="8979408"/>
            <a:ext cx="6035040" cy="512064"/>
          </a:xfrm>
          <a:prstGeom prst="rect">
            <a:avLst/>
          </a:prstGeom>
          <a:noFill/>
          <a:ln/>
        </p:spPr>
        <p:txBody>
          <a:bodyPr wrap="square" rtlCol="0" anchor="ctr"/>
          <a:lstStyle/>
          <a:p>
            <a:r>
              <a:rPr lang="en-US" sz="1700" dirty="0">
                <a:solidFill>
                  <a:srgbClr val="37474F"/>
                </a:solidFill>
                <a:latin typeface="Calibri" pitchFamily="34" charset="0"/>
                <a:ea typeface="Calibri" pitchFamily="34" charset="-122"/>
                <a:cs typeface="Calibri" pitchFamily="34" charset="-120"/>
              </a:rPr>
              <a:t>A10: Insufficient Logging &amp; Monitoring</a:t>
            </a:r>
            <a:endParaRPr lang="en-US" sz="1700" dirty="0"/>
          </a:p>
        </p:txBody>
      </p:sp>
      <p:sp>
        <p:nvSpPr>
          <p:cNvPr id="30" name="Shape 28"/>
          <p:cNvSpPr/>
          <p:nvPr/>
        </p:nvSpPr>
        <p:spPr>
          <a:xfrm>
            <a:off x="11521440" y="3017520"/>
            <a:ext cx="6400800" cy="585216"/>
          </a:xfrm>
          <a:prstGeom prst="rect">
            <a:avLst/>
          </a:prstGeom>
          <a:solidFill>
            <a:srgbClr val="C0392B"/>
          </a:solidFill>
          <a:ln w="12700">
            <a:solidFill>
              <a:srgbClr val="C0392B"/>
            </a:solidFill>
            <a:prstDash val="solid"/>
          </a:ln>
        </p:spPr>
      </p:sp>
      <p:sp>
        <p:nvSpPr>
          <p:cNvPr id="31" name="Text 29"/>
          <p:cNvSpPr/>
          <p:nvPr/>
        </p:nvSpPr>
        <p:spPr>
          <a:xfrm>
            <a:off x="11612880" y="3054096"/>
            <a:ext cx="5486400" cy="512064"/>
          </a:xfrm>
          <a:prstGeom prst="rect">
            <a:avLst/>
          </a:prstGeom>
          <a:noFill/>
          <a:ln/>
        </p:spPr>
        <p:txBody>
          <a:bodyPr wrap="square" rtlCol="0" anchor="ctr"/>
          <a:lstStyle/>
          <a:p>
            <a:r>
              <a:rPr lang="en-US" sz="1700" b="1" dirty="0">
                <a:solidFill>
                  <a:srgbClr val="FFFFFF"/>
                </a:solidFill>
                <a:latin typeface="Calibri" pitchFamily="34" charset="0"/>
                <a:ea typeface="Calibri" pitchFamily="34" charset="-122"/>
                <a:cs typeface="Calibri" pitchFamily="34" charset="-120"/>
              </a:rPr>
              <a:t>A01: Broken Access Control ↑</a:t>
            </a:r>
            <a:endParaRPr lang="en-US" sz="1700" dirty="0"/>
          </a:p>
        </p:txBody>
      </p:sp>
      <p:sp>
        <p:nvSpPr>
          <p:cNvPr id="32" name="Shape 30"/>
          <p:cNvSpPr/>
          <p:nvPr/>
        </p:nvSpPr>
        <p:spPr>
          <a:xfrm>
            <a:off x="17099280" y="3017520"/>
            <a:ext cx="822960" cy="585216"/>
          </a:xfrm>
          <a:prstGeom prst="rect">
            <a:avLst/>
          </a:prstGeom>
          <a:solidFill>
            <a:srgbClr val="000000"/>
          </a:solidFill>
          <a:ln w="12700">
            <a:solidFill>
              <a:srgbClr val="FFFFFF"/>
            </a:solidFill>
            <a:prstDash val="solid"/>
          </a:ln>
        </p:spPr>
      </p:sp>
      <p:sp>
        <p:nvSpPr>
          <p:cNvPr id="33" name="Shape 31"/>
          <p:cNvSpPr/>
          <p:nvPr/>
        </p:nvSpPr>
        <p:spPr>
          <a:xfrm>
            <a:off x="11521440" y="3675888"/>
            <a:ext cx="6400800" cy="585216"/>
          </a:xfrm>
          <a:prstGeom prst="rect">
            <a:avLst/>
          </a:prstGeom>
          <a:solidFill>
            <a:srgbClr val="8E44AD"/>
          </a:solidFill>
          <a:ln w="12700">
            <a:solidFill>
              <a:srgbClr val="8E44AD"/>
            </a:solidFill>
            <a:prstDash val="solid"/>
          </a:ln>
        </p:spPr>
      </p:sp>
      <p:sp>
        <p:nvSpPr>
          <p:cNvPr id="34" name="Text 32"/>
          <p:cNvSpPr/>
          <p:nvPr/>
        </p:nvSpPr>
        <p:spPr>
          <a:xfrm>
            <a:off x="11612880" y="3712464"/>
            <a:ext cx="5486400" cy="512064"/>
          </a:xfrm>
          <a:prstGeom prst="rect">
            <a:avLst/>
          </a:prstGeom>
          <a:noFill/>
          <a:ln/>
        </p:spPr>
        <p:txBody>
          <a:bodyPr wrap="square" rtlCol="0" anchor="ctr"/>
          <a:lstStyle/>
          <a:p>
            <a:r>
              <a:rPr lang="en-US" sz="1700" b="1" dirty="0">
                <a:solidFill>
                  <a:srgbClr val="FFFFFF"/>
                </a:solidFill>
                <a:latin typeface="Calibri" pitchFamily="34" charset="0"/>
                <a:ea typeface="Calibri" pitchFamily="34" charset="-122"/>
                <a:cs typeface="Calibri" pitchFamily="34" charset="-120"/>
              </a:rPr>
              <a:t>A02: Cryptographic Failures ↑</a:t>
            </a:r>
            <a:endParaRPr lang="en-US" sz="1700" dirty="0"/>
          </a:p>
        </p:txBody>
      </p:sp>
      <p:sp>
        <p:nvSpPr>
          <p:cNvPr id="35" name="Shape 33"/>
          <p:cNvSpPr/>
          <p:nvPr/>
        </p:nvSpPr>
        <p:spPr>
          <a:xfrm>
            <a:off x="17099280" y="3675888"/>
            <a:ext cx="822960" cy="585216"/>
          </a:xfrm>
          <a:prstGeom prst="rect">
            <a:avLst/>
          </a:prstGeom>
          <a:solidFill>
            <a:srgbClr val="000000"/>
          </a:solidFill>
          <a:ln w="12700">
            <a:solidFill>
              <a:srgbClr val="FFFFFF"/>
            </a:solidFill>
            <a:prstDash val="solid"/>
          </a:ln>
        </p:spPr>
      </p:sp>
      <p:sp>
        <p:nvSpPr>
          <p:cNvPr id="36" name="Shape 34"/>
          <p:cNvSpPr/>
          <p:nvPr/>
        </p:nvSpPr>
        <p:spPr>
          <a:xfrm>
            <a:off x="11521440" y="4334256"/>
            <a:ext cx="6400800" cy="585216"/>
          </a:xfrm>
          <a:prstGeom prst="rect">
            <a:avLst/>
          </a:prstGeom>
          <a:solidFill>
            <a:srgbClr val="E67E22"/>
          </a:solidFill>
          <a:ln w="12700">
            <a:solidFill>
              <a:srgbClr val="E67E22"/>
            </a:solidFill>
            <a:prstDash val="solid"/>
          </a:ln>
        </p:spPr>
      </p:sp>
      <p:sp>
        <p:nvSpPr>
          <p:cNvPr id="37" name="Text 35"/>
          <p:cNvSpPr/>
          <p:nvPr/>
        </p:nvSpPr>
        <p:spPr>
          <a:xfrm>
            <a:off x="11612880" y="4370832"/>
            <a:ext cx="5486400" cy="512064"/>
          </a:xfrm>
          <a:prstGeom prst="rect">
            <a:avLst/>
          </a:prstGeom>
          <a:noFill/>
          <a:ln/>
        </p:spPr>
        <p:txBody>
          <a:bodyPr wrap="square" rtlCol="0" anchor="ctr"/>
          <a:lstStyle/>
          <a:p>
            <a:r>
              <a:rPr lang="en-US" sz="1700" b="1" dirty="0">
                <a:solidFill>
                  <a:srgbClr val="FFFFFF"/>
                </a:solidFill>
                <a:latin typeface="Calibri" pitchFamily="34" charset="0"/>
                <a:ea typeface="Calibri" pitchFamily="34" charset="-122"/>
                <a:cs typeface="Calibri" pitchFamily="34" charset="-120"/>
              </a:rPr>
              <a:t>A03: Injection ↓</a:t>
            </a:r>
            <a:endParaRPr lang="en-US" sz="1700" dirty="0"/>
          </a:p>
        </p:txBody>
      </p:sp>
      <p:sp>
        <p:nvSpPr>
          <p:cNvPr id="38" name="Shape 36"/>
          <p:cNvSpPr/>
          <p:nvPr/>
        </p:nvSpPr>
        <p:spPr>
          <a:xfrm>
            <a:off x="17099280" y="4334256"/>
            <a:ext cx="822960" cy="585216"/>
          </a:xfrm>
          <a:prstGeom prst="rect">
            <a:avLst/>
          </a:prstGeom>
          <a:solidFill>
            <a:srgbClr val="000000"/>
          </a:solidFill>
          <a:ln w="12700">
            <a:solidFill>
              <a:srgbClr val="FFFFFF"/>
            </a:solidFill>
            <a:prstDash val="solid"/>
          </a:ln>
        </p:spPr>
      </p:sp>
      <p:sp>
        <p:nvSpPr>
          <p:cNvPr id="39" name="Shape 37"/>
          <p:cNvSpPr/>
          <p:nvPr/>
        </p:nvSpPr>
        <p:spPr>
          <a:xfrm>
            <a:off x="11521440" y="4992624"/>
            <a:ext cx="6400800" cy="585216"/>
          </a:xfrm>
          <a:prstGeom prst="rect">
            <a:avLst/>
          </a:prstGeom>
          <a:solidFill>
            <a:srgbClr val="2980B9"/>
          </a:solidFill>
          <a:ln w="12700">
            <a:solidFill>
              <a:srgbClr val="2980B9"/>
            </a:solidFill>
            <a:prstDash val="solid"/>
          </a:ln>
        </p:spPr>
      </p:sp>
      <p:sp>
        <p:nvSpPr>
          <p:cNvPr id="40" name="Text 38"/>
          <p:cNvSpPr/>
          <p:nvPr/>
        </p:nvSpPr>
        <p:spPr>
          <a:xfrm>
            <a:off x="11612880" y="5029200"/>
            <a:ext cx="5486400" cy="512064"/>
          </a:xfrm>
          <a:prstGeom prst="rect">
            <a:avLst/>
          </a:prstGeom>
          <a:noFill/>
          <a:ln/>
        </p:spPr>
        <p:txBody>
          <a:bodyPr wrap="square" rtlCol="0" anchor="ctr"/>
          <a:lstStyle/>
          <a:p>
            <a:r>
              <a:rPr lang="en-US" sz="1700" b="1" dirty="0">
                <a:solidFill>
                  <a:srgbClr val="FFFFFF"/>
                </a:solidFill>
                <a:latin typeface="Calibri" pitchFamily="34" charset="0"/>
                <a:ea typeface="Calibri" pitchFamily="34" charset="-122"/>
                <a:cs typeface="Calibri" pitchFamily="34" charset="-120"/>
              </a:rPr>
              <a:t>A04: Insecure Design 🆕</a:t>
            </a:r>
            <a:endParaRPr lang="en-US" sz="1700" dirty="0"/>
          </a:p>
        </p:txBody>
      </p:sp>
      <p:sp>
        <p:nvSpPr>
          <p:cNvPr id="41" name="Shape 39"/>
          <p:cNvSpPr/>
          <p:nvPr/>
        </p:nvSpPr>
        <p:spPr>
          <a:xfrm>
            <a:off x="17099280" y="4992624"/>
            <a:ext cx="822960" cy="585216"/>
          </a:xfrm>
          <a:prstGeom prst="rect">
            <a:avLst/>
          </a:prstGeom>
          <a:solidFill>
            <a:srgbClr val="000000"/>
          </a:solidFill>
          <a:ln w="12700">
            <a:solidFill>
              <a:srgbClr val="FFFFFF"/>
            </a:solidFill>
            <a:prstDash val="solid"/>
          </a:ln>
        </p:spPr>
      </p:sp>
      <p:sp>
        <p:nvSpPr>
          <p:cNvPr id="42" name="Shape 40"/>
          <p:cNvSpPr/>
          <p:nvPr/>
        </p:nvSpPr>
        <p:spPr>
          <a:xfrm>
            <a:off x="11521440" y="5650992"/>
            <a:ext cx="6400800" cy="585216"/>
          </a:xfrm>
          <a:prstGeom prst="rect">
            <a:avLst/>
          </a:prstGeom>
          <a:solidFill>
            <a:srgbClr val="D35400"/>
          </a:solidFill>
          <a:ln w="12700">
            <a:solidFill>
              <a:srgbClr val="D35400"/>
            </a:solidFill>
            <a:prstDash val="solid"/>
          </a:ln>
        </p:spPr>
      </p:sp>
      <p:sp>
        <p:nvSpPr>
          <p:cNvPr id="43" name="Text 41"/>
          <p:cNvSpPr/>
          <p:nvPr/>
        </p:nvSpPr>
        <p:spPr>
          <a:xfrm>
            <a:off x="11612880" y="5687568"/>
            <a:ext cx="5486400" cy="512064"/>
          </a:xfrm>
          <a:prstGeom prst="rect">
            <a:avLst/>
          </a:prstGeom>
          <a:noFill/>
          <a:ln/>
        </p:spPr>
        <p:txBody>
          <a:bodyPr wrap="square" rtlCol="0" anchor="ctr"/>
          <a:lstStyle/>
          <a:p>
            <a:r>
              <a:rPr lang="en-US" sz="1700" b="1" dirty="0">
                <a:solidFill>
                  <a:srgbClr val="FFFFFF"/>
                </a:solidFill>
                <a:latin typeface="Calibri" pitchFamily="34" charset="0"/>
                <a:ea typeface="Calibri" pitchFamily="34" charset="-122"/>
                <a:cs typeface="Calibri" pitchFamily="34" charset="-120"/>
              </a:rPr>
              <a:t>A05: Security Misconfiguration ↑</a:t>
            </a:r>
            <a:endParaRPr lang="en-US" sz="1700" dirty="0"/>
          </a:p>
        </p:txBody>
      </p:sp>
      <p:sp>
        <p:nvSpPr>
          <p:cNvPr id="44" name="Shape 42"/>
          <p:cNvSpPr/>
          <p:nvPr/>
        </p:nvSpPr>
        <p:spPr>
          <a:xfrm>
            <a:off x="17099280" y="5650992"/>
            <a:ext cx="822960" cy="585216"/>
          </a:xfrm>
          <a:prstGeom prst="rect">
            <a:avLst/>
          </a:prstGeom>
          <a:solidFill>
            <a:srgbClr val="000000"/>
          </a:solidFill>
          <a:ln w="12700">
            <a:solidFill>
              <a:srgbClr val="FFFFFF"/>
            </a:solidFill>
            <a:prstDash val="solid"/>
          </a:ln>
        </p:spPr>
      </p:sp>
      <p:sp>
        <p:nvSpPr>
          <p:cNvPr id="45" name="Shape 43"/>
          <p:cNvSpPr/>
          <p:nvPr/>
        </p:nvSpPr>
        <p:spPr>
          <a:xfrm>
            <a:off x="11521440" y="6309360"/>
            <a:ext cx="6400800" cy="585216"/>
          </a:xfrm>
          <a:prstGeom prst="rect">
            <a:avLst/>
          </a:prstGeom>
          <a:solidFill>
            <a:srgbClr val="C0392B"/>
          </a:solidFill>
          <a:ln w="12700">
            <a:solidFill>
              <a:srgbClr val="C0392B"/>
            </a:solidFill>
            <a:prstDash val="solid"/>
          </a:ln>
        </p:spPr>
      </p:sp>
      <p:sp>
        <p:nvSpPr>
          <p:cNvPr id="46" name="Text 44"/>
          <p:cNvSpPr/>
          <p:nvPr/>
        </p:nvSpPr>
        <p:spPr>
          <a:xfrm>
            <a:off x="11612880" y="6345936"/>
            <a:ext cx="5486400" cy="512064"/>
          </a:xfrm>
          <a:prstGeom prst="rect">
            <a:avLst/>
          </a:prstGeom>
          <a:noFill/>
          <a:ln/>
        </p:spPr>
        <p:txBody>
          <a:bodyPr wrap="square" rtlCol="0" anchor="ctr"/>
          <a:lstStyle/>
          <a:p>
            <a:r>
              <a:rPr lang="en-US" sz="1700" b="1" dirty="0">
                <a:solidFill>
                  <a:srgbClr val="FFFFFF"/>
                </a:solidFill>
                <a:latin typeface="Calibri" pitchFamily="34" charset="0"/>
                <a:ea typeface="Calibri" pitchFamily="34" charset="-122"/>
                <a:cs typeface="Calibri" pitchFamily="34" charset="-120"/>
              </a:rPr>
              <a:t>A06: Vulnerable Components ↑</a:t>
            </a:r>
            <a:endParaRPr lang="en-US" sz="1700" dirty="0"/>
          </a:p>
        </p:txBody>
      </p:sp>
      <p:sp>
        <p:nvSpPr>
          <p:cNvPr id="47" name="Shape 45"/>
          <p:cNvSpPr/>
          <p:nvPr/>
        </p:nvSpPr>
        <p:spPr>
          <a:xfrm>
            <a:off x="17099280" y="6309360"/>
            <a:ext cx="822960" cy="585216"/>
          </a:xfrm>
          <a:prstGeom prst="rect">
            <a:avLst/>
          </a:prstGeom>
          <a:solidFill>
            <a:srgbClr val="000000"/>
          </a:solidFill>
          <a:ln w="12700">
            <a:solidFill>
              <a:srgbClr val="FFFFFF"/>
            </a:solidFill>
            <a:prstDash val="solid"/>
          </a:ln>
        </p:spPr>
      </p:sp>
      <p:sp>
        <p:nvSpPr>
          <p:cNvPr id="48" name="Shape 46"/>
          <p:cNvSpPr/>
          <p:nvPr/>
        </p:nvSpPr>
        <p:spPr>
          <a:xfrm>
            <a:off x="11521440" y="6967728"/>
            <a:ext cx="6400800" cy="585216"/>
          </a:xfrm>
          <a:prstGeom prst="rect">
            <a:avLst/>
          </a:prstGeom>
          <a:solidFill>
            <a:srgbClr val="8E44AD"/>
          </a:solidFill>
          <a:ln w="12700">
            <a:solidFill>
              <a:srgbClr val="8E44AD"/>
            </a:solidFill>
            <a:prstDash val="solid"/>
          </a:ln>
        </p:spPr>
      </p:sp>
      <p:sp>
        <p:nvSpPr>
          <p:cNvPr id="49" name="Text 47"/>
          <p:cNvSpPr/>
          <p:nvPr/>
        </p:nvSpPr>
        <p:spPr>
          <a:xfrm>
            <a:off x="11612880" y="7004304"/>
            <a:ext cx="5486400" cy="512064"/>
          </a:xfrm>
          <a:prstGeom prst="rect">
            <a:avLst/>
          </a:prstGeom>
          <a:noFill/>
          <a:ln/>
        </p:spPr>
        <p:txBody>
          <a:bodyPr wrap="square" rtlCol="0" anchor="ctr"/>
          <a:lstStyle/>
          <a:p>
            <a:r>
              <a:rPr lang="en-US" sz="1700" b="1" dirty="0">
                <a:solidFill>
                  <a:srgbClr val="FFFFFF"/>
                </a:solidFill>
                <a:latin typeface="Calibri" pitchFamily="34" charset="0"/>
                <a:ea typeface="Calibri" pitchFamily="34" charset="-122"/>
                <a:cs typeface="Calibri" pitchFamily="34" charset="-120"/>
              </a:rPr>
              <a:t>A07: Auth Failures ↓</a:t>
            </a:r>
            <a:endParaRPr lang="en-US" sz="1700" dirty="0"/>
          </a:p>
        </p:txBody>
      </p:sp>
      <p:sp>
        <p:nvSpPr>
          <p:cNvPr id="50" name="Shape 48"/>
          <p:cNvSpPr/>
          <p:nvPr/>
        </p:nvSpPr>
        <p:spPr>
          <a:xfrm>
            <a:off x="17099280" y="6967728"/>
            <a:ext cx="822960" cy="585216"/>
          </a:xfrm>
          <a:prstGeom prst="rect">
            <a:avLst/>
          </a:prstGeom>
          <a:solidFill>
            <a:srgbClr val="000000"/>
          </a:solidFill>
          <a:ln w="12700">
            <a:solidFill>
              <a:srgbClr val="FFFFFF"/>
            </a:solidFill>
            <a:prstDash val="solid"/>
          </a:ln>
        </p:spPr>
      </p:sp>
      <p:sp>
        <p:nvSpPr>
          <p:cNvPr id="51" name="Shape 49"/>
          <p:cNvSpPr/>
          <p:nvPr/>
        </p:nvSpPr>
        <p:spPr>
          <a:xfrm>
            <a:off x="11521440" y="7626096"/>
            <a:ext cx="6400800" cy="585216"/>
          </a:xfrm>
          <a:prstGeom prst="rect">
            <a:avLst/>
          </a:prstGeom>
          <a:solidFill>
            <a:srgbClr val="27AE60"/>
          </a:solidFill>
          <a:ln w="12700">
            <a:solidFill>
              <a:srgbClr val="27AE60"/>
            </a:solidFill>
            <a:prstDash val="solid"/>
          </a:ln>
        </p:spPr>
      </p:sp>
      <p:sp>
        <p:nvSpPr>
          <p:cNvPr id="52" name="Text 50"/>
          <p:cNvSpPr/>
          <p:nvPr/>
        </p:nvSpPr>
        <p:spPr>
          <a:xfrm>
            <a:off x="11612880" y="7662672"/>
            <a:ext cx="5486400" cy="512064"/>
          </a:xfrm>
          <a:prstGeom prst="rect">
            <a:avLst/>
          </a:prstGeom>
          <a:noFill/>
          <a:ln/>
        </p:spPr>
        <p:txBody>
          <a:bodyPr wrap="square" rtlCol="0" anchor="ctr"/>
          <a:lstStyle/>
          <a:p>
            <a:r>
              <a:rPr lang="en-US" sz="1700" b="1" dirty="0">
                <a:solidFill>
                  <a:srgbClr val="FFFFFF"/>
                </a:solidFill>
                <a:latin typeface="Calibri" pitchFamily="34" charset="0"/>
                <a:ea typeface="Calibri" pitchFamily="34" charset="-122"/>
                <a:cs typeface="Calibri" pitchFamily="34" charset="-120"/>
              </a:rPr>
              <a:t>A08: Data Integrity Failures 🆕</a:t>
            </a:r>
            <a:endParaRPr lang="en-US" sz="1700" dirty="0"/>
          </a:p>
        </p:txBody>
      </p:sp>
      <p:sp>
        <p:nvSpPr>
          <p:cNvPr id="53" name="Shape 51"/>
          <p:cNvSpPr/>
          <p:nvPr/>
        </p:nvSpPr>
        <p:spPr>
          <a:xfrm>
            <a:off x="17099280" y="7626096"/>
            <a:ext cx="822960" cy="585216"/>
          </a:xfrm>
          <a:prstGeom prst="rect">
            <a:avLst/>
          </a:prstGeom>
          <a:solidFill>
            <a:srgbClr val="000000"/>
          </a:solidFill>
          <a:ln w="12700">
            <a:solidFill>
              <a:srgbClr val="FFFFFF"/>
            </a:solidFill>
            <a:prstDash val="solid"/>
          </a:ln>
        </p:spPr>
      </p:sp>
      <p:sp>
        <p:nvSpPr>
          <p:cNvPr id="54" name="Shape 52"/>
          <p:cNvSpPr/>
          <p:nvPr/>
        </p:nvSpPr>
        <p:spPr>
          <a:xfrm>
            <a:off x="11521440" y="8284464"/>
            <a:ext cx="6400800" cy="585216"/>
          </a:xfrm>
          <a:prstGeom prst="rect">
            <a:avLst/>
          </a:prstGeom>
          <a:solidFill>
            <a:srgbClr val="E67E22"/>
          </a:solidFill>
          <a:ln w="12700">
            <a:solidFill>
              <a:srgbClr val="E67E22"/>
            </a:solidFill>
            <a:prstDash val="solid"/>
          </a:ln>
        </p:spPr>
      </p:sp>
      <p:sp>
        <p:nvSpPr>
          <p:cNvPr id="55" name="Text 53"/>
          <p:cNvSpPr/>
          <p:nvPr/>
        </p:nvSpPr>
        <p:spPr>
          <a:xfrm>
            <a:off x="11612880" y="8321040"/>
            <a:ext cx="5486400" cy="512064"/>
          </a:xfrm>
          <a:prstGeom prst="rect">
            <a:avLst/>
          </a:prstGeom>
          <a:noFill/>
          <a:ln/>
        </p:spPr>
        <p:txBody>
          <a:bodyPr wrap="square" rtlCol="0" anchor="ctr"/>
          <a:lstStyle/>
          <a:p>
            <a:r>
              <a:rPr lang="en-US" sz="1700" b="1" dirty="0">
                <a:solidFill>
                  <a:srgbClr val="FFFFFF"/>
                </a:solidFill>
                <a:latin typeface="Calibri" pitchFamily="34" charset="0"/>
                <a:ea typeface="Calibri" pitchFamily="34" charset="-122"/>
                <a:cs typeface="Calibri" pitchFamily="34" charset="-120"/>
              </a:rPr>
              <a:t>A09: Logging Failures ↑</a:t>
            </a:r>
            <a:endParaRPr lang="en-US" sz="1700" dirty="0"/>
          </a:p>
        </p:txBody>
      </p:sp>
      <p:sp>
        <p:nvSpPr>
          <p:cNvPr id="56" name="Shape 54"/>
          <p:cNvSpPr/>
          <p:nvPr/>
        </p:nvSpPr>
        <p:spPr>
          <a:xfrm>
            <a:off x="17099280" y="8284464"/>
            <a:ext cx="822960" cy="585216"/>
          </a:xfrm>
          <a:prstGeom prst="rect">
            <a:avLst/>
          </a:prstGeom>
          <a:solidFill>
            <a:srgbClr val="000000"/>
          </a:solidFill>
          <a:ln w="12700">
            <a:solidFill>
              <a:srgbClr val="FFFFFF"/>
            </a:solidFill>
            <a:prstDash val="solid"/>
          </a:ln>
        </p:spPr>
      </p:sp>
      <p:sp>
        <p:nvSpPr>
          <p:cNvPr id="57" name="Shape 55"/>
          <p:cNvSpPr/>
          <p:nvPr/>
        </p:nvSpPr>
        <p:spPr>
          <a:xfrm>
            <a:off x="11521440" y="8942832"/>
            <a:ext cx="6400800" cy="585216"/>
          </a:xfrm>
          <a:prstGeom prst="rect">
            <a:avLst/>
          </a:prstGeom>
          <a:solidFill>
            <a:srgbClr val="1ABC9C"/>
          </a:solidFill>
          <a:ln w="12700">
            <a:solidFill>
              <a:srgbClr val="1ABC9C"/>
            </a:solidFill>
            <a:prstDash val="solid"/>
          </a:ln>
        </p:spPr>
      </p:sp>
      <p:sp>
        <p:nvSpPr>
          <p:cNvPr id="58" name="Text 56"/>
          <p:cNvSpPr/>
          <p:nvPr/>
        </p:nvSpPr>
        <p:spPr>
          <a:xfrm>
            <a:off x="11612880" y="8979408"/>
            <a:ext cx="5486400" cy="512064"/>
          </a:xfrm>
          <a:prstGeom prst="rect">
            <a:avLst/>
          </a:prstGeom>
          <a:noFill/>
          <a:ln/>
        </p:spPr>
        <p:txBody>
          <a:bodyPr wrap="square" rtlCol="0" anchor="ctr"/>
          <a:lstStyle/>
          <a:p>
            <a:r>
              <a:rPr lang="en-US" sz="1700" b="1" dirty="0">
                <a:solidFill>
                  <a:srgbClr val="FFFFFF"/>
                </a:solidFill>
                <a:latin typeface="Calibri" pitchFamily="34" charset="0"/>
                <a:ea typeface="Calibri" pitchFamily="34" charset="-122"/>
                <a:cs typeface="Calibri" pitchFamily="34" charset="-120"/>
              </a:rPr>
              <a:t>A10: SSRF 🆕</a:t>
            </a:r>
            <a:endParaRPr lang="en-US" sz="1700" dirty="0"/>
          </a:p>
        </p:txBody>
      </p:sp>
      <p:sp>
        <p:nvSpPr>
          <p:cNvPr id="59" name="Shape 57"/>
          <p:cNvSpPr/>
          <p:nvPr/>
        </p:nvSpPr>
        <p:spPr>
          <a:xfrm>
            <a:off x="17099280" y="8942832"/>
            <a:ext cx="822960" cy="585216"/>
          </a:xfrm>
          <a:prstGeom prst="rect">
            <a:avLst/>
          </a:prstGeom>
          <a:solidFill>
            <a:srgbClr val="000000"/>
          </a:solidFill>
          <a:ln w="12700">
            <a:solidFill>
              <a:srgbClr val="FFFFFF"/>
            </a:solidFill>
            <a:prstDash val="solid"/>
          </a:ln>
        </p:spPr>
      </p:sp>
      <p:sp>
        <p:nvSpPr>
          <p:cNvPr id="60" name="Shape 58"/>
          <p:cNvSpPr/>
          <p:nvPr/>
        </p:nvSpPr>
        <p:spPr>
          <a:xfrm>
            <a:off x="6949440" y="2048256"/>
            <a:ext cx="4389120" cy="768096"/>
          </a:xfrm>
          <a:prstGeom prst="rect">
            <a:avLst/>
          </a:prstGeom>
          <a:solidFill>
            <a:srgbClr val="E8F4F6"/>
          </a:solidFill>
          <a:ln w="12700">
            <a:solidFill>
              <a:srgbClr val="00B4C8"/>
            </a:solidFill>
            <a:prstDash val="solid"/>
          </a:ln>
        </p:spPr>
      </p:sp>
      <p:sp>
        <p:nvSpPr>
          <p:cNvPr id="61" name="Text 59"/>
          <p:cNvSpPr/>
          <p:nvPr/>
        </p:nvSpPr>
        <p:spPr>
          <a:xfrm>
            <a:off x="6949440" y="2048256"/>
            <a:ext cx="4389120" cy="768096"/>
          </a:xfrm>
          <a:prstGeom prst="rect">
            <a:avLst/>
          </a:prstGeom>
          <a:noFill/>
          <a:ln/>
        </p:spPr>
        <p:txBody>
          <a:bodyPr wrap="square" rtlCol="0" anchor="ctr"/>
          <a:lstStyle/>
          <a:p>
            <a:pPr algn="ctr"/>
            <a:r>
              <a:rPr lang="en-US" sz="2200" dirty="0">
                <a:solidFill>
                  <a:srgbClr val="004D5B"/>
                </a:solidFill>
                <a:latin typeface="Arial Black" pitchFamily="34" charset="0"/>
                <a:ea typeface="Arial Black" pitchFamily="34" charset="-122"/>
                <a:cs typeface="Arial Black" pitchFamily="34" charset="-120"/>
              </a:rPr>
              <a:t>CHANGES</a:t>
            </a:r>
            <a:endParaRPr lang="en-US" sz="2200" dirty="0"/>
          </a:p>
        </p:txBody>
      </p:sp>
      <p:sp>
        <p:nvSpPr>
          <p:cNvPr id="62" name="Shape 60"/>
          <p:cNvSpPr/>
          <p:nvPr/>
        </p:nvSpPr>
        <p:spPr>
          <a:xfrm>
            <a:off x="6986016" y="3017520"/>
            <a:ext cx="4315968" cy="1188720"/>
          </a:xfrm>
          <a:prstGeom prst="rect">
            <a:avLst/>
          </a:prstGeom>
          <a:solidFill>
            <a:srgbClr val="E8F8F0"/>
          </a:solidFill>
          <a:ln w="12700">
            <a:solidFill>
              <a:srgbClr val="CCDDDD"/>
            </a:solidFill>
            <a:prstDash val="solid"/>
          </a:ln>
        </p:spPr>
      </p:sp>
      <p:sp>
        <p:nvSpPr>
          <p:cNvPr id="63" name="Text 61"/>
          <p:cNvSpPr/>
          <p:nvPr/>
        </p:nvSpPr>
        <p:spPr>
          <a:xfrm>
            <a:off x="7095744" y="3163824"/>
            <a:ext cx="4023360" cy="914400"/>
          </a:xfrm>
          <a:prstGeom prst="rect">
            <a:avLst/>
          </a:prstGeom>
          <a:noFill/>
          <a:ln/>
        </p:spPr>
        <p:txBody>
          <a:bodyPr wrap="square" rtlCol="0" anchor="ctr"/>
          <a:lstStyle/>
          <a:p>
            <a:pPr algn="ctr"/>
            <a:r>
              <a:rPr lang="en-US" dirty="0">
                <a:solidFill>
                  <a:srgbClr val="2C3E50"/>
                </a:solidFill>
                <a:latin typeface="Calibri" pitchFamily="34" charset="0"/>
                <a:ea typeface="Calibri" pitchFamily="34" charset="-122"/>
                <a:cs typeface="Calibri" pitchFamily="34" charset="-120"/>
              </a:rPr>
              <a:t>🆕 New Category (3 added)</a:t>
            </a:r>
            <a:endParaRPr lang="en-US" dirty="0"/>
          </a:p>
        </p:txBody>
      </p:sp>
      <p:sp>
        <p:nvSpPr>
          <p:cNvPr id="64" name="Shape 62"/>
          <p:cNvSpPr/>
          <p:nvPr/>
        </p:nvSpPr>
        <p:spPr>
          <a:xfrm>
            <a:off x="6986016" y="4352544"/>
            <a:ext cx="4315968" cy="1188720"/>
          </a:xfrm>
          <a:prstGeom prst="rect">
            <a:avLst/>
          </a:prstGeom>
          <a:solidFill>
            <a:srgbClr val="FFF3E0"/>
          </a:solidFill>
          <a:ln w="12700">
            <a:solidFill>
              <a:srgbClr val="CCDDDD"/>
            </a:solidFill>
            <a:prstDash val="solid"/>
          </a:ln>
        </p:spPr>
      </p:sp>
      <p:sp>
        <p:nvSpPr>
          <p:cNvPr id="65" name="Text 63"/>
          <p:cNvSpPr/>
          <p:nvPr/>
        </p:nvSpPr>
        <p:spPr>
          <a:xfrm>
            <a:off x="7095744" y="4498848"/>
            <a:ext cx="4023360" cy="914400"/>
          </a:xfrm>
          <a:prstGeom prst="rect">
            <a:avLst/>
          </a:prstGeom>
          <a:noFill/>
          <a:ln/>
        </p:spPr>
        <p:txBody>
          <a:bodyPr wrap="square" rtlCol="0" anchor="ctr"/>
          <a:lstStyle/>
          <a:p>
            <a:pPr algn="ctr"/>
            <a:r>
              <a:rPr lang="en-US" dirty="0">
                <a:solidFill>
                  <a:srgbClr val="2C3E50"/>
                </a:solidFill>
                <a:latin typeface="Calibri" pitchFamily="34" charset="0"/>
                <a:ea typeface="Calibri" pitchFamily="34" charset="-122"/>
                <a:cs typeface="Calibri" pitchFamily="34" charset="-120"/>
              </a:rPr>
              <a:t>↑ Moved Up</a:t>
            </a:r>
            <a:endParaRPr lang="en-US" dirty="0"/>
          </a:p>
        </p:txBody>
      </p:sp>
      <p:sp>
        <p:nvSpPr>
          <p:cNvPr id="66" name="Shape 64"/>
          <p:cNvSpPr/>
          <p:nvPr/>
        </p:nvSpPr>
        <p:spPr>
          <a:xfrm>
            <a:off x="6986016" y="5687568"/>
            <a:ext cx="4315968" cy="1188720"/>
          </a:xfrm>
          <a:prstGeom prst="rect">
            <a:avLst/>
          </a:prstGeom>
          <a:solidFill>
            <a:srgbClr val="FCE4EC"/>
          </a:solidFill>
          <a:ln w="12700">
            <a:solidFill>
              <a:srgbClr val="CCDDDD"/>
            </a:solidFill>
            <a:prstDash val="solid"/>
          </a:ln>
        </p:spPr>
      </p:sp>
      <p:sp>
        <p:nvSpPr>
          <p:cNvPr id="67" name="Text 65"/>
          <p:cNvSpPr/>
          <p:nvPr/>
        </p:nvSpPr>
        <p:spPr>
          <a:xfrm>
            <a:off x="7095744" y="5833872"/>
            <a:ext cx="4023360" cy="914400"/>
          </a:xfrm>
          <a:prstGeom prst="rect">
            <a:avLst/>
          </a:prstGeom>
          <a:noFill/>
          <a:ln/>
        </p:spPr>
        <p:txBody>
          <a:bodyPr wrap="square" rtlCol="0" anchor="ctr"/>
          <a:lstStyle/>
          <a:p>
            <a:pPr algn="ctr"/>
            <a:r>
              <a:rPr lang="en-US" dirty="0">
                <a:solidFill>
                  <a:srgbClr val="2C3E50"/>
                </a:solidFill>
                <a:latin typeface="Calibri" pitchFamily="34" charset="0"/>
                <a:ea typeface="Calibri" pitchFamily="34" charset="-122"/>
                <a:cs typeface="Calibri" pitchFamily="34" charset="-120"/>
              </a:rPr>
              <a:t>↓ Moved Down</a:t>
            </a:r>
            <a:endParaRPr lang="en-US" dirty="0"/>
          </a:p>
        </p:txBody>
      </p:sp>
      <p:sp>
        <p:nvSpPr>
          <p:cNvPr id="68" name="Shape 66"/>
          <p:cNvSpPr/>
          <p:nvPr/>
        </p:nvSpPr>
        <p:spPr>
          <a:xfrm>
            <a:off x="6986016" y="7022592"/>
            <a:ext cx="4315968" cy="1188720"/>
          </a:xfrm>
          <a:prstGeom prst="rect">
            <a:avLst/>
          </a:prstGeom>
          <a:solidFill>
            <a:srgbClr val="F3E5F5"/>
          </a:solidFill>
          <a:ln w="12700">
            <a:solidFill>
              <a:srgbClr val="CCDDDD"/>
            </a:solidFill>
            <a:prstDash val="solid"/>
          </a:ln>
        </p:spPr>
      </p:sp>
      <p:sp>
        <p:nvSpPr>
          <p:cNvPr id="69" name="Text 67"/>
          <p:cNvSpPr/>
          <p:nvPr/>
        </p:nvSpPr>
        <p:spPr>
          <a:xfrm>
            <a:off x="7095744" y="7168896"/>
            <a:ext cx="4023360" cy="914400"/>
          </a:xfrm>
          <a:prstGeom prst="rect">
            <a:avLst/>
          </a:prstGeom>
          <a:noFill/>
          <a:ln/>
        </p:spPr>
        <p:txBody>
          <a:bodyPr wrap="square" rtlCol="0" anchor="ctr"/>
          <a:lstStyle/>
          <a:p>
            <a:pPr algn="ctr"/>
            <a:r>
              <a:rPr lang="en-US" dirty="0">
                <a:solidFill>
                  <a:srgbClr val="2C3E50"/>
                </a:solidFill>
                <a:latin typeface="Calibri" pitchFamily="34" charset="0"/>
                <a:ea typeface="Calibri" pitchFamily="34" charset="-122"/>
                <a:cs typeface="Calibri" pitchFamily="34" charset="-120"/>
              </a:rPr>
              <a:t>RENAMED/Scoped</a:t>
            </a:r>
            <a:endParaRPr lang="en-US" dirty="0"/>
          </a:p>
        </p:txBody>
      </p:sp>
      <p:sp>
        <p:nvSpPr>
          <p:cNvPr id="70" name="Shape 68"/>
          <p:cNvSpPr/>
          <p:nvPr/>
        </p:nvSpPr>
        <p:spPr>
          <a:xfrm>
            <a:off x="0" y="9875520"/>
            <a:ext cx="18288000" cy="411480"/>
          </a:xfrm>
          <a:prstGeom prst="rect">
            <a:avLst/>
          </a:prstGeom>
          <a:solidFill>
            <a:srgbClr val="004D5B"/>
          </a:solidFill>
          <a:ln w="12700">
            <a:solidFill>
              <a:srgbClr val="004D5B"/>
            </a:solidFill>
            <a:prstDash val="solid"/>
          </a:ln>
        </p:spPr>
      </p:sp>
      <p:sp>
        <p:nvSpPr>
          <p:cNvPr id="71" name="Text 69"/>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73" name="Picture 72">
            <a:extLst>
              <a:ext uri="{FF2B5EF4-FFF2-40B4-BE49-F238E27FC236}">
                <a16:creationId xmlns:a16="http://schemas.microsoft.com/office/drawing/2014/main" id="{B584B0EE-4B95-03D2-6616-4F76008BB7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6776" y="-36576"/>
            <a:ext cx="4435024" cy="16276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74320" cy="10287000"/>
          </a:xfrm>
          <a:prstGeom prst="rect">
            <a:avLst/>
          </a:prstGeom>
          <a:solidFill>
            <a:srgbClr val="C0392B"/>
          </a:solidFill>
          <a:ln w="12700">
            <a:solidFill>
              <a:srgbClr val="C0392B"/>
            </a:solidFill>
            <a:prstDash val="solid"/>
          </a:ln>
        </p:spPr>
      </p:sp>
      <p:sp>
        <p:nvSpPr>
          <p:cNvPr id="3" name="Shape 1"/>
          <p:cNvSpPr/>
          <p:nvPr/>
        </p:nvSpPr>
        <p:spPr>
          <a:xfrm>
            <a:off x="0" y="0"/>
            <a:ext cx="18288000" cy="1737360"/>
          </a:xfrm>
          <a:prstGeom prst="rect">
            <a:avLst/>
          </a:prstGeom>
          <a:solidFill>
            <a:srgbClr val="004D5B"/>
          </a:solidFill>
          <a:ln w="12700">
            <a:solidFill>
              <a:srgbClr val="004D5B"/>
            </a:solidFill>
            <a:prstDash val="solid"/>
          </a:ln>
        </p:spPr>
      </p:sp>
      <p:sp>
        <p:nvSpPr>
          <p:cNvPr id="4" name="Text 2"/>
          <p:cNvSpPr/>
          <p:nvPr/>
        </p:nvSpPr>
        <p:spPr>
          <a:xfrm>
            <a:off x="548640" y="91440"/>
            <a:ext cx="17007840" cy="1005840"/>
          </a:xfrm>
          <a:prstGeom prst="rect">
            <a:avLst/>
          </a:prstGeom>
          <a:noFill/>
          <a:ln/>
        </p:spPr>
        <p:txBody>
          <a:bodyPr wrap="square" rtlCol="0" anchor="ctr"/>
          <a:lstStyle/>
          <a:p>
            <a:r>
              <a:rPr lang="en-US" sz="4400" b="1" dirty="0">
                <a:solidFill>
                  <a:srgbClr val="FFFFFF"/>
                </a:solidFill>
                <a:latin typeface="Arial Black" pitchFamily="34" charset="0"/>
                <a:ea typeface="Arial Black" pitchFamily="34" charset="-122"/>
                <a:cs typeface="Arial Black" pitchFamily="34" charset="-120"/>
              </a:rPr>
              <a:t>🔓  A01:2021 — Broken Access Control</a:t>
            </a:r>
            <a:endParaRPr lang="en-US" sz="4400" dirty="0"/>
          </a:p>
        </p:txBody>
      </p:sp>
      <p:sp>
        <p:nvSpPr>
          <p:cNvPr id="5" name="Text 3"/>
          <p:cNvSpPr/>
          <p:nvPr/>
        </p:nvSpPr>
        <p:spPr>
          <a:xfrm>
            <a:off x="548640" y="1097280"/>
            <a:ext cx="17007840" cy="548640"/>
          </a:xfrm>
          <a:prstGeom prst="rect">
            <a:avLst/>
          </a:prstGeom>
          <a:noFill/>
          <a:ln/>
        </p:spPr>
        <p:txBody>
          <a:bodyPr wrap="square" rtlCol="0" anchor="ctr"/>
          <a:lstStyle/>
          <a:p>
            <a:r>
              <a:rPr lang="en-US" sz="2100" dirty="0">
                <a:solidFill>
                  <a:srgbClr val="00B4C8"/>
                </a:solidFill>
                <a:latin typeface="Calibri" pitchFamily="34" charset="0"/>
                <a:ea typeface="Calibri" pitchFamily="34" charset="-122"/>
                <a:cs typeface="Calibri" pitchFamily="34" charset="-120"/>
              </a:rPr>
              <a:t>Ranked #1 | 94% of applications tested had some form of broken access control</a:t>
            </a:r>
            <a:endParaRPr lang="en-US" sz="2100" dirty="0"/>
          </a:p>
        </p:txBody>
      </p:sp>
      <p:sp>
        <p:nvSpPr>
          <p:cNvPr id="6" name="Shape 4"/>
          <p:cNvSpPr/>
          <p:nvPr/>
        </p:nvSpPr>
        <p:spPr>
          <a:xfrm>
            <a:off x="0" y="1737360"/>
            <a:ext cx="18288000" cy="73152"/>
          </a:xfrm>
          <a:prstGeom prst="rect">
            <a:avLst/>
          </a:prstGeom>
          <a:solidFill>
            <a:srgbClr val="C0392B"/>
          </a:solidFill>
          <a:ln w="12700">
            <a:solidFill>
              <a:srgbClr val="C0392B"/>
            </a:solidFill>
            <a:prstDash val="solid"/>
          </a:ln>
        </p:spPr>
      </p:sp>
      <p:sp>
        <p:nvSpPr>
          <p:cNvPr id="7" name="Shape 5"/>
          <p:cNvSpPr/>
          <p:nvPr/>
        </p:nvSpPr>
        <p:spPr>
          <a:xfrm>
            <a:off x="548640" y="2011680"/>
            <a:ext cx="17190720" cy="1609344"/>
          </a:xfrm>
          <a:prstGeom prst="rect">
            <a:avLst/>
          </a:prstGeom>
          <a:solidFill>
            <a:srgbClr val="FFF5F5"/>
          </a:solidFill>
          <a:ln w="12700">
            <a:solidFill>
              <a:srgbClr val="C0392B"/>
            </a:solidFill>
            <a:prstDash val="solid"/>
          </a:ln>
          <a:effectLst>
            <a:outerShdw blurRad="76200" dist="25400" dir="8100000" algn="bl" rotWithShape="0">
              <a:srgbClr val="000000">
                <a:alpha val="10000"/>
              </a:srgbClr>
            </a:outerShdw>
          </a:effectLst>
        </p:spPr>
      </p:sp>
      <p:sp>
        <p:nvSpPr>
          <p:cNvPr id="8" name="Shape 6"/>
          <p:cNvSpPr/>
          <p:nvPr/>
        </p:nvSpPr>
        <p:spPr>
          <a:xfrm>
            <a:off x="548640" y="2011680"/>
            <a:ext cx="128016" cy="1609344"/>
          </a:xfrm>
          <a:prstGeom prst="rect">
            <a:avLst/>
          </a:prstGeom>
          <a:solidFill>
            <a:srgbClr val="C0392B"/>
          </a:solidFill>
          <a:ln w="12700">
            <a:solidFill>
              <a:srgbClr val="C0392B"/>
            </a:solidFill>
            <a:prstDash val="solid"/>
          </a:ln>
        </p:spPr>
      </p:sp>
      <p:sp>
        <p:nvSpPr>
          <p:cNvPr id="9" name="Text 7"/>
          <p:cNvSpPr/>
          <p:nvPr/>
        </p:nvSpPr>
        <p:spPr>
          <a:xfrm>
            <a:off x="822960" y="2048256"/>
            <a:ext cx="3657600" cy="512064"/>
          </a:xfrm>
          <a:prstGeom prst="rect">
            <a:avLst/>
          </a:prstGeom>
          <a:noFill/>
          <a:ln/>
        </p:spPr>
        <p:txBody>
          <a:bodyPr wrap="square" rtlCol="0" anchor="ctr"/>
          <a:lstStyle/>
          <a:p>
            <a:r>
              <a:rPr lang="en-US" sz="2000" b="1" dirty="0">
                <a:solidFill>
                  <a:srgbClr val="C0392B"/>
                </a:solidFill>
                <a:latin typeface="Arial" pitchFamily="34" charset="0"/>
                <a:ea typeface="Arial" pitchFamily="34" charset="-122"/>
                <a:cs typeface="Arial" pitchFamily="34" charset="-120"/>
              </a:rPr>
              <a:t>What is it?</a:t>
            </a:r>
            <a:endParaRPr lang="en-US" sz="2000" dirty="0"/>
          </a:p>
        </p:txBody>
      </p:sp>
      <p:sp>
        <p:nvSpPr>
          <p:cNvPr id="10" name="Text 8"/>
          <p:cNvSpPr/>
          <p:nvPr/>
        </p:nvSpPr>
        <p:spPr>
          <a:xfrm>
            <a:off x="822960" y="2596896"/>
            <a:ext cx="16642080" cy="914400"/>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Broken Access Control occurs when a web application fails to properly enforce user permissions, allowing unauthorized users to access data, functionality, or resources they are NOT authorized to use. In simple terms: "Unauthorized people can access or carry out activities they're not supposed to."</a:t>
            </a:r>
            <a:endParaRPr lang="en-US" sz="2100" dirty="0"/>
          </a:p>
        </p:txBody>
      </p:sp>
      <p:sp>
        <p:nvSpPr>
          <p:cNvPr id="11" name="Shape 9"/>
          <p:cNvSpPr/>
          <p:nvPr/>
        </p:nvSpPr>
        <p:spPr>
          <a:xfrm>
            <a:off x="548640" y="3840480"/>
            <a:ext cx="3840480" cy="1792224"/>
          </a:xfrm>
          <a:prstGeom prst="rect">
            <a:avLst/>
          </a:prstGeom>
          <a:solidFill>
            <a:srgbClr val="C0392B"/>
          </a:solidFill>
          <a:ln w="12700">
            <a:solidFill>
              <a:srgbClr val="C0392B"/>
            </a:solidFill>
            <a:prstDash val="solid"/>
          </a:ln>
          <a:effectLst>
            <a:outerShdw blurRad="76200" dist="25400" dir="8100000" algn="bl" rotWithShape="0">
              <a:srgbClr val="000000">
                <a:alpha val="10000"/>
              </a:srgbClr>
            </a:outerShdw>
          </a:effectLst>
        </p:spPr>
      </p:sp>
      <p:sp>
        <p:nvSpPr>
          <p:cNvPr id="12" name="Text 10"/>
          <p:cNvSpPr/>
          <p:nvPr/>
        </p:nvSpPr>
        <p:spPr>
          <a:xfrm>
            <a:off x="548640" y="3931920"/>
            <a:ext cx="3840480" cy="985724"/>
          </a:xfrm>
          <a:prstGeom prst="rect">
            <a:avLst/>
          </a:prstGeom>
          <a:noFill/>
          <a:ln/>
        </p:spPr>
        <p:txBody>
          <a:bodyPr wrap="square" rtlCol="0" anchor="ctr"/>
          <a:lstStyle/>
          <a:p>
            <a:pPr algn="ctr"/>
            <a:r>
              <a:rPr lang="en-US" sz="5600" b="1" dirty="0">
                <a:solidFill>
                  <a:srgbClr val="FFFFFF"/>
                </a:solidFill>
                <a:latin typeface="Arial Black" pitchFamily="34" charset="0"/>
                <a:ea typeface="Arial Black" pitchFamily="34" charset="-122"/>
                <a:cs typeface="Arial Black" pitchFamily="34" charset="-120"/>
              </a:rPr>
              <a:t>#1</a:t>
            </a:r>
            <a:endParaRPr lang="en-US" sz="5600" dirty="0"/>
          </a:p>
        </p:txBody>
      </p:sp>
      <p:sp>
        <p:nvSpPr>
          <p:cNvPr id="13" name="Text 11"/>
          <p:cNvSpPr/>
          <p:nvPr/>
        </p:nvSpPr>
        <p:spPr>
          <a:xfrm>
            <a:off x="548640" y="4772437"/>
            <a:ext cx="3840480" cy="752734"/>
          </a:xfrm>
          <a:prstGeom prst="rect">
            <a:avLst/>
          </a:prstGeom>
          <a:noFill/>
          <a:ln/>
        </p:spPr>
        <p:txBody>
          <a:bodyPr wrap="square" rtlCol="0" anchor="t"/>
          <a:lstStyle/>
          <a:p>
            <a:pPr algn="ctr"/>
            <a:r>
              <a:rPr lang="en-US" sz="2000" dirty="0">
                <a:solidFill>
                  <a:srgbClr val="FFFFFF"/>
                </a:solidFill>
                <a:latin typeface="Calibri" pitchFamily="34" charset="0"/>
                <a:ea typeface="Calibri" pitchFamily="34" charset="-122"/>
                <a:cs typeface="Calibri" pitchFamily="34" charset="-120"/>
              </a:rPr>
              <a:t>OWASP 2021</a:t>
            </a:r>
            <a:endParaRPr lang="en-US" sz="2000" dirty="0"/>
          </a:p>
          <a:p>
            <a:pPr algn="ctr"/>
            <a:r>
              <a:rPr lang="en-US" sz="2000" dirty="0">
                <a:solidFill>
                  <a:srgbClr val="FFFFFF"/>
                </a:solidFill>
                <a:latin typeface="Calibri" pitchFamily="34" charset="0"/>
                <a:ea typeface="Calibri" pitchFamily="34" charset="-122"/>
                <a:cs typeface="Calibri" pitchFamily="34" charset="-120"/>
              </a:rPr>
              <a:t>Ranking</a:t>
            </a:r>
            <a:endParaRPr lang="en-US" sz="2000" dirty="0"/>
          </a:p>
        </p:txBody>
      </p:sp>
      <p:sp>
        <p:nvSpPr>
          <p:cNvPr id="14" name="Shape 12"/>
          <p:cNvSpPr/>
          <p:nvPr/>
        </p:nvSpPr>
        <p:spPr>
          <a:xfrm>
            <a:off x="4901184" y="3840480"/>
            <a:ext cx="3840480" cy="1792224"/>
          </a:xfrm>
          <a:prstGeom prst="rect">
            <a:avLst/>
          </a:prstGeom>
          <a:solidFill>
            <a:srgbClr val="E74C3C"/>
          </a:solidFill>
          <a:ln w="12700">
            <a:solidFill>
              <a:srgbClr val="E74C3C"/>
            </a:solidFill>
            <a:prstDash val="solid"/>
          </a:ln>
          <a:effectLst>
            <a:outerShdw blurRad="76200" dist="25400" dir="8100000" algn="bl" rotWithShape="0">
              <a:srgbClr val="000000">
                <a:alpha val="10000"/>
              </a:srgbClr>
            </a:outerShdw>
          </a:effectLst>
        </p:spPr>
      </p:sp>
      <p:sp>
        <p:nvSpPr>
          <p:cNvPr id="15" name="Text 13"/>
          <p:cNvSpPr/>
          <p:nvPr/>
        </p:nvSpPr>
        <p:spPr>
          <a:xfrm>
            <a:off x="4901184" y="3931920"/>
            <a:ext cx="3840480" cy="985724"/>
          </a:xfrm>
          <a:prstGeom prst="rect">
            <a:avLst/>
          </a:prstGeom>
          <a:noFill/>
          <a:ln/>
        </p:spPr>
        <p:txBody>
          <a:bodyPr wrap="square" rtlCol="0" anchor="ctr"/>
          <a:lstStyle/>
          <a:p>
            <a:pPr algn="ctr"/>
            <a:r>
              <a:rPr lang="en-US" sz="5600" b="1" dirty="0">
                <a:solidFill>
                  <a:srgbClr val="FFFFFF"/>
                </a:solidFill>
                <a:latin typeface="Arial Black" pitchFamily="34" charset="0"/>
                <a:ea typeface="Arial Black" pitchFamily="34" charset="-122"/>
                <a:cs typeface="Arial Black" pitchFamily="34" charset="-120"/>
              </a:rPr>
              <a:t>94%</a:t>
            </a:r>
            <a:endParaRPr lang="en-US" sz="5600" dirty="0"/>
          </a:p>
        </p:txBody>
      </p:sp>
      <p:sp>
        <p:nvSpPr>
          <p:cNvPr id="16" name="Text 14"/>
          <p:cNvSpPr/>
          <p:nvPr/>
        </p:nvSpPr>
        <p:spPr>
          <a:xfrm>
            <a:off x="4901184" y="4772437"/>
            <a:ext cx="3840480" cy="752734"/>
          </a:xfrm>
          <a:prstGeom prst="rect">
            <a:avLst/>
          </a:prstGeom>
          <a:noFill/>
          <a:ln/>
        </p:spPr>
        <p:txBody>
          <a:bodyPr wrap="square" rtlCol="0" anchor="t"/>
          <a:lstStyle/>
          <a:p>
            <a:pPr algn="ctr"/>
            <a:r>
              <a:rPr lang="en-US" sz="2000" dirty="0">
                <a:solidFill>
                  <a:srgbClr val="FFFFFF"/>
                </a:solidFill>
                <a:latin typeface="Calibri" pitchFamily="34" charset="0"/>
                <a:ea typeface="Calibri" pitchFamily="34" charset="-122"/>
                <a:cs typeface="Calibri" pitchFamily="34" charset="-120"/>
              </a:rPr>
              <a:t>Apps Tested</a:t>
            </a:r>
            <a:endParaRPr lang="en-US" sz="2000" dirty="0"/>
          </a:p>
          <a:p>
            <a:pPr algn="ctr"/>
            <a:r>
              <a:rPr lang="en-US" sz="2000" dirty="0">
                <a:solidFill>
                  <a:srgbClr val="FFFFFF"/>
                </a:solidFill>
                <a:latin typeface="Calibri" pitchFamily="34" charset="0"/>
                <a:ea typeface="Calibri" pitchFamily="34" charset="-122"/>
                <a:cs typeface="Calibri" pitchFamily="34" charset="-120"/>
              </a:rPr>
              <a:t>Showed This</a:t>
            </a:r>
            <a:endParaRPr lang="en-US" sz="2000" dirty="0"/>
          </a:p>
        </p:txBody>
      </p:sp>
      <p:sp>
        <p:nvSpPr>
          <p:cNvPr id="17" name="Shape 15"/>
          <p:cNvSpPr/>
          <p:nvPr/>
        </p:nvSpPr>
        <p:spPr>
          <a:xfrm>
            <a:off x="9253728" y="3840480"/>
            <a:ext cx="3840480" cy="1792224"/>
          </a:xfrm>
          <a:prstGeom prst="rect">
            <a:avLst/>
          </a:prstGeom>
          <a:solidFill>
            <a:srgbClr val="C0392B"/>
          </a:solidFill>
          <a:ln w="12700">
            <a:solidFill>
              <a:srgbClr val="C0392B"/>
            </a:solidFill>
            <a:prstDash val="solid"/>
          </a:ln>
          <a:effectLst>
            <a:outerShdw blurRad="76200" dist="25400" dir="8100000" algn="bl" rotWithShape="0">
              <a:srgbClr val="000000">
                <a:alpha val="10000"/>
              </a:srgbClr>
            </a:outerShdw>
          </a:effectLst>
        </p:spPr>
      </p:sp>
      <p:sp>
        <p:nvSpPr>
          <p:cNvPr id="18" name="Text 16"/>
          <p:cNvSpPr/>
          <p:nvPr/>
        </p:nvSpPr>
        <p:spPr>
          <a:xfrm>
            <a:off x="9253728" y="3931920"/>
            <a:ext cx="3840480" cy="985724"/>
          </a:xfrm>
          <a:prstGeom prst="rect">
            <a:avLst/>
          </a:prstGeom>
          <a:noFill/>
          <a:ln/>
        </p:spPr>
        <p:txBody>
          <a:bodyPr wrap="square" rtlCol="0" anchor="ctr"/>
          <a:lstStyle/>
          <a:p>
            <a:pPr algn="ctr"/>
            <a:r>
              <a:rPr lang="en-US" sz="5600" b="1" dirty="0">
                <a:solidFill>
                  <a:srgbClr val="FFFFFF"/>
                </a:solidFill>
                <a:latin typeface="Arial Black" pitchFamily="34" charset="0"/>
                <a:ea typeface="Arial Black" pitchFamily="34" charset="-122"/>
                <a:cs typeface="Arial Black" pitchFamily="34" charset="-120"/>
              </a:rPr>
              <a:t>3.81M</a:t>
            </a:r>
            <a:endParaRPr lang="en-US" sz="5600" dirty="0"/>
          </a:p>
        </p:txBody>
      </p:sp>
      <p:sp>
        <p:nvSpPr>
          <p:cNvPr id="19" name="Text 17"/>
          <p:cNvSpPr/>
          <p:nvPr/>
        </p:nvSpPr>
        <p:spPr>
          <a:xfrm>
            <a:off x="9253728" y="4772437"/>
            <a:ext cx="3840480" cy="752734"/>
          </a:xfrm>
          <a:prstGeom prst="rect">
            <a:avLst/>
          </a:prstGeom>
          <a:noFill/>
          <a:ln/>
        </p:spPr>
        <p:txBody>
          <a:bodyPr wrap="square" rtlCol="0" anchor="t"/>
          <a:lstStyle/>
          <a:p>
            <a:pPr algn="ctr"/>
            <a:r>
              <a:rPr lang="en-US" sz="2000" dirty="0">
                <a:solidFill>
                  <a:srgbClr val="FFFFFF"/>
                </a:solidFill>
                <a:latin typeface="Calibri" pitchFamily="34" charset="0"/>
                <a:ea typeface="Calibri" pitchFamily="34" charset="-122"/>
                <a:cs typeface="Calibri" pitchFamily="34" charset="-120"/>
              </a:rPr>
              <a:t>Occurrences</a:t>
            </a:r>
            <a:endParaRPr lang="en-US" sz="2000" dirty="0"/>
          </a:p>
          <a:p>
            <a:pPr algn="ctr"/>
            <a:r>
              <a:rPr lang="en-US" sz="2000" dirty="0">
                <a:solidFill>
                  <a:srgbClr val="FFFFFF"/>
                </a:solidFill>
                <a:latin typeface="Calibri" pitchFamily="34" charset="0"/>
                <a:ea typeface="Calibri" pitchFamily="34" charset="-122"/>
                <a:cs typeface="Calibri" pitchFamily="34" charset="-120"/>
              </a:rPr>
              <a:t>Found</a:t>
            </a:r>
            <a:endParaRPr lang="en-US" sz="2000" dirty="0"/>
          </a:p>
        </p:txBody>
      </p:sp>
      <p:sp>
        <p:nvSpPr>
          <p:cNvPr id="20" name="Shape 18"/>
          <p:cNvSpPr/>
          <p:nvPr/>
        </p:nvSpPr>
        <p:spPr>
          <a:xfrm>
            <a:off x="13606272" y="3840480"/>
            <a:ext cx="3840480" cy="1792224"/>
          </a:xfrm>
          <a:prstGeom prst="rect">
            <a:avLst/>
          </a:prstGeom>
          <a:solidFill>
            <a:srgbClr val="E74C3C"/>
          </a:solidFill>
          <a:ln w="12700">
            <a:solidFill>
              <a:srgbClr val="E74C3C"/>
            </a:solidFill>
            <a:prstDash val="solid"/>
          </a:ln>
          <a:effectLst>
            <a:outerShdw blurRad="76200" dist="25400" dir="8100000" algn="bl" rotWithShape="0">
              <a:srgbClr val="000000">
                <a:alpha val="10000"/>
              </a:srgbClr>
            </a:outerShdw>
          </a:effectLst>
        </p:spPr>
      </p:sp>
      <p:sp>
        <p:nvSpPr>
          <p:cNvPr id="21" name="Text 19"/>
          <p:cNvSpPr/>
          <p:nvPr/>
        </p:nvSpPr>
        <p:spPr>
          <a:xfrm>
            <a:off x="13606272" y="3931920"/>
            <a:ext cx="3840480" cy="985724"/>
          </a:xfrm>
          <a:prstGeom prst="rect">
            <a:avLst/>
          </a:prstGeom>
          <a:noFill/>
          <a:ln/>
        </p:spPr>
        <p:txBody>
          <a:bodyPr wrap="square" rtlCol="0" anchor="ctr"/>
          <a:lstStyle/>
          <a:p>
            <a:pPr algn="ctr"/>
            <a:r>
              <a:rPr lang="en-US" sz="5600" b="1" dirty="0">
                <a:solidFill>
                  <a:srgbClr val="FFFFFF"/>
                </a:solidFill>
                <a:latin typeface="Arial Black" pitchFamily="34" charset="0"/>
                <a:ea typeface="Arial Black" pitchFamily="34" charset="-122"/>
                <a:cs typeface="Arial Black" pitchFamily="34" charset="-120"/>
              </a:rPr>
              <a:t>34</a:t>
            </a:r>
            <a:endParaRPr lang="en-US" sz="5600" dirty="0"/>
          </a:p>
        </p:txBody>
      </p:sp>
      <p:sp>
        <p:nvSpPr>
          <p:cNvPr id="22" name="Text 20"/>
          <p:cNvSpPr/>
          <p:nvPr/>
        </p:nvSpPr>
        <p:spPr>
          <a:xfrm>
            <a:off x="13606272" y="4772437"/>
            <a:ext cx="3840480" cy="752734"/>
          </a:xfrm>
          <a:prstGeom prst="rect">
            <a:avLst/>
          </a:prstGeom>
          <a:noFill/>
          <a:ln/>
        </p:spPr>
        <p:txBody>
          <a:bodyPr wrap="square" rtlCol="0" anchor="t"/>
          <a:lstStyle/>
          <a:p>
            <a:pPr algn="ctr"/>
            <a:r>
              <a:rPr lang="en-US" sz="2000" dirty="0">
                <a:solidFill>
                  <a:srgbClr val="FFFFFF"/>
                </a:solidFill>
                <a:latin typeface="Calibri" pitchFamily="34" charset="0"/>
                <a:ea typeface="Calibri" pitchFamily="34" charset="-122"/>
                <a:cs typeface="Calibri" pitchFamily="34" charset="-120"/>
              </a:rPr>
              <a:t>CWEs Mapped</a:t>
            </a:r>
            <a:endParaRPr lang="en-US" sz="2000" dirty="0"/>
          </a:p>
          <a:p>
            <a:pPr algn="ctr"/>
            <a:r>
              <a:rPr lang="en-US" sz="2000" dirty="0">
                <a:solidFill>
                  <a:srgbClr val="FFFFFF"/>
                </a:solidFill>
                <a:latin typeface="Calibri" pitchFamily="34" charset="0"/>
                <a:ea typeface="Calibri" pitchFamily="34" charset="-122"/>
                <a:cs typeface="Calibri" pitchFamily="34" charset="-120"/>
              </a:rPr>
              <a:t>to this Category</a:t>
            </a:r>
            <a:endParaRPr lang="en-US" sz="2000" dirty="0"/>
          </a:p>
        </p:txBody>
      </p:sp>
      <p:sp>
        <p:nvSpPr>
          <p:cNvPr id="23" name="Text 21"/>
          <p:cNvSpPr/>
          <p:nvPr/>
        </p:nvSpPr>
        <p:spPr>
          <a:xfrm>
            <a:off x="548640" y="5815584"/>
            <a:ext cx="9144000" cy="548640"/>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Common Attack Scenarios</a:t>
            </a:r>
            <a:endParaRPr lang="en-US" sz="2600" dirty="0"/>
          </a:p>
        </p:txBody>
      </p:sp>
      <p:sp>
        <p:nvSpPr>
          <p:cNvPr id="24" name="Shape 22"/>
          <p:cNvSpPr/>
          <p:nvPr/>
        </p:nvSpPr>
        <p:spPr>
          <a:xfrm>
            <a:off x="548640" y="6492240"/>
            <a:ext cx="10607040" cy="603504"/>
          </a:xfrm>
          <a:prstGeom prst="rect">
            <a:avLst/>
          </a:prstGeom>
          <a:solidFill>
            <a:srgbClr val="FFF5F5"/>
          </a:solidFill>
          <a:ln w="12700">
            <a:solidFill>
              <a:srgbClr val="F5C6C6"/>
            </a:solidFill>
            <a:prstDash val="solid"/>
          </a:ln>
        </p:spPr>
      </p:sp>
      <p:sp>
        <p:nvSpPr>
          <p:cNvPr id="25" name="Text 23"/>
          <p:cNvSpPr/>
          <p:nvPr/>
        </p:nvSpPr>
        <p:spPr>
          <a:xfrm>
            <a:off x="731520" y="6528816"/>
            <a:ext cx="10241280" cy="530352"/>
          </a:xfrm>
          <a:prstGeom prst="rect">
            <a:avLst/>
          </a:prstGeom>
          <a:noFill/>
          <a:ln/>
        </p:spPr>
        <p:txBody>
          <a:bodyPr wrap="square" rtlCol="0" anchor="ctr"/>
          <a:lstStyle/>
          <a:p>
            <a:r>
              <a:rPr lang="en-US" sz="1900" dirty="0">
                <a:solidFill>
                  <a:srgbClr val="7B241C"/>
                </a:solidFill>
                <a:latin typeface="Calibri" pitchFamily="34" charset="0"/>
                <a:ea typeface="Calibri" pitchFamily="34" charset="-122"/>
                <a:cs typeface="Calibri" pitchFamily="34" charset="-120"/>
              </a:rPr>
              <a:t>⚠  Changing URL to access another user's data (e.g., ?account_id=67890)</a:t>
            </a:r>
            <a:endParaRPr lang="en-US" sz="1900" dirty="0"/>
          </a:p>
        </p:txBody>
      </p:sp>
      <p:sp>
        <p:nvSpPr>
          <p:cNvPr id="26" name="Shape 24"/>
          <p:cNvSpPr/>
          <p:nvPr/>
        </p:nvSpPr>
        <p:spPr>
          <a:xfrm>
            <a:off x="548640" y="7187184"/>
            <a:ext cx="10607040" cy="603504"/>
          </a:xfrm>
          <a:prstGeom prst="rect">
            <a:avLst/>
          </a:prstGeom>
          <a:solidFill>
            <a:srgbClr val="FEECEC"/>
          </a:solidFill>
          <a:ln w="12700">
            <a:solidFill>
              <a:srgbClr val="F5C6C6"/>
            </a:solidFill>
            <a:prstDash val="solid"/>
          </a:ln>
        </p:spPr>
      </p:sp>
      <p:sp>
        <p:nvSpPr>
          <p:cNvPr id="27" name="Text 25"/>
          <p:cNvSpPr/>
          <p:nvPr/>
        </p:nvSpPr>
        <p:spPr>
          <a:xfrm>
            <a:off x="731520" y="7223760"/>
            <a:ext cx="10241280" cy="530352"/>
          </a:xfrm>
          <a:prstGeom prst="rect">
            <a:avLst/>
          </a:prstGeom>
          <a:noFill/>
          <a:ln/>
        </p:spPr>
        <p:txBody>
          <a:bodyPr wrap="square" rtlCol="0" anchor="ctr"/>
          <a:lstStyle/>
          <a:p>
            <a:r>
              <a:rPr lang="en-US" sz="1900" dirty="0">
                <a:solidFill>
                  <a:srgbClr val="7B241C"/>
                </a:solidFill>
                <a:latin typeface="Calibri" pitchFamily="34" charset="0"/>
                <a:ea typeface="Calibri" pitchFamily="34" charset="-122"/>
                <a:cs typeface="Calibri" pitchFamily="34" charset="-120"/>
              </a:rPr>
              <a:t>⚠  Accessing admin pages without admin privileges</a:t>
            </a:r>
            <a:endParaRPr lang="en-US" sz="1900" dirty="0"/>
          </a:p>
        </p:txBody>
      </p:sp>
      <p:sp>
        <p:nvSpPr>
          <p:cNvPr id="28" name="Shape 26"/>
          <p:cNvSpPr/>
          <p:nvPr/>
        </p:nvSpPr>
        <p:spPr>
          <a:xfrm>
            <a:off x="548640" y="7882128"/>
            <a:ext cx="10607040" cy="603504"/>
          </a:xfrm>
          <a:prstGeom prst="rect">
            <a:avLst/>
          </a:prstGeom>
          <a:solidFill>
            <a:srgbClr val="FFF5F5"/>
          </a:solidFill>
          <a:ln w="12700">
            <a:solidFill>
              <a:srgbClr val="F5C6C6"/>
            </a:solidFill>
            <a:prstDash val="solid"/>
          </a:ln>
        </p:spPr>
      </p:sp>
      <p:sp>
        <p:nvSpPr>
          <p:cNvPr id="29" name="Text 27"/>
          <p:cNvSpPr/>
          <p:nvPr/>
        </p:nvSpPr>
        <p:spPr>
          <a:xfrm>
            <a:off x="731520" y="7918704"/>
            <a:ext cx="10241280" cy="530352"/>
          </a:xfrm>
          <a:prstGeom prst="rect">
            <a:avLst/>
          </a:prstGeom>
          <a:noFill/>
          <a:ln/>
        </p:spPr>
        <p:txBody>
          <a:bodyPr wrap="square" rtlCol="0" anchor="ctr"/>
          <a:lstStyle/>
          <a:p>
            <a:r>
              <a:rPr lang="en-US" sz="1900" dirty="0">
                <a:solidFill>
                  <a:srgbClr val="7B241C"/>
                </a:solidFill>
                <a:latin typeface="Calibri" pitchFamily="34" charset="0"/>
                <a:ea typeface="Calibri" pitchFamily="34" charset="-122"/>
                <a:cs typeface="Calibri" pitchFamily="34" charset="-120"/>
              </a:rPr>
              <a:t>⚠  Viewing or editing someone else's records by modifying parameters</a:t>
            </a:r>
            <a:endParaRPr lang="en-US" sz="1900" dirty="0"/>
          </a:p>
        </p:txBody>
      </p:sp>
      <p:sp>
        <p:nvSpPr>
          <p:cNvPr id="30" name="Shape 28"/>
          <p:cNvSpPr/>
          <p:nvPr/>
        </p:nvSpPr>
        <p:spPr>
          <a:xfrm>
            <a:off x="548640" y="8577072"/>
            <a:ext cx="10607040" cy="603504"/>
          </a:xfrm>
          <a:prstGeom prst="rect">
            <a:avLst/>
          </a:prstGeom>
          <a:solidFill>
            <a:srgbClr val="FEECEC"/>
          </a:solidFill>
          <a:ln w="12700">
            <a:solidFill>
              <a:srgbClr val="F5C6C6"/>
            </a:solidFill>
            <a:prstDash val="solid"/>
          </a:ln>
        </p:spPr>
      </p:sp>
      <p:sp>
        <p:nvSpPr>
          <p:cNvPr id="31" name="Text 29"/>
          <p:cNvSpPr/>
          <p:nvPr/>
        </p:nvSpPr>
        <p:spPr>
          <a:xfrm>
            <a:off x="731520" y="8613648"/>
            <a:ext cx="10241280" cy="530352"/>
          </a:xfrm>
          <a:prstGeom prst="rect">
            <a:avLst/>
          </a:prstGeom>
          <a:noFill/>
          <a:ln/>
        </p:spPr>
        <p:txBody>
          <a:bodyPr wrap="square" rtlCol="0" anchor="ctr"/>
          <a:lstStyle/>
          <a:p>
            <a:r>
              <a:rPr lang="en-US" sz="1900" dirty="0">
                <a:solidFill>
                  <a:srgbClr val="7B241C"/>
                </a:solidFill>
                <a:latin typeface="Calibri" pitchFamily="34" charset="0"/>
                <a:ea typeface="Calibri" pitchFamily="34" charset="-122"/>
                <a:cs typeface="Calibri" pitchFamily="34" charset="-120"/>
              </a:rPr>
              <a:t>⚠  Privilege escalation — acting as a higher-privileged user</a:t>
            </a:r>
            <a:endParaRPr lang="en-US" sz="1900" dirty="0"/>
          </a:p>
        </p:txBody>
      </p:sp>
      <p:sp>
        <p:nvSpPr>
          <p:cNvPr id="32" name="Shape 30"/>
          <p:cNvSpPr/>
          <p:nvPr/>
        </p:nvSpPr>
        <p:spPr>
          <a:xfrm>
            <a:off x="11612880" y="5815584"/>
            <a:ext cx="6035040" cy="3657600"/>
          </a:xfrm>
          <a:prstGeom prst="rect">
            <a:avLst/>
          </a:prstGeom>
          <a:solidFill>
            <a:srgbClr val="FFFFFF"/>
          </a:solidFill>
          <a:ln w="12700">
            <a:solidFill>
              <a:srgbClr val="F5C6C6"/>
            </a:solidFill>
            <a:prstDash val="solid"/>
          </a:ln>
          <a:effectLst>
            <a:outerShdw blurRad="76200" dist="25400" dir="8100000" algn="bl" rotWithShape="0">
              <a:srgbClr val="000000">
                <a:alpha val="10000"/>
              </a:srgbClr>
            </a:outerShdw>
          </a:effectLst>
        </p:spPr>
      </p:sp>
      <p:sp>
        <p:nvSpPr>
          <p:cNvPr id="33" name="Shape 31"/>
          <p:cNvSpPr/>
          <p:nvPr/>
        </p:nvSpPr>
        <p:spPr>
          <a:xfrm>
            <a:off x="11612880" y="5815584"/>
            <a:ext cx="6035040" cy="640080"/>
          </a:xfrm>
          <a:prstGeom prst="rect">
            <a:avLst/>
          </a:prstGeom>
          <a:solidFill>
            <a:srgbClr val="C0392B"/>
          </a:solidFill>
          <a:ln w="12700">
            <a:solidFill>
              <a:srgbClr val="C0392B"/>
            </a:solidFill>
            <a:prstDash val="solid"/>
          </a:ln>
        </p:spPr>
      </p:sp>
      <p:sp>
        <p:nvSpPr>
          <p:cNvPr id="34" name="Text 32"/>
          <p:cNvSpPr/>
          <p:nvPr/>
        </p:nvSpPr>
        <p:spPr>
          <a:xfrm>
            <a:off x="11704320" y="5852160"/>
            <a:ext cx="5852160" cy="548640"/>
          </a:xfrm>
          <a:prstGeom prst="rect">
            <a:avLst/>
          </a:prstGeom>
          <a:noFill/>
          <a:ln/>
        </p:spPr>
        <p:txBody>
          <a:bodyPr wrap="square" rtlCol="0" anchor="ctr"/>
          <a:lstStyle/>
          <a:p>
            <a:r>
              <a:rPr lang="en-US" sz="2000" b="1" dirty="0">
                <a:solidFill>
                  <a:srgbClr val="FFFFFF"/>
                </a:solidFill>
                <a:latin typeface="Arial" pitchFamily="34" charset="0"/>
                <a:ea typeface="Arial" pitchFamily="34" charset="-122"/>
                <a:cs typeface="Arial" pitchFamily="34" charset="-120"/>
              </a:rPr>
              <a:t>📈  Jumped from #5 → #1</a:t>
            </a:r>
            <a:endParaRPr lang="en-US" sz="2000" dirty="0"/>
          </a:p>
        </p:txBody>
      </p:sp>
      <p:sp>
        <p:nvSpPr>
          <p:cNvPr id="35" name="Text 33"/>
          <p:cNvSpPr/>
          <p:nvPr/>
        </p:nvSpPr>
        <p:spPr>
          <a:xfrm>
            <a:off x="11704320" y="6547104"/>
            <a:ext cx="5760720" cy="2651760"/>
          </a:xfrm>
          <a:prstGeom prst="rect">
            <a:avLst/>
          </a:prstGeom>
          <a:noFill/>
          <a:ln/>
        </p:spPr>
        <p:txBody>
          <a:bodyPr wrap="square" rtlCol="0" anchor="ctr"/>
          <a:lstStyle/>
          <a:p>
            <a:r>
              <a:rPr lang="en-US" sz="2400" dirty="0">
                <a:solidFill>
                  <a:srgbClr val="2C3E50"/>
                </a:solidFill>
                <a:latin typeface="Calibri" pitchFamily="34" charset="0"/>
                <a:ea typeface="Calibri" pitchFamily="34" charset="-122"/>
                <a:cs typeface="Calibri" pitchFamily="34" charset="-120"/>
              </a:rPr>
              <a:t>In 2017 OWASP, Broken</a:t>
            </a:r>
            <a:endParaRPr lang="en-US" sz="2400" dirty="0"/>
          </a:p>
          <a:p>
            <a:r>
              <a:rPr lang="en-US" sz="2400" dirty="0">
                <a:solidFill>
                  <a:srgbClr val="2C3E50"/>
                </a:solidFill>
                <a:latin typeface="Calibri" pitchFamily="34" charset="0"/>
                <a:ea typeface="Calibri" pitchFamily="34" charset="-122"/>
                <a:cs typeface="Calibri" pitchFamily="34" charset="-120"/>
              </a:rPr>
              <a:t>Access Control was ranked #5.</a:t>
            </a:r>
            <a:endParaRPr lang="en-US" sz="2400" dirty="0"/>
          </a:p>
          <a:p>
            <a:r>
              <a:rPr lang="en-US" sz="2400" dirty="0">
                <a:solidFill>
                  <a:srgbClr val="2C3E50"/>
                </a:solidFill>
                <a:latin typeface="Calibri" pitchFamily="34" charset="0"/>
                <a:ea typeface="Calibri" pitchFamily="34" charset="-122"/>
                <a:cs typeface="Calibri" pitchFamily="34" charset="-120"/>
              </a:rPr>
              <a:t>In 2021, it moved to the #1</a:t>
            </a:r>
            <a:endParaRPr lang="en-US" sz="2400" dirty="0"/>
          </a:p>
          <a:p>
            <a:r>
              <a:rPr lang="en-US" sz="2400" dirty="0">
                <a:solidFill>
                  <a:srgbClr val="2C3E50"/>
                </a:solidFill>
                <a:latin typeface="Calibri" pitchFamily="34" charset="0"/>
                <a:ea typeface="Calibri" pitchFamily="34" charset="-122"/>
                <a:cs typeface="Calibri" pitchFamily="34" charset="-120"/>
              </a:rPr>
              <a:t>spot due to massive rise in</a:t>
            </a:r>
            <a:endParaRPr lang="en-US" sz="2400" dirty="0"/>
          </a:p>
          <a:p>
            <a:r>
              <a:rPr lang="en-US" sz="2400" dirty="0">
                <a:solidFill>
                  <a:srgbClr val="2C3E50"/>
                </a:solidFill>
                <a:latin typeface="Calibri" pitchFamily="34" charset="0"/>
                <a:ea typeface="Calibri" pitchFamily="34" charset="-122"/>
                <a:cs typeface="Calibri" pitchFamily="34" charset="-120"/>
              </a:rPr>
              <a:t>prevalence across all app types.</a:t>
            </a:r>
            <a:endParaRPr lang="en-US" sz="2400" dirty="0"/>
          </a:p>
        </p:txBody>
      </p:sp>
      <p:sp>
        <p:nvSpPr>
          <p:cNvPr id="36" name="Shape 34"/>
          <p:cNvSpPr/>
          <p:nvPr/>
        </p:nvSpPr>
        <p:spPr>
          <a:xfrm>
            <a:off x="0" y="9875520"/>
            <a:ext cx="18288000" cy="411480"/>
          </a:xfrm>
          <a:prstGeom prst="rect">
            <a:avLst/>
          </a:prstGeom>
          <a:solidFill>
            <a:srgbClr val="004D5B"/>
          </a:solidFill>
          <a:ln w="12700">
            <a:solidFill>
              <a:srgbClr val="004D5B"/>
            </a:solidFill>
            <a:prstDash val="solid"/>
          </a:ln>
        </p:spPr>
      </p:sp>
      <p:sp>
        <p:nvSpPr>
          <p:cNvPr id="37" name="Text 35"/>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39" name="Picture 38">
            <a:extLst>
              <a:ext uri="{FF2B5EF4-FFF2-40B4-BE49-F238E27FC236}">
                <a16:creationId xmlns:a16="http://schemas.microsoft.com/office/drawing/2014/main" id="{A5AF6367-E4B2-E3FF-2AF7-57163BA2BB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6776" y="-36576"/>
            <a:ext cx="4435024" cy="16276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828800"/>
          </a:xfrm>
          <a:prstGeom prst="rect">
            <a:avLst/>
          </a:prstGeom>
          <a:solidFill>
            <a:srgbClr val="004D5B"/>
          </a:solidFill>
          <a:ln w="12700">
            <a:solidFill>
              <a:srgbClr val="004D5B"/>
            </a:solidFill>
            <a:prstDash val="solid"/>
          </a:ln>
        </p:spPr>
      </p:sp>
      <p:sp>
        <p:nvSpPr>
          <p:cNvPr id="3" name="Text 1"/>
          <p:cNvSpPr/>
          <p:nvPr/>
        </p:nvSpPr>
        <p:spPr>
          <a:xfrm>
            <a:off x="548640" y="312420"/>
            <a:ext cx="15544800" cy="1097280"/>
          </a:xfrm>
          <a:prstGeom prst="rect">
            <a:avLst/>
          </a:prstGeom>
          <a:noFill/>
          <a:ln/>
        </p:spPr>
        <p:txBody>
          <a:bodyPr wrap="square" rtlCol="0" anchor="ctr"/>
          <a:lstStyle/>
          <a:p>
            <a:r>
              <a:rPr lang="en-US" sz="4800" b="1" dirty="0">
                <a:solidFill>
                  <a:srgbClr val="FFFFFF"/>
                </a:solidFill>
                <a:latin typeface="Arial Black" pitchFamily="34" charset="0"/>
                <a:ea typeface="Arial Black" pitchFamily="34" charset="-122"/>
                <a:cs typeface="Arial Black" pitchFamily="34" charset="-120"/>
              </a:rPr>
              <a:t>A01: Broken Access Control: </a:t>
            </a:r>
          </a:p>
          <a:p>
            <a:r>
              <a:rPr lang="en-US" sz="4800" b="1" dirty="0">
                <a:solidFill>
                  <a:srgbClr val="FFFFFF"/>
                </a:solidFill>
                <a:latin typeface="Arial Black" pitchFamily="34" charset="0"/>
                <a:ea typeface="Arial Black" pitchFamily="34" charset="-122"/>
                <a:cs typeface="Arial Black" pitchFamily="34" charset="-120"/>
              </a:rPr>
              <a:t>“How It Works”</a:t>
            </a:r>
            <a:endParaRPr lang="en-US" sz="4800" dirty="0"/>
          </a:p>
        </p:txBody>
      </p:sp>
      <p:sp>
        <p:nvSpPr>
          <p:cNvPr id="4" name="Text 2"/>
          <p:cNvSpPr/>
          <p:nvPr/>
        </p:nvSpPr>
        <p:spPr>
          <a:xfrm>
            <a:off x="8686800" y="1926336"/>
            <a:ext cx="8686800" cy="640080"/>
          </a:xfrm>
          <a:prstGeom prst="rect">
            <a:avLst/>
          </a:prstGeom>
          <a:noFill/>
          <a:ln/>
        </p:spPr>
        <p:txBody>
          <a:bodyPr wrap="square" rtlCol="0" anchor="ctr"/>
          <a:lstStyle/>
          <a:p>
            <a:r>
              <a:rPr lang="en-US" sz="2200" dirty="0">
                <a:solidFill>
                  <a:srgbClr val="00B4C8"/>
                </a:solidFill>
                <a:latin typeface="Calibri" pitchFamily="34" charset="0"/>
                <a:ea typeface="Calibri" pitchFamily="34" charset="-122"/>
                <a:cs typeface="Calibri" pitchFamily="34" charset="-120"/>
              </a:rPr>
              <a:t>Bank Account Example: URL Parameter Manipulation</a:t>
            </a:r>
            <a:endParaRPr lang="en-US" sz="2200" dirty="0"/>
          </a:p>
        </p:txBody>
      </p:sp>
      <p:sp>
        <p:nvSpPr>
          <p:cNvPr id="5" name="Shape 3"/>
          <p:cNvSpPr/>
          <p:nvPr/>
        </p:nvSpPr>
        <p:spPr>
          <a:xfrm>
            <a:off x="0" y="1828800"/>
            <a:ext cx="18288000" cy="73152"/>
          </a:xfrm>
          <a:prstGeom prst="rect">
            <a:avLst/>
          </a:prstGeom>
          <a:solidFill>
            <a:srgbClr val="00B4C8"/>
          </a:solidFill>
          <a:ln w="12700">
            <a:solidFill>
              <a:srgbClr val="00B4C8"/>
            </a:solidFill>
            <a:prstDash val="solid"/>
          </a:ln>
        </p:spPr>
      </p:sp>
      <p:sp>
        <p:nvSpPr>
          <p:cNvPr id="6" name="Text 4"/>
          <p:cNvSpPr/>
          <p:nvPr/>
        </p:nvSpPr>
        <p:spPr>
          <a:xfrm>
            <a:off x="548640" y="2048256"/>
            <a:ext cx="17190720" cy="585216"/>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  Real-World Scenario: Banking Application</a:t>
            </a:r>
            <a:endParaRPr lang="en-US" sz="2600" dirty="0"/>
          </a:p>
        </p:txBody>
      </p:sp>
      <p:sp>
        <p:nvSpPr>
          <p:cNvPr id="7" name="Shape 5"/>
          <p:cNvSpPr/>
          <p:nvPr/>
        </p:nvSpPr>
        <p:spPr>
          <a:xfrm>
            <a:off x="365760" y="2834640"/>
            <a:ext cx="1828800" cy="1828800"/>
          </a:xfrm>
          <a:prstGeom prst="ellipse">
            <a:avLst/>
          </a:prstGeom>
          <a:solidFill>
            <a:srgbClr val="C0392B"/>
          </a:solidFill>
          <a:ln w="12700">
            <a:solidFill>
              <a:srgbClr val="C0392B"/>
            </a:solidFill>
            <a:prstDash val="solid"/>
          </a:ln>
        </p:spPr>
      </p:sp>
      <p:sp>
        <p:nvSpPr>
          <p:cNvPr id="8" name="Text 6"/>
          <p:cNvSpPr/>
          <p:nvPr/>
        </p:nvSpPr>
        <p:spPr>
          <a:xfrm>
            <a:off x="365760" y="2834640"/>
            <a:ext cx="1828800" cy="1828800"/>
          </a:xfrm>
          <a:prstGeom prst="rect">
            <a:avLst/>
          </a:prstGeom>
          <a:noFill/>
          <a:ln/>
        </p:spPr>
        <p:txBody>
          <a:bodyPr wrap="square" rtlCol="0" anchor="ctr"/>
          <a:lstStyle/>
          <a:p>
            <a:pPr algn="ctr"/>
            <a:r>
              <a:rPr lang="en-US" sz="2000" dirty="0">
                <a:solidFill>
                  <a:srgbClr val="FFFFFF"/>
                </a:solidFill>
                <a:latin typeface="Calibri" pitchFamily="34" charset="0"/>
                <a:ea typeface="Calibri" pitchFamily="34" charset="-122"/>
                <a:cs typeface="Calibri" pitchFamily="34" charset="-120"/>
              </a:rPr>
              <a:t>😈</a:t>
            </a:r>
            <a:endParaRPr lang="en-US" sz="2000" dirty="0"/>
          </a:p>
          <a:p>
            <a:pPr algn="ctr"/>
            <a:r>
              <a:rPr lang="en-US" sz="2000" dirty="0">
                <a:solidFill>
                  <a:srgbClr val="FFFFFF"/>
                </a:solidFill>
                <a:latin typeface="Calibri" pitchFamily="34" charset="0"/>
                <a:ea typeface="Calibri" pitchFamily="34" charset="-122"/>
                <a:cs typeface="Calibri" pitchFamily="34" charset="-120"/>
              </a:rPr>
              <a:t>Attacker</a:t>
            </a:r>
            <a:endParaRPr lang="en-US" sz="2000" dirty="0"/>
          </a:p>
        </p:txBody>
      </p:sp>
      <p:sp>
        <p:nvSpPr>
          <p:cNvPr id="9" name="Shape 7"/>
          <p:cNvSpPr/>
          <p:nvPr/>
        </p:nvSpPr>
        <p:spPr>
          <a:xfrm>
            <a:off x="2468880" y="2926080"/>
            <a:ext cx="5852160" cy="1645920"/>
          </a:xfrm>
          <a:prstGeom prst="rect">
            <a:avLst/>
          </a:prstGeom>
          <a:solidFill>
            <a:srgbClr val="FFF5F5"/>
          </a:solidFill>
          <a:ln w="12700">
            <a:solidFill>
              <a:srgbClr val="C0392B"/>
            </a:solidFill>
            <a:prstDash val="solid"/>
          </a:ln>
          <a:effectLst>
            <a:outerShdw blurRad="76200" dist="25400" dir="8100000" algn="bl" rotWithShape="0">
              <a:srgbClr val="000000">
                <a:alpha val="10000"/>
              </a:srgbClr>
            </a:outerShdw>
          </a:effectLst>
        </p:spPr>
      </p:sp>
      <p:sp>
        <p:nvSpPr>
          <p:cNvPr id="10" name="Text 8"/>
          <p:cNvSpPr/>
          <p:nvPr/>
        </p:nvSpPr>
        <p:spPr>
          <a:xfrm>
            <a:off x="2651760" y="2980944"/>
            <a:ext cx="5486400" cy="731520"/>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Step 1: Attacker logs in as a normal user</a:t>
            </a:r>
            <a:endParaRPr lang="en-US" sz="1700" dirty="0"/>
          </a:p>
          <a:p>
            <a:r>
              <a:rPr lang="en-US" sz="1700" dirty="0">
                <a:solidFill>
                  <a:srgbClr val="2C3E50"/>
                </a:solidFill>
                <a:latin typeface="Calibri" pitchFamily="34" charset="0"/>
                <a:ea typeface="Calibri" pitchFamily="34" charset="-122"/>
                <a:cs typeface="Calibri" pitchFamily="34" charset="-120"/>
              </a:rPr>
              <a:t>and visits their own account page:</a:t>
            </a:r>
            <a:endParaRPr lang="en-US" sz="1700" dirty="0"/>
          </a:p>
        </p:txBody>
      </p:sp>
      <p:sp>
        <p:nvSpPr>
          <p:cNvPr id="11" name="Shape 9"/>
          <p:cNvSpPr/>
          <p:nvPr/>
        </p:nvSpPr>
        <p:spPr>
          <a:xfrm>
            <a:off x="2596896" y="3712464"/>
            <a:ext cx="5596128" cy="694944"/>
          </a:xfrm>
          <a:prstGeom prst="rect">
            <a:avLst/>
          </a:prstGeom>
          <a:solidFill>
            <a:srgbClr val="1A1A2E"/>
          </a:solidFill>
          <a:ln w="12700">
            <a:solidFill>
              <a:srgbClr val="C0392B"/>
            </a:solidFill>
            <a:prstDash val="solid"/>
          </a:ln>
        </p:spPr>
      </p:sp>
      <p:sp>
        <p:nvSpPr>
          <p:cNvPr id="12" name="Text 10"/>
          <p:cNvSpPr/>
          <p:nvPr/>
        </p:nvSpPr>
        <p:spPr>
          <a:xfrm>
            <a:off x="2651760" y="3730752"/>
            <a:ext cx="5486400" cy="621792"/>
          </a:xfrm>
          <a:prstGeom prst="rect">
            <a:avLst/>
          </a:prstGeom>
          <a:noFill/>
          <a:ln/>
        </p:spPr>
        <p:txBody>
          <a:bodyPr wrap="square" rtlCol="0" anchor="ctr"/>
          <a:lstStyle/>
          <a:p>
            <a:r>
              <a:rPr lang="en-US" sz="1500" dirty="0">
                <a:solidFill>
                  <a:srgbClr val="00FF88"/>
                </a:solidFill>
                <a:latin typeface="Consolas" pitchFamily="34" charset="0"/>
                <a:ea typeface="Consolas" pitchFamily="34" charset="-122"/>
                <a:cs typeface="Consolas" pitchFamily="34" charset="-120"/>
              </a:rPr>
              <a:t>https://ABCbank.com/transactions</a:t>
            </a:r>
            <a:endParaRPr lang="en-US" sz="1500" dirty="0"/>
          </a:p>
          <a:p>
            <a:r>
              <a:rPr lang="en-US" sz="1500" dirty="0">
                <a:solidFill>
                  <a:srgbClr val="00FF88"/>
                </a:solidFill>
                <a:latin typeface="Consolas" pitchFamily="34" charset="0"/>
                <a:ea typeface="Consolas" pitchFamily="34" charset="-122"/>
                <a:cs typeface="Consolas" pitchFamily="34" charset="-120"/>
              </a:rPr>
              <a:t>?account_id=12345  (own account)</a:t>
            </a:r>
            <a:endParaRPr lang="en-US" sz="1500" dirty="0"/>
          </a:p>
        </p:txBody>
      </p:sp>
      <p:sp>
        <p:nvSpPr>
          <p:cNvPr id="13" name="Shape 11"/>
          <p:cNvSpPr/>
          <p:nvPr/>
        </p:nvSpPr>
        <p:spPr>
          <a:xfrm>
            <a:off x="8412480" y="3584448"/>
            <a:ext cx="1005840" cy="128016"/>
          </a:xfrm>
          <a:prstGeom prst="rect">
            <a:avLst/>
          </a:prstGeom>
          <a:solidFill>
            <a:srgbClr val="E67E22"/>
          </a:solidFill>
          <a:ln w="12700">
            <a:solidFill>
              <a:srgbClr val="E67E22"/>
            </a:solidFill>
            <a:prstDash val="solid"/>
          </a:ln>
        </p:spPr>
      </p:sp>
      <p:sp>
        <p:nvSpPr>
          <p:cNvPr id="14" name="Shape 12"/>
          <p:cNvSpPr/>
          <p:nvPr/>
        </p:nvSpPr>
        <p:spPr>
          <a:xfrm>
            <a:off x="9326880" y="3438144"/>
            <a:ext cx="256032" cy="402336"/>
          </a:xfrm>
          <a:prstGeom prst="triangle">
            <a:avLst/>
          </a:prstGeom>
          <a:solidFill>
            <a:srgbClr val="E67E22"/>
          </a:solidFill>
          <a:ln w="12700">
            <a:solidFill>
              <a:srgbClr val="E67E22"/>
            </a:solidFill>
            <a:prstDash val="solid"/>
          </a:ln>
        </p:spPr>
      </p:sp>
      <p:sp>
        <p:nvSpPr>
          <p:cNvPr id="15" name="Shape 13"/>
          <p:cNvSpPr/>
          <p:nvPr/>
        </p:nvSpPr>
        <p:spPr>
          <a:xfrm>
            <a:off x="8814816" y="2926080"/>
            <a:ext cx="4572000" cy="1645920"/>
          </a:xfrm>
          <a:prstGeom prst="rect">
            <a:avLst/>
          </a:prstGeom>
          <a:solidFill>
            <a:srgbClr val="FFF3CD"/>
          </a:solidFill>
          <a:ln w="12700">
            <a:solidFill>
              <a:srgbClr val="E67E22"/>
            </a:solidFill>
            <a:prstDash val="solid"/>
          </a:ln>
          <a:effectLst>
            <a:outerShdw blurRad="76200" dist="25400" dir="8100000" algn="bl" rotWithShape="0">
              <a:srgbClr val="000000">
                <a:alpha val="10000"/>
              </a:srgbClr>
            </a:outerShdw>
          </a:effectLst>
        </p:spPr>
      </p:sp>
      <p:sp>
        <p:nvSpPr>
          <p:cNvPr id="16" name="Text 14"/>
          <p:cNvSpPr/>
          <p:nvPr/>
        </p:nvSpPr>
        <p:spPr>
          <a:xfrm>
            <a:off x="8961120" y="2980944"/>
            <a:ext cx="4206240" cy="512064"/>
          </a:xfrm>
          <a:prstGeom prst="rect">
            <a:avLst/>
          </a:prstGeom>
          <a:noFill/>
          <a:ln/>
        </p:spPr>
        <p:txBody>
          <a:bodyPr wrap="square" rtlCol="0" anchor="ctr"/>
          <a:lstStyle/>
          <a:p>
            <a:r>
              <a:rPr lang="en-US" b="1" dirty="0">
                <a:solidFill>
                  <a:srgbClr val="E67E22"/>
                </a:solidFill>
                <a:latin typeface="Arial" pitchFamily="34" charset="0"/>
                <a:ea typeface="Arial" pitchFamily="34" charset="-122"/>
                <a:cs typeface="Arial" pitchFamily="34" charset="-120"/>
              </a:rPr>
              <a:t>⚠  Vulnerability</a:t>
            </a:r>
            <a:endParaRPr lang="en-US" dirty="0"/>
          </a:p>
        </p:txBody>
      </p:sp>
      <p:sp>
        <p:nvSpPr>
          <p:cNvPr id="17" name="Text 15"/>
          <p:cNvSpPr/>
          <p:nvPr/>
        </p:nvSpPr>
        <p:spPr>
          <a:xfrm>
            <a:off x="8961120" y="3438144"/>
            <a:ext cx="4206240" cy="950976"/>
          </a:xfrm>
          <a:prstGeom prst="rect">
            <a:avLst/>
          </a:prstGeom>
          <a:noFill/>
          <a:ln/>
        </p:spPr>
        <p:txBody>
          <a:bodyPr wrap="square" rtlCol="0" anchor="ctr"/>
          <a:lstStyle/>
          <a:p>
            <a:r>
              <a:rPr lang="en-US" sz="1700" dirty="0">
                <a:solidFill>
                  <a:srgbClr val="7D6608"/>
                </a:solidFill>
                <a:latin typeface="Calibri" pitchFamily="34" charset="0"/>
                <a:ea typeface="Calibri" pitchFamily="34" charset="-122"/>
                <a:cs typeface="Calibri" pitchFamily="34" charset="-120"/>
              </a:rPr>
              <a:t>Server does NOT check if the account_id belongs to the logged-in user!</a:t>
            </a:r>
            <a:endParaRPr lang="en-US" sz="1700" dirty="0"/>
          </a:p>
        </p:txBody>
      </p:sp>
      <p:sp>
        <p:nvSpPr>
          <p:cNvPr id="18" name="Shape 16"/>
          <p:cNvSpPr/>
          <p:nvPr/>
        </p:nvSpPr>
        <p:spPr>
          <a:xfrm>
            <a:off x="13496544" y="3584448"/>
            <a:ext cx="1005840" cy="128016"/>
          </a:xfrm>
          <a:prstGeom prst="rect">
            <a:avLst/>
          </a:prstGeom>
          <a:solidFill>
            <a:srgbClr val="C0392B"/>
          </a:solidFill>
          <a:ln w="12700">
            <a:solidFill>
              <a:srgbClr val="C0392B"/>
            </a:solidFill>
            <a:prstDash val="solid"/>
          </a:ln>
        </p:spPr>
      </p:sp>
      <p:sp>
        <p:nvSpPr>
          <p:cNvPr id="19" name="Shape 17"/>
          <p:cNvSpPr/>
          <p:nvPr/>
        </p:nvSpPr>
        <p:spPr>
          <a:xfrm>
            <a:off x="14410944" y="3438144"/>
            <a:ext cx="256032" cy="402336"/>
          </a:xfrm>
          <a:prstGeom prst="triangle">
            <a:avLst/>
          </a:prstGeom>
          <a:solidFill>
            <a:srgbClr val="C0392B"/>
          </a:solidFill>
          <a:ln w="12700">
            <a:solidFill>
              <a:srgbClr val="C0392B"/>
            </a:solidFill>
            <a:prstDash val="solid"/>
          </a:ln>
        </p:spPr>
      </p:sp>
      <p:sp>
        <p:nvSpPr>
          <p:cNvPr id="20" name="Shape 18"/>
          <p:cNvSpPr/>
          <p:nvPr/>
        </p:nvSpPr>
        <p:spPr>
          <a:xfrm>
            <a:off x="14666976" y="2926080"/>
            <a:ext cx="3108960" cy="1645920"/>
          </a:xfrm>
          <a:prstGeom prst="rect">
            <a:avLst/>
          </a:prstGeom>
          <a:solidFill>
            <a:srgbClr val="FFF5F5"/>
          </a:solidFill>
          <a:ln w="12700">
            <a:solidFill>
              <a:srgbClr val="C0392B"/>
            </a:solidFill>
            <a:prstDash val="solid"/>
          </a:ln>
          <a:effectLst>
            <a:outerShdw blurRad="76200" dist="25400" dir="8100000" algn="bl" rotWithShape="0">
              <a:srgbClr val="000000">
                <a:alpha val="10000"/>
              </a:srgbClr>
            </a:outerShdw>
          </a:effectLst>
        </p:spPr>
      </p:sp>
      <p:sp>
        <p:nvSpPr>
          <p:cNvPr id="21" name="Text 19"/>
          <p:cNvSpPr/>
          <p:nvPr/>
        </p:nvSpPr>
        <p:spPr>
          <a:xfrm>
            <a:off x="14813280" y="2980944"/>
            <a:ext cx="2834640" cy="548640"/>
          </a:xfrm>
          <a:prstGeom prst="rect">
            <a:avLst/>
          </a:prstGeom>
          <a:noFill/>
          <a:ln/>
        </p:spPr>
        <p:txBody>
          <a:bodyPr wrap="square" rtlCol="0" anchor="ctr"/>
          <a:lstStyle/>
          <a:p>
            <a:r>
              <a:rPr lang="en-US" sz="1600" b="1" dirty="0">
                <a:solidFill>
                  <a:srgbClr val="C0392B"/>
                </a:solidFill>
                <a:latin typeface="Calibri" pitchFamily="34" charset="0"/>
                <a:ea typeface="Calibri" pitchFamily="34" charset="-122"/>
                <a:cs typeface="Calibri" pitchFamily="34" charset="-120"/>
              </a:rPr>
              <a:t>Step 2: Change account_id</a:t>
            </a:r>
            <a:endParaRPr lang="en-US" sz="1600" dirty="0"/>
          </a:p>
        </p:txBody>
      </p:sp>
      <p:sp>
        <p:nvSpPr>
          <p:cNvPr id="22" name="Shape 20"/>
          <p:cNvSpPr/>
          <p:nvPr/>
        </p:nvSpPr>
        <p:spPr>
          <a:xfrm>
            <a:off x="14758416" y="3529584"/>
            <a:ext cx="2889504" cy="877824"/>
          </a:xfrm>
          <a:prstGeom prst="rect">
            <a:avLst/>
          </a:prstGeom>
          <a:solidFill>
            <a:srgbClr val="1A1A2E"/>
          </a:solidFill>
          <a:ln w="12700">
            <a:solidFill>
              <a:srgbClr val="C0392B"/>
            </a:solidFill>
            <a:prstDash val="solid"/>
          </a:ln>
        </p:spPr>
      </p:sp>
      <p:sp>
        <p:nvSpPr>
          <p:cNvPr id="23" name="Text 21"/>
          <p:cNvSpPr/>
          <p:nvPr/>
        </p:nvSpPr>
        <p:spPr>
          <a:xfrm>
            <a:off x="14813280" y="3547872"/>
            <a:ext cx="2743200" cy="841248"/>
          </a:xfrm>
          <a:prstGeom prst="rect">
            <a:avLst/>
          </a:prstGeom>
          <a:noFill/>
          <a:ln/>
        </p:spPr>
        <p:txBody>
          <a:bodyPr wrap="square" rtlCol="0" anchor="ctr"/>
          <a:lstStyle/>
          <a:p>
            <a:r>
              <a:rPr lang="en-US" sz="1400" dirty="0">
                <a:solidFill>
                  <a:srgbClr val="FF4444"/>
                </a:solidFill>
                <a:latin typeface="Consolas" pitchFamily="34" charset="0"/>
                <a:ea typeface="Consolas" pitchFamily="34" charset="-122"/>
                <a:cs typeface="Consolas" pitchFamily="34" charset="-120"/>
              </a:rPr>
              <a:t>account_id=</a:t>
            </a:r>
            <a:endParaRPr lang="en-US" sz="1400" dirty="0"/>
          </a:p>
          <a:p>
            <a:r>
              <a:rPr lang="en-US" sz="1400" dirty="0">
                <a:solidFill>
                  <a:srgbClr val="FF4444"/>
                </a:solidFill>
                <a:latin typeface="Consolas" pitchFamily="34" charset="0"/>
                <a:ea typeface="Consolas" pitchFamily="34" charset="-122"/>
                <a:cs typeface="Consolas" pitchFamily="34" charset="-120"/>
              </a:rPr>
              <a:t>67890 ← VICTIM</a:t>
            </a:r>
            <a:endParaRPr lang="en-US" sz="1400" dirty="0"/>
          </a:p>
        </p:txBody>
      </p:sp>
      <p:sp>
        <p:nvSpPr>
          <p:cNvPr id="24" name="Shape 22"/>
          <p:cNvSpPr/>
          <p:nvPr/>
        </p:nvSpPr>
        <p:spPr>
          <a:xfrm>
            <a:off x="548640" y="5029200"/>
            <a:ext cx="17190720" cy="1792224"/>
          </a:xfrm>
          <a:prstGeom prst="rect">
            <a:avLst/>
          </a:prstGeom>
          <a:solidFill>
            <a:srgbClr val="FFEEEE"/>
          </a:solidFill>
          <a:ln w="12700">
            <a:solidFill>
              <a:srgbClr val="C0392B"/>
            </a:solidFill>
            <a:prstDash val="solid"/>
          </a:ln>
          <a:effectLst>
            <a:outerShdw blurRad="101600" dist="38100" dir="8100000" algn="bl" rotWithShape="0">
              <a:srgbClr val="000000">
                <a:alpha val="12000"/>
              </a:srgbClr>
            </a:outerShdw>
          </a:effectLst>
        </p:spPr>
      </p:sp>
      <p:sp>
        <p:nvSpPr>
          <p:cNvPr id="25" name="Text 23"/>
          <p:cNvSpPr/>
          <p:nvPr/>
        </p:nvSpPr>
        <p:spPr>
          <a:xfrm>
            <a:off x="914400" y="5157216"/>
            <a:ext cx="16459200" cy="1536192"/>
          </a:xfrm>
          <a:prstGeom prst="rect">
            <a:avLst/>
          </a:prstGeom>
          <a:noFill/>
          <a:ln/>
        </p:spPr>
        <p:txBody>
          <a:bodyPr wrap="square" rtlCol="0" anchor="ctr"/>
          <a:lstStyle/>
          <a:p>
            <a:r>
              <a:rPr lang="en-US" sz="2400" b="1" dirty="0">
                <a:solidFill>
                  <a:srgbClr val="922B21"/>
                </a:solidFill>
                <a:latin typeface="Arial" pitchFamily="34" charset="0"/>
                <a:ea typeface="Arial" pitchFamily="34" charset="-122"/>
                <a:cs typeface="Arial" pitchFamily="34" charset="-120"/>
              </a:rPr>
              <a:t>💥  RESULT: Attacker now views victim's bank transactions, balance, and personal data — without any authorization!</a:t>
            </a:r>
            <a:endParaRPr lang="en-US" sz="2400" dirty="0"/>
          </a:p>
        </p:txBody>
      </p:sp>
      <p:sp>
        <p:nvSpPr>
          <p:cNvPr id="26" name="Text 24"/>
          <p:cNvSpPr/>
          <p:nvPr/>
        </p:nvSpPr>
        <p:spPr>
          <a:xfrm>
            <a:off x="548640" y="7040880"/>
            <a:ext cx="8229600" cy="548640"/>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Common Causes</a:t>
            </a:r>
            <a:endParaRPr lang="en-US" sz="2600" dirty="0"/>
          </a:p>
        </p:txBody>
      </p:sp>
      <p:sp>
        <p:nvSpPr>
          <p:cNvPr id="27" name="Shape 25"/>
          <p:cNvSpPr/>
          <p:nvPr/>
        </p:nvSpPr>
        <p:spPr>
          <a:xfrm>
            <a:off x="548640" y="7680960"/>
            <a:ext cx="8321040" cy="694944"/>
          </a:xfrm>
          <a:prstGeom prst="rect">
            <a:avLst/>
          </a:prstGeom>
          <a:solidFill>
            <a:srgbClr val="FFF5F5"/>
          </a:solidFill>
          <a:ln w="12700">
            <a:solidFill>
              <a:srgbClr val="F5C6C6"/>
            </a:solidFill>
            <a:prstDash val="solid"/>
          </a:ln>
        </p:spPr>
      </p:sp>
      <p:sp>
        <p:nvSpPr>
          <p:cNvPr id="28" name="Shape 26"/>
          <p:cNvSpPr/>
          <p:nvPr/>
        </p:nvSpPr>
        <p:spPr>
          <a:xfrm>
            <a:off x="640080" y="7808976"/>
            <a:ext cx="438912" cy="438912"/>
          </a:xfrm>
          <a:prstGeom prst="ellipse">
            <a:avLst/>
          </a:prstGeom>
          <a:solidFill>
            <a:srgbClr val="C0392B"/>
          </a:solidFill>
          <a:ln w="12700">
            <a:solidFill>
              <a:srgbClr val="C0392B"/>
            </a:solidFill>
            <a:prstDash val="solid"/>
          </a:ln>
        </p:spPr>
      </p:sp>
      <p:sp>
        <p:nvSpPr>
          <p:cNvPr id="29" name="Text 27"/>
          <p:cNvSpPr/>
          <p:nvPr/>
        </p:nvSpPr>
        <p:spPr>
          <a:xfrm>
            <a:off x="640080" y="7808976"/>
            <a:ext cx="438912" cy="438912"/>
          </a:xfrm>
          <a:prstGeom prst="rect">
            <a:avLst/>
          </a:prstGeom>
          <a:noFill/>
          <a:ln/>
        </p:spPr>
        <p:txBody>
          <a:bodyPr wrap="square" rtlCol="0" anchor="ctr"/>
          <a:lstStyle/>
          <a:p>
            <a:pPr algn="ctr"/>
            <a:r>
              <a:rPr lang="en-US" sz="1600" dirty="0">
                <a:solidFill>
                  <a:srgbClr val="FFFFFF"/>
                </a:solidFill>
              </a:rPr>
              <a:t>✕</a:t>
            </a:r>
            <a:endParaRPr lang="en-US" sz="1600" dirty="0"/>
          </a:p>
        </p:txBody>
      </p:sp>
      <p:sp>
        <p:nvSpPr>
          <p:cNvPr id="30" name="Text 28"/>
          <p:cNvSpPr/>
          <p:nvPr/>
        </p:nvSpPr>
        <p:spPr>
          <a:xfrm>
            <a:off x="1188720" y="7717536"/>
            <a:ext cx="7680960" cy="621792"/>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No role-based access checks in sensitive areas</a:t>
            </a:r>
            <a:endParaRPr lang="en-US" sz="1900" dirty="0"/>
          </a:p>
        </p:txBody>
      </p:sp>
      <p:sp>
        <p:nvSpPr>
          <p:cNvPr id="31" name="Shape 29"/>
          <p:cNvSpPr/>
          <p:nvPr/>
        </p:nvSpPr>
        <p:spPr>
          <a:xfrm>
            <a:off x="548640" y="8503920"/>
            <a:ext cx="8321040" cy="694944"/>
          </a:xfrm>
          <a:prstGeom prst="rect">
            <a:avLst/>
          </a:prstGeom>
          <a:solidFill>
            <a:srgbClr val="FFF5F5"/>
          </a:solidFill>
          <a:ln w="12700">
            <a:solidFill>
              <a:srgbClr val="F5C6C6"/>
            </a:solidFill>
            <a:prstDash val="solid"/>
          </a:ln>
        </p:spPr>
      </p:sp>
      <p:sp>
        <p:nvSpPr>
          <p:cNvPr id="32" name="Shape 30"/>
          <p:cNvSpPr/>
          <p:nvPr/>
        </p:nvSpPr>
        <p:spPr>
          <a:xfrm>
            <a:off x="640080" y="8631936"/>
            <a:ext cx="438912" cy="438912"/>
          </a:xfrm>
          <a:prstGeom prst="ellipse">
            <a:avLst/>
          </a:prstGeom>
          <a:solidFill>
            <a:srgbClr val="C0392B"/>
          </a:solidFill>
          <a:ln w="12700">
            <a:solidFill>
              <a:srgbClr val="C0392B"/>
            </a:solidFill>
            <a:prstDash val="solid"/>
          </a:ln>
        </p:spPr>
      </p:sp>
      <p:sp>
        <p:nvSpPr>
          <p:cNvPr id="33" name="Text 31"/>
          <p:cNvSpPr/>
          <p:nvPr/>
        </p:nvSpPr>
        <p:spPr>
          <a:xfrm>
            <a:off x="640080" y="8631936"/>
            <a:ext cx="438912" cy="438912"/>
          </a:xfrm>
          <a:prstGeom prst="rect">
            <a:avLst/>
          </a:prstGeom>
          <a:noFill/>
          <a:ln/>
        </p:spPr>
        <p:txBody>
          <a:bodyPr wrap="square" rtlCol="0" anchor="ctr"/>
          <a:lstStyle/>
          <a:p>
            <a:pPr algn="ctr"/>
            <a:r>
              <a:rPr lang="en-US" sz="1600" dirty="0">
                <a:solidFill>
                  <a:srgbClr val="FFFFFF"/>
                </a:solidFill>
              </a:rPr>
              <a:t>✕</a:t>
            </a:r>
            <a:endParaRPr lang="en-US" sz="1600" dirty="0"/>
          </a:p>
        </p:txBody>
      </p:sp>
      <p:sp>
        <p:nvSpPr>
          <p:cNvPr id="34" name="Text 32"/>
          <p:cNvSpPr/>
          <p:nvPr/>
        </p:nvSpPr>
        <p:spPr>
          <a:xfrm>
            <a:off x="1188720" y="8540496"/>
            <a:ext cx="7680960" cy="621792"/>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Direct object reference without verifying user ownership</a:t>
            </a:r>
            <a:endParaRPr lang="en-US" sz="1900" dirty="0"/>
          </a:p>
        </p:txBody>
      </p:sp>
      <p:sp>
        <p:nvSpPr>
          <p:cNvPr id="35" name="Shape 33"/>
          <p:cNvSpPr/>
          <p:nvPr/>
        </p:nvSpPr>
        <p:spPr>
          <a:xfrm>
            <a:off x="9235440" y="7680960"/>
            <a:ext cx="8321040" cy="694944"/>
          </a:xfrm>
          <a:prstGeom prst="rect">
            <a:avLst/>
          </a:prstGeom>
          <a:solidFill>
            <a:srgbClr val="FFF5F5"/>
          </a:solidFill>
          <a:ln w="12700">
            <a:solidFill>
              <a:srgbClr val="F5C6C6"/>
            </a:solidFill>
            <a:prstDash val="solid"/>
          </a:ln>
        </p:spPr>
      </p:sp>
      <p:sp>
        <p:nvSpPr>
          <p:cNvPr id="36" name="Shape 34"/>
          <p:cNvSpPr/>
          <p:nvPr/>
        </p:nvSpPr>
        <p:spPr>
          <a:xfrm>
            <a:off x="9326880" y="7808976"/>
            <a:ext cx="438912" cy="438912"/>
          </a:xfrm>
          <a:prstGeom prst="ellipse">
            <a:avLst/>
          </a:prstGeom>
          <a:solidFill>
            <a:srgbClr val="C0392B"/>
          </a:solidFill>
          <a:ln w="12700">
            <a:solidFill>
              <a:srgbClr val="C0392B"/>
            </a:solidFill>
            <a:prstDash val="solid"/>
          </a:ln>
        </p:spPr>
      </p:sp>
      <p:sp>
        <p:nvSpPr>
          <p:cNvPr id="37" name="Text 35"/>
          <p:cNvSpPr/>
          <p:nvPr/>
        </p:nvSpPr>
        <p:spPr>
          <a:xfrm>
            <a:off x="9326880" y="7808976"/>
            <a:ext cx="438912" cy="438912"/>
          </a:xfrm>
          <a:prstGeom prst="rect">
            <a:avLst/>
          </a:prstGeom>
          <a:noFill/>
          <a:ln/>
        </p:spPr>
        <p:txBody>
          <a:bodyPr wrap="square" rtlCol="0" anchor="ctr"/>
          <a:lstStyle/>
          <a:p>
            <a:pPr algn="ctr"/>
            <a:r>
              <a:rPr lang="en-US" sz="1600" dirty="0">
                <a:solidFill>
                  <a:srgbClr val="FFFFFF"/>
                </a:solidFill>
              </a:rPr>
              <a:t>✕</a:t>
            </a:r>
            <a:endParaRPr lang="en-US" sz="1600" dirty="0"/>
          </a:p>
        </p:txBody>
      </p:sp>
      <p:sp>
        <p:nvSpPr>
          <p:cNvPr id="38" name="Text 36"/>
          <p:cNvSpPr/>
          <p:nvPr/>
        </p:nvSpPr>
        <p:spPr>
          <a:xfrm>
            <a:off x="9875520" y="7717536"/>
            <a:ext cx="7680960" cy="621792"/>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Only client-side controls — no server-side validation</a:t>
            </a:r>
            <a:endParaRPr lang="en-US" sz="1900" dirty="0"/>
          </a:p>
        </p:txBody>
      </p:sp>
      <p:sp>
        <p:nvSpPr>
          <p:cNvPr id="39" name="Shape 37"/>
          <p:cNvSpPr/>
          <p:nvPr/>
        </p:nvSpPr>
        <p:spPr>
          <a:xfrm>
            <a:off x="9235440" y="8503920"/>
            <a:ext cx="8321040" cy="694944"/>
          </a:xfrm>
          <a:prstGeom prst="rect">
            <a:avLst/>
          </a:prstGeom>
          <a:solidFill>
            <a:srgbClr val="FFF5F5"/>
          </a:solidFill>
          <a:ln w="12700">
            <a:solidFill>
              <a:srgbClr val="F5C6C6"/>
            </a:solidFill>
            <a:prstDash val="solid"/>
          </a:ln>
        </p:spPr>
      </p:sp>
      <p:sp>
        <p:nvSpPr>
          <p:cNvPr id="40" name="Shape 38"/>
          <p:cNvSpPr/>
          <p:nvPr/>
        </p:nvSpPr>
        <p:spPr>
          <a:xfrm>
            <a:off x="9326880" y="8631936"/>
            <a:ext cx="438912" cy="438912"/>
          </a:xfrm>
          <a:prstGeom prst="ellipse">
            <a:avLst/>
          </a:prstGeom>
          <a:solidFill>
            <a:srgbClr val="C0392B"/>
          </a:solidFill>
          <a:ln w="12700">
            <a:solidFill>
              <a:srgbClr val="C0392B"/>
            </a:solidFill>
            <a:prstDash val="solid"/>
          </a:ln>
        </p:spPr>
      </p:sp>
      <p:sp>
        <p:nvSpPr>
          <p:cNvPr id="41" name="Text 39"/>
          <p:cNvSpPr/>
          <p:nvPr/>
        </p:nvSpPr>
        <p:spPr>
          <a:xfrm>
            <a:off x="9326880" y="8631936"/>
            <a:ext cx="438912" cy="438912"/>
          </a:xfrm>
          <a:prstGeom prst="rect">
            <a:avLst/>
          </a:prstGeom>
          <a:noFill/>
          <a:ln/>
        </p:spPr>
        <p:txBody>
          <a:bodyPr wrap="square" rtlCol="0" anchor="ctr"/>
          <a:lstStyle/>
          <a:p>
            <a:pPr algn="ctr"/>
            <a:r>
              <a:rPr lang="en-US" sz="1600" dirty="0">
                <a:solidFill>
                  <a:srgbClr val="FFFFFF"/>
                </a:solidFill>
              </a:rPr>
              <a:t>✕</a:t>
            </a:r>
            <a:endParaRPr lang="en-US" sz="1600" dirty="0"/>
          </a:p>
        </p:txBody>
      </p:sp>
      <p:sp>
        <p:nvSpPr>
          <p:cNvPr id="42" name="Text 40"/>
          <p:cNvSpPr/>
          <p:nvPr/>
        </p:nvSpPr>
        <p:spPr>
          <a:xfrm>
            <a:off x="9875520" y="8540496"/>
            <a:ext cx="7680960" cy="621792"/>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Misconfigured access policies in APIs or cloud storage</a:t>
            </a:r>
            <a:endParaRPr lang="en-US" sz="1900" dirty="0"/>
          </a:p>
        </p:txBody>
      </p:sp>
      <p:sp>
        <p:nvSpPr>
          <p:cNvPr id="43" name="Shape 41"/>
          <p:cNvSpPr/>
          <p:nvPr/>
        </p:nvSpPr>
        <p:spPr>
          <a:xfrm>
            <a:off x="0" y="9875520"/>
            <a:ext cx="18288000" cy="411480"/>
          </a:xfrm>
          <a:prstGeom prst="rect">
            <a:avLst/>
          </a:prstGeom>
          <a:solidFill>
            <a:srgbClr val="004D5B"/>
          </a:solidFill>
          <a:ln w="12700">
            <a:solidFill>
              <a:srgbClr val="004D5B"/>
            </a:solidFill>
            <a:prstDash val="solid"/>
          </a:ln>
        </p:spPr>
      </p:sp>
      <p:sp>
        <p:nvSpPr>
          <p:cNvPr id="44" name="Text 42"/>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47" name="Picture 46">
            <a:extLst>
              <a:ext uri="{FF2B5EF4-FFF2-40B4-BE49-F238E27FC236}">
                <a16:creationId xmlns:a16="http://schemas.microsoft.com/office/drawing/2014/main" id="{4AA778FF-E700-E2B9-1A11-4313923F27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6776" y="-36576"/>
            <a:ext cx="4435024" cy="16276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828800"/>
          </a:xfrm>
          <a:prstGeom prst="rect">
            <a:avLst/>
          </a:prstGeom>
          <a:solidFill>
            <a:srgbClr val="004D5B"/>
          </a:solidFill>
          <a:ln w="12700">
            <a:solidFill>
              <a:srgbClr val="004D5B"/>
            </a:solidFill>
            <a:prstDash val="solid"/>
          </a:ln>
        </p:spPr>
      </p:sp>
      <p:sp>
        <p:nvSpPr>
          <p:cNvPr id="3" name="Text 1"/>
          <p:cNvSpPr/>
          <p:nvPr/>
        </p:nvSpPr>
        <p:spPr>
          <a:xfrm>
            <a:off x="548640" y="91440"/>
            <a:ext cx="15544800" cy="1097280"/>
          </a:xfrm>
          <a:prstGeom prst="rect">
            <a:avLst/>
          </a:prstGeom>
          <a:noFill/>
          <a:ln/>
        </p:spPr>
        <p:txBody>
          <a:bodyPr wrap="square" rtlCol="0" anchor="ctr"/>
          <a:lstStyle/>
          <a:p>
            <a:r>
              <a:rPr lang="en-US" sz="4800" b="1" dirty="0">
                <a:solidFill>
                  <a:srgbClr val="FFFFFF"/>
                </a:solidFill>
                <a:latin typeface="Arial Black" pitchFamily="34" charset="0"/>
                <a:ea typeface="Arial Black" pitchFamily="34" charset="-122"/>
                <a:cs typeface="Arial Black" pitchFamily="34" charset="-120"/>
              </a:rPr>
              <a:t>A01: Broken Access Control: Prevention</a:t>
            </a:r>
            <a:endParaRPr lang="en-US" sz="4800" dirty="0"/>
          </a:p>
        </p:txBody>
      </p:sp>
      <p:sp>
        <p:nvSpPr>
          <p:cNvPr id="4" name="Text 2"/>
          <p:cNvSpPr/>
          <p:nvPr/>
        </p:nvSpPr>
        <p:spPr>
          <a:xfrm>
            <a:off x="548640" y="1133856"/>
            <a:ext cx="15544800" cy="585216"/>
          </a:xfrm>
          <a:prstGeom prst="rect">
            <a:avLst/>
          </a:prstGeom>
          <a:noFill/>
          <a:ln/>
        </p:spPr>
        <p:txBody>
          <a:bodyPr wrap="square" rtlCol="0" anchor="ctr"/>
          <a:lstStyle/>
          <a:p>
            <a:r>
              <a:rPr lang="en-US" sz="3000" dirty="0">
                <a:solidFill>
                  <a:srgbClr val="00B4C8"/>
                </a:solidFill>
                <a:latin typeface="Calibri" pitchFamily="34" charset="0"/>
                <a:ea typeface="Calibri" pitchFamily="34" charset="-122"/>
                <a:cs typeface="Calibri" pitchFamily="34" charset="-120"/>
              </a:rPr>
              <a:t>Best Practices to Secure Your Application</a:t>
            </a:r>
            <a:endParaRPr lang="en-US" sz="3000" dirty="0"/>
          </a:p>
        </p:txBody>
      </p:sp>
      <p:sp>
        <p:nvSpPr>
          <p:cNvPr id="5" name="Shape 3"/>
          <p:cNvSpPr/>
          <p:nvPr/>
        </p:nvSpPr>
        <p:spPr>
          <a:xfrm>
            <a:off x="0" y="1828800"/>
            <a:ext cx="18288000" cy="73152"/>
          </a:xfrm>
          <a:prstGeom prst="rect">
            <a:avLst/>
          </a:prstGeom>
          <a:solidFill>
            <a:srgbClr val="00B4C8"/>
          </a:solidFill>
          <a:ln w="12700">
            <a:solidFill>
              <a:srgbClr val="00B4C8"/>
            </a:solidFill>
            <a:prstDash val="solid"/>
          </a:ln>
        </p:spPr>
      </p:sp>
      <p:sp>
        <p:nvSpPr>
          <p:cNvPr id="6" name="Shape 4"/>
          <p:cNvSpPr/>
          <p:nvPr/>
        </p:nvSpPr>
        <p:spPr>
          <a:xfrm>
            <a:off x="365760" y="2157984"/>
            <a:ext cx="3255264" cy="722376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7" name="Shape 5"/>
          <p:cNvSpPr/>
          <p:nvPr/>
        </p:nvSpPr>
        <p:spPr>
          <a:xfrm>
            <a:off x="365760" y="2157984"/>
            <a:ext cx="3255264" cy="109728"/>
          </a:xfrm>
          <a:prstGeom prst="rect">
            <a:avLst/>
          </a:prstGeom>
          <a:solidFill>
            <a:srgbClr val="004D5B"/>
          </a:solidFill>
          <a:ln w="12700">
            <a:solidFill>
              <a:srgbClr val="004D5B"/>
            </a:solidFill>
            <a:prstDash val="solid"/>
          </a:ln>
        </p:spPr>
      </p:sp>
      <p:sp>
        <p:nvSpPr>
          <p:cNvPr id="8" name="Shape 6"/>
          <p:cNvSpPr/>
          <p:nvPr/>
        </p:nvSpPr>
        <p:spPr>
          <a:xfrm>
            <a:off x="1536192" y="2377440"/>
            <a:ext cx="914400" cy="914400"/>
          </a:xfrm>
          <a:prstGeom prst="ellipse">
            <a:avLst/>
          </a:prstGeom>
          <a:solidFill>
            <a:srgbClr val="004D5B"/>
          </a:solidFill>
          <a:ln w="12700">
            <a:solidFill>
              <a:srgbClr val="004D5B"/>
            </a:solidFill>
            <a:prstDash val="solid"/>
          </a:ln>
        </p:spPr>
      </p:sp>
      <p:sp>
        <p:nvSpPr>
          <p:cNvPr id="9" name="Text 7"/>
          <p:cNvSpPr/>
          <p:nvPr/>
        </p:nvSpPr>
        <p:spPr>
          <a:xfrm>
            <a:off x="1536192" y="2377440"/>
            <a:ext cx="914400" cy="914400"/>
          </a:xfrm>
          <a:prstGeom prst="rect">
            <a:avLst/>
          </a:prstGeom>
          <a:noFill/>
          <a:ln/>
        </p:spPr>
        <p:txBody>
          <a:bodyPr wrap="square" rtlCol="0" anchor="ctr"/>
          <a:lstStyle/>
          <a:p>
            <a:pPr algn="ctr"/>
            <a:r>
              <a:rPr lang="en-US" sz="3200" dirty="0">
                <a:solidFill>
                  <a:srgbClr val="FFFFFF"/>
                </a:solidFill>
                <a:latin typeface="Arial Black" pitchFamily="34" charset="0"/>
                <a:ea typeface="Arial Black" pitchFamily="34" charset="-122"/>
                <a:cs typeface="Arial Black" pitchFamily="34" charset="-120"/>
              </a:rPr>
              <a:t>1</a:t>
            </a:r>
            <a:endParaRPr lang="en-US" sz="3200" dirty="0"/>
          </a:p>
        </p:txBody>
      </p:sp>
      <p:sp>
        <p:nvSpPr>
          <p:cNvPr id="10" name="Text 8"/>
          <p:cNvSpPr/>
          <p:nvPr/>
        </p:nvSpPr>
        <p:spPr>
          <a:xfrm>
            <a:off x="914400" y="3401568"/>
            <a:ext cx="2157984" cy="822960"/>
          </a:xfrm>
          <a:prstGeom prst="rect">
            <a:avLst/>
          </a:prstGeom>
          <a:noFill/>
          <a:ln/>
        </p:spPr>
        <p:txBody>
          <a:bodyPr wrap="square" rtlCol="0" anchor="ctr"/>
          <a:lstStyle/>
          <a:p>
            <a:pPr algn="ctr"/>
            <a:r>
              <a:rPr lang="en-US" sz="4400" dirty="0">
                <a:solidFill>
                  <a:srgbClr val="000000"/>
                </a:solidFill>
              </a:rPr>
              <a:t>👥</a:t>
            </a:r>
            <a:endParaRPr lang="en-US" sz="4400" dirty="0"/>
          </a:p>
        </p:txBody>
      </p:sp>
      <p:sp>
        <p:nvSpPr>
          <p:cNvPr id="11" name="Text 9"/>
          <p:cNvSpPr/>
          <p:nvPr/>
        </p:nvSpPr>
        <p:spPr>
          <a:xfrm>
            <a:off x="475488" y="4279392"/>
            <a:ext cx="3017520" cy="1060704"/>
          </a:xfrm>
          <a:prstGeom prst="rect">
            <a:avLst/>
          </a:prstGeom>
          <a:noFill/>
          <a:ln/>
        </p:spPr>
        <p:txBody>
          <a:bodyPr wrap="square" rtlCol="0" anchor="ctr"/>
          <a:lstStyle/>
          <a:p>
            <a:pPr algn="ctr"/>
            <a:r>
              <a:rPr lang="en-US" sz="1900" b="1" dirty="0">
                <a:solidFill>
                  <a:srgbClr val="004D5B"/>
                </a:solidFill>
                <a:latin typeface="Arial" pitchFamily="34" charset="0"/>
                <a:ea typeface="Arial" pitchFamily="34" charset="-122"/>
                <a:cs typeface="Arial" pitchFamily="34" charset="-120"/>
              </a:rPr>
              <a:t>Implement RBAC / ABAC</a:t>
            </a:r>
            <a:endParaRPr lang="en-US" sz="1900" dirty="0"/>
          </a:p>
        </p:txBody>
      </p:sp>
      <p:sp>
        <p:nvSpPr>
          <p:cNvPr id="12" name="Text 10"/>
          <p:cNvSpPr/>
          <p:nvPr/>
        </p:nvSpPr>
        <p:spPr>
          <a:xfrm>
            <a:off x="475488" y="5376672"/>
            <a:ext cx="3017520" cy="3767328"/>
          </a:xfrm>
          <a:prstGeom prst="rect">
            <a:avLst/>
          </a:prstGeom>
          <a:noFill/>
          <a:ln/>
        </p:spPr>
        <p:txBody>
          <a:bodyPr wrap="square" rtlCol="0" anchor="t"/>
          <a:lstStyle/>
          <a:p>
            <a:r>
              <a:rPr lang="en-US" sz="1700" dirty="0">
                <a:solidFill>
                  <a:srgbClr val="2C3E50"/>
                </a:solidFill>
                <a:latin typeface="Calibri" pitchFamily="34" charset="0"/>
                <a:ea typeface="Calibri" pitchFamily="34" charset="-122"/>
                <a:cs typeface="Calibri" pitchFamily="34" charset="-120"/>
              </a:rPr>
              <a:t>Role-Based (RBAC) or Attribute-Based Access Control (ABAC). Define clear roles: User → Manager → Admin. Grant only what each role needs.</a:t>
            </a:r>
            <a:endParaRPr lang="en-US" sz="1700" dirty="0"/>
          </a:p>
        </p:txBody>
      </p:sp>
      <p:sp>
        <p:nvSpPr>
          <p:cNvPr id="13" name="Shape 11"/>
          <p:cNvSpPr/>
          <p:nvPr/>
        </p:nvSpPr>
        <p:spPr>
          <a:xfrm>
            <a:off x="3931920" y="2157984"/>
            <a:ext cx="3255264" cy="722376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14" name="Shape 12"/>
          <p:cNvSpPr/>
          <p:nvPr/>
        </p:nvSpPr>
        <p:spPr>
          <a:xfrm>
            <a:off x="3931920" y="2157984"/>
            <a:ext cx="3255264" cy="109728"/>
          </a:xfrm>
          <a:prstGeom prst="rect">
            <a:avLst/>
          </a:prstGeom>
          <a:solidFill>
            <a:srgbClr val="C0392B"/>
          </a:solidFill>
          <a:ln w="12700">
            <a:solidFill>
              <a:srgbClr val="C0392B"/>
            </a:solidFill>
            <a:prstDash val="solid"/>
          </a:ln>
        </p:spPr>
      </p:sp>
      <p:sp>
        <p:nvSpPr>
          <p:cNvPr id="15" name="Shape 13"/>
          <p:cNvSpPr/>
          <p:nvPr/>
        </p:nvSpPr>
        <p:spPr>
          <a:xfrm>
            <a:off x="5102352" y="2377440"/>
            <a:ext cx="914400" cy="914400"/>
          </a:xfrm>
          <a:prstGeom prst="ellipse">
            <a:avLst/>
          </a:prstGeom>
          <a:solidFill>
            <a:srgbClr val="C0392B"/>
          </a:solidFill>
          <a:ln w="12700">
            <a:solidFill>
              <a:srgbClr val="C0392B"/>
            </a:solidFill>
            <a:prstDash val="solid"/>
          </a:ln>
        </p:spPr>
      </p:sp>
      <p:sp>
        <p:nvSpPr>
          <p:cNvPr id="16" name="Text 14"/>
          <p:cNvSpPr/>
          <p:nvPr/>
        </p:nvSpPr>
        <p:spPr>
          <a:xfrm>
            <a:off x="5102352" y="2377440"/>
            <a:ext cx="914400" cy="914400"/>
          </a:xfrm>
          <a:prstGeom prst="rect">
            <a:avLst/>
          </a:prstGeom>
          <a:noFill/>
          <a:ln/>
        </p:spPr>
        <p:txBody>
          <a:bodyPr wrap="square" rtlCol="0" anchor="ctr"/>
          <a:lstStyle/>
          <a:p>
            <a:pPr algn="ctr"/>
            <a:r>
              <a:rPr lang="en-US" sz="3200" dirty="0">
                <a:solidFill>
                  <a:srgbClr val="FFFFFF"/>
                </a:solidFill>
                <a:latin typeface="Arial Black" pitchFamily="34" charset="0"/>
                <a:ea typeface="Arial Black" pitchFamily="34" charset="-122"/>
                <a:cs typeface="Arial Black" pitchFamily="34" charset="-120"/>
              </a:rPr>
              <a:t>2</a:t>
            </a:r>
            <a:endParaRPr lang="en-US" sz="3200" dirty="0"/>
          </a:p>
        </p:txBody>
      </p:sp>
      <p:sp>
        <p:nvSpPr>
          <p:cNvPr id="17" name="Text 15"/>
          <p:cNvSpPr/>
          <p:nvPr/>
        </p:nvSpPr>
        <p:spPr>
          <a:xfrm>
            <a:off x="4480560" y="3401568"/>
            <a:ext cx="2157984" cy="822960"/>
          </a:xfrm>
          <a:prstGeom prst="rect">
            <a:avLst/>
          </a:prstGeom>
          <a:noFill/>
          <a:ln/>
        </p:spPr>
        <p:txBody>
          <a:bodyPr wrap="square" rtlCol="0" anchor="ctr"/>
          <a:lstStyle/>
          <a:p>
            <a:pPr algn="ctr"/>
            <a:r>
              <a:rPr lang="en-US" sz="4400" dirty="0">
                <a:solidFill>
                  <a:srgbClr val="000000"/>
                </a:solidFill>
              </a:rPr>
              <a:t>🛡️</a:t>
            </a:r>
            <a:endParaRPr lang="en-US" sz="4400" dirty="0"/>
          </a:p>
        </p:txBody>
      </p:sp>
      <p:sp>
        <p:nvSpPr>
          <p:cNvPr id="18" name="Text 16"/>
          <p:cNvSpPr/>
          <p:nvPr/>
        </p:nvSpPr>
        <p:spPr>
          <a:xfrm>
            <a:off x="4041648" y="4279392"/>
            <a:ext cx="3017520" cy="1060704"/>
          </a:xfrm>
          <a:prstGeom prst="rect">
            <a:avLst/>
          </a:prstGeom>
          <a:noFill/>
          <a:ln/>
        </p:spPr>
        <p:txBody>
          <a:bodyPr wrap="square" rtlCol="0" anchor="ctr"/>
          <a:lstStyle/>
          <a:p>
            <a:pPr algn="ctr"/>
            <a:r>
              <a:rPr lang="en-US" sz="1900" b="1" dirty="0">
                <a:solidFill>
                  <a:srgbClr val="C0392B"/>
                </a:solidFill>
                <a:latin typeface="Arial" pitchFamily="34" charset="0"/>
                <a:ea typeface="Arial" pitchFamily="34" charset="-122"/>
                <a:cs typeface="Arial" pitchFamily="34" charset="-120"/>
              </a:rPr>
              <a:t>Server-Side Authorization</a:t>
            </a:r>
            <a:endParaRPr lang="en-US" sz="1900" dirty="0"/>
          </a:p>
        </p:txBody>
      </p:sp>
      <p:sp>
        <p:nvSpPr>
          <p:cNvPr id="19" name="Text 17"/>
          <p:cNvSpPr/>
          <p:nvPr/>
        </p:nvSpPr>
        <p:spPr>
          <a:xfrm>
            <a:off x="4041648" y="5376672"/>
            <a:ext cx="3017520" cy="3767328"/>
          </a:xfrm>
          <a:prstGeom prst="rect">
            <a:avLst/>
          </a:prstGeom>
          <a:noFill/>
          <a:ln/>
        </p:spPr>
        <p:txBody>
          <a:bodyPr wrap="square" rtlCol="0" anchor="t"/>
          <a:lstStyle/>
          <a:p>
            <a:r>
              <a:rPr lang="en-US" sz="1700" dirty="0">
                <a:solidFill>
                  <a:srgbClr val="2C3E50"/>
                </a:solidFill>
                <a:latin typeface="Calibri" pitchFamily="34" charset="0"/>
                <a:ea typeface="Calibri" pitchFamily="34" charset="-122"/>
                <a:cs typeface="Calibri" pitchFamily="34" charset="-120"/>
              </a:rPr>
              <a:t>Enforce checks on EVERY server request. NEVER rely on client-side validation alone. Validate ownership of every resource.</a:t>
            </a:r>
            <a:endParaRPr lang="en-US" sz="1700" dirty="0"/>
          </a:p>
        </p:txBody>
      </p:sp>
      <p:sp>
        <p:nvSpPr>
          <p:cNvPr id="20" name="Shape 18"/>
          <p:cNvSpPr/>
          <p:nvPr/>
        </p:nvSpPr>
        <p:spPr>
          <a:xfrm>
            <a:off x="7498080" y="2157984"/>
            <a:ext cx="3255264" cy="722376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1" name="Shape 19"/>
          <p:cNvSpPr/>
          <p:nvPr/>
        </p:nvSpPr>
        <p:spPr>
          <a:xfrm>
            <a:off x="7498080" y="2157984"/>
            <a:ext cx="3255264" cy="109728"/>
          </a:xfrm>
          <a:prstGeom prst="rect">
            <a:avLst/>
          </a:prstGeom>
          <a:solidFill>
            <a:srgbClr val="005F73"/>
          </a:solidFill>
          <a:ln w="12700">
            <a:solidFill>
              <a:srgbClr val="005F73"/>
            </a:solidFill>
            <a:prstDash val="solid"/>
          </a:ln>
        </p:spPr>
      </p:sp>
      <p:sp>
        <p:nvSpPr>
          <p:cNvPr id="22" name="Shape 20"/>
          <p:cNvSpPr/>
          <p:nvPr/>
        </p:nvSpPr>
        <p:spPr>
          <a:xfrm>
            <a:off x="8668512" y="2377440"/>
            <a:ext cx="914400" cy="914400"/>
          </a:xfrm>
          <a:prstGeom prst="ellipse">
            <a:avLst/>
          </a:prstGeom>
          <a:solidFill>
            <a:srgbClr val="005F73"/>
          </a:solidFill>
          <a:ln w="12700">
            <a:solidFill>
              <a:srgbClr val="005F73"/>
            </a:solidFill>
            <a:prstDash val="solid"/>
          </a:ln>
        </p:spPr>
      </p:sp>
      <p:sp>
        <p:nvSpPr>
          <p:cNvPr id="23" name="Text 21"/>
          <p:cNvSpPr/>
          <p:nvPr/>
        </p:nvSpPr>
        <p:spPr>
          <a:xfrm>
            <a:off x="8668512" y="2377440"/>
            <a:ext cx="914400" cy="914400"/>
          </a:xfrm>
          <a:prstGeom prst="rect">
            <a:avLst/>
          </a:prstGeom>
          <a:noFill/>
          <a:ln/>
        </p:spPr>
        <p:txBody>
          <a:bodyPr wrap="square" rtlCol="0" anchor="ctr"/>
          <a:lstStyle/>
          <a:p>
            <a:pPr algn="ctr"/>
            <a:r>
              <a:rPr lang="en-US" sz="3200" dirty="0">
                <a:solidFill>
                  <a:srgbClr val="FFFFFF"/>
                </a:solidFill>
                <a:latin typeface="Arial Black" pitchFamily="34" charset="0"/>
                <a:ea typeface="Arial Black" pitchFamily="34" charset="-122"/>
                <a:cs typeface="Arial Black" pitchFamily="34" charset="-120"/>
              </a:rPr>
              <a:t>3</a:t>
            </a:r>
            <a:endParaRPr lang="en-US" sz="3200" dirty="0"/>
          </a:p>
        </p:txBody>
      </p:sp>
      <p:sp>
        <p:nvSpPr>
          <p:cNvPr id="24" name="Text 22"/>
          <p:cNvSpPr/>
          <p:nvPr/>
        </p:nvSpPr>
        <p:spPr>
          <a:xfrm>
            <a:off x="8046720" y="3401568"/>
            <a:ext cx="2157984" cy="822960"/>
          </a:xfrm>
          <a:prstGeom prst="rect">
            <a:avLst/>
          </a:prstGeom>
          <a:noFill/>
          <a:ln/>
        </p:spPr>
        <p:txBody>
          <a:bodyPr wrap="square" rtlCol="0" anchor="ctr"/>
          <a:lstStyle/>
          <a:p>
            <a:pPr algn="ctr"/>
            <a:r>
              <a:rPr lang="en-US" sz="4400" dirty="0">
                <a:solidFill>
                  <a:srgbClr val="000000"/>
                </a:solidFill>
              </a:rPr>
              <a:t>🔒</a:t>
            </a:r>
            <a:endParaRPr lang="en-US" sz="4400" dirty="0"/>
          </a:p>
        </p:txBody>
      </p:sp>
      <p:sp>
        <p:nvSpPr>
          <p:cNvPr id="25" name="Text 23"/>
          <p:cNvSpPr/>
          <p:nvPr/>
        </p:nvSpPr>
        <p:spPr>
          <a:xfrm>
            <a:off x="7607808" y="4279392"/>
            <a:ext cx="3017520" cy="1060704"/>
          </a:xfrm>
          <a:prstGeom prst="rect">
            <a:avLst/>
          </a:prstGeom>
          <a:noFill/>
          <a:ln/>
        </p:spPr>
        <p:txBody>
          <a:bodyPr wrap="square" rtlCol="0" anchor="ctr"/>
          <a:lstStyle/>
          <a:p>
            <a:pPr algn="ctr"/>
            <a:r>
              <a:rPr lang="en-US" sz="1900" b="1" dirty="0">
                <a:solidFill>
                  <a:srgbClr val="005F73"/>
                </a:solidFill>
                <a:latin typeface="Arial" pitchFamily="34" charset="0"/>
                <a:ea typeface="Arial" pitchFamily="34" charset="-122"/>
                <a:cs typeface="Arial" pitchFamily="34" charset="-120"/>
              </a:rPr>
              <a:t>Principle of Least Privilege</a:t>
            </a:r>
            <a:endParaRPr lang="en-US" sz="1900" dirty="0"/>
          </a:p>
        </p:txBody>
      </p:sp>
      <p:sp>
        <p:nvSpPr>
          <p:cNvPr id="26" name="Text 24"/>
          <p:cNvSpPr/>
          <p:nvPr/>
        </p:nvSpPr>
        <p:spPr>
          <a:xfrm>
            <a:off x="7607808" y="5376672"/>
            <a:ext cx="3017520" cy="3767328"/>
          </a:xfrm>
          <a:prstGeom prst="rect">
            <a:avLst/>
          </a:prstGeom>
          <a:noFill/>
          <a:ln/>
        </p:spPr>
        <p:txBody>
          <a:bodyPr wrap="square" rtlCol="0" anchor="t"/>
          <a:lstStyle/>
          <a:p>
            <a:r>
              <a:rPr lang="en-US" sz="1700" dirty="0">
                <a:solidFill>
                  <a:srgbClr val="2C3E50"/>
                </a:solidFill>
                <a:latin typeface="Calibri" pitchFamily="34" charset="0"/>
                <a:ea typeface="Calibri" pitchFamily="34" charset="-122"/>
                <a:cs typeface="Calibri" pitchFamily="34" charset="-120"/>
              </a:rPr>
              <a:t>Grant users ONLY the minimum permissions needed for their role. Deny access by default — allow only explicitly approved resources.</a:t>
            </a:r>
            <a:endParaRPr lang="en-US" sz="1700" dirty="0"/>
          </a:p>
        </p:txBody>
      </p:sp>
      <p:sp>
        <p:nvSpPr>
          <p:cNvPr id="27" name="Shape 25"/>
          <p:cNvSpPr/>
          <p:nvPr/>
        </p:nvSpPr>
        <p:spPr>
          <a:xfrm>
            <a:off x="11064240" y="2157984"/>
            <a:ext cx="3255264" cy="722376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8" name="Shape 26"/>
          <p:cNvSpPr/>
          <p:nvPr/>
        </p:nvSpPr>
        <p:spPr>
          <a:xfrm>
            <a:off x="11064240" y="2157984"/>
            <a:ext cx="3255264" cy="109728"/>
          </a:xfrm>
          <a:prstGeom prst="rect">
            <a:avLst/>
          </a:prstGeom>
          <a:solidFill>
            <a:srgbClr val="E67E22"/>
          </a:solidFill>
          <a:ln w="12700">
            <a:solidFill>
              <a:srgbClr val="E67E22"/>
            </a:solidFill>
            <a:prstDash val="solid"/>
          </a:ln>
        </p:spPr>
      </p:sp>
      <p:sp>
        <p:nvSpPr>
          <p:cNvPr id="29" name="Shape 27"/>
          <p:cNvSpPr/>
          <p:nvPr/>
        </p:nvSpPr>
        <p:spPr>
          <a:xfrm>
            <a:off x="12234672" y="2377440"/>
            <a:ext cx="914400" cy="914400"/>
          </a:xfrm>
          <a:prstGeom prst="ellipse">
            <a:avLst/>
          </a:prstGeom>
          <a:solidFill>
            <a:srgbClr val="E67E22"/>
          </a:solidFill>
          <a:ln w="12700">
            <a:solidFill>
              <a:srgbClr val="E67E22"/>
            </a:solidFill>
            <a:prstDash val="solid"/>
          </a:ln>
        </p:spPr>
      </p:sp>
      <p:sp>
        <p:nvSpPr>
          <p:cNvPr id="30" name="Text 28"/>
          <p:cNvSpPr/>
          <p:nvPr/>
        </p:nvSpPr>
        <p:spPr>
          <a:xfrm>
            <a:off x="12234672" y="2377440"/>
            <a:ext cx="914400" cy="914400"/>
          </a:xfrm>
          <a:prstGeom prst="rect">
            <a:avLst/>
          </a:prstGeom>
          <a:noFill/>
          <a:ln/>
        </p:spPr>
        <p:txBody>
          <a:bodyPr wrap="square" rtlCol="0" anchor="ctr"/>
          <a:lstStyle/>
          <a:p>
            <a:pPr algn="ctr"/>
            <a:r>
              <a:rPr lang="en-US" sz="3200" dirty="0">
                <a:solidFill>
                  <a:srgbClr val="FFFFFF"/>
                </a:solidFill>
                <a:latin typeface="Arial Black" pitchFamily="34" charset="0"/>
                <a:ea typeface="Arial Black" pitchFamily="34" charset="-122"/>
                <a:cs typeface="Arial Black" pitchFamily="34" charset="-120"/>
              </a:rPr>
              <a:t>4</a:t>
            </a:r>
            <a:endParaRPr lang="en-US" sz="3200" dirty="0"/>
          </a:p>
        </p:txBody>
      </p:sp>
      <p:sp>
        <p:nvSpPr>
          <p:cNvPr id="31" name="Text 29"/>
          <p:cNvSpPr/>
          <p:nvPr/>
        </p:nvSpPr>
        <p:spPr>
          <a:xfrm>
            <a:off x="11612880" y="3401568"/>
            <a:ext cx="2157984" cy="822960"/>
          </a:xfrm>
          <a:prstGeom prst="rect">
            <a:avLst/>
          </a:prstGeom>
          <a:noFill/>
          <a:ln/>
        </p:spPr>
        <p:txBody>
          <a:bodyPr wrap="square" rtlCol="0" anchor="ctr"/>
          <a:lstStyle/>
          <a:p>
            <a:pPr algn="ctr"/>
            <a:r>
              <a:rPr lang="en-US" sz="4400" dirty="0">
                <a:solidFill>
                  <a:srgbClr val="000000"/>
                </a:solidFill>
              </a:rPr>
              <a:t>🎲</a:t>
            </a:r>
            <a:endParaRPr lang="en-US" sz="4400" dirty="0"/>
          </a:p>
        </p:txBody>
      </p:sp>
      <p:sp>
        <p:nvSpPr>
          <p:cNvPr id="32" name="Text 30"/>
          <p:cNvSpPr/>
          <p:nvPr/>
        </p:nvSpPr>
        <p:spPr>
          <a:xfrm>
            <a:off x="11173968" y="4279392"/>
            <a:ext cx="3017520" cy="1060704"/>
          </a:xfrm>
          <a:prstGeom prst="rect">
            <a:avLst/>
          </a:prstGeom>
          <a:noFill/>
          <a:ln/>
        </p:spPr>
        <p:txBody>
          <a:bodyPr wrap="square" rtlCol="0" anchor="ctr"/>
          <a:lstStyle/>
          <a:p>
            <a:pPr algn="ctr"/>
            <a:r>
              <a:rPr lang="en-US" sz="1900" b="1" dirty="0">
                <a:solidFill>
                  <a:srgbClr val="E67E22"/>
                </a:solidFill>
                <a:latin typeface="Arial" pitchFamily="34" charset="0"/>
                <a:ea typeface="Arial" pitchFamily="34" charset="-122"/>
                <a:cs typeface="Arial" pitchFamily="34" charset="-120"/>
              </a:rPr>
              <a:t>Avoid Predictable IDs</a:t>
            </a:r>
            <a:endParaRPr lang="en-US" sz="1900" dirty="0"/>
          </a:p>
        </p:txBody>
      </p:sp>
      <p:sp>
        <p:nvSpPr>
          <p:cNvPr id="33" name="Text 31"/>
          <p:cNvSpPr/>
          <p:nvPr/>
        </p:nvSpPr>
        <p:spPr>
          <a:xfrm>
            <a:off x="11173968" y="5376672"/>
            <a:ext cx="3017520" cy="3767328"/>
          </a:xfrm>
          <a:prstGeom prst="rect">
            <a:avLst/>
          </a:prstGeom>
          <a:noFill/>
          <a:ln/>
        </p:spPr>
        <p:txBody>
          <a:bodyPr wrap="square" rtlCol="0" anchor="t"/>
          <a:lstStyle/>
          <a:p>
            <a:r>
              <a:rPr lang="en-US" sz="1700" dirty="0">
                <a:solidFill>
                  <a:srgbClr val="2C3E50"/>
                </a:solidFill>
                <a:latin typeface="Calibri" pitchFamily="34" charset="0"/>
                <a:ea typeface="Calibri" pitchFamily="34" charset="-122"/>
                <a:cs typeface="Calibri" pitchFamily="34" charset="-120"/>
              </a:rPr>
              <a:t>Don't use sequential IDs for sensitive resources (e.g., user_id=1, 2, 3). Use UUIDs or unpredictable identifiers instead.</a:t>
            </a:r>
            <a:endParaRPr lang="en-US" sz="1700" dirty="0"/>
          </a:p>
        </p:txBody>
      </p:sp>
      <p:sp>
        <p:nvSpPr>
          <p:cNvPr id="34" name="Shape 32"/>
          <p:cNvSpPr/>
          <p:nvPr/>
        </p:nvSpPr>
        <p:spPr>
          <a:xfrm>
            <a:off x="14630400" y="2157984"/>
            <a:ext cx="3255264" cy="722376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35" name="Shape 33"/>
          <p:cNvSpPr/>
          <p:nvPr/>
        </p:nvSpPr>
        <p:spPr>
          <a:xfrm>
            <a:off x="14630400" y="2157984"/>
            <a:ext cx="3255264" cy="109728"/>
          </a:xfrm>
          <a:prstGeom prst="rect">
            <a:avLst/>
          </a:prstGeom>
          <a:solidFill>
            <a:srgbClr val="27AE60"/>
          </a:solidFill>
          <a:ln w="12700">
            <a:solidFill>
              <a:srgbClr val="27AE60"/>
            </a:solidFill>
            <a:prstDash val="solid"/>
          </a:ln>
        </p:spPr>
      </p:sp>
      <p:sp>
        <p:nvSpPr>
          <p:cNvPr id="36" name="Shape 34"/>
          <p:cNvSpPr/>
          <p:nvPr/>
        </p:nvSpPr>
        <p:spPr>
          <a:xfrm>
            <a:off x="15800832" y="2377440"/>
            <a:ext cx="914400" cy="914400"/>
          </a:xfrm>
          <a:prstGeom prst="ellipse">
            <a:avLst/>
          </a:prstGeom>
          <a:solidFill>
            <a:srgbClr val="27AE60"/>
          </a:solidFill>
          <a:ln w="12700">
            <a:solidFill>
              <a:srgbClr val="27AE60"/>
            </a:solidFill>
            <a:prstDash val="solid"/>
          </a:ln>
        </p:spPr>
      </p:sp>
      <p:sp>
        <p:nvSpPr>
          <p:cNvPr id="37" name="Text 35"/>
          <p:cNvSpPr/>
          <p:nvPr/>
        </p:nvSpPr>
        <p:spPr>
          <a:xfrm>
            <a:off x="15800832" y="2377440"/>
            <a:ext cx="914400" cy="914400"/>
          </a:xfrm>
          <a:prstGeom prst="rect">
            <a:avLst/>
          </a:prstGeom>
          <a:noFill/>
          <a:ln/>
        </p:spPr>
        <p:txBody>
          <a:bodyPr wrap="square" rtlCol="0" anchor="ctr"/>
          <a:lstStyle/>
          <a:p>
            <a:pPr algn="ctr"/>
            <a:r>
              <a:rPr lang="en-US" sz="3200" dirty="0">
                <a:solidFill>
                  <a:srgbClr val="FFFFFF"/>
                </a:solidFill>
                <a:latin typeface="Arial Black" pitchFamily="34" charset="0"/>
                <a:ea typeface="Arial Black" pitchFamily="34" charset="-122"/>
                <a:cs typeface="Arial Black" pitchFamily="34" charset="-120"/>
              </a:rPr>
              <a:t>5</a:t>
            </a:r>
            <a:endParaRPr lang="en-US" sz="3200" dirty="0"/>
          </a:p>
        </p:txBody>
      </p:sp>
      <p:sp>
        <p:nvSpPr>
          <p:cNvPr id="38" name="Text 36"/>
          <p:cNvSpPr/>
          <p:nvPr/>
        </p:nvSpPr>
        <p:spPr>
          <a:xfrm>
            <a:off x="15179040" y="3401568"/>
            <a:ext cx="2157984" cy="822960"/>
          </a:xfrm>
          <a:prstGeom prst="rect">
            <a:avLst/>
          </a:prstGeom>
          <a:noFill/>
          <a:ln/>
        </p:spPr>
        <p:txBody>
          <a:bodyPr wrap="square" rtlCol="0" anchor="ctr"/>
          <a:lstStyle/>
          <a:p>
            <a:pPr algn="ctr"/>
            <a:r>
              <a:rPr lang="en-US" sz="4400" dirty="0">
                <a:solidFill>
                  <a:srgbClr val="000000"/>
                </a:solidFill>
              </a:rPr>
              <a:t>📊</a:t>
            </a:r>
            <a:endParaRPr lang="en-US" sz="4400" dirty="0"/>
          </a:p>
        </p:txBody>
      </p:sp>
      <p:sp>
        <p:nvSpPr>
          <p:cNvPr id="39" name="Text 37"/>
          <p:cNvSpPr/>
          <p:nvPr/>
        </p:nvSpPr>
        <p:spPr>
          <a:xfrm>
            <a:off x="14740128" y="4279392"/>
            <a:ext cx="3017520" cy="1060704"/>
          </a:xfrm>
          <a:prstGeom prst="rect">
            <a:avLst/>
          </a:prstGeom>
          <a:noFill/>
          <a:ln/>
        </p:spPr>
        <p:txBody>
          <a:bodyPr wrap="square" rtlCol="0" anchor="ctr"/>
          <a:lstStyle/>
          <a:p>
            <a:pPr algn="ctr"/>
            <a:r>
              <a:rPr lang="en-US" sz="1900" b="1" dirty="0">
                <a:solidFill>
                  <a:srgbClr val="27AE60"/>
                </a:solidFill>
                <a:latin typeface="Arial" pitchFamily="34" charset="0"/>
                <a:ea typeface="Arial" pitchFamily="34" charset="-122"/>
                <a:cs typeface="Arial" pitchFamily="34" charset="-120"/>
              </a:rPr>
              <a:t>Logging &amp; Monitoring</a:t>
            </a:r>
            <a:endParaRPr lang="en-US" sz="1900" dirty="0"/>
          </a:p>
        </p:txBody>
      </p:sp>
      <p:sp>
        <p:nvSpPr>
          <p:cNvPr id="40" name="Text 38"/>
          <p:cNvSpPr/>
          <p:nvPr/>
        </p:nvSpPr>
        <p:spPr>
          <a:xfrm>
            <a:off x="14740128" y="5376672"/>
            <a:ext cx="3017520" cy="3767328"/>
          </a:xfrm>
          <a:prstGeom prst="rect">
            <a:avLst/>
          </a:prstGeom>
          <a:noFill/>
          <a:ln/>
        </p:spPr>
        <p:txBody>
          <a:bodyPr wrap="square" rtlCol="0" anchor="t"/>
          <a:lstStyle/>
          <a:p>
            <a:r>
              <a:rPr lang="en-US" sz="1700" dirty="0">
                <a:solidFill>
                  <a:srgbClr val="2C3E50"/>
                </a:solidFill>
                <a:latin typeface="Calibri" pitchFamily="34" charset="0"/>
                <a:ea typeface="Calibri" pitchFamily="34" charset="-122"/>
                <a:cs typeface="Calibri" pitchFamily="34" charset="-120"/>
              </a:rPr>
              <a:t>Log suspicious access patterns: multiple failed attempts, bulk record access (100+ records/min), mass deletion. Alert on anomalies.</a:t>
            </a:r>
            <a:endParaRPr lang="en-US" sz="1700" dirty="0"/>
          </a:p>
        </p:txBody>
      </p:sp>
      <p:sp>
        <p:nvSpPr>
          <p:cNvPr id="41" name="Shape 39"/>
          <p:cNvSpPr/>
          <p:nvPr/>
        </p:nvSpPr>
        <p:spPr>
          <a:xfrm>
            <a:off x="426720" y="8924544"/>
            <a:ext cx="17556480" cy="548640"/>
          </a:xfrm>
          <a:prstGeom prst="rect">
            <a:avLst/>
          </a:prstGeom>
          <a:solidFill>
            <a:srgbClr val="C0392B"/>
          </a:solidFill>
          <a:ln w="12700">
            <a:solidFill>
              <a:srgbClr val="C0392B"/>
            </a:solidFill>
            <a:prstDash val="solid"/>
          </a:ln>
        </p:spPr>
      </p:sp>
      <p:sp>
        <p:nvSpPr>
          <p:cNvPr id="42" name="Text 40"/>
          <p:cNvSpPr/>
          <p:nvPr/>
        </p:nvSpPr>
        <p:spPr>
          <a:xfrm>
            <a:off x="530352" y="9034272"/>
            <a:ext cx="17227296" cy="347472"/>
          </a:xfrm>
          <a:prstGeom prst="rect">
            <a:avLst/>
          </a:prstGeom>
          <a:noFill/>
          <a:ln/>
        </p:spPr>
        <p:txBody>
          <a:bodyPr wrap="square" rtlCol="0" anchor="ctr"/>
          <a:lstStyle/>
          <a:p>
            <a:r>
              <a:rPr lang="en-US" sz="2500" b="1" dirty="0">
                <a:solidFill>
                  <a:srgbClr val="FFFFFF"/>
                </a:solidFill>
                <a:latin typeface="Arial" pitchFamily="34" charset="0"/>
                <a:ea typeface="Arial" pitchFamily="34" charset="-122"/>
                <a:cs typeface="Arial" pitchFamily="34" charset="-120"/>
              </a:rPr>
              <a:t>🔑 KEY TAKEAWAY: Always validate on the server. Trust nothing from the client. Deny by default.</a:t>
            </a:r>
            <a:endParaRPr lang="en-US" sz="2500" dirty="0"/>
          </a:p>
        </p:txBody>
      </p:sp>
      <p:sp>
        <p:nvSpPr>
          <p:cNvPr id="43" name="Shape 41"/>
          <p:cNvSpPr/>
          <p:nvPr/>
        </p:nvSpPr>
        <p:spPr>
          <a:xfrm>
            <a:off x="0" y="9875520"/>
            <a:ext cx="18288000" cy="411480"/>
          </a:xfrm>
          <a:prstGeom prst="rect">
            <a:avLst/>
          </a:prstGeom>
          <a:solidFill>
            <a:srgbClr val="004D5B"/>
          </a:solidFill>
          <a:ln w="12700">
            <a:solidFill>
              <a:srgbClr val="004D5B"/>
            </a:solidFill>
            <a:prstDash val="solid"/>
          </a:ln>
        </p:spPr>
      </p:sp>
      <p:sp>
        <p:nvSpPr>
          <p:cNvPr id="44" name="Text 42"/>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46" name="Picture 45">
            <a:extLst>
              <a:ext uri="{FF2B5EF4-FFF2-40B4-BE49-F238E27FC236}">
                <a16:creationId xmlns:a16="http://schemas.microsoft.com/office/drawing/2014/main" id="{3052CB26-AB10-2E86-0C20-89744D7064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91488" y="-36576"/>
            <a:ext cx="4020312" cy="16276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737360"/>
          </a:xfrm>
          <a:prstGeom prst="rect">
            <a:avLst/>
          </a:prstGeom>
          <a:solidFill>
            <a:srgbClr val="004D5B"/>
          </a:solidFill>
          <a:ln w="12700">
            <a:solidFill>
              <a:srgbClr val="004D5B"/>
            </a:solidFill>
            <a:prstDash val="solid"/>
          </a:ln>
        </p:spPr>
      </p:sp>
      <p:sp>
        <p:nvSpPr>
          <p:cNvPr id="3" name="Text 1"/>
          <p:cNvSpPr/>
          <p:nvPr/>
        </p:nvSpPr>
        <p:spPr>
          <a:xfrm>
            <a:off x="548640" y="91440"/>
            <a:ext cx="17007840" cy="1005840"/>
          </a:xfrm>
          <a:prstGeom prst="rect">
            <a:avLst/>
          </a:prstGeom>
          <a:noFill/>
          <a:ln/>
        </p:spPr>
        <p:txBody>
          <a:bodyPr wrap="square" rtlCol="0" anchor="ctr"/>
          <a:lstStyle/>
          <a:p>
            <a:r>
              <a:rPr lang="en-US" sz="4400" b="1" dirty="0">
                <a:solidFill>
                  <a:srgbClr val="FFFFFF"/>
                </a:solidFill>
                <a:latin typeface="Arial Black" pitchFamily="34" charset="0"/>
                <a:ea typeface="Arial Black" pitchFamily="34" charset="-122"/>
                <a:cs typeface="Arial Black" pitchFamily="34" charset="-120"/>
              </a:rPr>
              <a:t>🔐  A02:2021 — Cryptographic Failures</a:t>
            </a:r>
            <a:endParaRPr lang="en-US" sz="4400" dirty="0"/>
          </a:p>
        </p:txBody>
      </p:sp>
      <p:sp>
        <p:nvSpPr>
          <p:cNvPr id="4" name="Text 2"/>
          <p:cNvSpPr/>
          <p:nvPr/>
        </p:nvSpPr>
        <p:spPr>
          <a:xfrm>
            <a:off x="548640" y="1097280"/>
            <a:ext cx="17007840" cy="548640"/>
          </a:xfrm>
          <a:prstGeom prst="rect">
            <a:avLst/>
          </a:prstGeom>
          <a:noFill/>
          <a:ln/>
        </p:spPr>
        <p:txBody>
          <a:bodyPr wrap="square" rtlCol="0" anchor="ctr"/>
          <a:lstStyle/>
          <a:p>
            <a:r>
              <a:rPr lang="en-US" sz="2000" dirty="0">
                <a:solidFill>
                  <a:srgbClr val="00B4C8"/>
                </a:solidFill>
                <a:latin typeface="Calibri" pitchFamily="34" charset="0"/>
                <a:ea typeface="Calibri" pitchFamily="34" charset="-122"/>
                <a:cs typeface="Calibri" pitchFamily="34" charset="-120"/>
              </a:rPr>
              <a:t>Previously: 'Sensitive Data Exposure' | Moved from #3 → #2 | Focus on root cause: Crypto failures</a:t>
            </a:r>
            <a:endParaRPr lang="en-US" sz="2000" dirty="0"/>
          </a:p>
        </p:txBody>
      </p:sp>
      <p:sp>
        <p:nvSpPr>
          <p:cNvPr id="5" name="Shape 3"/>
          <p:cNvSpPr/>
          <p:nvPr/>
        </p:nvSpPr>
        <p:spPr>
          <a:xfrm>
            <a:off x="0" y="1737360"/>
            <a:ext cx="18288000" cy="73152"/>
          </a:xfrm>
          <a:prstGeom prst="rect">
            <a:avLst/>
          </a:prstGeom>
          <a:solidFill>
            <a:srgbClr val="8E44AD"/>
          </a:solidFill>
          <a:ln w="12700">
            <a:solidFill>
              <a:srgbClr val="8E44AD"/>
            </a:solidFill>
            <a:prstDash val="solid"/>
          </a:ln>
        </p:spPr>
      </p:sp>
      <p:sp>
        <p:nvSpPr>
          <p:cNvPr id="6" name="Shape 4"/>
          <p:cNvSpPr/>
          <p:nvPr/>
        </p:nvSpPr>
        <p:spPr>
          <a:xfrm>
            <a:off x="548640" y="2011680"/>
            <a:ext cx="17190720" cy="1426464"/>
          </a:xfrm>
          <a:prstGeom prst="rect">
            <a:avLst/>
          </a:prstGeom>
          <a:solidFill>
            <a:srgbClr val="F9F0FF"/>
          </a:solidFill>
          <a:ln w="12700">
            <a:solidFill>
              <a:srgbClr val="8E44AD"/>
            </a:solidFill>
            <a:prstDash val="solid"/>
          </a:ln>
          <a:effectLst>
            <a:outerShdw blurRad="76200" dist="25400" dir="8100000" algn="bl" rotWithShape="0">
              <a:srgbClr val="000000">
                <a:alpha val="10000"/>
              </a:srgbClr>
            </a:outerShdw>
          </a:effectLst>
        </p:spPr>
      </p:sp>
      <p:sp>
        <p:nvSpPr>
          <p:cNvPr id="7" name="Shape 5"/>
          <p:cNvSpPr/>
          <p:nvPr/>
        </p:nvSpPr>
        <p:spPr>
          <a:xfrm>
            <a:off x="548640" y="2011680"/>
            <a:ext cx="128016" cy="1426464"/>
          </a:xfrm>
          <a:prstGeom prst="rect">
            <a:avLst/>
          </a:prstGeom>
          <a:solidFill>
            <a:srgbClr val="8E44AD"/>
          </a:solidFill>
          <a:ln w="12700">
            <a:solidFill>
              <a:srgbClr val="8E44AD"/>
            </a:solidFill>
            <a:prstDash val="solid"/>
          </a:ln>
        </p:spPr>
      </p:sp>
      <p:sp>
        <p:nvSpPr>
          <p:cNvPr id="8" name="Text 6"/>
          <p:cNvSpPr/>
          <p:nvPr/>
        </p:nvSpPr>
        <p:spPr>
          <a:xfrm>
            <a:off x="822960" y="2084832"/>
            <a:ext cx="16642080" cy="1280160"/>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Cryptographic Failures occur when sensitive data is NOT properly protected in transit, at rest, or during processing due to encryption not being implemented, incorrectly implemented, outdated, or misconfigured — allowing attackers to read, modify, or steal sensitive data.</a:t>
            </a:r>
            <a:endParaRPr lang="en-US" sz="2100" dirty="0"/>
          </a:p>
        </p:txBody>
      </p:sp>
      <p:sp>
        <p:nvSpPr>
          <p:cNvPr id="9" name="Text 7"/>
          <p:cNvSpPr/>
          <p:nvPr/>
        </p:nvSpPr>
        <p:spPr>
          <a:xfrm>
            <a:off x="548640" y="3657600"/>
            <a:ext cx="16459200" cy="548640"/>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  Example: HTTP without TLS</a:t>
            </a:r>
            <a:endParaRPr lang="en-US" sz="2600" dirty="0"/>
          </a:p>
        </p:txBody>
      </p:sp>
      <p:sp>
        <p:nvSpPr>
          <p:cNvPr id="10" name="Shape 8"/>
          <p:cNvSpPr/>
          <p:nvPr/>
        </p:nvSpPr>
        <p:spPr>
          <a:xfrm>
            <a:off x="548640" y="4352544"/>
            <a:ext cx="2468880" cy="1316736"/>
          </a:xfrm>
          <a:prstGeom prst="rect">
            <a:avLst/>
          </a:prstGeom>
          <a:solidFill>
            <a:srgbClr val="005F73"/>
          </a:solidFill>
          <a:ln w="12700">
            <a:solidFill>
              <a:srgbClr val="005F73"/>
            </a:solidFill>
            <a:prstDash val="solid"/>
          </a:ln>
        </p:spPr>
      </p:sp>
      <p:sp>
        <p:nvSpPr>
          <p:cNvPr id="11" name="Text 9"/>
          <p:cNvSpPr/>
          <p:nvPr/>
        </p:nvSpPr>
        <p:spPr>
          <a:xfrm>
            <a:off x="548640" y="4352544"/>
            <a:ext cx="2468880" cy="1316736"/>
          </a:xfrm>
          <a:prstGeom prst="rect">
            <a:avLst/>
          </a:prstGeom>
          <a:noFill/>
          <a:ln/>
        </p:spPr>
        <p:txBody>
          <a:bodyPr wrap="square" rtlCol="0" anchor="ctr"/>
          <a:lstStyle/>
          <a:p>
            <a:pPr algn="ctr"/>
            <a:r>
              <a:rPr lang="en-US" sz="2200" dirty="0">
                <a:solidFill>
                  <a:srgbClr val="FFFFFF"/>
                </a:solidFill>
                <a:latin typeface="Calibri" pitchFamily="34" charset="0"/>
                <a:ea typeface="Calibri" pitchFamily="34" charset="-122"/>
                <a:cs typeface="Calibri" pitchFamily="34" charset="-120"/>
              </a:rPr>
              <a:t>👤</a:t>
            </a:r>
            <a:endParaRPr lang="en-US" sz="2200" dirty="0"/>
          </a:p>
          <a:p>
            <a:pPr algn="ctr"/>
            <a:r>
              <a:rPr lang="en-US" sz="2200" dirty="0">
                <a:solidFill>
                  <a:srgbClr val="FFFFFF"/>
                </a:solidFill>
                <a:latin typeface="Calibri" pitchFamily="34" charset="0"/>
                <a:ea typeface="Calibri" pitchFamily="34" charset="-122"/>
                <a:cs typeface="Calibri" pitchFamily="34" charset="-120"/>
              </a:rPr>
              <a:t>User</a:t>
            </a:r>
            <a:endParaRPr lang="en-US" sz="2200" dirty="0"/>
          </a:p>
        </p:txBody>
      </p:sp>
      <p:sp>
        <p:nvSpPr>
          <p:cNvPr id="12" name="Shape 10"/>
          <p:cNvSpPr/>
          <p:nvPr/>
        </p:nvSpPr>
        <p:spPr>
          <a:xfrm>
            <a:off x="3072384" y="4937760"/>
            <a:ext cx="3657600" cy="128016"/>
          </a:xfrm>
          <a:prstGeom prst="rect">
            <a:avLst/>
          </a:prstGeom>
          <a:solidFill>
            <a:srgbClr val="C0392B"/>
          </a:solidFill>
          <a:ln w="12700">
            <a:solidFill>
              <a:srgbClr val="C0392B"/>
            </a:solidFill>
            <a:prstDash val="solid"/>
          </a:ln>
        </p:spPr>
      </p:sp>
      <p:sp>
        <p:nvSpPr>
          <p:cNvPr id="13" name="Shape 11"/>
          <p:cNvSpPr/>
          <p:nvPr/>
        </p:nvSpPr>
        <p:spPr>
          <a:xfrm>
            <a:off x="6620256" y="4791456"/>
            <a:ext cx="256032" cy="402336"/>
          </a:xfrm>
          <a:prstGeom prst="triangle">
            <a:avLst/>
          </a:prstGeom>
          <a:solidFill>
            <a:srgbClr val="C0392B"/>
          </a:solidFill>
          <a:ln w="12700">
            <a:solidFill>
              <a:srgbClr val="C0392B"/>
            </a:solidFill>
            <a:prstDash val="solid"/>
          </a:ln>
        </p:spPr>
      </p:sp>
      <p:sp>
        <p:nvSpPr>
          <p:cNvPr id="14" name="Shape 12"/>
          <p:cNvSpPr/>
          <p:nvPr/>
        </p:nvSpPr>
        <p:spPr>
          <a:xfrm>
            <a:off x="3657600" y="4206240"/>
            <a:ext cx="2468880" cy="585216"/>
          </a:xfrm>
          <a:prstGeom prst="rect">
            <a:avLst/>
          </a:prstGeom>
          <a:solidFill>
            <a:srgbClr val="C0392B"/>
          </a:solidFill>
          <a:ln w="12700">
            <a:solidFill>
              <a:srgbClr val="C0392B"/>
            </a:solidFill>
            <a:prstDash val="solid"/>
          </a:ln>
        </p:spPr>
      </p:sp>
      <p:sp>
        <p:nvSpPr>
          <p:cNvPr id="15" name="Text 13"/>
          <p:cNvSpPr/>
          <p:nvPr/>
        </p:nvSpPr>
        <p:spPr>
          <a:xfrm>
            <a:off x="3657600" y="4206240"/>
            <a:ext cx="2468880" cy="585216"/>
          </a:xfrm>
          <a:prstGeom prst="rect">
            <a:avLst/>
          </a:prstGeom>
          <a:noFill/>
          <a:ln/>
        </p:spPr>
        <p:txBody>
          <a:bodyPr wrap="square" rtlCol="0" anchor="ctr"/>
          <a:lstStyle/>
          <a:p>
            <a:pPr algn="ctr"/>
            <a:r>
              <a:rPr lang="en-US" sz="1500" b="1" dirty="0">
                <a:solidFill>
                  <a:srgbClr val="FFFFFF"/>
                </a:solidFill>
                <a:latin typeface="Calibri" pitchFamily="34" charset="0"/>
                <a:ea typeface="Calibri" pitchFamily="34" charset="-122"/>
                <a:cs typeface="Calibri" pitchFamily="34" charset="-120"/>
              </a:rPr>
              <a:t>HTTP (Plain Text!)</a:t>
            </a:r>
            <a:endParaRPr lang="en-US" sz="1500" dirty="0"/>
          </a:p>
        </p:txBody>
      </p:sp>
      <p:sp>
        <p:nvSpPr>
          <p:cNvPr id="16" name="Shape 14"/>
          <p:cNvSpPr/>
          <p:nvPr/>
        </p:nvSpPr>
        <p:spPr>
          <a:xfrm>
            <a:off x="4023360" y="4901184"/>
            <a:ext cx="1737360" cy="1499616"/>
          </a:xfrm>
          <a:prstGeom prst="ellipse">
            <a:avLst/>
          </a:prstGeom>
          <a:solidFill>
            <a:srgbClr val="C0392B"/>
          </a:solidFill>
          <a:ln w="12700">
            <a:solidFill>
              <a:srgbClr val="7B241C"/>
            </a:solidFill>
            <a:prstDash val="solid"/>
          </a:ln>
        </p:spPr>
      </p:sp>
      <p:sp>
        <p:nvSpPr>
          <p:cNvPr id="17" name="Text 15"/>
          <p:cNvSpPr/>
          <p:nvPr/>
        </p:nvSpPr>
        <p:spPr>
          <a:xfrm>
            <a:off x="4023360" y="4901184"/>
            <a:ext cx="1737360" cy="1499616"/>
          </a:xfrm>
          <a:prstGeom prst="rect">
            <a:avLst/>
          </a:prstGeom>
          <a:noFill/>
          <a:ln/>
        </p:spPr>
        <p:txBody>
          <a:bodyPr wrap="square" rtlCol="0" anchor="ctr"/>
          <a:lstStyle/>
          <a:p>
            <a:pPr algn="ctr"/>
            <a:r>
              <a:rPr lang="en-US" dirty="0">
                <a:solidFill>
                  <a:srgbClr val="FFFFFF"/>
                </a:solidFill>
                <a:latin typeface="Calibri" pitchFamily="34" charset="0"/>
                <a:ea typeface="Calibri" pitchFamily="34" charset="-122"/>
                <a:cs typeface="Calibri" pitchFamily="34" charset="-120"/>
              </a:rPr>
              <a:t>😈</a:t>
            </a:r>
            <a:endParaRPr lang="en-US" dirty="0"/>
          </a:p>
          <a:p>
            <a:pPr algn="ctr"/>
            <a:r>
              <a:rPr lang="en-US" dirty="0">
                <a:solidFill>
                  <a:srgbClr val="FFFFFF"/>
                </a:solidFill>
                <a:latin typeface="Calibri" pitchFamily="34" charset="0"/>
                <a:ea typeface="Calibri" pitchFamily="34" charset="-122"/>
                <a:cs typeface="Calibri" pitchFamily="34" charset="-120"/>
              </a:rPr>
              <a:t>Sniffer</a:t>
            </a:r>
            <a:endParaRPr lang="en-US" dirty="0"/>
          </a:p>
        </p:txBody>
      </p:sp>
      <p:sp>
        <p:nvSpPr>
          <p:cNvPr id="18" name="Shape 16"/>
          <p:cNvSpPr/>
          <p:nvPr/>
        </p:nvSpPr>
        <p:spPr>
          <a:xfrm>
            <a:off x="6912864" y="4352544"/>
            <a:ext cx="2468880" cy="1316736"/>
          </a:xfrm>
          <a:prstGeom prst="rect">
            <a:avLst/>
          </a:prstGeom>
          <a:solidFill>
            <a:srgbClr val="607D8B"/>
          </a:solidFill>
          <a:ln w="12700">
            <a:solidFill>
              <a:srgbClr val="607D8B"/>
            </a:solidFill>
            <a:prstDash val="solid"/>
          </a:ln>
        </p:spPr>
      </p:sp>
      <p:sp>
        <p:nvSpPr>
          <p:cNvPr id="19" name="Text 17"/>
          <p:cNvSpPr/>
          <p:nvPr/>
        </p:nvSpPr>
        <p:spPr>
          <a:xfrm>
            <a:off x="6912864" y="4352544"/>
            <a:ext cx="2468880" cy="1316736"/>
          </a:xfrm>
          <a:prstGeom prst="rect">
            <a:avLst/>
          </a:prstGeom>
          <a:noFill/>
          <a:ln/>
        </p:spPr>
        <p:txBody>
          <a:bodyPr wrap="square" rtlCol="0" anchor="ctr"/>
          <a:lstStyle/>
          <a:p>
            <a:pPr algn="ctr"/>
            <a:r>
              <a:rPr lang="en-US" sz="2200" dirty="0">
                <a:solidFill>
                  <a:srgbClr val="FFFFFF"/>
                </a:solidFill>
                <a:latin typeface="Calibri" pitchFamily="34" charset="0"/>
                <a:ea typeface="Calibri" pitchFamily="34" charset="-122"/>
                <a:cs typeface="Calibri" pitchFamily="34" charset="-120"/>
              </a:rPr>
              <a:t>🌐</a:t>
            </a:r>
            <a:endParaRPr lang="en-US" sz="2200" dirty="0"/>
          </a:p>
          <a:p>
            <a:pPr algn="ctr"/>
            <a:r>
              <a:rPr lang="en-US" sz="2200" dirty="0">
                <a:solidFill>
                  <a:srgbClr val="FFFFFF"/>
                </a:solidFill>
                <a:latin typeface="Calibri" pitchFamily="34" charset="0"/>
                <a:ea typeface="Calibri" pitchFamily="34" charset="-122"/>
                <a:cs typeface="Calibri" pitchFamily="34" charset="-120"/>
              </a:rPr>
              <a:t>Server</a:t>
            </a:r>
            <a:endParaRPr lang="en-US" sz="2200" dirty="0"/>
          </a:p>
        </p:txBody>
      </p:sp>
      <p:sp>
        <p:nvSpPr>
          <p:cNvPr id="20" name="Shape 18"/>
          <p:cNvSpPr/>
          <p:nvPr/>
        </p:nvSpPr>
        <p:spPr>
          <a:xfrm>
            <a:off x="9692640" y="4352544"/>
            <a:ext cx="2468880" cy="1316736"/>
          </a:xfrm>
          <a:prstGeom prst="rect">
            <a:avLst/>
          </a:prstGeom>
          <a:solidFill>
            <a:srgbClr val="27AE60"/>
          </a:solidFill>
          <a:ln w="12700">
            <a:solidFill>
              <a:srgbClr val="27AE60"/>
            </a:solidFill>
            <a:prstDash val="solid"/>
          </a:ln>
        </p:spPr>
      </p:sp>
      <p:sp>
        <p:nvSpPr>
          <p:cNvPr id="21" name="Text 19"/>
          <p:cNvSpPr/>
          <p:nvPr/>
        </p:nvSpPr>
        <p:spPr>
          <a:xfrm>
            <a:off x="9692640" y="4352544"/>
            <a:ext cx="2468880" cy="1316736"/>
          </a:xfrm>
          <a:prstGeom prst="rect">
            <a:avLst/>
          </a:prstGeom>
          <a:noFill/>
          <a:ln/>
        </p:spPr>
        <p:txBody>
          <a:bodyPr wrap="square" rtlCol="0" anchor="ctr"/>
          <a:lstStyle/>
          <a:p>
            <a:pPr algn="ctr"/>
            <a:r>
              <a:rPr lang="en-US" sz="2200" dirty="0">
                <a:solidFill>
                  <a:srgbClr val="FFFFFF"/>
                </a:solidFill>
                <a:latin typeface="Calibri" pitchFamily="34" charset="0"/>
                <a:ea typeface="Calibri" pitchFamily="34" charset="-122"/>
                <a:cs typeface="Calibri" pitchFamily="34" charset="-120"/>
              </a:rPr>
              <a:t>👤</a:t>
            </a:r>
            <a:endParaRPr lang="en-US" sz="2200" dirty="0"/>
          </a:p>
          <a:p>
            <a:pPr algn="ctr"/>
            <a:r>
              <a:rPr lang="en-US" sz="2200" dirty="0">
                <a:solidFill>
                  <a:srgbClr val="FFFFFF"/>
                </a:solidFill>
                <a:latin typeface="Calibri" pitchFamily="34" charset="0"/>
                <a:ea typeface="Calibri" pitchFamily="34" charset="-122"/>
                <a:cs typeface="Calibri" pitchFamily="34" charset="-120"/>
              </a:rPr>
              <a:t>User</a:t>
            </a:r>
            <a:endParaRPr lang="en-US" sz="2200" dirty="0"/>
          </a:p>
        </p:txBody>
      </p:sp>
      <p:sp>
        <p:nvSpPr>
          <p:cNvPr id="22" name="Shape 20"/>
          <p:cNvSpPr/>
          <p:nvPr/>
        </p:nvSpPr>
        <p:spPr>
          <a:xfrm>
            <a:off x="12216384" y="4937760"/>
            <a:ext cx="3657600" cy="128016"/>
          </a:xfrm>
          <a:prstGeom prst="rect">
            <a:avLst/>
          </a:prstGeom>
          <a:solidFill>
            <a:srgbClr val="27AE60"/>
          </a:solidFill>
          <a:ln w="12700">
            <a:solidFill>
              <a:srgbClr val="27AE60"/>
            </a:solidFill>
            <a:prstDash val="solid"/>
          </a:ln>
        </p:spPr>
      </p:sp>
      <p:sp>
        <p:nvSpPr>
          <p:cNvPr id="23" name="Shape 21"/>
          <p:cNvSpPr/>
          <p:nvPr/>
        </p:nvSpPr>
        <p:spPr>
          <a:xfrm>
            <a:off x="15764256" y="4791456"/>
            <a:ext cx="256032" cy="402336"/>
          </a:xfrm>
          <a:prstGeom prst="triangle">
            <a:avLst/>
          </a:prstGeom>
          <a:solidFill>
            <a:srgbClr val="27AE60"/>
          </a:solidFill>
          <a:ln w="12700">
            <a:solidFill>
              <a:srgbClr val="27AE60"/>
            </a:solidFill>
            <a:prstDash val="solid"/>
          </a:ln>
        </p:spPr>
      </p:sp>
      <p:sp>
        <p:nvSpPr>
          <p:cNvPr id="24" name="Shape 22"/>
          <p:cNvSpPr/>
          <p:nvPr/>
        </p:nvSpPr>
        <p:spPr>
          <a:xfrm>
            <a:off x="12801600" y="4206240"/>
            <a:ext cx="2468880" cy="585216"/>
          </a:xfrm>
          <a:prstGeom prst="rect">
            <a:avLst/>
          </a:prstGeom>
          <a:solidFill>
            <a:srgbClr val="27AE60"/>
          </a:solidFill>
          <a:ln w="12700">
            <a:solidFill>
              <a:srgbClr val="27AE60"/>
            </a:solidFill>
            <a:prstDash val="solid"/>
          </a:ln>
        </p:spPr>
      </p:sp>
      <p:sp>
        <p:nvSpPr>
          <p:cNvPr id="25" name="Text 23"/>
          <p:cNvSpPr/>
          <p:nvPr/>
        </p:nvSpPr>
        <p:spPr>
          <a:xfrm>
            <a:off x="12801600" y="4206240"/>
            <a:ext cx="2468880" cy="585216"/>
          </a:xfrm>
          <a:prstGeom prst="rect">
            <a:avLst/>
          </a:prstGeom>
          <a:noFill/>
          <a:ln/>
        </p:spPr>
        <p:txBody>
          <a:bodyPr wrap="square" rtlCol="0" anchor="ctr"/>
          <a:lstStyle/>
          <a:p>
            <a:pPr algn="ctr"/>
            <a:r>
              <a:rPr lang="en-US" sz="1500" b="1" dirty="0">
                <a:solidFill>
                  <a:srgbClr val="FFFFFF"/>
                </a:solidFill>
                <a:latin typeface="Calibri" pitchFamily="34" charset="0"/>
                <a:ea typeface="Calibri" pitchFamily="34" charset="-122"/>
                <a:cs typeface="Calibri" pitchFamily="34" charset="-120"/>
              </a:rPr>
              <a:t>HTTPS + TLS ✓</a:t>
            </a:r>
            <a:endParaRPr lang="en-US" sz="1500" dirty="0"/>
          </a:p>
        </p:txBody>
      </p:sp>
      <p:sp>
        <p:nvSpPr>
          <p:cNvPr id="26" name="Shape 24"/>
          <p:cNvSpPr/>
          <p:nvPr/>
        </p:nvSpPr>
        <p:spPr>
          <a:xfrm>
            <a:off x="16056864" y="4352544"/>
            <a:ext cx="1828800" cy="1316736"/>
          </a:xfrm>
          <a:prstGeom prst="rect">
            <a:avLst/>
          </a:prstGeom>
          <a:solidFill>
            <a:srgbClr val="27AE60"/>
          </a:solidFill>
          <a:ln w="12700">
            <a:solidFill>
              <a:srgbClr val="27AE60"/>
            </a:solidFill>
            <a:prstDash val="solid"/>
          </a:ln>
        </p:spPr>
      </p:sp>
      <p:sp>
        <p:nvSpPr>
          <p:cNvPr id="27" name="Text 25"/>
          <p:cNvSpPr/>
          <p:nvPr/>
        </p:nvSpPr>
        <p:spPr>
          <a:xfrm>
            <a:off x="16056864" y="4352544"/>
            <a:ext cx="1828800" cy="1316736"/>
          </a:xfrm>
          <a:prstGeom prst="rect">
            <a:avLst/>
          </a:prstGeom>
          <a:noFill/>
          <a:ln/>
        </p:spPr>
        <p:txBody>
          <a:bodyPr wrap="square" rtlCol="0" anchor="ctr"/>
          <a:lstStyle/>
          <a:p>
            <a:pPr algn="ctr"/>
            <a:r>
              <a:rPr lang="en-US" dirty="0">
                <a:solidFill>
                  <a:srgbClr val="FFFFFF"/>
                </a:solidFill>
                <a:latin typeface="Calibri" pitchFamily="34" charset="0"/>
                <a:ea typeface="Calibri" pitchFamily="34" charset="-122"/>
                <a:cs typeface="Calibri" pitchFamily="34" charset="-120"/>
              </a:rPr>
              <a:t>🌐</a:t>
            </a:r>
            <a:endParaRPr lang="en-US" dirty="0"/>
          </a:p>
          <a:p>
            <a:pPr algn="ctr"/>
            <a:r>
              <a:rPr lang="en-US" dirty="0">
                <a:solidFill>
                  <a:srgbClr val="FFFFFF"/>
                </a:solidFill>
                <a:latin typeface="Calibri" pitchFamily="34" charset="0"/>
                <a:ea typeface="Calibri" pitchFamily="34" charset="-122"/>
                <a:cs typeface="Calibri" pitchFamily="34" charset="-120"/>
              </a:rPr>
              <a:t>Server</a:t>
            </a:r>
            <a:endParaRPr lang="en-US" dirty="0"/>
          </a:p>
        </p:txBody>
      </p:sp>
      <p:sp>
        <p:nvSpPr>
          <p:cNvPr id="28" name="Text 26"/>
          <p:cNvSpPr/>
          <p:nvPr/>
        </p:nvSpPr>
        <p:spPr>
          <a:xfrm>
            <a:off x="3657600" y="5797296"/>
            <a:ext cx="3291840" cy="548640"/>
          </a:xfrm>
          <a:prstGeom prst="rect">
            <a:avLst/>
          </a:prstGeom>
          <a:noFill/>
          <a:ln/>
        </p:spPr>
        <p:txBody>
          <a:bodyPr wrap="square" rtlCol="0" anchor="ctr"/>
          <a:lstStyle/>
          <a:p>
            <a:pPr algn="ctr"/>
            <a:r>
              <a:rPr lang="en-US" sz="2000" b="1" dirty="0">
                <a:solidFill>
                  <a:srgbClr val="C0392B"/>
                </a:solidFill>
                <a:latin typeface="Arial Black" pitchFamily="34" charset="0"/>
                <a:ea typeface="Arial Black" pitchFamily="34" charset="-122"/>
                <a:cs typeface="Arial Black" pitchFamily="34" charset="-120"/>
              </a:rPr>
              <a:t>❌ INSECURE</a:t>
            </a:r>
            <a:endParaRPr lang="en-US" sz="2000" dirty="0"/>
          </a:p>
        </p:txBody>
      </p:sp>
      <p:sp>
        <p:nvSpPr>
          <p:cNvPr id="29" name="Text 27"/>
          <p:cNvSpPr/>
          <p:nvPr/>
        </p:nvSpPr>
        <p:spPr>
          <a:xfrm>
            <a:off x="12435840" y="5797296"/>
            <a:ext cx="3291840" cy="548640"/>
          </a:xfrm>
          <a:prstGeom prst="rect">
            <a:avLst/>
          </a:prstGeom>
          <a:noFill/>
          <a:ln/>
        </p:spPr>
        <p:txBody>
          <a:bodyPr wrap="square" rtlCol="0" anchor="ctr"/>
          <a:lstStyle/>
          <a:p>
            <a:pPr algn="ctr"/>
            <a:r>
              <a:rPr lang="en-US" sz="2000" b="1" dirty="0">
                <a:solidFill>
                  <a:srgbClr val="27AE60"/>
                </a:solidFill>
                <a:latin typeface="Arial Black" pitchFamily="34" charset="0"/>
                <a:ea typeface="Arial Black" pitchFamily="34" charset="-122"/>
                <a:cs typeface="Arial Black" pitchFamily="34" charset="-120"/>
              </a:rPr>
              <a:t>✅ SECURE</a:t>
            </a:r>
            <a:endParaRPr lang="en-US" sz="2000" dirty="0"/>
          </a:p>
        </p:txBody>
      </p:sp>
      <p:sp>
        <p:nvSpPr>
          <p:cNvPr id="30" name="Text 28"/>
          <p:cNvSpPr/>
          <p:nvPr/>
        </p:nvSpPr>
        <p:spPr>
          <a:xfrm>
            <a:off x="548640" y="6492240"/>
            <a:ext cx="8229600" cy="548640"/>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Common Causes</a:t>
            </a:r>
            <a:endParaRPr lang="en-US" sz="2600" dirty="0"/>
          </a:p>
        </p:txBody>
      </p:sp>
      <p:sp>
        <p:nvSpPr>
          <p:cNvPr id="31" name="Shape 29"/>
          <p:cNvSpPr/>
          <p:nvPr/>
        </p:nvSpPr>
        <p:spPr>
          <a:xfrm>
            <a:off x="548640" y="7132320"/>
            <a:ext cx="8321040" cy="603504"/>
          </a:xfrm>
          <a:prstGeom prst="rect">
            <a:avLst/>
          </a:prstGeom>
          <a:solidFill>
            <a:srgbClr val="F9F0FF"/>
          </a:solidFill>
          <a:ln w="12700">
            <a:solidFill>
              <a:srgbClr val="D7BDE2"/>
            </a:solidFill>
            <a:prstDash val="solid"/>
          </a:ln>
        </p:spPr>
      </p:sp>
      <p:sp>
        <p:nvSpPr>
          <p:cNvPr id="32" name="Text 30"/>
          <p:cNvSpPr/>
          <p:nvPr/>
        </p:nvSpPr>
        <p:spPr>
          <a:xfrm>
            <a:off x="731520" y="7187184"/>
            <a:ext cx="7955280" cy="493776"/>
          </a:xfrm>
          <a:prstGeom prst="rect">
            <a:avLst/>
          </a:prstGeom>
          <a:noFill/>
          <a:ln/>
        </p:spPr>
        <p:txBody>
          <a:bodyPr wrap="square" rtlCol="0" anchor="ctr"/>
          <a:lstStyle/>
          <a:p>
            <a:r>
              <a:rPr lang="en-US" sz="1900" dirty="0">
                <a:solidFill>
                  <a:srgbClr val="5B2C8D"/>
                </a:solidFill>
                <a:latin typeface="Calibri" pitchFamily="34" charset="0"/>
                <a:ea typeface="Calibri" pitchFamily="34" charset="-122"/>
                <a:cs typeface="Calibri" pitchFamily="34" charset="-120"/>
              </a:rPr>
              <a:t>🚫  No encryption (HTTP instead of HTTPS)</a:t>
            </a:r>
            <a:endParaRPr lang="en-US" sz="1900" dirty="0"/>
          </a:p>
        </p:txBody>
      </p:sp>
      <p:sp>
        <p:nvSpPr>
          <p:cNvPr id="33" name="Shape 31"/>
          <p:cNvSpPr/>
          <p:nvPr/>
        </p:nvSpPr>
        <p:spPr>
          <a:xfrm>
            <a:off x="548640" y="7827264"/>
            <a:ext cx="8321040" cy="603504"/>
          </a:xfrm>
          <a:prstGeom prst="rect">
            <a:avLst/>
          </a:prstGeom>
          <a:solidFill>
            <a:srgbClr val="F0E8FF"/>
          </a:solidFill>
          <a:ln w="12700">
            <a:solidFill>
              <a:srgbClr val="D7BDE2"/>
            </a:solidFill>
            <a:prstDash val="solid"/>
          </a:ln>
        </p:spPr>
      </p:sp>
      <p:sp>
        <p:nvSpPr>
          <p:cNvPr id="34" name="Text 32"/>
          <p:cNvSpPr/>
          <p:nvPr/>
        </p:nvSpPr>
        <p:spPr>
          <a:xfrm>
            <a:off x="731520" y="7882128"/>
            <a:ext cx="7955280" cy="493776"/>
          </a:xfrm>
          <a:prstGeom prst="rect">
            <a:avLst/>
          </a:prstGeom>
          <a:noFill/>
          <a:ln/>
        </p:spPr>
        <p:txBody>
          <a:bodyPr wrap="square" rtlCol="0" anchor="ctr"/>
          <a:lstStyle/>
          <a:p>
            <a:r>
              <a:rPr lang="en-US" sz="1900" dirty="0">
                <a:solidFill>
                  <a:srgbClr val="5B2C8D"/>
                </a:solidFill>
                <a:latin typeface="Calibri" pitchFamily="34" charset="0"/>
                <a:ea typeface="Calibri" pitchFamily="34" charset="-122"/>
                <a:cs typeface="Calibri" pitchFamily="34" charset="-120"/>
              </a:rPr>
              <a:t>⚠️  Weak algorithms: MD5, SHA-1, RC4</a:t>
            </a:r>
            <a:endParaRPr lang="en-US" sz="1900" dirty="0"/>
          </a:p>
        </p:txBody>
      </p:sp>
      <p:sp>
        <p:nvSpPr>
          <p:cNvPr id="35" name="Shape 33"/>
          <p:cNvSpPr/>
          <p:nvPr/>
        </p:nvSpPr>
        <p:spPr>
          <a:xfrm>
            <a:off x="548640" y="8522208"/>
            <a:ext cx="8321040" cy="603504"/>
          </a:xfrm>
          <a:prstGeom prst="rect">
            <a:avLst/>
          </a:prstGeom>
          <a:solidFill>
            <a:srgbClr val="F9F0FF"/>
          </a:solidFill>
          <a:ln w="12700">
            <a:solidFill>
              <a:srgbClr val="D7BDE2"/>
            </a:solidFill>
            <a:prstDash val="solid"/>
          </a:ln>
        </p:spPr>
      </p:sp>
      <p:sp>
        <p:nvSpPr>
          <p:cNvPr id="36" name="Text 34"/>
          <p:cNvSpPr/>
          <p:nvPr/>
        </p:nvSpPr>
        <p:spPr>
          <a:xfrm>
            <a:off x="731520" y="8577072"/>
            <a:ext cx="7955280" cy="493776"/>
          </a:xfrm>
          <a:prstGeom prst="rect">
            <a:avLst/>
          </a:prstGeom>
          <a:noFill/>
          <a:ln/>
        </p:spPr>
        <p:txBody>
          <a:bodyPr wrap="square" rtlCol="0" anchor="ctr"/>
          <a:lstStyle/>
          <a:p>
            <a:r>
              <a:rPr lang="en-US" sz="1900" dirty="0">
                <a:solidFill>
                  <a:srgbClr val="5B2C8D"/>
                </a:solidFill>
                <a:latin typeface="Calibri" pitchFamily="34" charset="0"/>
                <a:ea typeface="Calibri" pitchFamily="34" charset="-122"/>
                <a:cs typeface="Calibri" pitchFamily="34" charset="-120"/>
              </a:rPr>
              <a:t>🔑  Hardcoded/exposed cryptographic keys</a:t>
            </a:r>
            <a:endParaRPr lang="en-US" sz="1900" dirty="0"/>
          </a:p>
        </p:txBody>
      </p:sp>
      <p:sp>
        <p:nvSpPr>
          <p:cNvPr id="37" name="Shape 35"/>
          <p:cNvSpPr/>
          <p:nvPr/>
        </p:nvSpPr>
        <p:spPr>
          <a:xfrm>
            <a:off x="9235440" y="7132320"/>
            <a:ext cx="8321040" cy="603504"/>
          </a:xfrm>
          <a:prstGeom prst="rect">
            <a:avLst/>
          </a:prstGeom>
          <a:solidFill>
            <a:srgbClr val="F0E8FF"/>
          </a:solidFill>
          <a:ln w="12700">
            <a:solidFill>
              <a:srgbClr val="D7BDE2"/>
            </a:solidFill>
            <a:prstDash val="solid"/>
          </a:ln>
        </p:spPr>
      </p:sp>
      <p:sp>
        <p:nvSpPr>
          <p:cNvPr id="38" name="Text 36"/>
          <p:cNvSpPr/>
          <p:nvPr/>
        </p:nvSpPr>
        <p:spPr>
          <a:xfrm>
            <a:off x="9418320" y="7187184"/>
            <a:ext cx="7955280" cy="493776"/>
          </a:xfrm>
          <a:prstGeom prst="rect">
            <a:avLst/>
          </a:prstGeom>
          <a:noFill/>
          <a:ln/>
        </p:spPr>
        <p:txBody>
          <a:bodyPr wrap="square" rtlCol="0" anchor="ctr"/>
          <a:lstStyle/>
          <a:p>
            <a:r>
              <a:rPr lang="en-US" sz="1900" dirty="0">
                <a:solidFill>
                  <a:srgbClr val="5B2C8D"/>
                </a:solidFill>
                <a:latin typeface="Calibri" pitchFamily="34" charset="0"/>
                <a:ea typeface="Calibri" pitchFamily="34" charset="-122"/>
                <a:cs typeface="Calibri" pitchFamily="34" charset="-120"/>
              </a:rPr>
              <a:t>🔄  Improper key management &amp; reuse</a:t>
            </a:r>
            <a:endParaRPr lang="en-US" sz="1900" dirty="0"/>
          </a:p>
        </p:txBody>
      </p:sp>
      <p:sp>
        <p:nvSpPr>
          <p:cNvPr id="39" name="Shape 37"/>
          <p:cNvSpPr/>
          <p:nvPr/>
        </p:nvSpPr>
        <p:spPr>
          <a:xfrm>
            <a:off x="9235440" y="7827264"/>
            <a:ext cx="8321040" cy="603504"/>
          </a:xfrm>
          <a:prstGeom prst="rect">
            <a:avLst/>
          </a:prstGeom>
          <a:solidFill>
            <a:srgbClr val="F9F0FF"/>
          </a:solidFill>
          <a:ln w="12700">
            <a:solidFill>
              <a:srgbClr val="D7BDE2"/>
            </a:solidFill>
            <a:prstDash val="solid"/>
          </a:ln>
        </p:spPr>
      </p:sp>
      <p:sp>
        <p:nvSpPr>
          <p:cNvPr id="40" name="Text 38"/>
          <p:cNvSpPr/>
          <p:nvPr/>
        </p:nvSpPr>
        <p:spPr>
          <a:xfrm>
            <a:off x="9418320" y="7882128"/>
            <a:ext cx="7955280" cy="493776"/>
          </a:xfrm>
          <a:prstGeom prst="rect">
            <a:avLst/>
          </a:prstGeom>
          <a:noFill/>
          <a:ln/>
        </p:spPr>
        <p:txBody>
          <a:bodyPr wrap="square" rtlCol="0" anchor="ctr"/>
          <a:lstStyle/>
          <a:p>
            <a:r>
              <a:rPr lang="en-US" sz="1900" dirty="0">
                <a:solidFill>
                  <a:srgbClr val="5B2C8D"/>
                </a:solidFill>
                <a:latin typeface="Calibri" pitchFamily="34" charset="0"/>
                <a:ea typeface="Calibri" pitchFamily="34" charset="-122"/>
                <a:cs typeface="Calibri" pitchFamily="34" charset="-120"/>
              </a:rPr>
              <a:t>📦  Wrong encryption mode (ECB instead of GCM)</a:t>
            </a:r>
            <a:endParaRPr lang="en-US" sz="1900" dirty="0"/>
          </a:p>
        </p:txBody>
      </p:sp>
      <p:sp>
        <p:nvSpPr>
          <p:cNvPr id="41" name="Shape 39"/>
          <p:cNvSpPr/>
          <p:nvPr/>
        </p:nvSpPr>
        <p:spPr>
          <a:xfrm>
            <a:off x="9235440" y="8522208"/>
            <a:ext cx="8321040" cy="603504"/>
          </a:xfrm>
          <a:prstGeom prst="rect">
            <a:avLst/>
          </a:prstGeom>
          <a:solidFill>
            <a:srgbClr val="F0E8FF"/>
          </a:solidFill>
          <a:ln w="12700">
            <a:solidFill>
              <a:srgbClr val="D7BDE2"/>
            </a:solidFill>
            <a:prstDash val="solid"/>
          </a:ln>
        </p:spPr>
      </p:sp>
      <p:sp>
        <p:nvSpPr>
          <p:cNvPr id="42" name="Text 40"/>
          <p:cNvSpPr/>
          <p:nvPr/>
        </p:nvSpPr>
        <p:spPr>
          <a:xfrm>
            <a:off x="9418320" y="8577072"/>
            <a:ext cx="7955280" cy="493776"/>
          </a:xfrm>
          <a:prstGeom prst="rect">
            <a:avLst/>
          </a:prstGeom>
          <a:noFill/>
          <a:ln/>
        </p:spPr>
        <p:txBody>
          <a:bodyPr wrap="square" rtlCol="0" anchor="ctr"/>
          <a:lstStyle/>
          <a:p>
            <a:r>
              <a:rPr lang="en-US" sz="1900" dirty="0">
                <a:solidFill>
                  <a:srgbClr val="5B2C8D"/>
                </a:solidFill>
                <a:latin typeface="Calibri" pitchFamily="34" charset="0"/>
                <a:ea typeface="Calibri" pitchFamily="34" charset="-122"/>
                <a:cs typeface="Calibri" pitchFamily="34" charset="-120"/>
              </a:rPr>
              <a:t>🎲  Insecure random number generation</a:t>
            </a:r>
            <a:endParaRPr lang="en-US" sz="1900" dirty="0"/>
          </a:p>
        </p:txBody>
      </p:sp>
      <p:sp>
        <p:nvSpPr>
          <p:cNvPr id="43" name="Shape 41"/>
          <p:cNvSpPr/>
          <p:nvPr/>
        </p:nvSpPr>
        <p:spPr>
          <a:xfrm>
            <a:off x="0" y="9875520"/>
            <a:ext cx="18288000" cy="411480"/>
          </a:xfrm>
          <a:prstGeom prst="rect">
            <a:avLst/>
          </a:prstGeom>
          <a:solidFill>
            <a:srgbClr val="004D5B"/>
          </a:solidFill>
          <a:ln w="12700">
            <a:solidFill>
              <a:srgbClr val="004D5B"/>
            </a:solidFill>
            <a:prstDash val="solid"/>
          </a:ln>
        </p:spPr>
      </p:sp>
      <p:sp>
        <p:nvSpPr>
          <p:cNvPr id="44" name="Text 42"/>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46" name="Picture 45">
            <a:extLst>
              <a:ext uri="{FF2B5EF4-FFF2-40B4-BE49-F238E27FC236}">
                <a16:creationId xmlns:a16="http://schemas.microsoft.com/office/drawing/2014/main" id="{C53E717C-D090-B6AD-8D63-5084EAAE60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6776" y="-36576"/>
            <a:ext cx="4435024" cy="16276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828800"/>
          </a:xfrm>
          <a:prstGeom prst="rect">
            <a:avLst/>
          </a:prstGeom>
          <a:solidFill>
            <a:srgbClr val="004D5B"/>
          </a:solidFill>
          <a:ln w="12700">
            <a:solidFill>
              <a:srgbClr val="004D5B"/>
            </a:solidFill>
            <a:prstDash val="solid"/>
          </a:ln>
        </p:spPr>
      </p:sp>
      <p:sp>
        <p:nvSpPr>
          <p:cNvPr id="3" name="Text 1"/>
          <p:cNvSpPr/>
          <p:nvPr/>
        </p:nvSpPr>
        <p:spPr>
          <a:xfrm>
            <a:off x="228600" y="91440"/>
            <a:ext cx="15544800" cy="1097280"/>
          </a:xfrm>
          <a:prstGeom prst="rect">
            <a:avLst/>
          </a:prstGeom>
          <a:noFill/>
          <a:ln/>
        </p:spPr>
        <p:txBody>
          <a:bodyPr wrap="square" rtlCol="0" anchor="ctr"/>
          <a:lstStyle/>
          <a:p>
            <a:r>
              <a:rPr lang="en-US" sz="4800" b="1" dirty="0">
                <a:solidFill>
                  <a:srgbClr val="FFFFFF"/>
                </a:solidFill>
                <a:latin typeface="Arial Black" pitchFamily="34" charset="0"/>
                <a:ea typeface="Arial Black" pitchFamily="34" charset="-122"/>
                <a:cs typeface="Arial Black" pitchFamily="34" charset="-120"/>
              </a:rPr>
              <a:t>A02: Cryptographic Failures: Prevention</a:t>
            </a:r>
            <a:endParaRPr lang="en-US" sz="4800" dirty="0"/>
          </a:p>
        </p:txBody>
      </p:sp>
      <p:sp>
        <p:nvSpPr>
          <p:cNvPr id="4" name="Text 2"/>
          <p:cNvSpPr/>
          <p:nvPr/>
        </p:nvSpPr>
        <p:spPr>
          <a:xfrm>
            <a:off x="548640" y="1133856"/>
            <a:ext cx="15544800" cy="585216"/>
          </a:xfrm>
          <a:prstGeom prst="rect">
            <a:avLst/>
          </a:prstGeom>
          <a:noFill/>
          <a:ln/>
        </p:spPr>
        <p:txBody>
          <a:bodyPr wrap="square" rtlCol="0" anchor="ctr"/>
          <a:lstStyle/>
          <a:p>
            <a:r>
              <a:rPr lang="en-US" sz="2200" dirty="0">
                <a:solidFill>
                  <a:srgbClr val="00B4C8"/>
                </a:solidFill>
                <a:latin typeface="Calibri" pitchFamily="34" charset="0"/>
                <a:ea typeface="Calibri" pitchFamily="34" charset="-122"/>
                <a:cs typeface="Calibri" pitchFamily="34" charset="-120"/>
              </a:rPr>
              <a:t>Implementing Strong Cryptography</a:t>
            </a:r>
            <a:endParaRPr lang="en-US" sz="2200" dirty="0"/>
          </a:p>
        </p:txBody>
      </p:sp>
      <p:sp>
        <p:nvSpPr>
          <p:cNvPr id="5" name="Shape 3"/>
          <p:cNvSpPr/>
          <p:nvPr/>
        </p:nvSpPr>
        <p:spPr>
          <a:xfrm>
            <a:off x="0" y="1828800"/>
            <a:ext cx="18288000" cy="73152"/>
          </a:xfrm>
          <a:prstGeom prst="rect">
            <a:avLst/>
          </a:prstGeom>
          <a:solidFill>
            <a:srgbClr val="00B4C8"/>
          </a:solidFill>
          <a:ln w="12700">
            <a:solidFill>
              <a:srgbClr val="00B4C8"/>
            </a:solidFill>
            <a:prstDash val="solid"/>
          </a:ln>
        </p:spPr>
      </p:sp>
      <p:sp>
        <p:nvSpPr>
          <p:cNvPr id="6" name="Text 4"/>
          <p:cNvSpPr/>
          <p:nvPr/>
        </p:nvSpPr>
        <p:spPr>
          <a:xfrm>
            <a:off x="548640" y="2103120"/>
            <a:ext cx="8229600" cy="585216"/>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Encryption Types</a:t>
            </a:r>
            <a:endParaRPr lang="en-US" sz="2600" dirty="0"/>
          </a:p>
        </p:txBody>
      </p:sp>
      <p:sp>
        <p:nvSpPr>
          <p:cNvPr id="7" name="Shape 5"/>
          <p:cNvSpPr/>
          <p:nvPr/>
        </p:nvSpPr>
        <p:spPr>
          <a:xfrm>
            <a:off x="548640" y="2779776"/>
            <a:ext cx="8046720" cy="2377440"/>
          </a:xfrm>
          <a:prstGeom prst="rect">
            <a:avLst/>
          </a:prstGeom>
          <a:solidFill>
            <a:srgbClr val="FFFFFF"/>
          </a:solidFill>
          <a:ln w="12700">
            <a:solidFill>
              <a:srgbClr val="8E44AD"/>
            </a:solidFill>
            <a:prstDash val="solid"/>
          </a:ln>
          <a:effectLst>
            <a:outerShdw blurRad="76200" dist="25400" dir="8100000" algn="bl" rotWithShape="0">
              <a:srgbClr val="000000">
                <a:alpha val="10000"/>
              </a:srgbClr>
            </a:outerShdw>
          </a:effectLst>
        </p:spPr>
      </p:sp>
      <p:sp>
        <p:nvSpPr>
          <p:cNvPr id="8" name="Shape 6"/>
          <p:cNvSpPr/>
          <p:nvPr/>
        </p:nvSpPr>
        <p:spPr>
          <a:xfrm>
            <a:off x="548640" y="2779776"/>
            <a:ext cx="8046720" cy="640080"/>
          </a:xfrm>
          <a:prstGeom prst="rect">
            <a:avLst/>
          </a:prstGeom>
          <a:solidFill>
            <a:srgbClr val="8E44AD"/>
          </a:solidFill>
          <a:ln w="12700">
            <a:solidFill>
              <a:srgbClr val="8E44AD"/>
            </a:solidFill>
            <a:prstDash val="solid"/>
          </a:ln>
        </p:spPr>
      </p:sp>
      <p:sp>
        <p:nvSpPr>
          <p:cNvPr id="9" name="Text 7"/>
          <p:cNvSpPr/>
          <p:nvPr/>
        </p:nvSpPr>
        <p:spPr>
          <a:xfrm>
            <a:off x="731520" y="2816352"/>
            <a:ext cx="7680960" cy="566928"/>
          </a:xfrm>
          <a:prstGeom prst="rect">
            <a:avLst/>
          </a:prstGeom>
          <a:noFill/>
          <a:ln/>
        </p:spPr>
        <p:txBody>
          <a:bodyPr wrap="square" rtlCol="0" anchor="ctr"/>
          <a:lstStyle/>
          <a:p>
            <a:r>
              <a:rPr lang="en-US" sz="2000" b="1" dirty="0">
                <a:solidFill>
                  <a:srgbClr val="FFFFFF"/>
                </a:solidFill>
                <a:latin typeface="Arial" pitchFamily="34" charset="0"/>
                <a:ea typeface="Arial" pitchFamily="34" charset="-122"/>
                <a:cs typeface="Arial" pitchFamily="34" charset="-120"/>
              </a:rPr>
              <a:t>🔒 Symmetric Encryption (AES-256)</a:t>
            </a:r>
            <a:endParaRPr lang="en-US" sz="2000" dirty="0"/>
          </a:p>
        </p:txBody>
      </p:sp>
      <p:sp>
        <p:nvSpPr>
          <p:cNvPr id="10" name="Text 8"/>
          <p:cNvSpPr/>
          <p:nvPr/>
        </p:nvSpPr>
        <p:spPr>
          <a:xfrm>
            <a:off x="731520" y="3474720"/>
            <a:ext cx="7498080" cy="155448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Same key used for encryption &amp; decryption.</a:t>
            </a:r>
            <a:endParaRPr lang="en-US" sz="1900" dirty="0"/>
          </a:p>
          <a:p>
            <a:r>
              <a:rPr lang="en-US" sz="1900" dirty="0">
                <a:solidFill>
                  <a:srgbClr val="2C3E50"/>
                </a:solidFill>
                <a:latin typeface="Calibri" pitchFamily="34" charset="0"/>
                <a:ea typeface="Calibri" pitchFamily="34" charset="-122"/>
                <a:cs typeface="Calibri" pitchFamily="34" charset="-120"/>
              </a:rPr>
              <a:t>Best for: Encrypting data AT REST</a:t>
            </a:r>
            <a:endParaRPr lang="en-US" sz="1900" dirty="0"/>
          </a:p>
          <a:p>
            <a:r>
              <a:rPr lang="en-US" sz="1900" dirty="0">
                <a:solidFill>
                  <a:srgbClr val="2C3E50"/>
                </a:solidFill>
                <a:latin typeface="Calibri" pitchFamily="34" charset="0"/>
                <a:ea typeface="Calibri" pitchFamily="34" charset="-122"/>
                <a:cs typeface="Calibri" pitchFamily="34" charset="-120"/>
              </a:rPr>
              <a:t>Use: AES-256 (Advanced Encryption Standard)</a:t>
            </a:r>
            <a:endParaRPr lang="en-US" sz="1900" dirty="0"/>
          </a:p>
        </p:txBody>
      </p:sp>
      <p:sp>
        <p:nvSpPr>
          <p:cNvPr id="11" name="Shape 9"/>
          <p:cNvSpPr/>
          <p:nvPr/>
        </p:nvSpPr>
        <p:spPr>
          <a:xfrm>
            <a:off x="548640" y="5340096"/>
            <a:ext cx="8046720" cy="2377440"/>
          </a:xfrm>
          <a:prstGeom prst="rect">
            <a:avLst/>
          </a:prstGeom>
          <a:solidFill>
            <a:srgbClr val="FFFFFF"/>
          </a:solidFill>
          <a:ln w="12700">
            <a:solidFill>
              <a:srgbClr val="2980B9"/>
            </a:solidFill>
            <a:prstDash val="solid"/>
          </a:ln>
          <a:effectLst>
            <a:outerShdw blurRad="76200" dist="25400" dir="8100000" algn="bl" rotWithShape="0">
              <a:srgbClr val="000000">
                <a:alpha val="10000"/>
              </a:srgbClr>
            </a:outerShdw>
          </a:effectLst>
        </p:spPr>
      </p:sp>
      <p:sp>
        <p:nvSpPr>
          <p:cNvPr id="12" name="Shape 10"/>
          <p:cNvSpPr/>
          <p:nvPr/>
        </p:nvSpPr>
        <p:spPr>
          <a:xfrm>
            <a:off x="548640" y="5340096"/>
            <a:ext cx="8046720" cy="640080"/>
          </a:xfrm>
          <a:prstGeom prst="rect">
            <a:avLst/>
          </a:prstGeom>
          <a:solidFill>
            <a:srgbClr val="2980B9"/>
          </a:solidFill>
          <a:ln w="12700">
            <a:solidFill>
              <a:srgbClr val="2980B9"/>
            </a:solidFill>
            <a:prstDash val="solid"/>
          </a:ln>
        </p:spPr>
      </p:sp>
      <p:sp>
        <p:nvSpPr>
          <p:cNvPr id="13" name="Text 11"/>
          <p:cNvSpPr/>
          <p:nvPr/>
        </p:nvSpPr>
        <p:spPr>
          <a:xfrm>
            <a:off x="731520" y="5376672"/>
            <a:ext cx="7680960" cy="566928"/>
          </a:xfrm>
          <a:prstGeom prst="rect">
            <a:avLst/>
          </a:prstGeom>
          <a:noFill/>
          <a:ln/>
        </p:spPr>
        <p:txBody>
          <a:bodyPr wrap="square" rtlCol="0" anchor="ctr"/>
          <a:lstStyle/>
          <a:p>
            <a:r>
              <a:rPr lang="en-US" sz="2000" b="1" dirty="0">
                <a:solidFill>
                  <a:srgbClr val="FFFFFF"/>
                </a:solidFill>
                <a:latin typeface="Arial" pitchFamily="34" charset="0"/>
                <a:ea typeface="Arial" pitchFamily="34" charset="-122"/>
                <a:cs typeface="Arial" pitchFamily="34" charset="-120"/>
              </a:rPr>
              <a:t>🔑 Asymmetric Encryption (RSA/ECC)</a:t>
            </a:r>
            <a:endParaRPr lang="en-US" sz="2000" dirty="0"/>
          </a:p>
        </p:txBody>
      </p:sp>
      <p:sp>
        <p:nvSpPr>
          <p:cNvPr id="14" name="Text 12"/>
          <p:cNvSpPr/>
          <p:nvPr/>
        </p:nvSpPr>
        <p:spPr>
          <a:xfrm>
            <a:off x="731520" y="6035040"/>
            <a:ext cx="7498080" cy="155448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Public key encrypts, private key decrypts.</a:t>
            </a:r>
            <a:endParaRPr lang="en-US" sz="1900" dirty="0"/>
          </a:p>
          <a:p>
            <a:r>
              <a:rPr lang="en-US" sz="1900" dirty="0">
                <a:solidFill>
                  <a:srgbClr val="2C3E50"/>
                </a:solidFill>
                <a:latin typeface="Calibri" pitchFamily="34" charset="0"/>
                <a:ea typeface="Calibri" pitchFamily="34" charset="-122"/>
                <a:cs typeface="Calibri" pitchFamily="34" charset="-120"/>
              </a:rPr>
              <a:t>Best for: Encrypting data IN TRANSIT</a:t>
            </a:r>
            <a:endParaRPr lang="en-US" sz="1900" dirty="0"/>
          </a:p>
          <a:p>
            <a:r>
              <a:rPr lang="en-US" sz="1900" dirty="0">
                <a:solidFill>
                  <a:srgbClr val="2C3E50"/>
                </a:solidFill>
                <a:latin typeface="Calibri" pitchFamily="34" charset="0"/>
                <a:ea typeface="Calibri" pitchFamily="34" charset="-122"/>
                <a:cs typeface="Calibri" pitchFamily="34" charset="-120"/>
              </a:rPr>
              <a:t>Use: RSA-2048 or ECC (Elliptic Curve)</a:t>
            </a:r>
            <a:endParaRPr lang="en-US" sz="1900" dirty="0"/>
          </a:p>
        </p:txBody>
      </p:sp>
      <p:sp>
        <p:nvSpPr>
          <p:cNvPr id="15" name="Shape 13"/>
          <p:cNvSpPr/>
          <p:nvPr/>
        </p:nvSpPr>
        <p:spPr>
          <a:xfrm>
            <a:off x="548640" y="7900416"/>
            <a:ext cx="8046720" cy="1554480"/>
          </a:xfrm>
          <a:prstGeom prst="rect">
            <a:avLst/>
          </a:prstGeom>
          <a:solidFill>
            <a:srgbClr val="FFFFFF"/>
          </a:solidFill>
          <a:ln w="12700">
            <a:solidFill>
              <a:srgbClr val="27AE60"/>
            </a:solidFill>
            <a:prstDash val="solid"/>
          </a:ln>
          <a:effectLst>
            <a:outerShdw blurRad="76200" dist="25400" dir="8100000" algn="bl" rotWithShape="0">
              <a:srgbClr val="000000">
                <a:alpha val="10000"/>
              </a:srgbClr>
            </a:outerShdw>
          </a:effectLst>
        </p:spPr>
      </p:sp>
      <p:sp>
        <p:nvSpPr>
          <p:cNvPr id="16" name="Shape 14"/>
          <p:cNvSpPr/>
          <p:nvPr/>
        </p:nvSpPr>
        <p:spPr>
          <a:xfrm>
            <a:off x="548640" y="7900416"/>
            <a:ext cx="8046720" cy="640080"/>
          </a:xfrm>
          <a:prstGeom prst="rect">
            <a:avLst/>
          </a:prstGeom>
          <a:solidFill>
            <a:srgbClr val="27AE60"/>
          </a:solidFill>
          <a:ln w="12700">
            <a:solidFill>
              <a:srgbClr val="27AE60"/>
            </a:solidFill>
            <a:prstDash val="solid"/>
          </a:ln>
        </p:spPr>
      </p:sp>
      <p:sp>
        <p:nvSpPr>
          <p:cNvPr id="17" name="Text 15"/>
          <p:cNvSpPr/>
          <p:nvPr/>
        </p:nvSpPr>
        <p:spPr>
          <a:xfrm>
            <a:off x="731520" y="7936992"/>
            <a:ext cx="7680960" cy="566928"/>
          </a:xfrm>
          <a:prstGeom prst="rect">
            <a:avLst/>
          </a:prstGeom>
          <a:noFill/>
          <a:ln/>
        </p:spPr>
        <p:txBody>
          <a:bodyPr wrap="square" rtlCol="0" anchor="ctr"/>
          <a:lstStyle/>
          <a:p>
            <a:r>
              <a:rPr lang="en-US" sz="2000" b="1" dirty="0">
                <a:solidFill>
                  <a:srgbClr val="FFFFFF"/>
                </a:solidFill>
                <a:latin typeface="Arial" pitchFamily="34" charset="0"/>
                <a:ea typeface="Arial" pitchFamily="34" charset="-122"/>
                <a:cs typeface="Arial" pitchFamily="34" charset="-120"/>
              </a:rPr>
              <a:t>🧂 Password Hashing + Salting</a:t>
            </a:r>
            <a:endParaRPr lang="en-US" sz="2000" dirty="0"/>
          </a:p>
        </p:txBody>
      </p:sp>
      <p:sp>
        <p:nvSpPr>
          <p:cNvPr id="18" name="Text 16"/>
          <p:cNvSpPr/>
          <p:nvPr/>
        </p:nvSpPr>
        <p:spPr>
          <a:xfrm>
            <a:off x="731520" y="8595360"/>
            <a:ext cx="7498080" cy="768096"/>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Use: bcrypt, Argon2, PBKDF2 (NEVER MD5 or SHA-1 for passwords)</a:t>
            </a:r>
            <a:endParaRPr lang="en-US" sz="1900" dirty="0"/>
          </a:p>
        </p:txBody>
      </p:sp>
      <p:sp>
        <p:nvSpPr>
          <p:cNvPr id="19" name="Text 17"/>
          <p:cNvSpPr/>
          <p:nvPr/>
        </p:nvSpPr>
        <p:spPr>
          <a:xfrm>
            <a:off x="9052560" y="2103120"/>
            <a:ext cx="8595360" cy="585216"/>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Prevention Checklist ✅</a:t>
            </a:r>
            <a:endParaRPr lang="en-US" sz="2600" dirty="0"/>
          </a:p>
        </p:txBody>
      </p:sp>
      <p:sp>
        <p:nvSpPr>
          <p:cNvPr id="20" name="Shape 18"/>
          <p:cNvSpPr/>
          <p:nvPr/>
        </p:nvSpPr>
        <p:spPr>
          <a:xfrm>
            <a:off x="9052560" y="2779776"/>
            <a:ext cx="8778240" cy="73152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1" name="Shape 19"/>
          <p:cNvSpPr/>
          <p:nvPr/>
        </p:nvSpPr>
        <p:spPr>
          <a:xfrm>
            <a:off x="9144000" y="2907792"/>
            <a:ext cx="512064" cy="512064"/>
          </a:xfrm>
          <a:prstGeom prst="ellipse">
            <a:avLst/>
          </a:prstGeom>
          <a:solidFill>
            <a:srgbClr val="27AE60"/>
          </a:solidFill>
          <a:ln w="12700">
            <a:solidFill>
              <a:srgbClr val="27AE60"/>
            </a:solidFill>
            <a:prstDash val="solid"/>
          </a:ln>
        </p:spPr>
      </p:sp>
      <p:sp>
        <p:nvSpPr>
          <p:cNvPr id="22" name="Text 20"/>
          <p:cNvSpPr/>
          <p:nvPr/>
        </p:nvSpPr>
        <p:spPr>
          <a:xfrm>
            <a:off x="9144000" y="2907792"/>
            <a:ext cx="512064" cy="512064"/>
          </a:xfrm>
          <a:prstGeom prst="rect">
            <a:avLst/>
          </a:prstGeom>
          <a:noFill/>
          <a:ln/>
        </p:spPr>
        <p:txBody>
          <a:bodyPr wrap="square" rtlCol="0" anchor="ctr"/>
          <a:lstStyle/>
          <a:p>
            <a:pPr algn="ctr"/>
            <a:r>
              <a:rPr lang="en-US" b="1" dirty="0">
                <a:solidFill>
                  <a:srgbClr val="FFFFFF"/>
                </a:solidFill>
              </a:rPr>
              <a:t>✓</a:t>
            </a:r>
            <a:endParaRPr lang="en-US" dirty="0"/>
          </a:p>
        </p:txBody>
      </p:sp>
      <p:sp>
        <p:nvSpPr>
          <p:cNvPr id="23" name="Text 21"/>
          <p:cNvSpPr/>
          <p:nvPr/>
        </p:nvSpPr>
        <p:spPr>
          <a:xfrm>
            <a:off x="9747504" y="2834640"/>
            <a:ext cx="7955280" cy="694944"/>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Use TLS 1.2 or higher for all data in transit</a:t>
            </a:r>
            <a:endParaRPr lang="en-US" sz="1900" dirty="0"/>
          </a:p>
        </p:txBody>
      </p:sp>
      <p:sp>
        <p:nvSpPr>
          <p:cNvPr id="24" name="Shape 22"/>
          <p:cNvSpPr/>
          <p:nvPr/>
        </p:nvSpPr>
        <p:spPr>
          <a:xfrm>
            <a:off x="9052560" y="3621024"/>
            <a:ext cx="8778240" cy="73152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5" name="Shape 23"/>
          <p:cNvSpPr/>
          <p:nvPr/>
        </p:nvSpPr>
        <p:spPr>
          <a:xfrm>
            <a:off x="9144000" y="3749040"/>
            <a:ext cx="512064" cy="512064"/>
          </a:xfrm>
          <a:prstGeom prst="ellipse">
            <a:avLst/>
          </a:prstGeom>
          <a:solidFill>
            <a:srgbClr val="27AE60"/>
          </a:solidFill>
          <a:ln w="12700">
            <a:solidFill>
              <a:srgbClr val="27AE60"/>
            </a:solidFill>
            <a:prstDash val="solid"/>
          </a:ln>
        </p:spPr>
      </p:sp>
      <p:sp>
        <p:nvSpPr>
          <p:cNvPr id="26" name="Text 24"/>
          <p:cNvSpPr/>
          <p:nvPr/>
        </p:nvSpPr>
        <p:spPr>
          <a:xfrm>
            <a:off x="9144000" y="3749040"/>
            <a:ext cx="512064" cy="512064"/>
          </a:xfrm>
          <a:prstGeom prst="rect">
            <a:avLst/>
          </a:prstGeom>
          <a:noFill/>
          <a:ln/>
        </p:spPr>
        <p:txBody>
          <a:bodyPr wrap="square" rtlCol="0" anchor="ctr"/>
          <a:lstStyle/>
          <a:p>
            <a:pPr algn="ctr"/>
            <a:r>
              <a:rPr lang="en-US" b="1" dirty="0">
                <a:solidFill>
                  <a:srgbClr val="FFFFFF"/>
                </a:solidFill>
              </a:rPr>
              <a:t>✓</a:t>
            </a:r>
            <a:endParaRPr lang="en-US" dirty="0"/>
          </a:p>
        </p:txBody>
      </p:sp>
      <p:sp>
        <p:nvSpPr>
          <p:cNvPr id="27" name="Text 25"/>
          <p:cNvSpPr/>
          <p:nvPr/>
        </p:nvSpPr>
        <p:spPr>
          <a:xfrm>
            <a:off x="9747504" y="3675888"/>
            <a:ext cx="7955280" cy="694944"/>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Encrypt data at rest (AES-256)</a:t>
            </a:r>
            <a:endParaRPr lang="en-US" sz="1900" dirty="0"/>
          </a:p>
        </p:txBody>
      </p:sp>
      <p:sp>
        <p:nvSpPr>
          <p:cNvPr id="28" name="Shape 26"/>
          <p:cNvSpPr/>
          <p:nvPr/>
        </p:nvSpPr>
        <p:spPr>
          <a:xfrm>
            <a:off x="9052560" y="4462272"/>
            <a:ext cx="8778240" cy="73152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9" name="Shape 27"/>
          <p:cNvSpPr/>
          <p:nvPr/>
        </p:nvSpPr>
        <p:spPr>
          <a:xfrm>
            <a:off x="9144000" y="4590288"/>
            <a:ext cx="512064" cy="512064"/>
          </a:xfrm>
          <a:prstGeom prst="ellipse">
            <a:avLst/>
          </a:prstGeom>
          <a:solidFill>
            <a:srgbClr val="005F73"/>
          </a:solidFill>
          <a:ln w="12700">
            <a:solidFill>
              <a:srgbClr val="005F73"/>
            </a:solidFill>
            <a:prstDash val="solid"/>
          </a:ln>
        </p:spPr>
      </p:sp>
      <p:sp>
        <p:nvSpPr>
          <p:cNvPr id="30" name="Text 28"/>
          <p:cNvSpPr/>
          <p:nvPr/>
        </p:nvSpPr>
        <p:spPr>
          <a:xfrm>
            <a:off x="9144000" y="4590288"/>
            <a:ext cx="512064" cy="512064"/>
          </a:xfrm>
          <a:prstGeom prst="rect">
            <a:avLst/>
          </a:prstGeom>
          <a:noFill/>
          <a:ln/>
        </p:spPr>
        <p:txBody>
          <a:bodyPr wrap="square" rtlCol="0" anchor="ctr"/>
          <a:lstStyle/>
          <a:p>
            <a:pPr algn="ctr"/>
            <a:r>
              <a:rPr lang="en-US" b="1" dirty="0">
                <a:solidFill>
                  <a:srgbClr val="FFFFFF"/>
                </a:solidFill>
              </a:rPr>
              <a:t>✓</a:t>
            </a:r>
            <a:endParaRPr lang="en-US" dirty="0"/>
          </a:p>
        </p:txBody>
      </p:sp>
      <p:sp>
        <p:nvSpPr>
          <p:cNvPr id="31" name="Text 29"/>
          <p:cNvSpPr/>
          <p:nvPr/>
        </p:nvSpPr>
        <p:spPr>
          <a:xfrm>
            <a:off x="9747504" y="4517136"/>
            <a:ext cx="7955280" cy="694944"/>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Implement proper key management (HSM, rotation)</a:t>
            </a:r>
            <a:endParaRPr lang="en-US" sz="1900" dirty="0"/>
          </a:p>
        </p:txBody>
      </p:sp>
      <p:sp>
        <p:nvSpPr>
          <p:cNvPr id="32" name="Shape 30"/>
          <p:cNvSpPr/>
          <p:nvPr/>
        </p:nvSpPr>
        <p:spPr>
          <a:xfrm>
            <a:off x="9052560" y="5303520"/>
            <a:ext cx="8778240" cy="73152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33" name="Shape 31"/>
          <p:cNvSpPr/>
          <p:nvPr/>
        </p:nvSpPr>
        <p:spPr>
          <a:xfrm>
            <a:off x="9144000" y="5431536"/>
            <a:ext cx="512064" cy="512064"/>
          </a:xfrm>
          <a:prstGeom prst="ellipse">
            <a:avLst/>
          </a:prstGeom>
          <a:solidFill>
            <a:srgbClr val="005F73"/>
          </a:solidFill>
          <a:ln w="12700">
            <a:solidFill>
              <a:srgbClr val="005F73"/>
            </a:solidFill>
            <a:prstDash val="solid"/>
          </a:ln>
        </p:spPr>
      </p:sp>
      <p:sp>
        <p:nvSpPr>
          <p:cNvPr id="34" name="Text 32"/>
          <p:cNvSpPr/>
          <p:nvPr/>
        </p:nvSpPr>
        <p:spPr>
          <a:xfrm>
            <a:off x="9144000" y="5431536"/>
            <a:ext cx="512064" cy="512064"/>
          </a:xfrm>
          <a:prstGeom prst="rect">
            <a:avLst/>
          </a:prstGeom>
          <a:noFill/>
          <a:ln/>
        </p:spPr>
        <p:txBody>
          <a:bodyPr wrap="square" rtlCol="0" anchor="ctr"/>
          <a:lstStyle/>
          <a:p>
            <a:pPr algn="ctr"/>
            <a:r>
              <a:rPr lang="en-US" b="1" dirty="0">
                <a:solidFill>
                  <a:srgbClr val="FFFFFF"/>
                </a:solidFill>
              </a:rPr>
              <a:t>✓</a:t>
            </a:r>
            <a:endParaRPr lang="en-US" dirty="0"/>
          </a:p>
        </p:txBody>
      </p:sp>
      <p:sp>
        <p:nvSpPr>
          <p:cNvPr id="35" name="Text 33"/>
          <p:cNvSpPr/>
          <p:nvPr/>
        </p:nvSpPr>
        <p:spPr>
          <a:xfrm>
            <a:off x="9747504" y="5358384"/>
            <a:ext cx="7955280" cy="694944"/>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Use proven crypto libraries, not custom algorithms</a:t>
            </a:r>
            <a:endParaRPr lang="en-US" sz="1900" dirty="0"/>
          </a:p>
        </p:txBody>
      </p:sp>
      <p:sp>
        <p:nvSpPr>
          <p:cNvPr id="36" name="Shape 34"/>
          <p:cNvSpPr/>
          <p:nvPr/>
        </p:nvSpPr>
        <p:spPr>
          <a:xfrm>
            <a:off x="9052560" y="6144768"/>
            <a:ext cx="8778240" cy="73152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37" name="Shape 35"/>
          <p:cNvSpPr/>
          <p:nvPr/>
        </p:nvSpPr>
        <p:spPr>
          <a:xfrm>
            <a:off x="9144000" y="6272784"/>
            <a:ext cx="512064" cy="512064"/>
          </a:xfrm>
          <a:prstGeom prst="ellipse">
            <a:avLst/>
          </a:prstGeom>
          <a:solidFill>
            <a:srgbClr val="E67E22"/>
          </a:solidFill>
          <a:ln w="12700">
            <a:solidFill>
              <a:srgbClr val="E67E22"/>
            </a:solidFill>
            <a:prstDash val="solid"/>
          </a:ln>
        </p:spPr>
      </p:sp>
      <p:sp>
        <p:nvSpPr>
          <p:cNvPr id="38" name="Text 36"/>
          <p:cNvSpPr/>
          <p:nvPr/>
        </p:nvSpPr>
        <p:spPr>
          <a:xfrm>
            <a:off x="9144000" y="6272784"/>
            <a:ext cx="512064" cy="512064"/>
          </a:xfrm>
          <a:prstGeom prst="rect">
            <a:avLst/>
          </a:prstGeom>
          <a:noFill/>
          <a:ln/>
        </p:spPr>
        <p:txBody>
          <a:bodyPr wrap="square" rtlCol="0" anchor="ctr"/>
          <a:lstStyle/>
          <a:p>
            <a:pPr algn="ctr"/>
            <a:r>
              <a:rPr lang="en-US" b="1" dirty="0">
                <a:solidFill>
                  <a:srgbClr val="FFFFFF"/>
                </a:solidFill>
              </a:rPr>
              <a:t>✓</a:t>
            </a:r>
            <a:endParaRPr lang="en-US" dirty="0"/>
          </a:p>
        </p:txBody>
      </p:sp>
      <p:sp>
        <p:nvSpPr>
          <p:cNvPr id="39" name="Text 37"/>
          <p:cNvSpPr/>
          <p:nvPr/>
        </p:nvSpPr>
        <p:spPr>
          <a:xfrm>
            <a:off x="9747504" y="6199632"/>
            <a:ext cx="7955280" cy="694944"/>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Disable SSL, TLS 1.0, TLS 1.1 and weak ciphers</a:t>
            </a:r>
            <a:endParaRPr lang="en-US" sz="1900" dirty="0"/>
          </a:p>
        </p:txBody>
      </p:sp>
      <p:sp>
        <p:nvSpPr>
          <p:cNvPr id="40" name="Shape 38"/>
          <p:cNvSpPr/>
          <p:nvPr/>
        </p:nvSpPr>
        <p:spPr>
          <a:xfrm>
            <a:off x="9052560" y="6986016"/>
            <a:ext cx="8778240" cy="73152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41" name="Shape 39"/>
          <p:cNvSpPr/>
          <p:nvPr/>
        </p:nvSpPr>
        <p:spPr>
          <a:xfrm>
            <a:off x="9144000" y="7114032"/>
            <a:ext cx="512064" cy="512064"/>
          </a:xfrm>
          <a:prstGeom prst="ellipse">
            <a:avLst/>
          </a:prstGeom>
          <a:solidFill>
            <a:srgbClr val="C0392B"/>
          </a:solidFill>
          <a:ln w="12700">
            <a:solidFill>
              <a:srgbClr val="C0392B"/>
            </a:solidFill>
            <a:prstDash val="solid"/>
          </a:ln>
        </p:spPr>
      </p:sp>
      <p:sp>
        <p:nvSpPr>
          <p:cNvPr id="42" name="Text 40"/>
          <p:cNvSpPr/>
          <p:nvPr/>
        </p:nvSpPr>
        <p:spPr>
          <a:xfrm>
            <a:off x="9144000" y="7114032"/>
            <a:ext cx="512064" cy="512064"/>
          </a:xfrm>
          <a:prstGeom prst="rect">
            <a:avLst/>
          </a:prstGeom>
          <a:noFill/>
          <a:ln/>
        </p:spPr>
        <p:txBody>
          <a:bodyPr wrap="square" rtlCol="0" anchor="ctr"/>
          <a:lstStyle/>
          <a:p>
            <a:pPr algn="ctr"/>
            <a:r>
              <a:rPr lang="en-US" b="1" dirty="0">
                <a:solidFill>
                  <a:srgbClr val="FFFFFF"/>
                </a:solidFill>
              </a:rPr>
              <a:t>✓</a:t>
            </a:r>
            <a:endParaRPr lang="en-US" dirty="0"/>
          </a:p>
        </p:txBody>
      </p:sp>
      <p:sp>
        <p:nvSpPr>
          <p:cNvPr id="43" name="Text 41"/>
          <p:cNvSpPr/>
          <p:nvPr/>
        </p:nvSpPr>
        <p:spPr>
          <a:xfrm>
            <a:off x="9747504" y="7040880"/>
            <a:ext cx="7955280" cy="694944"/>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Never hardcode keys or passwords in source code</a:t>
            </a:r>
            <a:endParaRPr lang="en-US" sz="1900" dirty="0"/>
          </a:p>
        </p:txBody>
      </p:sp>
      <p:sp>
        <p:nvSpPr>
          <p:cNvPr id="44" name="Shape 42"/>
          <p:cNvSpPr/>
          <p:nvPr/>
        </p:nvSpPr>
        <p:spPr>
          <a:xfrm>
            <a:off x="9052560" y="7827264"/>
            <a:ext cx="8778240" cy="73152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45" name="Shape 43"/>
          <p:cNvSpPr/>
          <p:nvPr/>
        </p:nvSpPr>
        <p:spPr>
          <a:xfrm>
            <a:off x="9144000" y="7955280"/>
            <a:ext cx="512064" cy="512064"/>
          </a:xfrm>
          <a:prstGeom prst="ellipse">
            <a:avLst/>
          </a:prstGeom>
          <a:solidFill>
            <a:srgbClr val="27AE60"/>
          </a:solidFill>
          <a:ln w="12700">
            <a:solidFill>
              <a:srgbClr val="27AE60"/>
            </a:solidFill>
            <a:prstDash val="solid"/>
          </a:ln>
        </p:spPr>
      </p:sp>
      <p:sp>
        <p:nvSpPr>
          <p:cNvPr id="46" name="Text 44"/>
          <p:cNvSpPr/>
          <p:nvPr/>
        </p:nvSpPr>
        <p:spPr>
          <a:xfrm>
            <a:off x="9144000" y="7955280"/>
            <a:ext cx="512064" cy="512064"/>
          </a:xfrm>
          <a:prstGeom prst="rect">
            <a:avLst/>
          </a:prstGeom>
          <a:noFill/>
          <a:ln/>
        </p:spPr>
        <p:txBody>
          <a:bodyPr wrap="square" rtlCol="0" anchor="ctr"/>
          <a:lstStyle/>
          <a:p>
            <a:pPr algn="ctr"/>
            <a:r>
              <a:rPr lang="en-US" b="1" dirty="0">
                <a:solidFill>
                  <a:srgbClr val="FFFFFF"/>
                </a:solidFill>
              </a:rPr>
              <a:t>✓</a:t>
            </a:r>
            <a:endParaRPr lang="en-US" dirty="0"/>
          </a:p>
        </p:txBody>
      </p:sp>
      <p:sp>
        <p:nvSpPr>
          <p:cNvPr id="47" name="Text 45"/>
          <p:cNvSpPr/>
          <p:nvPr/>
        </p:nvSpPr>
        <p:spPr>
          <a:xfrm>
            <a:off x="9747504" y="7882128"/>
            <a:ext cx="7955280" cy="694944"/>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Apply bcrypt/Argon2 for password hashing with salt</a:t>
            </a:r>
            <a:endParaRPr lang="en-US" sz="1900" dirty="0"/>
          </a:p>
        </p:txBody>
      </p:sp>
      <p:sp>
        <p:nvSpPr>
          <p:cNvPr id="48" name="Shape 46"/>
          <p:cNvSpPr/>
          <p:nvPr/>
        </p:nvSpPr>
        <p:spPr>
          <a:xfrm>
            <a:off x="0" y="9875520"/>
            <a:ext cx="18288000" cy="411480"/>
          </a:xfrm>
          <a:prstGeom prst="rect">
            <a:avLst/>
          </a:prstGeom>
          <a:solidFill>
            <a:srgbClr val="004D5B"/>
          </a:solidFill>
          <a:ln w="12700">
            <a:solidFill>
              <a:srgbClr val="004D5B"/>
            </a:solidFill>
            <a:prstDash val="solid"/>
          </a:ln>
        </p:spPr>
      </p:sp>
      <p:sp>
        <p:nvSpPr>
          <p:cNvPr id="49" name="Text 47"/>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51" name="Picture 50">
            <a:extLst>
              <a:ext uri="{FF2B5EF4-FFF2-40B4-BE49-F238E27FC236}">
                <a16:creationId xmlns:a16="http://schemas.microsoft.com/office/drawing/2014/main" id="{E56A5548-08EF-3C64-E277-662ECE4FCB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6776" y="-36576"/>
            <a:ext cx="4435024" cy="16276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737360"/>
          </a:xfrm>
          <a:prstGeom prst="rect">
            <a:avLst/>
          </a:prstGeom>
          <a:solidFill>
            <a:srgbClr val="004D5B"/>
          </a:solidFill>
          <a:ln w="12700">
            <a:solidFill>
              <a:srgbClr val="004D5B"/>
            </a:solidFill>
            <a:prstDash val="solid"/>
          </a:ln>
        </p:spPr>
      </p:sp>
      <p:sp>
        <p:nvSpPr>
          <p:cNvPr id="3" name="Text 1"/>
          <p:cNvSpPr/>
          <p:nvPr/>
        </p:nvSpPr>
        <p:spPr>
          <a:xfrm>
            <a:off x="548640" y="91440"/>
            <a:ext cx="17007840" cy="1005840"/>
          </a:xfrm>
          <a:prstGeom prst="rect">
            <a:avLst/>
          </a:prstGeom>
          <a:noFill/>
          <a:ln/>
        </p:spPr>
        <p:txBody>
          <a:bodyPr wrap="square" rtlCol="0" anchor="ctr"/>
          <a:lstStyle/>
          <a:p>
            <a:r>
              <a:rPr lang="en-US" sz="4400" b="1" dirty="0">
                <a:solidFill>
                  <a:srgbClr val="FFFFFF"/>
                </a:solidFill>
                <a:latin typeface="Arial Black" pitchFamily="34" charset="0"/>
                <a:ea typeface="Arial Black" pitchFamily="34" charset="-122"/>
                <a:cs typeface="Arial Black" pitchFamily="34" charset="-120"/>
              </a:rPr>
              <a:t>💉  A03:2021 — Injection</a:t>
            </a:r>
            <a:endParaRPr lang="en-US" sz="4400" dirty="0"/>
          </a:p>
        </p:txBody>
      </p:sp>
      <p:sp>
        <p:nvSpPr>
          <p:cNvPr id="4" name="Text 2"/>
          <p:cNvSpPr/>
          <p:nvPr/>
        </p:nvSpPr>
        <p:spPr>
          <a:xfrm>
            <a:off x="548640" y="1097280"/>
            <a:ext cx="17007840" cy="548640"/>
          </a:xfrm>
          <a:prstGeom prst="rect">
            <a:avLst/>
          </a:prstGeom>
          <a:noFill/>
          <a:ln/>
        </p:spPr>
        <p:txBody>
          <a:bodyPr wrap="square" rtlCol="0" anchor="ctr"/>
          <a:lstStyle/>
          <a:p>
            <a:r>
              <a:rPr lang="en-US" sz="2000" dirty="0">
                <a:solidFill>
                  <a:srgbClr val="00B4C8"/>
                </a:solidFill>
                <a:latin typeface="Calibri" pitchFamily="34" charset="0"/>
                <a:ea typeface="Calibri" pitchFamily="34" charset="-122"/>
                <a:cs typeface="Calibri" pitchFamily="34" charset="-120"/>
              </a:rPr>
              <a:t>Moved from #1 → #3 | Includes SQL, OS, XSS, LDAP injection | 94% of apps tested | XSS now merged here</a:t>
            </a:r>
            <a:endParaRPr lang="en-US" sz="2000" dirty="0"/>
          </a:p>
        </p:txBody>
      </p:sp>
      <p:sp>
        <p:nvSpPr>
          <p:cNvPr id="5" name="Shape 3"/>
          <p:cNvSpPr/>
          <p:nvPr/>
        </p:nvSpPr>
        <p:spPr>
          <a:xfrm>
            <a:off x="0" y="1737360"/>
            <a:ext cx="18288000" cy="73152"/>
          </a:xfrm>
          <a:prstGeom prst="rect">
            <a:avLst/>
          </a:prstGeom>
          <a:solidFill>
            <a:srgbClr val="E67E22"/>
          </a:solidFill>
          <a:ln w="12700">
            <a:solidFill>
              <a:srgbClr val="E67E22"/>
            </a:solidFill>
            <a:prstDash val="solid"/>
          </a:ln>
        </p:spPr>
      </p:sp>
      <p:sp>
        <p:nvSpPr>
          <p:cNvPr id="6" name="Shape 4"/>
          <p:cNvSpPr/>
          <p:nvPr/>
        </p:nvSpPr>
        <p:spPr>
          <a:xfrm>
            <a:off x="548640" y="2011680"/>
            <a:ext cx="17190720" cy="1316736"/>
          </a:xfrm>
          <a:prstGeom prst="rect">
            <a:avLst/>
          </a:prstGeom>
          <a:solidFill>
            <a:srgbClr val="FFF8F0"/>
          </a:solidFill>
          <a:ln w="12700">
            <a:solidFill>
              <a:srgbClr val="E67E22"/>
            </a:solidFill>
            <a:prstDash val="solid"/>
          </a:ln>
          <a:effectLst>
            <a:outerShdw blurRad="76200" dist="25400" dir="8100000" algn="bl" rotWithShape="0">
              <a:srgbClr val="000000">
                <a:alpha val="10000"/>
              </a:srgbClr>
            </a:outerShdw>
          </a:effectLst>
        </p:spPr>
      </p:sp>
      <p:sp>
        <p:nvSpPr>
          <p:cNvPr id="7" name="Shape 5"/>
          <p:cNvSpPr/>
          <p:nvPr/>
        </p:nvSpPr>
        <p:spPr>
          <a:xfrm>
            <a:off x="548640" y="2011680"/>
            <a:ext cx="128016" cy="1316736"/>
          </a:xfrm>
          <a:prstGeom prst="rect">
            <a:avLst/>
          </a:prstGeom>
          <a:solidFill>
            <a:srgbClr val="E67E22"/>
          </a:solidFill>
          <a:ln w="12700">
            <a:solidFill>
              <a:srgbClr val="E67E22"/>
            </a:solidFill>
            <a:prstDash val="solid"/>
          </a:ln>
        </p:spPr>
      </p:sp>
      <p:sp>
        <p:nvSpPr>
          <p:cNvPr id="8" name="Text 6"/>
          <p:cNvSpPr/>
          <p:nvPr/>
        </p:nvSpPr>
        <p:spPr>
          <a:xfrm>
            <a:off x="822960" y="2084832"/>
            <a:ext cx="16642080" cy="1170432"/>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Injection attacks occur when an attacker sends malicious code (SQL, OS commands, scripts) as part of a query to a web application. The application executes this malicious data as code, allowing the attacker to manipulate the application in unintended ways.</a:t>
            </a:r>
            <a:endParaRPr lang="en-US" sz="2100" dirty="0"/>
          </a:p>
        </p:txBody>
      </p:sp>
      <p:sp>
        <p:nvSpPr>
          <p:cNvPr id="9" name="Text 7"/>
          <p:cNvSpPr/>
          <p:nvPr/>
        </p:nvSpPr>
        <p:spPr>
          <a:xfrm>
            <a:off x="548640" y="3511296"/>
            <a:ext cx="16459200" cy="548640"/>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Types of Injection Attacks</a:t>
            </a:r>
            <a:endParaRPr lang="en-US" sz="2600" dirty="0"/>
          </a:p>
        </p:txBody>
      </p:sp>
      <p:sp>
        <p:nvSpPr>
          <p:cNvPr id="10" name="Shape 8"/>
          <p:cNvSpPr/>
          <p:nvPr/>
        </p:nvSpPr>
        <p:spPr>
          <a:xfrm>
            <a:off x="548640" y="4169664"/>
            <a:ext cx="8412480" cy="228600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11" name="Shape 9"/>
          <p:cNvSpPr/>
          <p:nvPr/>
        </p:nvSpPr>
        <p:spPr>
          <a:xfrm>
            <a:off x="548640" y="4169664"/>
            <a:ext cx="8412480" cy="694944"/>
          </a:xfrm>
          <a:prstGeom prst="rect">
            <a:avLst/>
          </a:prstGeom>
          <a:solidFill>
            <a:srgbClr val="C0392B"/>
          </a:solidFill>
          <a:ln w="12700">
            <a:solidFill>
              <a:srgbClr val="C0392B"/>
            </a:solidFill>
            <a:prstDash val="solid"/>
          </a:ln>
        </p:spPr>
      </p:sp>
      <p:sp>
        <p:nvSpPr>
          <p:cNvPr id="12" name="Text 10"/>
          <p:cNvSpPr/>
          <p:nvPr/>
        </p:nvSpPr>
        <p:spPr>
          <a:xfrm>
            <a:off x="731520" y="4242816"/>
            <a:ext cx="7863840" cy="548640"/>
          </a:xfrm>
          <a:prstGeom prst="rect">
            <a:avLst/>
          </a:prstGeom>
          <a:noFill/>
          <a:ln/>
        </p:spPr>
        <p:txBody>
          <a:bodyPr wrap="square" rtlCol="0" anchor="ctr"/>
          <a:lstStyle/>
          <a:p>
            <a:r>
              <a:rPr lang="en-US" sz="2200" b="1" dirty="0">
                <a:solidFill>
                  <a:srgbClr val="FFFFFF"/>
                </a:solidFill>
                <a:latin typeface="Arial" pitchFamily="34" charset="0"/>
                <a:ea typeface="Arial" pitchFamily="34" charset="-122"/>
                <a:cs typeface="Arial" pitchFamily="34" charset="-120"/>
              </a:rPr>
              <a:t>🗄️  SQL Injection</a:t>
            </a:r>
            <a:endParaRPr lang="en-US" sz="2200" dirty="0"/>
          </a:p>
        </p:txBody>
      </p:sp>
      <p:sp>
        <p:nvSpPr>
          <p:cNvPr id="13" name="Text 11"/>
          <p:cNvSpPr/>
          <p:nvPr/>
        </p:nvSpPr>
        <p:spPr>
          <a:xfrm>
            <a:off x="731520" y="4956048"/>
            <a:ext cx="7863840" cy="54864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Malicious SQL injected into database queries</a:t>
            </a:r>
            <a:endParaRPr lang="en-US" sz="1900" dirty="0"/>
          </a:p>
        </p:txBody>
      </p:sp>
      <p:sp>
        <p:nvSpPr>
          <p:cNvPr id="14" name="Shape 12"/>
          <p:cNvSpPr/>
          <p:nvPr/>
        </p:nvSpPr>
        <p:spPr>
          <a:xfrm>
            <a:off x="731520" y="5596128"/>
            <a:ext cx="7863840" cy="658368"/>
          </a:xfrm>
          <a:prstGeom prst="rect">
            <a:avLst/>
          </a:prstGeom>
          <a:solidFill>
            <a:srgbClr val="1A1A2E"/>
          </a:solidFill>
          <a:ln w="12700">
            <a:solidFill>
              <a:srgbClr val="C0392B"/>
            </a:solidFill>
            <a:prstDash val="solid"/>
          </a:ln>
        </p:spPr>
      </p:sp>
      <p:sp>
        <p:nvSpPr>
          <p:cNvPr id="15" name="Text 13"/>
          <p:cNvSpPr/>
          <p:nvPr/>
        </p:nvSpPr>
        <p:spPr>
          <a:xfrm>
            <a:off x="822960" y="5632704"/>
            <a:ext cx="7680960" cy="548640"/>
          </a:xfrm>
          <a:prstGeom prst="rect">
            <a:avLst/>
          </a:prstGeom>
          <a:noFill/>
          <a:ln/>
        </p:spPr>
        <p:txBody>
          <a:bodyPr wrap="square" rtlCol="0" anchor="ctr"/>
          <a:lstStyle/>
          <a:p>
            <a:r>
              <a:rPr lang="en-US" sz="1700" dirty="0">
                <a:solidFill>
                  <a:srgbClr val="00FF88"/>
                </a:solidFill>
                <a:latin typeface="Consolas" pitchFamily="34" charset="0"/>
                <a:ea typeface="Consolas" pitchFamily="34" charset="-122"/>
                <a:cs typeface="Consolas" pitchFamily="34" charset="-120"/>
              </a:rPr>
              <a:t>Example: ' OR 1=1 --</a:t>
            </a:r>
            <a:endParaRPr lang="en-US" sz="1700" dirty="0"/>
          </a:p>
        </p:txBody>
      </p:sp>
      <p:sp>
        <p:nvSpPr>
          <p:cNvPr id="16" name="Shape 14"/>
          <p:cNvSpPr/>
          <p:nvPr/>
        </p:nvSpPr>
        <p:spPr>
          <a:xfrm>
            <a:off x="548640" y="6693408"/>
            <a:ext cx="8412480" cy="228600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17" name="Shape 15"/>
          <p:cNvSpPr/>
          <p:nvPr/>
        </p:nvSpPr>
        <p:spPr>
          <a:xfrm>
            <a:off x="548640" y="6693408"/>
            <a:ext cx="8412480" cy="694944"/>
          </a:xfrm>
          <a:prstGeom prst="rect">
            <a:avLst/>
          </a:prstGeom>
          <a:solidFill>
            <a:srgbClr val="8E44AD"/>
          </a:solidFill>
          <a:ln w="12700">
            <a:solidFill>
              <a:srgbClr val="8E44AD"/>
            </a:solidFill>
            <a:prstDash val="solid"/>
          </a:ln>
        </p:spPr>
      </p:sp>
      <p:sp>
        <p:nvSpPr>
          <p:cNvPr id="18" name="Text 16"/>
          <p:cNvSpPr/>
          <p:nvPr/>
        </p:nvSpPr>
        <p:spPr>
          <a:xfrm>
            <a:off x="731520" y="6766560"/>
            <a:ext cx="7863840" cy="548640"/>
          </a:xfrm>
          <a:prstGeom prst="rect">
            <a:avLst/>
          </a:prstGeom>
          <a:noFill/>
          <a:ln/>
        </p:spPr>
        <p:txBody>
          <a:bodyPr wrap="square" rtlCol="0" anchor="ctr"/>
          <a:lstStyle/>
          <a:p>
            <a:r>
              <a:rPr lang="en-US" sz="2200" b="1" dirty="0">
                <a:solidFill>
                  <a:srgbClr val="FFFFFF"/>
                </a:solidFill>
                <a:latin typeface="Arial" pitchFamily="34" charset="0"/>
                <a:ea typeface="Arial" pitchFamily="34" charset="-122"/>
                <a:cs typeface="Arial" pitchFamily="34" charset="-120"/>
              </a:rPr>
              <a:t>📜  XSS (Cross-Site Scripting)</a:t>
            </a:r>
            <a:endParaRPr lang="en-US" sz="2200" dirty="0"/>
          </a:p>
        </p:txBody>
      </p:sp>
      <p:sp>
        <p:nvSpPr>
          <p:cNvPr id="19" name="Text 17"/>
          <p:cNvSpPr/>
          <p:nvPr/>
        </p:nvSpPr>
        <p:spPr>
          <a:xfrm>
            <a:off x="731520" y="7479792"/>
            <a:ext cx="7863840" cy="54864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Malicious scripts injected into web pages</a:t>
            </a:r>
            <a:endParaRPr lang="en-US" sz="1900" dirty="0"/>
          </a:p>
        </p:txBody>
      </p:sp>
      <p:sp>
        <p:nvSpPr>
          <p:cNvPr id="20" name="Shape 18"/>
          <p:cNvSpPr/>
          <p:nvPr/>
        </p:nvSpPr>
        <p:spPr>
          <a:xfrm>
            <a:off x="731520" y="8119872"/>
            <a:ext cx="7863840" cy="658368"/>
          </a:xfrm>
          <a:prstGeom prst="rect">
            <a:avLst/>
          </a:prstGeom>
          <a:solidFill>
            <a:srgbClr val="1A1A2E"/>
          </a:solidFill>
          <a:ln w="12700">
            <a:solidFill>
              <a:srgbClr val="8E44AD"/>
            </a:solidFill>
            <a:prstDash val="solid"/>
          </a:ln>
        </p:spPr>
      </p:sp>
      <p:sp>
        <p:nvSpPr>
          <p:cNvPr id="21" name="Text 19"/>
          <p:cNvSpPr/>
          <p:nvPr/>
        </p:nvSpPr>
        <p:spPr>
          <a:xfrm>
            <a:off x="822960" y="8156448"/>
            <a:ext cx="7680960" cy="548640"/>
          </a:xfrm>
          <a:prstGeom prst="rect">
            <a:avLst/>
          </a:prstGeom>
          <a:noFill/>
          <a:ln/>
        </p:spPr>
        <p:txBody>
          <a:bodyPr wrap="square" rtlCol="0" anchor="ctr"/>
          <a:lstStyle/>
          <a:p>
            <a:r>
              <a:rPr lang="en-US" sz="1700" dirty="0">
                <a:solidFill>
                  <a:srgbClr val="00FF88"/>
                </a:solidFill>
                <a:latin typeface="Consolas" pitchFamily="34" charset="0"/>
                <a:ea typeface="Consolas" pitchFamily="34" charset="-122"/>
                <a:cs typeface="Consolas" pitchFamily="34" charset="-120"/>
              </a:rPr>
              <a:t>Example: &lt;script&gt;alert('XSS')&lt;/script&gt;</a:t>
            </a:r>
            <a:endParaRPr lang="en-US" sz="1700" dirty="0"/>
          </a:p>
        </p:txBody>
      </p:sp>
      <p:sp>
        <p:nvSpPr>
          <p:cNvPr id="22" name="Shape 20"/>
          <p:cNvSpPr/>
          <p:nvPr/>
        </p:nvSpPr>
        <p:spPr>
          <a:xfrm>
            <a:off x="9418320" y="4169664"/>
            <a:ext cx="8412480" cy="228600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3" name="Shape 21"/>
          <p:cNvSpPr/>
          <p:nvPr/>
        </p:nvSpPr>
        <p:spPr>
          <a:xfrm>
            <a:off x="9418320" y="4169664"/>
            <a:ext cx="8412480" cy="694944"/>
          </a:xfrm>
          <a:prstGeom prst="rect">
            <a:avLst/>
          </a:prstGeom>
          <a:solidFill>
            <a:srgbClr val="E67E22"/>
          </a:solidFill>
          <a:ln w="12700">
            <a:solidFill>
              <a:srgbClr val="E67E22"/>
            </a:solidFill>
            <a:prstDash val="solid"/>
          </a:ln>
        </p:spPr>
      </p:sp>
      <p:sp>
        <p:nvSpPr>
          <p:cNvPr id="24" name="Text 22"/>
          <p:cNvSpPr/>
          <p:nvPr/>
        </p:nvSpPr>
        <p:spPr>
          <a:xfrm>
            <a:off x="9601200" y="4242816"/>
            <a:ext cx="7863840" cy="548640"/>
          </a:xfrm>
          <a:prstGeom prst="rect">
            <a:avLst/>
          </a:prstGeom>
          <a:noFill/>
          <a:ln/>
        </p:spPr>
        <p:txBody>
          <a:bodyPr wrap="square" rtlCol="0" anchor="ctr"/>
          <a:lstStyle/>
          <a:p>
            <a:r>
              <a:rPr lang="en-US" sz="2200" b="1" dirty="0">
                <a:solidFill>
                  <a:srgbClr val="FFFFFF"/>
                </a:solidFill>
                <a:latin typeface="Arial" pitchFamily="34" charset="0"/>
                <a:ea typeface="Arial" pitchFamily="34" charset="-122"/>
                <a:cs typeface="Arial" pitchFamily="34" charset="-120"/>
              </a:rPr>
              <a:t>💻  Command Injection</a:t>
            </a:r>
            <a:endParaRPr lang="en-US" sz="2200" dirty="0"/>
          </a:p>
        </p:txBody>
      </p:sp>
      <p:sp>
        <p:nvSpPr>
          <p:cNvPr id="25" name="Text 23"/>
          <p:cNvSpPr/>
          <p:nvPr/>
        </p:nvSpPr>
        <p:spPr>
          <a:xfrm>
            <a:off x="9601200" y="4956048"/>
            <a:ext cx="7863840" cy="54864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OS shell commands injected via user input</a:t>
            </a:r>
            <a:endParaRPr lang="en-US" sz="1900" dirty="0"/>
          </a:p>
        </p:txBody>
      </p:sp>
      <p:sp>
        <p:nvSpPr>
          <p:cNvPr id="26" name="Shape 24"/>
          <p:cNvSpPr/>
          <p:nvPr/>
        </p:nvSpPr>
        <p:spPr>
          <a:xfrm>
            <a:off x="9601200" y="5596128"/>
            <a:ext cx="7863840" cy="658368"/>
          </a:xfrm>
          <a:prstGeom prst="rect">
            <a:avLst/>
          </a:prstGeom>
          <a:solidFill>
            <a:srgbClr val="1A1A2E"/>
          </a:solidFill>
          <a:ln w="12700">
            <a:solidFill>
              <a:srgbClr val="E67E22"/>
            </a:solidFill>
            <a:prstDash val="solid"/>
          </a:ln>
        </p:spPr>
      </p:sp>
      <p:sp>
        <p:nvSpPr>
          <p:cNvPr id="27" name="Text 25"/>
          <p:cNvSpPr/>
          <p:nvPr/>
        </p:nvSpPr>
        <p:spPr>
          <a:xfrm>
            <a:off x="9692640" y="5632704"/>
            <a:ext cx="7680960" cy="548640"/>
          </a:xfrm>
          <a:prstGeom prst="rect">
            <a:avLst/>
          </a:prstGeom>
          <a:noFill/>
          <a:ln/>
        </p:spPr>
        <p:txBody>
          <a:bodyPr wrap="square" rtlCol="0" anchor="ctr"/>
          <a:lstStyle/>
          <a:p>
            <a:r>
              <a:rPr lang="en-US" sz="1700" dirty="0">
                <a:solidFill>
                  <a:srgbClr val="00FF88"/>
                </a:solidFill>
                <a:latin typeface="Consolas" pitchFamily="34" charset="0"/>
                <a:ea typeface="Consolas" pitchFamily="34" charset="-122"/>
                <a:cs typeface="Consolas" pitchFamily="34" charset="-120"/>
              </a:rPr>
              <a:t>Example: ; rm -rf / or | cat /etc/passwd</a:t>
            </a:r>
            <a:endParaRPr lang="en-US" sz="1700" dirty="0"/>
          </a:p>
        </p:txBody>
      </p:sp>
      <p:sp>
        <p:nvSpPr>
          <p:cNvPr id="28" name="Shape 26"/>
          <p:cNvSpPr/>
          <p:nvPr/>
        </p:nvSpPr>
        <p:spPr>
          <a:xfrm>
            <a:off x="9418320" y="6693408"/>
            <a:ext cx="8412480" cy="2286000"/>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9" name="Shape 27"/>
          <p:cNvSpPr/>
          <p:nvPr/>
        </p:nvSpPr>
        <p:spPr>
          <a:xfrm>
            <a:off x="9418320" y="6693408"/>
            <a:ext cx="8412480" cy="694944"/>
          </a:xfrm>
          <a:prstGeom prst="rect">
            <a:avLst/>
          </a:prstGeom>
          <a:solidFill>
            <a:srgbClr val="2980B9"/>
          </a:solidFill>
          <a:ln w="12700">
            <a:solidFill>
              <a:srgbClr val="2980B9"/>
            </a:solidFill>
            <a:prstDash val="solid"/>
          </a:ln>
        </p:spPr>
      </p:sp>
      <p:sp>
        <p:nvSpPr>
          <p:cNvPr id="30" name="Text 28"/>
          <p:cNvSpPr/>
          <p:nvPr/>
        </p:nvSpPr>
        <p:spPr>
          <a:xfrm>
            <a:off x="9601200" y="6766560"/>
            <a:ext cx="7863840" cy="548640"/>
          </a:xfrm>
          <a:prstGeom prst="rect">
            <a:avLst/>
          </a:prstGeom>
          <a:noFill/>
          <a:ln/>
        </p:spPr>
        <p:txBody>
          <a:bodyPr wrap="square" rtlCol="0" anchor="ctr"/>
          <a:lstStyle/>
          <a:p>
            <a:r>
              <a:rPr lang="en-US" sz="2200" b="1" dirty="0">
                <a:solidFill>
                  <a:srgbClr val="FFFFFF"/>
                </a:solidFill>
                <a:latin typeface="Arial" pitchFamily="34" charset="0"/>
                <a:ea typeface="Arial" pitchFamily="34" charset="-122"/>
                <a:cs typeface="Arial" pitchFamily="34" charset="-120"/>
              </a:rPr>
              <a:t>📁  LDAP Injection</a:t>
            </a:r>
            <a:endParaRPr lang="en-US" sz="2200" dirty="0"/>
          </a:p>
        </p:txBody>
      </p:sp>
      <p:sp>
        <p:nvSpPr>
          <p:cNvPr id="31" name="Text 29"/>
          <p:cNvSpPr/>
          <p:nvPr/>
        </p:nvSpPr>
        <p:spPr>
          <a:xfrm>
            <a:off x="9601200" y="7479792"/>
            <a:ext cx="7863840" cy="54864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Malicious LDAP queries to bypass auth</a:t>
            </a:r>
            <a:endParaRPr lang="en-US" sz="1900" dirty="0"/>
          </a:p>
        </p:txBody>
      </p:sp>
      <p:sp>
        <p:nvSpPr>
          <p:cNvPr id="32" name="Shape 30"/>
          <p:cNvSpPr/>
          <p:nvPr/>
        </p:nvSpPr>
        <p:spPr>
          <a:xfrm>
            <a:off x="9601200" y="8119872"/>
            <a:ext cx="7863840" cy="658368"/>
          </a:xfrm>
          <a:prstGeom prst="rect">
            <a:avLst/>
          </a:prstGeom>
          <a:solidFill>
            <a:srgbClr val="1A1A2E"/>
          </a:solidFill>
          <a:ln w="12700">
            <a:solidFill>
              <a:srgbClr val="2980B9"/>
            </a:solidFill>
            <a:prstDash val="solid"/>
          </a:ln>
        </p:spPr>
      </p:sp>
      <p:sp>
        <p:nvSpPr>
          <p:cNvPr id="33" name="Text 31"/>
          <p:cNvSpPr/>
          <p:nvPr/>
        </p:nvSpPr>
        <p:spPr>
          <a:xfrm>
            <a:off x="9692640" y="8156448"/>
            <a:ext cx="7680960" cy="548640"/>
          </a:xfrm>
          <a:prstGeom prst="rect">
            <a:avLst/>
          </a:prstGeom>
          <a:noFill/>
          <a:ln/>
        </p:spPr>
        <p:txBody>
          <a:bodyPr wrap="square" rtlCol="0" anchor="ctr"/>
          <a:lstStyle/>
          <a:p>
            <a:r>
              <a:rPr lang="en-US" sz="1700" dirty="0">
                <a:solidFill>
                  <a:srgbClr val="00FF88"/>
                </a:solidFill>
                <a:latin typeface="Consolas" pitchFamily="34" charset="0"/>
                <a:ea typeface="Consolas" pitchFamily="34" charset="-122"/>
                <a:cs typeface="Consolas" pitchFamily="34" charset="-120"/>
              </a:rPr>
              <a:t>Example: *)(uid=*))(|(uid=*</a:t>
            </a:r>
            <a:endParaRPr lang="en-US" sz="1700" dirty="0"/>
          </a:p>
        </p:txBody>
      </p:sp>
      <p:sp>
        <p:nvSpPr>
          <p:cNvPr id="34" name="Shape 32"/>
          <p:cNvSpPr/>
          <p:nvPr/>
        </p:nvSpPr>
        <p:spPr>
          <a:xfrm>
            <a:off x="0" y="9875520"/>
            <a:ext cx="18288000" cy="411480"/>
          </a:xfrm>
          <a:prstGeom prst="rect">
            <a:avLst/>
          </a:prstGeom>
          <a:solidFill>
            <a:srgbClr val="004D5B"/>
          </a:solidFill>
          <a:ln w="12700">
            <a:solidFill>
              <a:srgbClr val="004D5B"/>
            </a:solidFill>
            <a:prstDash val="solid"/>
          </a:ln>
        </p:spPr>
      </p:sp>
      <p:sp>
        <p:nvSpPr>
          <p:cNvPr id="35" name="Text 33"/>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37" name="Picture 36">
            <a:extLst>
              <a:ext uri="{FF2B5EF4-FFF2-40B4-BE49-F238E27FC236}">
                <a16:creationId xmlns:a16="http://schemas.microsoft.com/office/drawing/2014/main" id="{F931C253-362C-F26A-1B46-2FF3CD6D8C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6776" y="-36576"/>
            <a:ext cx="4435024" cy="16276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645920"/>
          </a:xfrm>
          <a:prstGeom prst="rect">
            <a:avLst/>
          </a:prstGeom>
          <a:solidFill>
            <a:srgbClr val="0D0D1E"/>
          </a:solidFill>
          <a:ln w="12700">
            <a:solidFill>
              <a:srgbClr val="0D0D1E"/>
            </a:solidFill>
            <a:prstDash val="solid"/>
          </a:ln>
        </p:spPr>
      </p:sp>
      <p:sp>
        <p:nvSpPr>
          <p:cNvPr id="3" name="Text 1"/>
          <p:cNvSpPr/>
          <p:nvPr/>
        </p:nvSpPr>
        <p:spPr>
          <a:xfrm>
            <a:off x="548640" y="182880"/>
            <a:ext cx="17007840" cy="914400"/>
          </a:xfrm>
          <a:prstGeom prst="rect">
            <a:avLst/>
          </a:prstGeom>
          <a:noFill/>
          <a:ln/>
        </p:spPr>
        <p:txBody>
          <a:bodyPr wrap="square" rtlCol="0" anchor="ctr"/>
          <a:lstStyle/>
          <a:p>
            <a:r>
              <a:rPr lang="en-US" sz="3800" b="1" dirty="0">
                <a:solidFill>
                  <a:srgbClr val="FFFFFF"/>
                </a:solidFill>
                <a:latin typeface="Arial Black" pitchFamily="34" charset="0"/>
                <a:ea typeface="Arial Black" pitchFamily="34" charset="-122"/>
                <a:cs typeface="Arial Black" pitchFamily="34" charset="-120"/>
              </a:rPr>
              <a:t>💉  A03: SQL Injection — Attack Walkthrough</a:t>
            </a:r>
            <a:endParaRPr lang="en-US" sz="3800" dirty="0"/>
          </a:p>
        </p:txBody>
      </p:sp>
      <p:sp>
        <p:nvSpPr>
          <p:cNvPr id="4" name="Shape 2"/>
          <p:cNvSpPr/>
          <p:nvPr/>
        </p:nvSpPr>
        <p:spPr>
          <a:xfrm>
            <a:off x="0" y="1645920"/>
            <a:ext cx="18288000" cy="73152"/>
          </a:xfrm>
          <a:prstGeom prst="rect">
            <a:avLst/>
          </a:prstGeom>
          <a:solidFill>
            <a:srgbClr val="E67E22"/>
          </a:solidFill>
          <a:ln w="12700">
            <a:solidFill>
              <a:srgbClr val="E67E22"/>
            </a:solidFill>
            <a:prstDash val="solid"/>
          </a:ln>
        </p:spPr>
      </p:sp>
      <p:sp>
        <p:nvSpPr>
          <p:cNvPr id="5" name="Text 3"/>
          <p:cNvSpPr/>
          <p:nvPr/>
        </p:nvSpPr>
        <p:spPr>
          <a:xfrm>
            <a:off x="548640" y="1828800"/>
            <a:ext cx="10058400" cy="548640"/>
          </a:xfrm>
          <a:prstGeom prst="rect">
            <a:avLst/>
          </a:prstGeom>
          <a:noFill/>
          <a:ln/>
        </p:spPr>
        <p:txBody>
          <a:bodyPr wrap="square" rtlCol="0" anchor="ctr"/>
          <a:lstStyle/>
          <a:p>
            <a:r>
              <a:rPr lang="en-US" sz="2200" b="1" dirty="0">
                <a:solidFill>
                  <a:srgbClr val="00B4C8"/>
                </a:solidFill>
                <a:latin typeface="Arial" pitchFamily="34" charset="0"/>
                <a:ea typeface="Arial" pitchFamily="34" charset="-122"/>
                <a:cs typeface="Arial" pitchFamily="34" charset="-120"/>
              </a:rPr>
              <a:t>📋  Vulnerable Login Query (Before Attack)</a:t>
            </a:r>
            <a:endParaRPr lang="en-US" sz="2200" dirty="0"/>
          </a:p>
        </p:txBody>
      </p:sp>
      <p:sp>
        <p:nvSpPr>
          <p:cNvPr id="6" name="Shape 4"/>
          <p:cNvSpPr/>
          <p:nvPr/>
        </p:nvSpPr>
        <p:spPr>
          <a:xfrm>
            <a:off x="548640" y="2468880"/>
            <a:ext cx="10058400" cy="1737360"/>
          </a:xfrm>
          <a:prstGeom prst="rect">
            <a:avLst/>
          </a:prstGeom>
          <a:solidFill>
            <a:srgbClr val="0D0D1E"/>
          </a:solidFill>
          <a:ln w="12700">
            <a:solidFill>
              <a:srgbClr val="333355"/>
            </a:solidFill>
            <a:prstDash val="solid"/>
          </a:ln>
        </p:spPr>
      </p:sp>
      <p:sp>
        <p:nvSpPr>
          <p:cNvPr id="7" name="Text 5"/>
          <p:cNvSpPr/>
          <p:nvPr/>
        </p:nvSpPr>
        <p:spPr>
          <a:xfrm>
            <a:off x="731520" y="2523744"/>
            <a:ext cx="9692640" cy="1627632"/>
          </a:xfrm>
          <a:prstGeom prst="rect">
            <a:avLst/>
          </a:prstGeom>
          <a:noFill/>
          <a:ln/>
        </p:spPr>
        <p:txBody>
          <a:bodyPr wrap="square" rtlCol="0" anchor="ctr"/>
          <a:lstStyle/>
          <a:p>
            <a:r>
              <a:rPr lang="en-US" sz="1900" dirty="0">
                <a:solidFill>
                  <a:srgbClr val="00CCFF"/>
                </a:solidFill>
                <a:latin typeface="Consolas" pitchFamily="34" charset="0"/>
                <a:ea typeface="Consolas" pitchFamily="34" charset="-122"/>
                <a:cs typeface="Consolas" pitchFamily="34" charset="-120"/>
              </a:rPr>
              <a:t>SELECT * FROM users</a:t>
            </a:r>
            <a:endParaRPr lang="en-US" sz="1900" dirty="0"/>
          </a:p>
          <a:p>
            <a:r>
              <a:rPr lang="en-US" sz="1900" dirty="0">
                <a:solidFill>
                  <a:srgbClr val="00CCFF"/>
                </a:solidFill>
                <a:latin typeface="Consolas" pitchFamily="34" charset="0"/>
                <a:ea typeface="Consolas" pitchFamily="34" charset="-122"/>
                <a:cs typeface="Consolas" pitchFamily="34" charset="-120"/>
              </a:rPr>
              <a:t>WHERE username = '" + userInput + "'</a:t>
            </a:r>
            <a:endParaRPr lang="en-US" sz="1900" dirty="0"/>
          </a:p>
          <a:p>
            <a:r>
              <a:rPr lang="en-US" sz="1900" dirty="0">
                <a:solidFill>
                  <a:srgbClr val="00CCFF"/>
                </a:solidFill>
                <a:latin typeface="Consolas" pitchFamily="34" charset="0"/>
                <a:ea typeface="Consolas" pitchFamily="34" charset="-122"/>
                <a:cs typeface="Consolas" pitchFamily="34" charset="-120"/>
              </a:rPr>
              <a:t>AND password = '" + passInput + "';</a:t>
            </a:r>
            <a:endParaRPr lang="en-US" sz="1900" dirty="0"/>
          </a:p>
        </p:txBody>
      </p:sp>
      <p:sp>
        <p:nvSpPr>
          <p:cNvPr id="8" name="Text 6"/>
          <p:cNvSpPr/>
          <p:nvPr/>
        </p:nvSpPr>
        <p:spPr>
          <a:xfrm>
            <a:off x="548640" y="4352544"/>
            <a:ext cx="10058400" cy="548640"/>
          </a:xfrm>
          <a:prstGeom prst="rect">
            <a:avLst/>
          </a:prstGeom>
          <a:noFill/>
          <a:ln/>
        </p:spPr>
        <p:txBody>
          <a:bodyPr wrap="square" rtlCol="0" anchor="ctr"/>
          <a:lstStyle/>
          <a:p>
            <a:r>
              <a:rPr lang="en-US" sz="2200" b="1" dirty="0">
                <a:solidFill>
                  <a:srgbClr val="FFB347"/>
                </a:solidFill>
                <a:latin typeface="Arial" pitchFamily="34" charset="0"/>
                <a:ea typeface="Arial" pitchFamily="34" charset="-122"/>
                <a:cs typeface="Arial" pitchFamily="34" charset="-120"/>
              </a:rPr>
              <a:t>⌨️  Attacker Input (username field):</a:t>
            </a:r>
            <a:endParaRPr lang="en-US" sz="2200" dirty="0"/>
          </a:p>
        </p:txBody>
      </p:sp>
      <p:sp>
        <p:nvSpPr>
          <p:cNvPr id="9" name="Shape 7"/>
          <p:cNvSpPr/>
          <p:nvPr/>
        </p:nvSpPr>
        <p:spPr>
          <a:xfrm>
            <a:off x="548640" y="4974336"/>
            <a:ext cx="10058400" cy="950976"/>
          </a:xfrm>
          <a:prstGeom prst="rect">
            <a:avLst/>
          </a:prstGeom>
          <a:solidFill>
            <a:srgbClr val="0D0D1E"/>
          </a:solidFill>
          <a:ln w="12700">
            <a:solidFill>
              <a:srgbClr val="C0392B"/>
            </a:solidFill>
            <a:prstDash val="solid"/>
          </a:ln>
        </p:spPr>
      </p:sp>
      <p:sp>
        <p:nvSpPr>
          <p:cNvPr id="10" name="Text 8"/>
          <p:cNvSpPr/>
          <p:nvPr/>
        </p:nvSpPr>
        <p:spPr>
          <a:xfrm>
            <a:off x="731520" y="5010912"/>
            <a:ext cx="9692640" cy="841248"/>
          </a:xfrm>
          <a:prstGeom prst="rect">
            <a:avLst/>
          </a:prstGeom>
          <a:noFill/>
          <a:ln/>
        </p:spPr>
        <p:txBody>
          <a:bodyPr wrap="square" rtlCol="0" anchor="ctr"/>
          <a:lstStyle/>
          <a:p>
            <a:r>
              <a:rPr lang="en-US" sz="2800" b="1" dirty="0">
                <a:solidFill>
                  <a:srgbClr val="FF4444"/>
                </a:solidFill>
                <a:latin typeface="Consolas" pitchFamily="34" charset="0"/>
                <a:ea typeface="Consolas" pitchFamily="34" charset="-122"/>
                <a:cs typeface="Consolas" pitchFamily="34" charset="-120"/>
              </a:rPr>
              <a:t>admin' --</a:t>
            </a:r>
            <a:endParaRPr lang="en-US" sz="2800" dirty="0"/>
          </a:p>
        </p:txBody>
      </p:sp>
      <p:sp>
        <p:nvSpPr>
          <p:cNvPr id="11" name="Text 9"/>
          <p:cNvSpPr/>
          <p:nvPr/>
        </p:nvSpPr>
        <p:spPr>
          <a:xfrm>
            <a:off x="548640" y="6071616"/>
            <a:ext cx="10058400" cy="548640"/>
          </a:xfrm>
          <a:prstGeom prst="rect">
            <a:avLst/>
          </a:prstGeom>
          <a:noFill/>
          <a:ln/>
        </p:spPr>
        <p:txBody>
          <a:bodyPr wrap="square" rtlCol="0" anchor="ctr"/>
          <a:lstStyle/>
          <a:p>
            <a:r>
              <a:rPr lang="en-US" sz="2200" b="1" dirty="0">
                <a:solidFill>
                  <a:srgbClr val="FF6B6B"/>
                </a:solidFill>
                <a:latin typeface="Arial" pitchFamily="34" charset="0"/>
                <a:ea typeface="Arial" pitchFamily="34" charset="-122"/>
                <a:cs typeface="Arial" pitchFamily="34" charset="-120"/>
              </a:rPr>
              <a:t>💥  Resulting Query (After Injection):</a:t>
            </a:r>
            <a:endParaRPr lang="en-US" sz="2200" dirty="0"/>
          </a:p>
        </p:txBody>
      </p:sp>
      <p:sp>
        <p:nvSpPr>
          <p:cNvPr id="12" name="Shape 10"/>
          <p:cNvSpPr/>
          <p:nvPr/>
        </p:nvSpPr>
        <p:spPr>
          <a:xfrm>
            <a:off x="548640" y="6693408"/>
            <a:ext cx="10058400" cy="1609344"/>
          </a:xfrm>
          <a:prstGeom prst="rect">
            <a:avLst/>
          </a:prstGeom>
          <a:solidFill>
            <a:srgbClr val="1A0000"/>
          </a:solidFill>
          <a:ln w="12700">
            <a:solidFill>
              <a:srgbClr val="C0392B"/>
            </a:solidFill>
            <a:prstDash val="solid"/>
          </a:ln>
        </p:spPr>
      </p:sp>
      <p:sp>
        <p:nvSpPr>
          <p:cNvPr id="13" name="Text 11"/>
          <p:cNvSpPr/>
          <p:nvPr/>
        </p:nvSpPr>
        <p:spPr>
          <a:xfrm>
            <a:off x="731520" y="6766560"/>
            <a:ext cx="9692640" cy="1499616"/>
          </a:xfrm>
          <a:prstGeom prst="rect">
            <a:avLst/>
          </a:prstGeom>
          <a:noFill/>
          <a:ln/>
        </p:spPr>
        <p:txBody>
          <a:bodyPr wrap="square" rtlCol="0" anchor="ctr"/>
          <a:lstStyle/>
          <a:p>
            <a:r>
              <a:rPr lang="en-US" sz="1900" dirty="0">
                <a:solidFill>
                  <a:srgbClr val="FFAAAA"/>
                </a:solidFill>
                <a:latin typeface="Consolas" pitchFamily="34" charset="0"/>
                <a:ea typeface="Consolas" pitchFamily="34" charset="-122"/>
                <a:cs typeface="Consolas" pitchFamily="34" charset="-120"/>
              </a:rPr>
              <a:t>SELECT * FROM users WHERE username = 'admin'</a:t>
            </a:r>
            <a:r>
              <a:rPr lang="en-US" sz="1900" b="1" dirty="0">
                <a:solidFill>
                  <a:srgbClr val="FF4444"/>
                </a:solidFill>
                <a:latin typeface="Consolas" pitchFamily="34" charset="0"/>
                <a:ea typeface="Consolas" pitchFamily="34" charset="-122"/>
                <a:cs typeface="Consolas" pitchFamily="34" charset="-120"/>
              </a:rPr>
              <a:t> --</a:t>
            </a:r>
            <a:r>
              <a:rPr lang="en-US" sz="1900" dirty="0">
                <a:solidFill>
                  <a:srgbClr val="666688"/>
                </a:solidFill>
                <a:latin typeface="Consolas" pitchFamily="34" charset="0"/>
                <a:ea typeface="Consolas" pitchFamily="34" charset="-122"/>
                <a:cs typeface="Consolas" pitchFamily="34" charset="-120"/>
              </a:rPr>
              <a:t>' AND password = '';</a:t>
            </a:r>
            <a:endParaRPr lang="en-US" sz="1900" dirty="0"/>
          </a:p>
        </p:txBody>
      </p:sp>
      <p:sp>
        <p:nvSpPr>
          <p:cNvPr id="14" name="Shape 12"/>
          <p:cNvSpPr/>
          <p:nvPr/>
        </p:nvSpPr>
        <p:spPr>
          <a:xfrm>
            <a:off x="11155680" y="1828800"/>
            <a:ext cx="6766560" cy="7772400"/>
          </a:xfrm>
          <a:prstGeom prst="rect">
            <a:avLst/>
          </a:prstGeom>
          <a:solidFill>
            <a:srgbClr val="0D1A2E"/>
          </a:solidFill>
          <a:ln w="12700">
            <a:solidFill>
              <a:srgbClr val="334466"/>
            </a:solidFill>
            <a:prstDash val="solid"/>
          </a:ln>
        </p:spPr>
      </p:sp>
      <p:sp>
        <p:nvSpPr>
          <p:cNvPr id="15" name="Shape 13"/>
          <p:cNvSpPr/>
          <p:nvPr/>
        </p:nvSpPr>
        <p:spPr>
          <a:xfrm>
            <a:off x="11155680" y="1828800"/>
            <a:ext cx="6766560" cy="694944"/>
          </a:xfrm>
          <a:prstGeom prst="rect">
            <a:avLst/>
          </a:prstGeom>
          <a:solidFill>
            <a:srgbClr val="C0392B"/>
          </a:solidFill>
          <a:ln w="12700">
            <a:solidFill>
              <a:srgbClr val="C0392B"/>
            </a:solidFill>
            <a:prstDash val="solid"/>
          </a:ln>
        </p:spPr>
      </p:sp>
      <p:sp>
        <p:nvSpPr>
          <p:cNvPr id="16" name="Text 14"/>
          <p:cNvSpPr/>
          <p:nvPr/>
        </p:nvSpPr>
        <p:spPr>
          <a:xfrm>
            <a:off x="11247120" y="1865376"/>
            <a:ext cx="6583680" cy="621792"/>
          </a:xfrm>
          <a:prstGeom prst="rect">
            <a:avLst/>
          </a:prstGeom>
          <a:noFill/>
          <a:ln/>
        </p:spPr>
        <p:txBody>
          <a:bodyPr wrap="square" rtlCol="0" anchor="ctr"/>
          <a:lstStyle/>
          <a:p>
            <a:r>
              <a:rPr lang="en-US" sz="2200" b="1" dirty="0">
                <a:solidFill>
                  <a:srgbClr val="FFFFFF"/>
                </a:solidFill>
                <a:latin typeface="Arial" pitchFamily="34" charset="0"/>
                <a:ea typeface="Arial" pitchFamily="34" charset="-122"/>
                <a:cs typeface="Arial" pitchFamily="34" charset="-120"/>
              </a:rPr>
              <a:t>🎯 What Happened?</a:t>
            </a:r>
            <a:endParaRPr lang="en-US" sz="2200" dirty="0"/>
          </a:p>
        </p:txBody>
      </p:sp>
      <p:sp>
        <p:nvSpPr>
          <p:cNvPr id="17" name="Shape 15"/>
          <p:cNvSpPr/>
          <p:nvPr/>
        </p:nvSpPr>
        <p:spPr>
          <a:xfrm>
            <a:off x="11338560" y="2706624"/>
            <a:ext cx="585216" cy="585216"/>
          </a:xfrm>
          <a:prstGeom prst="ellipse">
            <a:avLst/>
          </a:prstGeom>
          <a:solidFill>
            <a:srgbClr val="FF6B6B"/>
          </a:solidFill>
          <a:ln w="12700">
            <a:solidFill>
              <a:srgbClr val="FF6B6B"/>
            </a:solidFill>
            <a:prstDash val="solid"/>
          </a:ln>
        </p:spPr>
      </p:sp>
      <p:sp>
        <p:nvSpPr>
          <p:cNvPr id="18" name="Text 16"/>
          <p:cNvSpPr/>
          <p:nvPr/>
        </p:nvSpPr>
        <p:spPr>
          <a:xfrm>
            <a:off x="11338560" y="2706624"/>
            <a:ext cx="585216" cy="585216"/>
          </a:xfrm>
          <a:prstGeom prst="rect">
            <a:avLst/>
          </a:prstGeom>
          <a:noFill/>
          <a:ln/>
        </p:spPr>
        <p:txBody>
          <a:bodyPr wrap="square" rtlCol="0" anchor="ctr"/>
          <a:lstStyle/>
          <a:p>
            <a:pPr algn="ctr"/>
            <a:r>
              <a:rPr lang="en-US" b="1" dirty="0">
                <a:solidFill>
                  <a:srgbClr val="1A1A2E"/>
                </a:solidFill>
              </a:rPr>
              <a:t>1</a:t>
            </a:r>
            <a:endParaRPr lang="en-US" dirty="0"/>
          </a:p>
        </p:txBody>
      </p:sp>
      <p:sp>
        <p:nvSpPr>
          <p:cNvPr id="19" name="Text 17"/>
          <p:cNvSpPr/>
          <p:nvPr/>
        </p:nvSpPr>
        <p:spPr>
          <a:xfrm>
            <a:off x="12015216" y="2706624"/>
            <a:ext cx="5760720" cy="1005840"/>
          </a:xfrm>
          <a:prstGeom prst="rect">
            <a:avLst/>
          </a:prstGeom>
          <a:noFill/>
          <a:ln/>
        </p:spPr>
        <p:txBody>
          <a:bodyPr wrap="square" rtlCol="0" anchor="ctr"/>
          <a:lstStyle/>
          <a:p>
            <a:r>
              <a:rPr lang="en-US" sz="1900" dirty="0">
                <a:solidFill>
                  <a:srgbClr val="DDDDEE"/>
                </a:solidFill>
                <a:latin typeface="Calibri" pitchFamily="34" charset="0"/>
                <a:ea typeface="Calibri" pitchFamily="34" charset="-122"/>
                <a:cs typeface="Calibri" pitchFamily="34" charset="-120"/>
              </a:rPr>
              <a:t>The ' closes the username string early</a:t>
            </a:r>
            <a:endParaRPr lang="en-US" sz="1900" dirty="0"/>
          </a:p>
        </p:txBody>
      </p:sp>
      <p:sp>
        <p:nvSpPr>
          <p:cNvPr id="20" name="Shape 18"/>
          <p:cNvSpPr/>
          <p:nvPr/>
        </p:nvSpPr>
        <p:spPr>
          <a:xfrm>
            <a:off x="11338560" y="4023360"/>
            <a:ext cx="585216" cy="585216"/>
          </a:xfrm>
          <a:prstGeom prst="ellipse">
            <a:avLst/>
          </a:prstGeom>
          <a:solidFill>
            <a:srgbClr val="FFB347"/>
          </a:solidFill>
          <a:ln w="12700">
            <a:solidFill>
              <a:srgbClr val="FFB347"/>
            </a:solidFill>
            <a:prstDash val="solid"/>
          </a:ln>
        </p:spPr>
      </p:sp>
      <p:sp>
        <p:nvSpPr>
          <p:cNvPr id="21" name="Text 19"/>
          <p:cNvSpPr/>
          <p:nvPr/>
        </p:nvSpPr>
        <p:spPr>
          <a:xfrm>
            <a:off x="11338560" y="4023360"/>
            <a:ext cx="585216" cy="585216"/>
          </a:xfrm>
          <a:prstGeom prst="rect">
            <a:avLst/>
          </a:prstGeom>
          <a:noFill/>
          <a:ln/>
        </p:spPr>
        <p:txBody>
          <a:bodyPr wrap="square" rtlCol="0" anchor="ctr"/>
          <a:lstStyle/>
          <a:p>
            <a:pPr algn="ctr"/>
            <a:r>
              <a:rPr lang="en-US" b="1" dirty="0">
                <a:solidFill>
                  <a:srgbClr val="1A1A2E"/>
                </a:solidFill>
              </a:rPr>
              <a:t>2</a:t>
            </a:r>
            <a:endParaRPr lang="en-US" dirty="0"/>
          </a:p>
        </p:txBody>
      </p:sp>
      <p:sp>
        <p:nvSpPr>
          <p:cNvPr id="22" name="Text 20"/>
          <p:cNvSpPr/>
          <p:nvPr/>
        </p:nvSpPr>
        <p:spPr>
          <a:xfrm>
            <a:off x="12015216" y="4023360"/>
            <a:ext cx="5760720" cy="1005840"/>
          </a:xfrm>
          <a:prstGeom prst="rect">
            <a:avLst/>
          </a:prstGeom>
          <a:noFill/>
          <a:ln/>
        </p:spPr>
        <p:txBody>
          <a:bodyPr wrap="square" rtlCol="0" anchor="ctr"/>
          <a:lstStyle/>
          <a:p>
            <a:r>
              <a:rPr lang="en-US" sz="1900" dirty="0">
                <a:solidFill>
                  <a:srgbClr val="DDDDEE"/>
                </a:solidFill>
                <a:latin typeface="Calibri" pitchFamily="34" charset="0"/>
                <a:ea typeface="Calibri" pitchFamily="34" charset="-122"/>
                <a:cs typeface="Calibri" pitchFamily="34" charset="-120"/>
              </a:rPr>
              <a:t>-- comments out the rest of the SQL (password check)</a:t>
            </a:r>
            <a:endParaRPr lang="en-US" sz="1900" dirty="0"/>
          </a:p>
        </p:txBody>
      </p:sp>
      <p:sp>
        <p:nvSpPr>
          <p:cNvPr id="23" name="Shape 21"/>
          <p:cNvSpPr/>
          <p:nvPr/>
        </p:nvSpPr>
        <p:spPr>
          <a:xfrm>
            <a:off x="11338560" y="5340096"/>
            <a:ext cx="585216" cy="585216"/>
          </a:xfrm>
          <a:prstGeom prst="ellipse">
            <a:avLst/>
          </a:prstGeom>
          <a:solidFill>
            <a:srgbClr val="FFD700"/>
          </a:solidFill>
          <a:ln w="12700">
            <a:solidFill>
              <a:srgbClr val="FFD700"/>
            </a:solidFill>
            <a:prstDash val="solid"/>
          </a:ln>
        </p:spPr>
      </p:sp>
      <p:sp>
        <p:nvSpPr>
          <p:cNvPr id="24" name="Text 22"/>
          <p:cNvSpPr/>
          <p:nvPr/>
        </p:nvSpPr>
        <p:spPr>
          <a:xfrm>
            <a:off x="11338560" y="5340096"/>
            <a:ext cx="585216" cy="585216"/>
          </a:xfrm>
          <a:prstGeom prst="rect">
            <a:avLst/>
          </a:prstGeom>
          <a:noFill/>
          <a:ln/>
        </p:spPr>
        <p:txBody>
          <a:bodyPr wrap="square" rtlCol="0" anchor="ctr"/>
          <a:lstStyle/>
          <a:p>
            <a:pPr algn="ctr"/>
            <a:r>
              <a:rPr lang="en-US" b="1" dirty="0">
                <a:solidFill>
                  <a:srgbClr val="1A1A2E"/>
                </a:solidFill>
              </a:rPr>
              <a:t>3</a:t>
            </a:r>
            <a:endParaRPr lang="en-US" dirty="0"/>
          </a:p>
        </p:txBody>
      </p:sp>
      <p:sp>
        <p:nvSpPr>
          <p:cNvPr id="25" name="Text 23"/>
          <p:cNvSpPr/>
          <p:nvPr/>
        </p:nvSpPr>
        <p:spPr>
          <a:xfrm>
            <a:off x="12015216" y="5340096"/>
            <a:ext cx="5760720" cy="1005840"/>
          </a:xfrm>
          <a:prstGeom prst="rect">
            <a:avLst/>
          </a:prstGeom>
          <a:noFill/>
          <a:ln/>
        </p:spPr>
        <p:txBody>
          <a:bodyPr wrap="square" rtlCol="0" anchor="ctr"/>
          <a:lstStyle/>
          <a:p>
            <a:r>
              <a:rPr lang="en-US" sz="1900" dirty="0">
                <a:solidFill>
                  <a:srgbClr val="DDDDEE"/>
                </a:solidFill>
                <a:latin typeface="Calibri" pitchFamily="34" charset="0"/>
                <a:ea typeface="Calibri" pitchFamily="34" charset="-122"/>
                <a:cs typeface="Calibri" pitchFamily="34" charset="-120"/>
              </a:rPr>
              <a:t>Password check is bypassed completely</a:t>
            </a:r>
            <a:endParaRPr lang="en-US" sz="1900" dirty="0"/>
          </a:p>
        </p:txBody>
      </p:sp>
      <p:sp>
        <p:nvSpPr>
          <p:cNvPr id="26" name="Shape 24"/>
          <p:cNvSpPr/>
          <p:nvPr/>
        </p:nvSpPr>
        <p:spPr>
          <a:xfrm>
            <a:off x="11338560" y="6656832"/>
            <a:ext cx="585216" cy="585216"/>
          </a:xfrm>
          <a:prstGeom prst="ellipse">
            <a:avLst/>
          </a:prstGeom>
          <a:solidFill>
            <a:srgbClr val="FF4444"/>
          </a:solidFill>
          <a:ln w="12700">
            <a:solidFill>
              <a:srgbClr val="FF4444"/>
            </a:solidFill>
            <a:prstDash val="solid"/>
          </a:ln>
        </p:spPr>
      </p:sp>
      <p:sp>
        <p:nvSpPr>
          <p:cNvPr id="27" name="Text 25"/>
          <p:cNvSpPr/>
          <p:nvPr/>
        </p:nvSpPr>
        <p:spPr>
          <a:xfrm>
            <a:off x="11338560" y="6656832"/>
            <a:ext cx="585216" cy="585216"/>
          </a:xfrm>
          <a:prstGeom prst="rect">
            <a:avLst/>
          </a:prstGeom>
          <a:noFill/>
          <a:ln/>
        </p:spPr>
        <p:txBody>
          <a:bodyPr wrap="square" rtlCol="0" anchor="ctr"/>
          <a:lstStyle/>
          <a:p>
            <a:pPr algn="ctr"/>
            <a:r>
              <a:rPr lang="en-US" b="1" dirty="0">
                <a:solidFill>
                  <a:srgbClr val="1A1A2E"/>
                </a:solidFill>
              </a:rPr>
              <a:t>4</a:t>
            </a:r>
            <a:endParaRPr lang="en-US" dirty="0"/>
          </a:p>
        </p:txBody>
      </p:sp>
      <p:sp>
        <p:nvSpPr>
          <p:cNvPr id="28" name="Text 26"/>
          <p:cNvSpPr/>
          <p:nvPr/>
        </p:nvSpPr>
        <p:spPr>
          <a:xfrm>
            <a:off x="12015216" y="6656832"/>
            <a:ext cx="5760720" cy="1005840"/>
          </a:xfrm>
          <a:prstGeom prst="rect">
            <a:avLst/>
          </a:prstGeom>
          <a:noFill/>
          <a:ln/>
        </p:spPr>
        <p:txBody>
          <a:bodyPr wrap="square" rtlCol="0" anchor="ctr"/>
          <a:lstStyle/>
          <a:p>
            <a:r>
              <a:rPr lang="en-US" sz="1900" dirty="0">
                <a:solidFill>
                  <a:srgbClr val="DDDDEE"/>
                </a:solidFill>
                <a:latin typeface="Calibri" pitchFamily="34" charset="0"/>
                <a:ea typeface="Calibri" pitchFamily="34" charset="-122"/>
                <a:cs typeface="Calibri" pitchFamily="34" charset="-120"/>
              </a:rPr>
              <a:t>Attacker logs in as admin without knowing the password!</a:t>
            </a:r>
            <a:endParaRPr lang="en-US" sz="1900" dirty="0"/>
          </a:p>
        </p:txBody>
      </p:sp>
      <p:sp>
        <p:nvSpPr>
          <p:cNvPr id="29" name="Shape 27"/>
          <p:cNvSpPr/>
          <p:nvPr/>
        </p:nvSpPr>
        <p:spPr>
          <a:xfrm>
            <a:off x="11247120" y="8046720"/>
            <a:ext cx="6583680" cy="1316736"/>
          </a:xfrm>
          <a:prstGeom prst="rect">
            <a:avLst/>
          </a:prstGeom>
          <a:solidFill>
            <a:srgbClr val="1A0000"/>
          </a:solidFill>
          <a:ln w="12700">
            <a:solidFill>
              <a:srgbClr val="C0392B"/>
            </a:solidFill>
            <a:prstDash val="solid"/>
          </a:ln>
        </p:spPr>
      </p:sp>
      <p:sp>
        <p:nvSpPr>
          <p:cNvPr id="30" name="Text 28"/>
          <p:cNvSpPr/>
          <p:nvPr/>
        </p:nvSpPr>
        <p:spPr>
          <a:xfrm>
            <a:off x="11338560" y="8138160"/>
            <a:ext cx="6400800" cy="1133856"/>
          </a:xfrm>
          <a:prstGeom prst="rect">
            <a:avLst/>
          </a:prstGeom>
          <a:noFill/>
          <a:ln/>
        </p:spPr>
        <p:txBody>
          <a:bodyPr wrap="square" rtlCol="0" anchor="ctr"/>
          <a:lstStyle/>
          <a:p>
            <a:r>
              <a:rPr lang="en-US" b="1" dirty="0">
                <a:solidFill>
                  <a:srgbClr val="FF6B6B"/>
                </a:solidFill>
                <a:latin typeface="Calibri" pitchFamily="34" charset="0"/>
                <a:ea typeface="Calibri" pitchFamily="34" charset="-122"/>
                <a:cs typeface="Calibri" pitchFamily="34" charset="-120"/>
              </a:rPr>
              <a:t>Result: Full admin access without any valid credentials. Database fully exposed.</a:t>
            </a:r>
            <a:endParaRPr lang="en-US" dirty="0"/>
          </a:p>
        </p:txBody>
      </p:sp>
      <p:sp>
        <p:nvSpPr>
          <p:cNvPr id="31" name="Shape 29"/>
          <p:cNvSpPr/>
          <p:nvPr/>
        </p:nvSpPr>
        <p:spPr>
          <a:xfrm>
            <a:off x="548640" y="8449056"/>
            <a:ext cx="10058400" cy="1133856"/>
          </a:xfrm>
          <a:prstGeom prst="rect">
            <a:avLst/>
          </a:prstGeom>
          <a:solidFill>
            <a:srgbClr val="002200"/>
          </a:solidFill>
          <a:ln w="12700">
            <a:solidFill>
              <a:srgbClr val="27AE60"/>
            </a:solidFill>
            <a:prstDash val="solid"/>
          </a:ln>
        </p:spPr>
      </p:sp>
      <p:sp>
        <p:nvSpPr>
          <p:cNvPr id="32" name="Text 30"/>
          <p:cNvSpPr/>
          <p:nvPr/>
        </p:nvSpPr>
        <p:spPr>
          <a:xfrm>
            <a:off x="731520" y="8503920"/>
            <a:ext cx="9692640" cy="1042416"/>
          </a:xfrm>
          <a:prstGeom prst="rect">
            <a:avLst/>
          </a:prstGeom>
          <a:noFill/>
          <a:ln/>
        </p:spPr>
        <p:txBody>
          <a:bodyPr wrap="square" rtlCol="0" anchor="ctr"/>
          <a:lstStyle/>
          <a:p>
            <a:r>
              <a:rPr lang="en-US" dirty="0">
                <a:solidFill>
                  <a:srgbClr val="00FF88"/>
                </a:solidFill>
                <a:latin typeface="Consolas" pitchFamily="34" charset="0"/>
                <a:ea typeface="Consolas" pitchFamily="34" charset="-122"/>
                <a:cs typeface="Consolas" pitchFamily="34" charset="-120"/>
              </a:rPr>
              <a:t>✅  SAFE Version: Use Parameterized Query</a:t>
            </a:r>
            <a:endParaRPr lang="en-US" dirty="0"/>
          </a:p>
          <a:p>
            <a:r>
              <a:rPr lang="en-US" dirty="0">
                <a:solidFill>
                  <a:srgbClr val="00FF88"/>
                </a:solidFill>
                <a:latin typeface="Consolas" pitchFamily="34" charset="0"/>
                <a:ea typeface="Consolas" pitchFamily="34" charset="-122"/>
                <a:cs typeface="Consolas" pitchFamily="34" charset="-120"/>
              </a:rPr>
              <a:t>SELECT * FROM users WHERE username = ? AND password = ?</a:t>
            </a:r>
            <a:endParaRPr lang="en-US" dirty="0"/>
          </a:p>
        </p:txBody>
      </p:sp>
      <p:pic>
        <p:nvPicPr>
          <p:cNvPr id="34" name="Picture 33">
            <a:extLst>
              <a:ext uri="{FF2B5EF4-FFF2-40B4-BE49-F238E27FC236}">
                <a16:creationId xmlns:a16="http://schemas.microsoft.com/office/drawing/2014/main" id="{DB6E2631-C0A3-90D8-4BFD-273354A3E1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6776" y="-36576"/>
            <a:ext cx="4435024" cy="16276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828800"/>
          </a:xfrm>
          <a:prstGeom prst="rect">
            <a:avLst/>
          </a:prstGeom>
          <a:solidFill>
            <a:srgbClr val="004D5B"/>
          </a:solidFill>
          <a:ln w="12700">
            <a:solidFill>
              <a:srgbClr val="004D5B"/>
            </a:solidFill>
            <a:prstDash val="solid"/>
          </a:ln>
        </p:spPr>
      </p:sp>
      <p:sp>
        <p:nvSpPr>
          <p:cNvPr id="3" name="Text 1"/>
          <p:cNvSpPr/>
          <p:nvPr/>
        </p:nvSpPr>
        <p:spPr>
          <a:xfrm>
            <a:off x="76200" y="91440"/>
            <a:ext cx="15544800" cy="1097280"/>
          </a:xfrm>
          <a:prstGeom prst="rect">
            <a:avLst/>
          </a:prstGeom>
          <a:noFill/>
          <a:ln/>
        </p:spPr>
        <p:txBody>
          <a:bodyPr wrap="square" rtlCol="0" anchor="ctr"/>
          <a:lstStyle/>
          <a:p>
            <a:r>
              <a:rPr lang="en-US" sz="4800" b="1" dirty="0">
                <a:solidFill>
                  <a:srgbClr val="FFFFFF"/>
                </a:solidFill>
                <a:latin typeface="Arial Black" pitchFamily="34" charset="0"/>
                <a:ea typeface="Arial Black" pitchFamily="34" charset="-122"/>
                <a:cs typeface="Arial Black" pitchFamily="34" charset="-120"/>
              </a:rPr>
              <a:t>A03: Injection — Prevention Techniques</a:t>
            </a:r>
            <a:endParaRPr lang="en-US" sz="4800" dirty="0"/>
          </a:p>
        </p:txBody>
      </p:sp>
      <p:sp>
        <p:nvSpPr>
          <p:cNvPr id="4" name="Text 2"/>
          <p:cNvSpPr/>
          <p:nvPr/>
        </p:nvSpPr>
        <p:spPr>
          <a:xfrm>
            <a:off x="548640" y="1133856"/>
            <a:ext cx="15544800" cy="585216"/>
          </a:xfrm>
          <a:prstGeom prst="rect">
            <a:avLst/>
          </a:prstGeom>
          <a:noFill/>
          <a:ln/>
        </p:spPr>
        <p:txBody>
          <a:bodyPr wrap="square" rtlCol="0" anchor="ctr"/>
          <a:lstStyle/>
          <a:p>
            <a:r>
              <a:rPr lang="en-US" sz="2200" dirty="0">
                <a:solidFill>
                  <a:srgbClr val="00B4C8"/>
                </a:solidFill>
                <a:latin typeface="Calibri" pitchFamily="34" charset="0"/>
                <a:ea typeface="Calibri" pitchFamily="34" charset="-122"/>
                <a:cs typeface="Calibri" pitchFamily="34" charset="-120"/>
              </a:rPr>
              <a:t>Stop Injection Attacks at the Source</a:t>
            </a:r>
            <a:endParaRPr lang="en-US" sz="2200" dirty="0"/>
          </a:p>
        </p:txBody>
      </p:sp>
      <p:sp>
        <p:nvSpPr>
          <p:cNvPr id="5" name="Shape 3"/>
          <p:cNvSpPr/>
          <p:nvPr/>
        </p:nvSpPr>
        <p:spPr>
          <a:xfrm>
            <a:off x="0" y="1828800"/>
            <a:ext cx="18288000" cy="73152"/>
          </a:xfrm>
          <a:prstGeom prst="rect">
            <a:avLst/>
          </a:prstGeom>
          <a:solidFill>
            <a:srgbClr val="00B4C8"/>
          </a:solidFill>
          <a:ln w="12700">
            <a:solidFill>
              <a:srgbClr val="00B4C8"/>
            </a:solidFill>
            <a:prstDash val="solid"/>
          </a:ln>
        </p:spPr>
      </p:sp>
      <p:sp>
        <p:nvSpPr>
          <p:cNvPr id="6" name="Shape 4"/>
          <p:cNvSpPr/>
          <p:nvPr/>
        </p:nvSpPr>
        <p:spPr>
          <a:xfrm>
            <a:off x="365760" y="2157984"/>
            <a:ext cx="8595360" cy="2414016"/>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7" name="Shape 5"/>
          <p:cNvSpPr/>
          <p:nvPr/>
        </p:nvSpPr>
        <p:spPr>
          <a:xfrm>
            <a:off x="365760" y="2157984"/>
            <a:ext cx="109728" cy="2414016"/>
          </a:xfrm>
          <a:prstGeom prst="rect">
            <a:avLst/>
          </a:prstGeom>
          <a:solidFill>
            <a:srgbClr val="27AE60"/>
          </a:solidFill>
          <a:ln w="12700">
            <a:solidFill>
              <a:srgbClr val="27AE60"/>
            </a:solidFill>
            <a:prstDash val="solid"/>
          </a:ln>
        </p:spPr>
      </p:sp>
      <p:sp>
        <p:nvSpPr>
          <p:cNvPr id="8" name="Text 6"/>
          <p:cNvSpPr/>
          <p:nvPr/>
        </p:nvSpPr>
        <p:spPr>
          <a:xfrm>
            <a:off x="585216" y="2249424"/>
            <a:ext cx="8193024" cy="585216"/>
          </a:xfrm>
          <a:prstGeom prst="rect">
            <a:avLst/>
          </a:prstGeom>
          <a:noFill/>
          <a:ln/>
        </p:spPr>
        <p:txBody>
          <a:bodyPr wrap="square" rtlCol="0" anchor="ctr"/>
          <a:lstStyle/>
          <a:p>
            <a:r>
              <a:rPr lang="en-US" sz="2000" b="1" dirty="0">
                <a:solidFill>
                  <a:srgbClr val="27AE60"/>
                </a:solidFill>
                <a:latin typeface="Arial" pitchFamily="34" charset="0"/>
                <a:ea typeface="Arial" pitchFamily="34" charset="-122"/>
                <a:cs typeface="Arial" pitchFamily="34" charset="-120"/>
              </a:rPr>
              <a:t>📋  Parameterized Queries / Prepared Statements</a:t>
            </a:r>
            <a:endParaRPr lang="en-US" sz="2000" dirty="0"/>
          </a:p>
        </p:txBody>
      </p:sp>
      <p:sp>
        <p:nvSpPr>
          <p:cNvPr id="9" name="Text 7"/>
          <p:cNvSpPr/>
          <p:nvPr/>
        </p:nvSpPr>
        <p:spPr>
          <a:xfrm>
            <a:off x="585216" y="2852928"/>
            <a:ext cx="8229600" cy="877824"/>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Use ? placeholders in SQL instead of string concatenation. The database treats input as data, never as code.</a:t>
            </a:r>
            <a:endParaRPr lang="en-US" dirty="0"/>
          </a:p>
        </p:txBody>
      </p:sp>
      <p:sp>
        <p:nvSpPr>
          <p:cNvPr id="10" name="Shape 8"/>
          <p:cNvSpPr/>
          <p:nvPr/>
        </p:nvSpPr>
        <p:spPr>
          <a:xfrm>
            <a:off x="585216" y="3767328"/>
            <a:ext cx="8193024" cy="621792"/>
          </a:xfrm>
          <a:prstGeom prst="rect">
            <a:avLst/>
          </a:prstGeom>
          <a:solidFill>
            <a:srgbClr val="1A2B30"/>
          </a:solidFill>
          <a:ln w="12700">
            <a:solidFill>
              <a:srgbClr val="27AE60"/>
            </a:solidFill>
            <a:prstDash val="solid"/>
          </a:ln>
        </p:spPr>
      </p:sp>
      <p:sp>
        <p:nvSpPr>
          <p:cNvPr id="11" name="Text 9"/>
          <p:cNvSpPr/>
          <p:nvPr/>
        </p:nvSpPr>
        <p:spPr>
          <a:xfrm>
            <a:off x="658368" y="3803904"/>
            <a:ext cx="8046720" cy="548640"/>
          </a:xfrm>
          <a:prstGeom prst="rect">
            <a:avLst/>
          </a:prstGeom>
          <a:noFill/>
          <a:ln/>
        </p:spPr>
        <p:txBody>
          <a:bodyPr wrap="square" rtlCol="0" anchor="ctr"/>
          <a:lstStyle/>
          <a:p>
            <a:r>
              <a:rPr lang="en-US" sz="1500" dirty="0">
                <a:solidFill>
                  <a:srgbClr val="00FF88"/>
                </a:solidFill>
                <a:latin typeface="Consolas" pitchFamily="34" charset="0"/>
                <a:ea typeface="Consolas" pitchFamily="34" charset="-122"/>
                <a:cs typeface="Consolas" pitchFamily="34" charset="-120"/>
              </a:rPr>
              <a:t>db.query('SELECT * FROM users WHERE id = ?', [userId])</a:t>
            </a:r>
            <a:endParaRPr lang="en-US" sz="1500" dirty="0"/>
          </a:p>
        </p:txBody>
      </p:sp>
      <p:sp>
        <p:nvSpPr>
          <p:cNvPr id="12" name="Shape 10"/>
          <p:cNvSpPr/>
          <p:nvPr/>
        </p:nvSpPr>
        <p:spPr>
          <a:xfrm>
            <a:off x="365760" y="4754880"/>
            <a:ext cx="8595360" cy="2414016"/>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13" name="Shape 11"/>
          <p:cNvSpPr/>
          <p:nvPr/>
        </p:nvSpPr>
        <p:spPr>
          <a:xfrm>
            <a:off x="365760" y="4754880"/>
            <a:ext cx="109728" cy="2414016"/>
          </a:xfrm>
          <a:prstGeom prst="rect">
            <a:avLst/>
          </a:prstGeom>
          <a:solidFill>
            <a:srgbClr val="005F73"/>
          </a:solidFill>
          <a:ln w="12700">
            <a:solidFill>
              <a:srgbClr val="005F73"/>
            </a:solidFill>
            <a:prstDash val="solid"/>
          </a:ln>
        </p:spPr>
      </p:sp>
      <p:sp>
        <p:nvSpPr>
          <p:cNvPr id="14" name="Text 12"/>
          <p:cNvSpPr/>
          <p:nvPr/>
        </p:nvSpPr>
        <p:spPr>
          <a:xfrm>
            <a:off x="585216" y="4846320"/>
            <a:ext cx="8193024" cy="585216"/>
          </a:xfrm>
          <a:prstGeom prst="rect">
            <a:avLst/>
          </a:prstGeom>
          <a:noFill/>
          <a:ln/>
        </p:spPr>
        <p:txBody>
          <a:bodyPr wrap="square" rtlCol="0" anchor="ctr"/>
          <a:lstStyle/>
          <a:p>
            <a:r>
              <a:rPr lang="en-US" sz="2000" b="1" dirty="0">
                <a:solidFill>
                  <a:srgbClr val="005F73"/>
                </a:solidFill>
                <a:latin typeface="Arial" pitchFamily="34" charset="0"/>
                <a:ea typeface="Arial" pitchFamily="34" charset="-122"/>
                <a:cs typeface="Arial" pitchFamily="34" charset="-120"/>
              </a:rPr>
              <a:t>✅  Input Validation &amp; Whitelisting</a:t>
            </a:r>
            <a:endParaRPr lang="en-US" sz="2000" dirty="0"/>
          </a:p>
        </p:txBody>
      </p:sp>
      <p:sp>
        <p:nvSpPr>
          <p:cNvPr id="15" name="Text 13"/>
          <p:cNvSpPr/>
          <p:nvPr/>
        </p:nvSpPr>
        <p:spPr>
          <a:xfrm>
            <a:off x="585216" y="5449824"/>
            <a:ext cx="8229600" cy="877824"/>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Validate all user input against expected patterns. Allow only known-good characters. Reject anything unexpected.</a:t>
            </a:r>
            <a:endParaRPr lang="en-US" dirty="0"/>
          </a:p>
        </p:txBody>
      </p:sp>
      <p:sp>
        <p:nvSpPr>
          <p:cNvPr id="16" name="Shape 14"/>
          <p:cNvSpPr/>
          <p:nvPr/>
        </p:nvSpPr>
        <p:spPr>
          <a:xfrm>
            <a:off x="585216" y="6364224"/>
            <a:ext cx="8193024" cy="621792"/>
          </a:xfrm>
          <a:prstGeom prst="rect">
            <a:avLst/>
          </a:prstGeom>
          <a:solidFill>
            <a:srgbClr val="1A2B30"/>
          </a:solidFill>
          <a:ln w="12700">
            <a:solidFill>
              <a:srgbClr val="005F73"/>
            </a:solidFill>
            <a:prstDash val="solid"/>
          </a:ln>
        </p:spPr>
      </p:sp>
      <p:sp>
        <p:nvSpPr>
          <p:cNvPr id="17" name="Text 15"/>
          <p:cNvSpPr/>
          <p:nvPr/>
        </p:nvSpPr>
        <p:spPr>
          <a:xfrm>
            <a:off x="658368" y="6400800"/>
            <a:ext cx="8046720" cy="548640"/>
          </a:xfrm>
          <a:prstGeom prst="rect">
            <a:avLst/>
          </a:prstGeom>
          <a:noFill/>
          <a:ln/>
        </p:spPr>
        <p:txBody>
          <a:bodyPr wrap="square" rtlCol="0" anchor="ctr"/>
          <a:lstStyle/>
          <a:p>
            <a:r>
              <a:rPr lang="en-US" sz="1500" dirty="0">
                <a:solidFill>
                  <a:srgbClr val="00FF88"/>
                </a:solidFill>
                <a:latin typeface="Consolas" pitchFamily="34" charset="0"/>
                <a:ea typeface="Consolas" pitchFamily="34" charset="-122"/>
                <a:cs typeface="Consolas" pitchFamily="34" charset="-120"/>
              </a:rPr>
              <a:t>if (!/^[a-zA-Z0-9]+$/.test(input)) throw new Error('Invalid');</a:t>
            </a:r>
            <a:endParaRPr lang="en-US" sz="1500" dirty="0"/>
          </a:p>
        </p:txBody>
      </p:sp>
      <p:sp>
        <p:nvSpPr>
          <p:cNvPr id="18" name="Shape 16"/>
          <p:cNvSpPr/>
          <p:nvPr/>
        </p:nvSpPr>
        <p:spPr>
          <a:xfrm>
            <a:off x="365760" y="7351776"/>
            <a:ext cx="8595360" cy="2414016"/>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19" name="Shape 17"/>
          <p:cNvSpPr/>
          <p:nvPr/>
        </p:nvSpPr>
        <p:spPr>
          <a:xfrm>
            <a:off x="365760" y="7351776"/>
            <a:ext cx="109728" cy="2414016"/>
          </a:xfrm>
          <a:prstGeom prst="rect">
            <a:avLst/>
          </a:prstGeom>
          <a:solidFill>
            <a:srgbClr val="00B4C8"/>
          </a:solidFill>
          <a:ln w="12700">
            <a:solidFill>
              <a:srgbClr val="00B4C8"/>
            </a:solidFill>
            <a:prstDash val="solid"/>
          </a:ln>
        </p:spPr>
      </p:sp>
      <p:sp>
        <p:nvSpPr>
          <p:cNvPr id="20" name="Text 18"/>
          <p:cNvSpPr/>
          <p:nvPr/>
        </p:nvSpPr>
        <p:spPr>
          <a:xfrm>
            <a:off x="585216" y="7443216"/>
            <a:ext cx="8193024" cy="585216"/>
          </a:xfrm>
          <a:prstGeom prst="rect">
            <a:avLst/>
          </a:prstGeom>
          <a:noFill/>
          <a:ln/>
        </p:spPr>
        <p:txBody>
          <a:bodyPr wrap="square" rtlCol="0" anchor="ctr"/>
          <a:lstStyle/>
          <a:p>
            <a:r>
              <a:rPr lang="en-US" sz="2000" b="1" dirty="0">
                <a:solidFill>
                  <a:srgbClr val="00B4C8"/>
                </a:solidFill>
                <a:latin typeface="Arial" pitchFamily="34" charset="0"/>
                <a:ea typeface="Arial" pitchFamily="34" charset="-122"/>
                <a:cs typeface="Arial" pitchFamily="34" charset="-120"/>
              </a:rPr>
              <a:t>🏗️  Use ORM Frameworks</a:t>
            </a:r>
            <a:endParaRPr lang="en-US" sz="2000" dirty="0"/>
          </a:p>
        </p:txBody>
      </p:sp>
      <p:sp>
        <p:nvSpPr>
          <p:cNvPr id="21" name="Text 19"/>
          <p:cNvSpPr/>
          <p:nvPr/>
        </p:nvSpPr>
        <p:spPr>
          <a:xfrm>
            <a:off x="585216" y="8046720"/>
            <a:ext cx="8229600" cy="877824"/>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Object-Relational Mapping (ORM) frameworks handle parameter binding automatically, preventing SQL injection by design.</a:t>
            </a:r>
            <a:endParaRPr lang="en-US" dirty="0"/>
          </a:p>
        </p:txBody>
      </p:sp>
      <p:sp>
        <p:nvSpPr>
          <p:cNvPr id="22" name="Shape 20"/>
          <p:cNvSpPr/>
          <p:nvPr/>
        </p:nvSpPr>
        <p:spPr>
          <a:xfrm>
            <a:off x="585216" y="8961120"/>
            <a:ext cx="8193024" cy="621792"/>
          </a:xfrm>
          <a:prstGeom prst="rect">
            <a:avLst/>
          </a:prstGeom>
          <a:solidFill>
            <a:srgbClr val="1A2B30"/>
          </a:solidFill>
          <a:ln w="12700">
            <a:solidFill>
              <a:srgbClr val="00B4C8"/>
            </a:solidFill>
            <a:prstDash val="solid"/>
          </a:ln>
        </p:spPr>
      </p:sp>
      <p:sp>
        <p:nvSpPr>
          <p:cNvPr id="23" name="Text 21"/>
          <p:cNvSpPr/>
          <p:nvPr/>
        </p:nvSpPr>
        <p:spPr>
          <a:xfrm>
            <a:off x="658368" y="8997696"/>
            <a:ext cx="8046720" cy="548640"/>
          </a:xfrm>
          <a:prstGeom prst="rect">
            <a:avLst/>
          </a:prstGeom>
          <a:noFill/>
          <a:ln/>
        </p:spPr>
        <p:txBody>
          <a:bodyPr wrap="square" rtlCol="0" anchor="ctr"/>
          <a:lstStyle/>
          <a:p>
            <a:r>
              <a:rPr lang="en-US" sz="1500" dirty="0">
                <a:solidFill>
                  <a:srgbClr val="00FF88"/>
                </a:solidFill>
                <a:latin typeface="Consolas" pitchFamily="34" charset="0"/>
                <a:ea typeface="Consolas" pitchFamily="34" charset="-122"/>
                <a:cs typeface="Consolas" pitchFamily="34" charset="-120"/>
              </a:rPr>
              <a:t>User.findOne({ where: { username: input } })</a:t>
            </a:r>
            <a:endParaRPr lang="en-US" sz="1500" dirty="0"/>
          </a:p>
        </p:txBody>
      </p:sp>
      <p:sp>
        <p:nvSpPr>
          <p:cNvPr id="24" name="Shape 22"/>
          <p:cNvSpPr/>
          <p:nvPr/>
        </p:nvSpPr>
        <p:spPr>
          <a:xfrm>
            <a:off x="9418320" y="2157984"/>
            <a:ext cx="8595360" cy="2048256"/>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5" name="Shape 23"/>
          <p:cNvSpPr/>
          <p:nvPr/>
        </p:nvSpPr>
        <p:spPr>
          <a:xfrm>
            <a:off x="9418320" y="2157984"/>
            <a:ext cx="109728" cy="2048256"/>
          </a:xfrm>
          <a:prstGeom prst="rect">
            <a:avLst/>
          </a:prstGeom>
          <a:solidFill>
            <a:srgbClr val="8E44AD"/>
          </a:solidFill>
          <a:ln w="12700">
            <a:solidFill>
              <a:srgbClr val="8E44AD"/>
            </a:solidFill>
            <a:prstDash val="solid"/>
          </a:ln>
        </p:spPr>
      </p:sp>
      <p:sp>
        <p:nvSpPr>
          <p:cNvPr id="26" name="Text 24"/>
          <p:cNvSpPr/>
          <p:nvPr/>
        </p:nvSpPr>
        <p:spPr>
          <a:xfrm>
            <a:off x="9637776" y="2249424"/>
            <a:ext cx="8193024" cy="585216"/>
          </a:xfrm>
          <a:prstGeom prst="rect">
            <a:avLst/>
          </a:prstGeom>
          <a:noFill/>
          <a:ln/>
        </p:spPr>
        <p:txBody>
          <a:bodyPr wrap="square" rtlCol="0" anchor="ctr"/>
          <a:lstStyle/>
          <a:p>
            <a:r>
              <a:rPr lang="en-US" sz="2000" b="1" dirty="0">
                <a:solidFill>
                  <a:srgbClr val="8E44AD"/>
                </a:solidFill>
                <a:latin typeface="Arial" pitchFamily="34" charset="0"/>
                <a:ea typeface="Arial" pitchFamily="34" charset="-122"/>
                <a:cs typeface="Arial" pitchFamily="34" charset="-120"/>
              </a:rPr>
              <a:t>🔒  Limit Database Privileges</a:t>
            </a:r>
            <a:endParaRPr lang="en-US" sz="2000" dirty="0"/>
          </a:p>
        </p:txBody>
      </p:sp>
      <p:sp>
        <p:nvSpPr>
          <p:cNvPr id="27" name="Text 25"/>
          <p:cNvSpPr/>
          <p:nvPr/>
        </p:nvSpPr>
        <p:spPr>
          <a:xfrm>
            <a:off x="9637776" y="2852928"/>
            <a:ext cx="8229600" cy="877824"/>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App service accounts should only have minimum required DB permissions. A compromised account can then do limited damage.</a:t>
            </a:r>
            <a:endParaRPr lang="en-US" dirty="0"/>
          </a:p>
        </p:txBody>
      </p:sp>
      <p:sp>
        <p:nvSpPr>
          <p:cNvPr id="28" name="Shape 26"/>
          <p:cNvSpPr/>
          <p:nvPr/>
        </p:nvSpPr>
        <p:spPr>
          <a:xfrm>
            <a:off x="9418320" y="4754880"/>
            <a:ext cx="8595360" cy="2048256"/>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9" name="Shape 27"/>
          <p:cNvSpPr/>
          <p:nvPr/>
        </p:nvSpPr>
        <p:spPr>
          <a:xfrm>
            <a:off x="9418320" y="4754880"/>
            <a:ext cx="109728" cy="2048256"/>
          </a:xfrm>
          <a:prstGeom prst="rect">
            <a:avLst/>
          </a:prstGeom>
          <a:solidFill>
            <a:srgbClr val="E67E22"/>
          </a:solidFill>
          <a:ln w="12700">
            <a:solidFill>
              <a:srgbClr val="E67E22"/>
            </a:solidFill>
            <a:prstDash val="solid"/>
          </a:ln>
        </p:spPr>
      </p:sp>
      <p:sp>
        <p:nvSpPr>
          <p:cNvPr id="30" name="Text 28"/>
          <p:cNvSpPr/>
          <p:nvPr/>
        </p:nvSpPr>
        <p:spPr>
          <a:xfrm>
            <a:off x="9637776" y="4846320"/>
            <a:ext cx="8193024" cy="585216"/>
          </a:xfrm>
          <a:prstGeom prst="rect">
            <a:avLst/>
          </a:prstGeom>
          <a:noFill/>
          <a:ln/>
        </p:spPr>
        <p:txBody>
          <a:bodyPr wrap="square" rtlCol="0" anchor="ctr"/>
          <a:lstStyle/>
          <a:p>
            <a:r>
              <a:rPr lang="en-US" sz="2000" b="1" dirty="0">
                <a:solidFill>
                  <a:srgbClr val="E67E22"/>
                </a:solidFill>
                <a:latin typeface="Arial" pitchFamily="34" charset="0"/>
                <a:ea typeface="Arial" pitchFamily="34" charset="-122"/>
                <a:cs typeface="Arial" pitchFamily="34" charset="-120"/>
              </a:rPr>
              <a:t>🚫  Disable Detailed Error Messages</a:t>
            </a:r>
            <a:endParaRPr lang="en-US" sz="2000" dirty="0"/>
          </a:p>
        </p:txBody>
      </p:sp>
      <p:sp>
        <p:nvSpPr>
          <p:cNvPr id="31" name="Text 29"/>
          <p:cNvSpPr/>
          <p:nvPr/>
        </p:nvSpPr>
        <p:spPr>
          <a:xfrm>
            <a:off x="9637776" y="5449824"/>
            <a:ext cx="8229600" cy="877824"/>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In production, never show detailed error messages. They reveal DB structure to attackers. Use generic errors.</a:t>
            </a:r>
            <a:endParaRPr lang="en-US" dirty="0"/>
          </a:p>
        </p:txBody>
      </p:sp>
      <p:sp>
        <p:nvSpPr>
          <p:cNvPr id="32" name="Shape 30"/>
          <p:cNvSpPr/>
          <p:nvPr/>
        </p:nvSpPr>
        <p:spPr>
          <a:xfrm>
            <a:off x="9418320" y="7351776"/>
            <a:ext cx="8595360" cy="2048256"/>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33" name="Shape 31"/>
          <p:cNvSpPr/>
          <p:nvPr/>
        </p:nvSpPr>
        <p:spPr>
          <a:xfrm>
            <a:off x="9418320" y="7351776"/>
            <a:ext cx="109728" cy="2048256"/>
          </a:xfrm>
          <a:prstGeom prst="rect">
            <a:avLst/>
          </a:prstGeom>
          <a:solidFill>
            <a:srgbClr val="C0392B"/>
          </a:solidFill>
          <a:ln w="12700">
            <a:solidFill>
              <a:srgbClr val="C0392B"/>
            </a:solidFill>
            <a:prstDash val="solid"/>
          </a:ln>
        </p:spPr>
      </p:sp>
      <p:sp>
        <p:nvSpPr>
          <p:cNvPr id="34" name="Text 32"/>
          <p:cNvSpPr/>
          <p:nvPr/>
        </p:nvSpPr>
        <p:spPr>
          <a:xfrm>
            <a:off x="9637776" y="7443216"/>
            <a:ext cx="8193024" cy="585216"/>
          </a:xfrm>
          <a:prstGeom prst="rect">
            <a:avLst/>
          </a:prstGeom>
          <a:noFill/>
          <a:ln/>
        </p:spPr>
        <p:txBody>
          <a:bodyPr wrap="square" rtlCol="0" anchor="ctr"/>
          <a:lstStyle/>
          <a:p>
            <a:r>
              <a:rPr lang="en-US" sz="2000" b="1" dirty="0">
                <a:solidFill>
                  <a:srgbClr val="C0392B"/>
                </a:solidFill>
                <a:latin typeface="Arial" pitchFamily="34" charset="0"/>
                <a:ea typeface="Arial" pitchFamily="34" charset="-122"/>
                <a:cs typeface="Arial" pitchFamily="34" charset="-120"/>
              </a:rPr>
              <a:t>🔍  Regular VAPT (Vulnerability Assessment &amp; Penetration Testing)</a:t>
            </a:r>
            <a:endParaRPr lang="en-US" sz="2000" dirty="0"/>
          </a:p>
        </p:txBody>
      </p:sp>
      <p:sp>
        <p:nvSpPr>
          <p:cNvPr id="35" name="Text 33"/>
          <p:cNvSpPr/>
          <p:nvPr/>
        </p:nvSpPr>
        <p:spPr>
          <a:xfrm>
            <a:off x="9637776" y="8046720"/>
            <a:ext cx="8229600" cy="877824"/>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Periodically test for injection vulnerabilities using tools like SQLMap, Burp Suite, OWASP ZAP.</a:t>
            </a:r>
            <a:endParaRPr lang="en-US" dirty="0"/>
          </a:p>
        </p:txBody>
      </p:sp>
      <p:sp>
        <p:nvSpPr>
          <p:cNvPr id="36" name="Shape 34"/>
          <p:cNvSpPr/>
          <p:nvPr/>
        </p:nvSpPr>
        <p:spPr>
          <a:xfrm>
            <a:off x="0" y="9875520"/>
            <a:ext cx="18288000" cy="411480"/>
          </a:xfrm>
          <a:prstGeom prst="rect">
            <a:avLst/>
          </a:prstGeom>
          <a:solidFill>
            <a:srgbClr val="004D5B"/>
          </a:solidFill>
          <a:ln w="12700">
            <a:solidFill>
              <a:srgbClr val="004D5B"/>
            </a:solidFill>
            <a:prstDash val="solid"/>
          </a:ln>
        </p:spPr>
      </p:sp>
      <p:sp>
        <p:nvSpPr>
          <p:cNvPr id="37" name="Text 35"/>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39" name="Picture 38">
            <a:extLst>
              <a:ext uri="{FF2B5EF4-FFF2-40B4-BE49-F238E27FC236}">
                <a16:creationId xmlns:a16="http://schemas.microsoft.com/office/drawing/2014/main" id="{4C35AB03-44EB-7FF2-65C1-B63E64847B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6776" y="-36576"/>
            <a:ext cx="4435024" cy="16276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737360"/>
          </a:xfrm>
          <a:prstGeom prst="rect">
            <a:avLst/>
          </a:prstGeom>
          <a:solidFill>
            <a:srgbClr val="004D5B"/>
          </a:solidFill>
          <a:ln w="12700">
            <a:solidFill>
              <a:srgbClr val="004D5B"/>
            </a:solidFill>
            <a:prstDash val="solid"/>
          </a:ln>
        </p:spPr>
      </p:sp>
      <p:sp>
        <p:nvSpPr>
          <p:cNvPr id="3" name="Text 1"/>
          <p:cNvSpPr/>
          <p:nvPr/>
        </p:nvSpPr>
        <p:spPr>
          <a:xfrm>
            <a:off x="548640" y="91440"/>
            <a:ext cx="17007840" cy="1005840"/>
          </a:xfrm>
          <a:prstGeom prst="rect">
            <a:avLst/>
          </a:prstGeom>
          <a:noFill/>
          <a:ln/>
        </p:spPr>
        <p:txBody>
          <a:bodyPr wrap="square" rtlCol="0" anchor="ctr"/>
          <a:lstStyle/>
          <a:p>
            <a:r>
              <a:rPr lang="en-US" sz="4400" b="1" dirty="0">
                <a:solidFill>
                  <a:srgbClr val="FFFFFF"/>
                </a:solidFill>
                <a:latin typeface="Arial Black" pitchFamily="34" charset="0"/>
                <a:ea typeface="Arial Black" pitchFamily="34" charset="-122"/>
                <a:cs typeface="Arial Black" pitchFamily="34" charset="-120"/>
              </a:rPr>
              <a:t>📐  A04:2021 — Insecure Design  🆕 NEW</a:t>
            </a:r>
            <a:endParaRPr lang="en-US" sz="4400" dirty="0"/>
          </a:p>
        </p:txBody>
      </p:sp>
      <p:sp>
        <p:nvSpPr>
          <p:cNvPr id="4" name="Text 2"/>
          <p:cNvSpPr/>
          <p:nvPr/>
        </p:nvSpPr>
        <p:spPr>
          <a:xfrm>
            <a:off x="548640" y="1097280"/>
            <a:ext cx="17007840" cy="548640"/>
          </a:xfrm>
          <a:prstGeom prst="rect">
            <a:avLst/>
          </a:prstGeom>
          <a:noFill/>
          <a:ln/>
        </p:spPr>
        <p:txBody>
          <a:bodyPr wrap="square" rtlCol="0" anchor="ctr"/>
          <a:lstStyle/>
          <a:p>
            <a:r>
              <a:rPr lang="en-US" sz="2000" dirty="0">
                <a:solidFill>
                  <a:srgbClr val="00B4C8"/>
                </a:solidFill>
                <a:latin typeface="Calibri" pitchFamily="34" charset="0"/>
                <a:ea typeface="Calibri" pitchFamily="34" charset="-122"/>
                <a:cs typeface="Calibri" pitchFamily="34" charset="-120"/>
              </a:rPr>
              <a:t>New in 2021 | Focuses on design flaws, not implementation bugs | Security must start at the design phase</a:t>
            </a:r>
            <a:endParaRPr lang="en-US" sz="2000" dirty="0"/>
          </a:p>
        </p:txBody>
      </p:sp>
      <p:sp>
        <p:nvSpPr>
          <p:cNvPr id="5" name="Shape 3"/>
          <p:cNvSpPr/>
          <p:nvPr/>
        </p:nvSpPr>
        <p:spPr>
          <a:xfrm>
            <a:off x="0" y="1737360"/>
            <a:ext cx="18288000" cy="73152"/>
          </a:xfrm>
          <a:prstGeom prst="rect">
            <a:avLst/>
          </a:prstGeom>
          <a:solidFill>
            <a:srgbClr val="2980B9"/>
          </a:solidFill>
          <a:ln w="12700">
            <a:solidFill>
              <a:srgbClr val="2980B9"/>
            </a:solidFill>
            <a:prstDash val="solid"/>
          </a:ln>
        </p:spPr>
      </p:sp>
      <p:sp>
        <p:nvSpPr>
          <p:cNvPr id="6" name="Shape 4"/>
          <p:cNvSpPr/>
          <p:nvPr/>
        </p:nvSpPr>
        <p:spPr>
          <a:xfrm>
            <a:off x="548640" y="2011680"/>
            <a:ext cx="17190720" cy="1426464"/>
          </a:xfrm>
          <a:prstGeom prst="rect">
            <a:avLst/>
          </a:prstGeom>
          <a:solidFill>
            <a:srgbClr val="EBF5FB"/>
          </a:solidFill>
          <a:ln w="12700">
            <a:solidFill>
              <a:srgbClr val="2980B9"/>
            </a:solidFill>
            <a:prstDash val="solid"/>
          </a:ln>
          <a:effectLst>
            <a:outerShdw blurRad="76200" dist="25400" dir="8100000" algn="bl" rotWithShape="0">
              <a:srgbClr val="000000">
                <a:alpha val="10000"/>
              </a:srgbClr>
            </a:outerShdw>
          </a:effectLst>
        </p:spPr>
      </p:sp>
      <p:sp>
        <p:nvSpPr>
          <p:cNvPr id="7" name="Shape 5"/>
          <p:cNvSpPr/>
          <p:nvPr/>
        </p:nvSpPr>
        <p:spPr>
          <a:xfrm>
            <a:off x="548640" y="2011680"/>
            <a:ext cx="128016" cy="1426464"/>
          </a:xfrm>
          <a:prstGeom prst="rect">
            <a:avLst/>
          </a:prstGeom>
          <a:solidFill>
            <a:srgbClr val="2980B9"/>
          </a:solidFill>
          <a:ln w="12700">
            <a:solidFill>
              <a:srgbClr val="2980B9"/>
            </a:solidFill>
            <a:prstDash val="solid"/>
          </a:ln>
        </p:spPr>
      </p:sp>
      <p:sp>
        <p:nvSpPr>
          <p:cNvPr id="8" name="Text 6"/>
          <p:cNvSpPr/>
          <p:nvPr/>
        </p:nvSpPr>
        <p:spPr>
          <a:xfrm>
            <a:off x="822960" y="2084832"/>
            <a:ext cx="16642080" cy="1280160"/>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Insecure Design issues arise from failure to consider security at the planning &amp; designing stage of the SDLC. Unlike other vulnerabilities that result from poor code, insecure design stems from flawed application architecture, logic, or workflows — building security in from the start is essential.</a:t>
            </a:r>
            <a:endParaRPr lang="en-US" sz="2100" dirty="0"/>
          </a:p>
        </p:txBody>
      </p:sp>
      <p:sp>
        <p:nvSpPr>
          <p:cNvPr id="9" name="Shape 7"/>
          <p:cNvSpPr/>
          <p:nvPr/>
        </p:nvSpPr>
        <p:spPr>
          <a:xfrm>
            <a:off x="548640" y="3657600"/>
            <a:ext cx="8321040" cy="2231136"/>
          </a:xfrm>
          <a:prstGeom prst="rect">
            <a:avLst/>
          </a:prstGeom>
          <a:solidFill>
            <a:srgbClr val="FDEDEC"/>
          </a:solidFill>
          <a:ln w="12700">
            <a:solidFill>
              <a:srgbClr val="C0392B"/>
            </a:solidFill>
            <a:prstDash val="solid"/>
          </a:ln>
          <a:effectLst>
            <a:outerShdw blurRad="76200" dist="25400" dir="8100000" algn="bl" rotWithShape="0">
              <a:srgbClr val="000000">
                <a:alpha val="10000"/>
              </a:srgbClr>
            </a:outerShdw>
          </a:effectLst>
        </p:spPr>
      </p:sp>
      <p:sp>
        <p:nvSpPr>
          <p:cNvPr id="10" name="Shape 8"/>
          <p:cNvSpPr/>
          <p:nvPr/>
        </p:nvSpPr>
        <p:spPr>
          <a:xfrm>
            <a:off x="548640" y="3657600"/>
            <a:ext cx="8321040" cy="658368"/>
          </a:xfrm>
          <a:prstGeom prst="rect">
            <a:avLst/>
          </a:prstGeom>
          <a:solidFill>
            <a:srgbClr val="C0392B"/>
          </a:solidFill>
          <a:ln w="12700">
            <a:solidFill>
              <a:srgbClr val="C0392B"/>
            </a:solidFill>
            <a:prstDash val="solid"/>
          </a:ln>
        </p:spPr>
      </p:sp>
      <p:sp>
        <p:nvSpPr>
          <p:cNvPr id="11" name="Text 9"/>
          <p:cNvSpPr/>
          <p:nvPr/>
        </p:nvSpPr>
        <p:spPr>
          <a:xfrm>
            <a:off x="731520" y="3694176"/>
            <a:ext cx="7955280" cy="585216"/>
          </a:xfrm>
          <a:prstGeom prst="rect">
            <a:avLst/>
          </a:prstGeom>
          <a:noFill/>
          <a:ln/>
        </p:spPr>
        <p:txBody>
          <a:bodyPr wrap="square" rtlCol="0" anchor="ctr"/>
          <a:lstStyle/>
          <a:p>
            <a:r>
              <a:rPr lang="en-US" sz="2000" b="1" dirty="0">
                <a:solidFill>
                  <a:srgbClr val="FFFFFF"/>
                </a:solidFill>
                <a:latin typeface="Arial" pitchFamily="34" charset="0"/>
                <a:ea typeface="Arial" pitchFamily="34" charset="-122"/>
                <a:cs typeface="Arial" pitchFamily="34" charset="-120"/>
              </a:rPr>
              <a:t>❌ Insecure Design Example</a:t>
            </a:r>
            <a:endParaRPr lang="en-US" sz="2000" dirty="0"/>
          </a:p>
        </p:txBody>
      </p:sp>
      <p:sp>
        <p:nvSpPr>
          <p:cNvPr id="12" name="Text 10"/>
          <p:cNvSpPr/>
          <p:nvPr/>
        </p:nvSpPr>
        <p:spPr>
          <a:xfrm>
            <a:off x="731520" y="4389120"/>
            <a:ext cx="7955280" cy="137160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An online store allows refunds simply by providing an order number — without verifying if that order belongs to the logged-in user. This is a DESIGN FLAW, not a coding bug.</a:t>
            </a:r>
            <a:endParaRPr lang="en-US" sz="1900" dirty="0"/>
          </a:p>
        </p:txBody>
      </p:sp>
      <p:sp>
        <p:nvSpPr>
          <p:cNvPr id="13" name="Shape 11"/>
          <p:cNvSpPr/>
          <p:nvPr/>
        </p:nvSpPr>
        <p:spPr>
          <a:xfrm>
            <a:off x="9418320" y="3657600"/>
            <a:ext cx="8321040" cy="2231136"/>
          </a:xfrm>
          <a:prstGeom prst="rect">
            <a:avLst/>
          </a:prstGeom>
          <a:solidFill>
            <a:srgbClr val="EAFAF1"/>
          </a:solidFill>
          <a:ln w="12700">
            <a:solidFill>
              <a:srgbClr val="27AE60"/>
            </a:solidFill>
            <a:prstDash val="solid"/>
          </a:ln>
          <a:effectLst>
            <a:outerShdw blurRad="76200" dist="25400" dir="8100000" algn="bl" rotWithShape="0">
              <a:srgbClr val="000000">
                <a:alpha val="10000"/>
              </a:srgbClr>
            </a:outerShdw>
          </a:effectLst>
        </p:spPr>
      </p:sp>
      <p:sp>
        <p:nvSpPr>
          <p:cNvPr id="14" name="Shape 12"/>
          <p:cNvSpPr/>
          <p:nvPr/>
        </p:nvSpPr>
        <p:spPr>
          <a:xfrm>
            <a:off x="9418320" y="3657600"/>
            <a:ext cx="8321040" cy="658368"/>
          </a:xfrm>
          <a:prstGeom prst="rect">
            <a:avLst/>
          </a:prstGeom>
          <a:solidFill>
            <a:srgbClr val="27AE60"/>
          </a:solidFill>
          <a:ln w="12700">
            <a:solidFill>
              <a:srgbClr val="27AE60"/>
            </a:solidFill>
            <a:prstDash val="solid"/>
          </a:ln>
        </p:spPr>
      </p:sp>
      <p:sp>
        <p:nvSpPr>
          <p:cNvPr id="15" name="Text 13"/>
          <p:cNvSpPr/>
          <p:nvPr/>
        </p:nvSpPr>
        <p:spPr>
          <a:xfrm>
            <a:off x="9601200" y="3694176"/>
            <a:ext cx="7955280" cy="585216"/>
          </a:xfrm>
          <a:prstGeom prst="rect">
            <a:avLst/>
          </a:prstGeom>
          <a:noFill/>
          <a:ln/>
        </p:spPr>
        <p:txBody>
          <a:bodyPr wrap="square" rtlCol="0" anchor="ctr"/>
          <a:lstStyle/>
          <a:p>
            <a:r>
              <a:rPr lang="en-US" sz="2000" b="1" dirty="0">
                <a:solidFill>
                  <a:srgbClr val="FFFFFF"/>
                </a:solidFill>
                <a:latin typeface="Arial" pitchFamily="34" charset="0"/>
                <a:ea typeface="Arial" pitchFamily="34" charset="-122"/>
                <a:cs typeface="Arial" pitchFamily="34" charset="-120"/>
              </a:rPr>
              <a:t>✅ Secure Design Approach</a:t>
            </a:r>
            <a:endParaRPr lang="en-US" sz="2000" dirty="0"/>
          </a:p>
        </p:txBody>
      </p:sp>
      <p:sp>
        <p:nvSpPr>
          <p:cNvPr id="16" name="Text 14"/>
          <p:cNvSpPr/>
          <p:nvPr/>
        </p:nvSpPr>
        <p:spPr>
          <a:xfrm>
            <a:off x="9601200" y="4389120"/>
            <a:ext cx="7955280" cy="137160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Require user authentication, validate order ownership before refund, include business logic abuse prevention in requirements from the start.</a:t>
            </a:r>
            <a:endParaRPr lang="en-US" sz="1900" dirty="0"/>
          </a:p>
        </p:txBody>
      </p:sp>
      <p:sp>
        <p:nvSpPr>
          <p:cNvPr id="17" name="Text 15"/>
          <p:cNvSpPr/>
          <p:nvPr/>
        </p:nvSpPr>
        <p:spPr>
          <a:xfrm>
            <a:off x="548640" y="6071616"/>
            <a:ext cx="16459200" cy="548640"/>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Integrating Security into the SDLC</a:t>
            </a:r>
            <a:endParaRPr lang="en-US" sz="2600" dirty="0"/>
          </a:p>
        </p:txBody>
      </p:sp>
      <p:sp>
        <p:nvSpPr>
          <p:cNvPr id="18" name="Shape 16"/>
          <p:cNvSpPr/>
          <p:nvPr/>
        </p:nvSpPr>
        <p:spPr>
          <a:xfrm>
            <a:off x="365760" y="6729984"/>
            <a:ext cx="3200400" cy="2779776"/>
          </a:xfrm>
          <a:prstGeom prst="rect">
            <a:avLst/>
          </a:prstGeom>
          <a:solidFill>
            <a:srgbClr val="2980B9"/>
          </a:solidFill>
          <a:ln w="12700">
            <a:solidFill>
              <a:srgbClr val="2980B9"/>
            </a:solidFill>
            <a:prstDash val="solid"/>
          </a:ln>
          <a:effectLst>
            <a:outerShdw blurRad="76200" dist="25400" dir="8100000" algn="bl" rotWithShape="0">
              <a:srgbClr val="000000">
                <a:alpha val="10000"/>
              </a:srgbClr>
            </a:outerShdw>
          </a:effectLst>
        </p:spPr>
      </p:sp>
      <p:sp>
        <p:nvSpPr>
          <p:cNvPr id="19" name="Text 17"/>
          <p:cNvSpPr/>
          <p:nvPr/>
        </p:nvSpPr>
        <p:spPr>
          <a:xfrm>
            <a:off x="365760" y="6803136"/>
            <a:ext cx="3200400" cy="768096"/>
          </a:xfrm>
          <a:prstGeom prst="rect">
            <a:avLst/>
          </a:prstGeom>
          <a:noFill/>
          <a:ln/>
        </p:spPr>
        <p:txBody>
          <a:bodyPr wrap="square" rtlCol="0" anchor="ctr"/>
          <a:lstStyle/>
          <a:p>
            <a:pPr algn="ctr"/>
            <a:r>
              <a:rPr lang="en-US" sz="4400" dirty="0">
                <a:solidFill>
                  <a:srgbClr val="000000"/>
                </a:solidFill>
              </a:rPr>
              <a:t>📋</a:t>
            </a:r>
            <a:endParaRPr lang="en-US" sz="4400" dirty="0"/>
          </a:p>
        </p:txBody>
      </p:sp>
      <p:sp>
        <p:nvSpPr>
          <p:cNvPr id="20" name="Text 18"/>
          <p:cNvSpPr/>
          <p:nvPr/>
        </p:nvSpPr>
        <p:spPr>
          <a:xfrm>
            <a:off x="457200" y="7589520"/>
            <a:ext cx="3017520" cy="585216"/>
          </a:xfrm>
          <a:prstGeom prst="rect">
            <a:avLst/>
          </a:prstGeom>
          <a:noFill/>
          <a:ln/>
        </p:spPr>
        <p:txBody>
          <a:bodyPr wrap="square" rtlCol="0" anchor="ctr"/>
          <a:lstStyle/>
          <a:p>
            <a:pPr algn="ctr"/>
            <a:r>
              <a:rPr lang="en-US" sz="1900" b="1" dirty="0">
                <a:solidFill>
                  <a:srgbClr val="FFFFFF"/>
                </a:solidFill>
                <a:latin typeface="Arial Black" pitchFamily="34" charset="0"/>
                <a:ea typeface="Arial Black" pitchFamily="34" charset="-122"/>
                <a:cs typeface="Arial Black" pitchFamily="34" charset="-120"/>
              </a:rPr>
              <a:t>Requirements</a:t>
            </a:r>
            <a:endParaRPr lang="en-US" sz="1900" dirty="0"/>
          </a:p>
        </p:txBody>
      </p:sp>
      <p:sp>
        <p:nvSpPr>
          <p:cNvPr id="21" name="Text 19"/>
          <p:cNvSpPr/>
          <p:nvPr/>
        </p:nvSpPr>
        <p:spPr>
          <a:xfrm>
            <a:off x="457200" y="8193024"/>
            <a:ext cx="3017520" cy="1243584"/>
          </a:xfrm>
          <a:prstGeom prst="rect">
            <a:avLst/>
          </a:prstGeom>
          <a:noFill/>
          <a:ln/>
        </p:spPr>
        <p:txBody>
          <a:bodyPr wrap="square" rtlCol="0" anchor="t"/>
          <a:lstStyle/>
          <a:p>
            <a:pPr algn="ctr"/>
            <a:r>
              <a:rPr lang="en-US" sz="1600" dirty="0">
                <a:solidFill>
                  <a:srgbClr val="DDEEFF"/>
                </a:solidFill>
                <a:latin typeface="Calibri" pitchFamily="34" charset="0"/>
                <a:ea typeface="Calibri" pitchFamily="34" charset="-122"/>
                <a:cs typeface="Calibri" pitchFamily="34" charset="-120"/>
              </a:rPr>
              <a:t>Define security requirements</a:t>
            </a:r>
            <a:endParaRPr lang="en-US" sz="1600" dirty="0"/>
          </a:p>
          <a:p>
            <a:pPr algn="ctr"/>
            <a:r>
              <a:rPr lang="en-US" sz="1600" dirty="0">
                <a:solidFill>
                  <a:srgbClr val="DDEEFF"/>
                </a:solidFill>
                <a:latin typeface="Calibri" pitchFamily="34" charset="0"/>
                <a:ea typeface="Calibri" pitchFamily="34" charset="-122"/>
                <a:cs typeface="Calibri" pitchFamily="34" charset="-120"/>
              </a:rPr>
              <a:t>&amp; user story abuse cases</a:t>
            </a:r>
            <a:endParaRPr lang="en-US" sz="1600" dirty="0"/>
          </a:p>
        </p:txBody>
      </p:sp>
      <p:sp>
        <p:nvSpPr>
          <p:cNvPr id="22" name="Shape 20"/>
          <p:cNvSpPr/>
          <p:nvPr/>
        </p:nvSpPr>
        <p:spPr>
          <a:xfrm>
            <a:off x="3621024" y="7772400"/>
            <a:ext cx="219456" cy="365760"/>
          </a:xfrm>
          <a:prstGeom prst="triangle">
            <a:avLst/>
          </a:prstGeom>
          <a:solidFill>
            <a:srgbClr val="00B4C8"/>
          </a:solidFill>
          <a:ln w="12700">
            <a:solidFill>
              <a:srgbClr val="00B4C8"/>
            </a:solidFill>
            <a:prstDash val="solid"/>
          </a:ln>
        </p:spPr>
      </p:sp>
      <p:sp>
        <p:nvSpPr>
          <p:cNvPr id="23" name="Shape 21"/>
          <p:cNvSpPr/>
          <p:nvPr/>
        </p:nvSpPr>
        <p:spPr>
          <a:xfrm>
            <a:off x="3877056" y="6729984"/>
            <a:ext cx="3200400" cy="2779776"/>
          </a:xfrm>
          <a:prstGeom prst="rect">
            <a:avLst/>
          </a:prstGeom>
          <a:solidFill>
            <a:srgbClr val="8E44AD"/>
          </a:solidFill>
          <a:ln w="12700">
            <a:solidFill>
              <a:srgbClr val="8E44AD"/>
            </a:solidFill>
            <a:prstDash val="solid"/>
          </a:ln>
          <a:effectLst>
            <a:outerShdw blurRad="76200" dist="25400" dir="8100000" algn="bl" rotWithShape="0">
              <a:srgbClr val="000000">
                <a:alpha val="10000"/>
              </a:srgbClr>
            </a:outerShdw>
          </a:effectLst>
        </p:spPr>
      </p:sp>
      <p:sp>
        <p:nvSpPr>
          <p:cNvPr id="24" name="Text 22"/>
          <p:cNvSpPr/>
          <p:nvPr/>
        </p:nvSpPr>
        <p:spPr>
          <a:xfrm>
            <a:off x="3877056" y="6803136"/>
            <a:ext cx="3200400" cy="768096"/>
          </a:xfrm>
          <a:prstGeom prst="rect">
            <a:avLst/>
          </a:prstGeom>
          <a:noFill/>
          <a:ln/>
        </p:spPr>
        <p:txBody>
          <a:bodyPr wrap="square" rtlCol="0" anchor="ctr"/>
          <a:lstStyle/>
          <a:p>
            <a:pPr algn="ctr"/>
            <a:r>
              <a:rPr lang="en-US" sz="4400" dirty="0">
                <a:solidFill>
                  <a:srgbClr val="000000"/>
                </a:solidFill>
              </a:rPr>
              <a:t>📐</a:t>
            </a:r>
            <a:endParaRPr lang="en-US" sz="4400" dirty="0"/>
          </a:p>
        </p:txBody>
      </p:sp>
      <p:sp>
        <p:nvSpPr>
          <p:cNvPr id="25" name="Text 23"/>
          <p:cNvSpPr/>
          <p:nvPr/>
        </p:nvSpPr>
        <p:spPr>
          <a:xfrm>
            <a:off x="3968496" y="7589520"/>
            <a:ext cx="3017520" cy="585216"/>
          </a:xfrm>
          <a:prstGeom prst="rect">
            <a:avLst/>
          </a:prstGeom>
          <a:noFill/>
          <a:ln/>
        </p:spPr>
        <p:txBody>
          <a:bodyPr wrap="square" rtlCol="0" anchor="ctr"/>
          <a:lstStyle/>
          <a:p>
            <a:pPr algn="ctr"/>
            <a:r>
              <a:rPr lang="en-US" sz="1900" b="1" dirty="0">
                <a:solidFill>
                  <a:srgbClr val="FFFFFF"/>
                </a:solidFill>
                <a:latin typeface="Arial Black" pitchFamily="34" charset="0"/>
                <a:ea typeface="Arial Black" pitchFamily="34" charset="-122"/>
                <a:cs typeface="Arial Black" pitchFamily="34" charset="-120"/>
              </a:rPr>
              <a:t>Design</a:t>
            </a:r>
            <a:endParaRPr lang="en-US" sz="1900" dirty="0"/>
          </a:p>
        </p:txBody>
      </p:sp>
      <p:sp>
        <p:nvSpPr>
          <p:cNvPr id="26" name="Text 24"/>
          <p:cNvSpPr/>
          <p:nvPr/>
        </p:nvSpPr>
        <p:spPr>
          <a:xfrm>
            <a:off x="3968496" y="8193024"/>
            <a:ext cx="3017520" cy="1243584"/>
          </a:xfrm>
          <a:prstGeom prst="rect">
            <a:avLst/>
          </a:prstGeom>
          <a:noFill/>
          <a:ln/>
        </p:spPr>
        <p:txBody>
          <a:bodyPr wrap="square" rtlCol="0" anchor="t"/>
          <a:lstStyle/>
          <a:p>
            <a:pPr algn="ctr"/>
            <a:r>
              <a:rPr lang="en-US" sz="1600" dirty="0">
                <a:solidFill>
                  <a:srgbClr val="DDEEFF"/>
                </a:solidFill>
                <a:latin typeface="Calibri" pitchFamily="34" charset="0"/>
                <a:ea typeface="Calibri" pitchFamily="34" charset="-122"/>
                <a:cs typeface="Calibri" pitchFamily="34" charset="-120"/>
              </a:rPr>
              <a:t>Threat Modeling</a:t>
            </a:r>
            <a:endParaRPr lang="en-US" sz="1600" dirty="0"/>
          </a:p>
          <a:p>
            <a:pPr algn="ctr"/>
            <a:r>
              <a:rPr lang="en-US" sz="1600" dirty="0">
                <a:solidFill>
                  <a:srgbClr val="DDEEFF"/>
                </a:solidFill>
                <a:latin typeface="Calibri" pitchFamily="34" charset="0"/>
                <a:ea typeface="Calibri" pitchFamily="34" charset="-122"/>
                <a:cs typeface="Calibri" pitchFamily="34" charset="-120"/>
              </a:rPr>
              <a:t>&amp; Security Architecture</a:t>
            </a:r>
            <a:endParaRPr lang="en-US" sz="1600" dirty="0"/>
          </a:p>
        </p:txBody>
      </p:sp>
      <p:sp>
        <p:nvSpPr>
          <p:cNvPr id="27" name="Shape 25"/>
          <p:cNvSpPr/>
          <p:nvPr/>
        </p:nvSpPr>
        <p:spPr>
          <a:xfrm>
            <a:off x="7132320" y="7772400"/>
            <a:ext cx="219456" cy="365760"/>
          </a:xfrm>
          <a:prstGeom prst="triangle">
            <a:avLst/>
          </a:prstGeom>
          <a:solidFill>
            <a:srgbClr val="00B4C8"/>
          </a:solidFill>
          <a:ln w="12700">
            <a:solidFill>
              <a:srgbClr val="00B4C8"/>
            </a:solidFill>
            <a:prstDash val="solid"/>
          </a:ln>
        </p:spPr>
      </p:sp>
      <p:sp>
        <p:nvSpPr>
          <p:cNvPr id="28" name="Shape 26"/>
          <p:cNvSpPr/>
          <p:nvPr/>
        </p:nvSpPr>
        <p:spPr>
          <a:xfrm>
            <a:off x="7388352" y="6729984"/>
            <a:ext cx="3200400" cy="2779776"/>
          </a:xfrm>
          <a:prstGeom prst="rect">
            <a:avLst/>
          </a:prstGeom>
          <a:solidFill>
            <a:srgbClr val="005F73"/>
          </a:solidFill>
          <a:ln w="12700">
            <a:solidFill>
              <a:srgbClr val="005F73"/>
            </a:solidFill>
            <a:prstDash val="solid"/>
          </a:ln>
          <a:effectLst>
            <a:outerShdw blurRad="76200" dist="25400" dir="8100000" algn="bl" rotWithShape="0">
              <a:srgbClr val="000000">
                <a:alpha val="10000"/>
              </a:srgbClr>
            </a:outerShdw>
          </a:effectLst>
        </p:spPr>
      </p:sp>
      <p:sp>
        <p:nvSpPr>
          <p:cNvPr id="29" name="Text 27"/>
          <p:cNvSpPr/>
          <p:nvPr/>
        </p:nvSpPr>
        <p:spPr>
          <a:xfrm>
            <a:off x="7388352" y="6803136"/>
            <a:ext cx="3200400" cy="768096"/>
          </a:xfrm>
          <a:prstGeom prst="rect">
            <a:avLst/>
          </a:prstGeom>
          <a:noFill/>
          <a:ln/>
        </p:spPr>
        <p:txBody>
          <a:bodyPr wrap="square" rtlCol="0" anchor="ctr"/>
          <a:lstStyle/>
          <a:p>
            <a:pPr algn="ctr"/>
            <a:r>
              <a:rPr lang="en-US" sz="4400" dirty="0">
                <a:solidFill>
                  <a:srgbClr val="000000"/>
                </a:solidFill>
              </a:rPr>
              <a:t>💻</a:t>
            </a:r>
            <a:endParaRPr lang="en-US" sz="4400" dirty="0"/>
          </a:p>
        </p:txBody>
      </p:sp>
      <p:sp>
        <p:nvSpPr>
          <p:cNvPr id="30" name="Text 28"/>
          <p:cNvSpPr/>
          <p:nvPr/>
        </p:nvSpPr>
        <p:spPr>
          <a:xfrm>
            <a:off x="7479792" y="7589520"/>
            <a:ext cx="3017520" cy="585216"/>
          </a:xfrm>
          <a:prstGeom prst="rect">
            <a:avLst/>
          </a:prstGeom>
          <a:noFill/>
          <a:ln/>
        </p:spPr>
        <p:txBody>
          <a:bodyPr wrap="square" rtlCol="0" anchor="ctr"/>
          <a:lstStyle/>
          <a:p>
            <a:pPr algn="ctr"/>
            <a:r>
              <a:rPr lang="en-US" sz="1900" b="1" dirty="0">
                <a:solidFill>
                  <a:srgbClr val="FFFFFF"/>
                </a:solidFill>
                <a:latin typeface="Arial Black" pitchFamily="34" charset="0"/>
                <a:ea typeface="Arial Black" pitchFamily="34" charset="-122"/>
                <a:cs typeface="Arial Black" pitchFamily="34" charset="-120"/>
              </a:rPr>
              <a:t>Development</a:t>
            </a:r>
            <a:endParaRPr lang="en-US" sz="1900" dirty="0"/>
          </a:p>
        </p:txBody>
      </p:sp>
      <p:sp>
        <p:nvSpPr>
          <p:cNvPr id="31" name="Text 29"/>
          <p:cNvSpPr/>
          <p:nvPr/>
        </p:nvSpPr>
        <p:spPr>
          <a:xfrm>
            <a:off x="7479792" y="8193024"/>
            <a:ext cx="3017520" cy="1243584"/>
          </a:xfrm>
          <a:prstGeom prst="rect">
            <a:avLst/>
          </a:prstGeom>
          <a:noFill/>
          <a:ln/>
        </p:spPr>
        <p:txBody>
          <a:bodyPr wrap="square" rtlCol="0" anchor="t"/>
          <a:lstStyle/>
          <a:p>
            <a:pPr algn="ctr"/>
            <a:r>
              <a:rPr lang="en-US" sz="1600" dirty="0">
                <a:solidFill>
                  <a:srgbClr val="DDEEFF"/>
                </a:solidFill>
                <a:latin typeface="Calibri" pitchFamily="34" charset="0"/>
                <a:ea typeface="Calibri" pitchFamily="34" charset="-122"/>
                <a:cs typeface="Calibri" pitchFamily="34" charset="-120"/>
              </a:rPr>
              <a:t>Secure coding practices</a:t>
            </a:r>
            <a:endParaRPr lang="en-US" sz="1600" dirty="0"/>
          </a:p>
          <a:p>
            <a:pPr algn="ctr"/>
            <a:r>
              <a:rPr lang="en-US" sz="1600" dirty="0">
                <a:solidFill>
                  <a:srgbClr val="DDEEFF"/>
                </a:solidFill>
                <a:latin typeface="Calibri" pitchFamily="34" charset="0"/>
                <a:ea typeface="Calibri" pitchFamily="34" charset="-122"/>
                <a:cs typeface="Calibri" pitchFamily="34" charset="-120"/>
              </a:rPr>
              <a:t>&amp; peer code reviews</a:t>
            </a:r>
            <a:endParaRPr lang="en-US" sz="1600" dirty="0"/>
          </a:p>
        </p:txBody>
      </p:sp>
      <p:sp>
        <p:nvSpPr>
          <p:cNvPr id="32" name="Shape 30"/>
          <p:cNvSpPr/>
          <p:nvPr/>
        </p:nvSpPr>
        <p:spPr>
          <a:xfrm>
            <a:off x="10643616" y="7772400"/>
            <a:ext cx="219456" cy="365760"/>
          </a:xfrm>
          <a:prstGeom prst="triangle">
            <a:avLst/>
          </a:prstGeom>
          <a:solidFill>
            <a:srgbClr val="00B4C8"/>
          </a:solidFill>
          <a:ln w="12700">
            <a:solidFill>
              <a:srgbClr val="00B4C8"/>
            </a:solidFill>
            <a:prstDash val="solid"/>
          </a:ln>
        </p:spPr>
      </p:sp>
      <p:sp>
        <p:nvSpPr>
          <p:cNvPr id="33" name="Shape 31"/>
          <p:cNvSpPr/>
          <p:nvPr/>
        </p:nvSpPr>
        <p:spPr>
          <a:xfrm>
            <a:off x="10899648" y="6729984"/>
            <a:ext cx="3200400" cy="2779776"/>
          </a:xfrm>
          <a:prstGeom prst="rect">
            <a:avLst/>
          </a:prstGeom>
          <a:solidFill>
            <a:srgbClr val="27AE60"/>
          </a:solidFill>
          <a:ln w="12700">
            <a:solidFill>
              <a:srgbClr val="27AE60"/>
            </a:solidFill>
            <a:prstDash val="solid"/>
          </a:ln>
          <a:effectLst>
            <a:outerShdw blurRad="76200" dist="25400" dir="8100000" algn="bl" rotWithShape="0">
              <a:srgbClr val="000000">
                <a:alpha val="10000"/>
              </a:srgbClr>
            </a:outerShdw>
          </a:effectLst>
        </p:spPr>
      </p:sp>
      <p:sp>
        <p:nvSpPr>
          <p:cNvPr id="34" name="Text 32"/>
          <p:cNvSpPr/>
          <p:nvPr/>
        </p:nvSpPr>
        <p:spPr>
          <a:xfrm>
            <a:off x="10899648" y="6803136"/>
            <a:ext cx="3200400" cy="768096"/>
          </a:xfrm>
          <a:prstGeom prst="rect">
            <a:avLst/>
          </a:prstGeom>
          <a:noFill/>
          <a:ln/>
        </p:spPr>
        <p:txBody>
          <a:bodyPr wrap="square" rtlCol="0" anchor="ctr"/>
          <a:lstStyle/>
          <a:p>
            <a:pPr algn="ctr"/>
            <a:r>
              <a:rPr lang="en-US" sz="4400" dirty="0">
                <a:solidFill>
                  <a:srgbClr val="000000"/>
                </a:solidFill>
              </a:rPr>
              <a:t>🔍</a:t>
            </a:r>
            <a:endParaRPr lang="en-US" sz="4400" dirty="0"/>
          </a:p>
        </p:txBody>
      </p:sp>
      <p:sp>
        <p:nvSpPr>
          <p:cNvPr id="35" name="Text 33"/>
          <p:cNvSpPr/>
          <p:nvPr/>
        </p:nvSpPr>
        <p:spPr>
          <a:xfrm>
            <a:off x="10991088" y="7589520"/>
            <a:ext cx="3017520" cy="585216"/>
          </a:xfrm>
          <a:prstGeom prst="rect">
            <a:avLst/>
          </a:prstGeom>
          <a:noFill/>
          <a:ln/>
        </p:spPr>
        <p:txBody>
          <a:bodyPr wrap="square" rtlCol="0" anchor="ctr"/>
          <a:lstStyle/>
          <a:p>
            <a:pPr algn="ctr"/>
            <a:r>
              <a:rPr lang="en-US" sz="1900" b="1" dirty="0">
                <a:solidFill>
                  <a:srgbClr val="FFFFFF"/>
                </a:solidFill>
                <a:latin typeface="Arial Black" pitchFamily="34" charset="0"/>
                <a:ea typeface="Arial Black" pitchFamily="34" charset="-122"/>
                <a:cs typeface="Arial Black" pitchFamily="34" charset="-120"/>
              </a:rPr>
              <a:t>Testing</a:t>
            </a:r>
            <a:endParaRPr lang="en-US" sz="1900" dirty="0"/>
          </a:p>
        </p:txBody>
      </p:sp>
      <p:sp>
        <p:nvSpPr>
          <p:cNvPr id="36" name="Text 34"/>
          <p:cNvSpPr/>
          <p:nvPr/>
        </p:nvSpPr>
        <p:spPr>
          <a:xfrm>
            <a:off x="10991088" y="8193024"/>
            <a:ext cx="3017520" cy="1243584"/>
          </a:xfrm>
          <a:prstGeom prst="rect">
            <a:avLst/>
          </a:prstGeom>
          <a:noFill/>
          <a:ln/>
        </p:spPr>
        <p:txBody>
          <a:bodyPr wrap="square" rtlCol="0" anchor="t"/>
          <a:lstStyle/>
          <a:p>
            <a:pPr algn="ctr"/>
            <a:r>
              <a:rPr lang="en-US" sz="1600" dirty="0">
                <a:solidFill>
                  <a:srgbClr val="DDEEFF"/>
                </a:solidFill>
                <a:latin typeface="Calibri" pitchFamily="34" charset="0"/>
                <a:ea typeface="Calibri" pitchFamily="34" charset="-122"/>
                <a:cs typeface="Calibri" pitchFamily="34" charset="-120"/>
              </a:rPr>
              <a:t>Security testing, SAST,</a:t>
            </a:r>
            <a:endParaRPr lang="en-US" sz="1600" dirty="0"/>
          </a:p>
          <a:p>
            <a:pPr algn="ctr"/>
            <a:r>
              <a:rPr lang="en-US" sz="1600" dirty="0">
                <a:solidFill>
                  <a:srgbClr val="DDEEFF"/>
                </a:solidFill>
                <a:latin typeface="Calibri" pitchFamily="34" charset="0"/>
                <a:ea typeface="Calibri" pitchFamily="34" charset="-122"/>
                <a:cs typeface="Calibri" pitchFamily="34" charset="-120"/>
              </a:rPr>
              <a:t>DASTand Pen Testing</a:t>
            </a:r>
            <a:endParaRPr lang="en-US" sz="1600" dirty="0"/>
          </a:p>
        </p:txBody>
      </p:sp>
      <p:sp>
        <p:nvSpPr>
          <p:cNvPr id="37" name="Shape 35"/>
          <p:cNvSpPr/>
          <p:nvPr/>
        </p:nvSpPr>
        <p:spPr>
          <a:xfrm>
            <a:off x="14154912" y="7772400"/>
            <a:ext cx="219456" cy="365760"/>
          </a:xfrm>
          <a:prstGeom prst="triangle">
            <a:avLst/>
          </a:prstGeom>
          <a:solidFill>
            <a:srgbClr val="00B4C8"/>
          </a:solidFill>
          <a:ln w="12700">
            <a:solidFill>
              <a:srgbClr val="00B4C8"/>
            </a:solidFill>
            <a:prstDash val="solid"/>
          </a:ln>
        </p:spPr>
      </p:sp>
      <p:sp>
        <p:nvSpPr>
          <p:cNvPr id="38" name="Shape 36"/>
          <p:cNvSpPr/>
          <p:nvPr/>
        </p:nvSpPr>
        <p:spPr>
          <a:xfrm>
            <a:off x="14410944" y="6729984"/>
            <a:ext cx="3200400" cy="2779776"/>
          </a:xfrm>
          <a:prstGeom prst="rect">
            <a:avLst/>
          </a:prstGeom>
          <a:solidFill>
            <a:srgbClr val="E67E22"/>
          </a:solidFill>
          <a:ln w="12700">
            <a:solidFill>
              <a:srgbClr val="E67E22"/>
            </a:solidFill>
            <a:prstDash val="solid"/>
          </a:ln>
          <a:effectLst>
            <a:outerShdw blurRad="76200" dist="25400" dir="8100000" algn="bl" rotWithShape="0">
              <a:srgbClr val="000000">
                <a:alpha val="10000"/>
              </a:srgbClr>
            </a:outerShdw>
          </a:effectLst>
        </p:spPr>
      </p:sp>
      <p:sp>
        <p:nvSpPr>
          <p:cNvPr id="39" name="Text 37"/>
          <p:cNvSpPr/>
          <p:nvPr/>
        </p:nvSpPr>
        <p:spPr>
          <a:xfrm>
            <a:off x="14410944" y="6803136"/>
            <a:ext cx="3200400" cy="768096"/>
          </a:xfrm>
          <a:prstGeom prst="rect">
            <a:avLst/>
          </a:prstGeom>
          <a:noFill/>
          <a:ln/>
        </p:spPr>
        <p:txBody>
          <a:bodyPr wrap="square" rtlCol="0" anchor="ctr"/>
          <a:lstStyle/>
          <a:p>
            <a:pPr algn="ctr"/>
            <a:r>
              <a:rPr lang="en-US" sz="4400" dirty="0">
                <a:solidFill>
                  <a:srgbClr val="000000"/>
                </a:solidFill>
              </a:rPr>
              <a:t>🚀</a:t>
            </a:r>
            <a:endParaRPr lang="en-US" sz="4400" dirty="0"/>
          </a:p>
        </p:txBody>
      </p:sp>
      <p:sp>
        <p:nvSpPr>
          <p:cNvPr id="40" name="Text 38"/>
          <p:cNvSpPr/>
          <p:nvPr/>
        </p:nvSpPr>
        <p:spPr>
          <a:xfrm>
            <a:off x="14502384" y="7589520"/>
            <a:ext cx="3017520" cy="585216"/>
          </a:xfrm>
          <a:prstGeom prst="rect">
            <a:avLst/>
          </a:prstGeom>
          <a:noFill/>
          <a:ln/>
        </p:spPr>
        <p:txBody>
          <a:bodyPr wrap="square" rtlCol="0" anchor="ctr"/>
          <a:lstStyle/>
          <a:p>
            <a:pPr algn="ctr"/>
            <a:r>
              <a:rPr lang="en-US" sz="1900" b="1" dirty="0">
                <a:solidFill>
                  <a:srgbClr val="FFFFFF"/>
                </a:solidFill>
                <a:latin typeface="Arial Black" pitchFamily="34" charset="0"/>
                <a:ea typeface="Arial Black" pitchFamily="34" charset="-122"/>
                <a:cs typeface="Arial Black" pitchFamily="34" charset="-120"/>
              </a:rPr>
              <a:t>Deployment</a:t>
            </a:r>
            <a:endParaRPr lang="en-US" sz="1900" dirty="0"/>
          </a:p>
        </p:txBody>
      </p:sp>
      <p:sp>
        <p:nvSpPr>
          <p:cNvPr id="41" name="Text 39"/>
          <p:cNvSpPr/>
          <p:nvPr/>
        </p:nvSpPr>
        <p:spPr>
          <a:xfrm>
            <a:off x="14502384" y="8193024"/>
            <a:ext cx="3017520" cy="1243584"/>
          </a:xfrm>
          <a:prstGeom prst="rect">
            <a:avLst/>
          </a:prstGeom>
          <a:noFill/>
          <a:ln/>
        </p:spPr>
        <p:txBody>
          <a:bodyPr wrap="square" rtlCol="0" anchor="t"/>
          <a:lstStyle/>
          <a:p>
            <a:pPr algn="ctr"/>
            <a:r>
              <a:rPr lang="en-US" sz="1600" dirty="0">
                <a:solidFill>
                  <a:srgbClr val="DDEEFF"/>
                </a:solidFill>
                <a:latin typeface="Calibri" pitchFamily="34" charset="0"/>
                <a:ea typeface="Calibri" pitchFamily="34" charset="-122"/>
                <a:cs typeface="Calibri" pitchFamily="34" charset="-120"/>
              </a:rPr>
              <a:t>Security config,</a:t>
            </a:r>
            <a:endParaRPr lang="en-US" sz="1600" dirty="0"/>
          </a:p>
          <a:p>
            <a:pPr algn="ctr"/>
            <a:r>
              <a:rPr lang="en-US" sz="1600" dirty="0">
                <a:solidFill>
                  <a:srgbClr val="DDEEFF"/>
                </a:solidFill>
                <a:latin typeface="Calibri" pitchFamily="34" charset="0"/>
                <a:ea typeface="Calibri" pitchFamily="34" charset="-122"/>
                <a:cs typeface="Calibri" pitchFamily="34" charset="-120"/>
              </a:rPr>
              <a:t>hardening &amp; monitoring</a:t>
            </a:r>
            <a:endParaRPr lang="en-US" sz="1600" dirty="0"/>
          </a:p>
        </p:txBody>
      </p:sp>
      <p:sp>
        <p:nvSpPr>
          <p:cNvPr id="42" name="Shape 40"/>
          <p:cNvSpPr/>
          <p:nvPr/>
        </p:nvSpPr>
        <p:spPr>
          <a:xfrm>
            <a:off x="0" y="9875520"/>
            <a:ext cx="18288000" cy="411480"/>
          </a:xfrm>
          <a:prstGeom prst="rect">
            <a:avLst/>
          </a:prstGeom>
          <a:solidFill>
            <a:srgbClr val="004D5B"/>
          </a:solidFill>
          <a:ln w="12700">
            <a:solidFill>
              <a:srgbClr val="004D5B"/>
            </a:solidFill>
            <a:prstDash val="solid"/>
          </a:ln>
        </p:spPr>
      </p:sp>
      <p:sp>
        <p:nvSpPr>
          <p:cNvPr id="43" name="Text 41"/>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45" name="Picture 44">
            <a:extLst>
              <a:ext uri="{FF2B5EF4-FFF2-40B4-BE49-F238E27FC236}">
                <a16:creationId xmlns:a16="http://schemas.microsoft.com/office/drawing/2014/main" id="{188D297B-C2ED-4CB6-8E3F-8A9AA54D2D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6776" y="-36576"/>
            <a:ext cx="4435024" cy="16276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737360"/>
          </a:xfrm>
          <a:prstGeom prst="rect">
            <a:avLst/>
          </a:prstGeom>
          <a:solidFill>
            <a:srgbClr val="004D5B"/>
          </a:solidFill>
          <a:ln w="12700">
            <a:solidFill>
              <a:srgbClr val="004D5B"/>
            </a:solidFill>
            <a:prstDash val="solid"/>
          </a:ln>
        </p:spPr>
      </p:sp>
      <p:sp>
        <p:nvSpPr>
          <p:cNvPr id="3" name="Text 1"/>
          <p:cNvSpPr/>
          <p:nvPr/>
        </p:nvSpPr>
        <p:spPr>
          <a:xfrm>
            <a:off x="548640" y="91440"/>
            <a:ext cx="17007840" cy="1005840"/>
          </a:xfrm>
          <a:prstGeom prst="rect">
            <a:avLst/>
          </a:prstGeom>
          <a:noFill/>
          <a:ln/>
        </p:spPr>
        <p:txBody>
          <a:bodyPr wrap="square" rtlCol="0" anchor="ctr"/>
          <a:lstStyle/>
          <a:p>
            <a:r>
              <a:rPr lang="en-US" sz="4400" b="1" dirty="0">
                <a:solidFill>
                  <a:srgbClr val="FFFFFF"/>
                </a:solidFill>
                <a:latin typeface="Arial Black" pitchFamily="34" charset="0"/>
                <a:ea typeface="Arial Black" pitchFamily="34" charset="-122"/>
                <a:cs typeface="Arial Black" pitchFamily="34" charset="-120"/>
              </a:rPr>
              <a:t>⚙️  A05:2021 — Security Misconfiguration</a:t>
            </a:r>
            <a:endParaRPr lang="en-US" sz="4400" dirty="0"/>
          </a:p>
        </p:txBody>
      </p:sp>
      <p:sp>
        <p:nvSpPr>
          <p:cNvPr id="4" name="Text 2"/>
          <p:cNvSpPr/>
          <p:nvPr/>
        </p:nvSpPr>
        <p:spPr>
          <a:xfrm>
            <a:off x="548640" y="1097280"/>
            <a:ext cx="17007840" cy="548640"/>
          </a:xfrm>
          <a:prstGeom prst="rect">
            <a:avLst/>
          </a:prstGeom>
          <a:noFill/>
          <a:ln/>
        </p:spPr>
        <p:txBody>
          <a:bodyPr wrap="square" rtlCol="0" anchor="ctr"/>
          <a:lstStyle/>
          <a:p>
            <a:r>
              <a:rPr lang="en-US" sz="2000" dirty="0">
                <a:solidFill>
                  <a:srgbClr val="00B4C8"/>
                </a:solidFill>
                <a:latin typeface="Calibri" pitchFamily="34" charset="0"/>
                <a:ea typeface="Calibri" pitchFamily="34" charset="-122"/>
                <a:cs typeface="Calibri" pitchFamily="34" charset="-120"/>
              </a:rPr>
              <a:t>Moved from #6 → #5 | 90% of applications tested | Most common yet preventable failure</a:t>
            </a:r>
            <a:endParaRPr lang="en-US" sz="2000" dirty="0"/>
          </a:p>
        </p:txBody>
      </p:sp>
      <p:sp>
        <p:nvSpPr>
          <p:cNvPr id="5" name="Shape 3"/>
          <p:cNvSpPr/>
          <p:nvPr/>
        </p:nvSpPr>
        <p:spPr>
          <a:xfrm>
            <a:off x="0" y="1737360"/>
            <a:ext cx="18288000" cy="73152"/>
          </a:xfrm>
          <a:prstGeom prst="rect">
            <a:avLst/>
          </a:prstGeom>
          <a:solidFill>
            <a:srgbClr val="D35400"/>
          </a:solidFill>
          <a:ln w="12700">
            <a:solidFill>
              <a:srgbClr val="D35400"/>
            </a:solidFill>
            <a:prstDash val="solid"/>
          </a:ln>
        </p:spPr>
      </p:sp>
      <p:sp>
        <p:nvSpPr>
          <p:cNvPr id="6" name="Shape 4"/>
          <p:cNvSpPr/>
          <p:nvPr/>
        </p:nvSpPr>
        <p:spPr>
          <a:xfrm>
            <a:off x="548640" y="2011680"/>
            <a:ext cx="17190720" cy="1188720"/>
          </a:xfrm>
          <a:prstGeom prst="rect">
            <a:avLst/>
          </a:prstGeom>
          <a:solidFill>
            <a:srgbClr val="FEF0E7"/>
          </a:solidFill>
          <a:ln w="12700">
            <a:solidFill>
              <a:srgbClr val="D35400"/>
            </a:solidFill>
            <a:prstDash val="solid"/>
          </a:ln>
          <a:effectLst>
            <a:outerShdw blurRad="76200" dist="25400" dir="8100000" algn="bl" rotWithShape="0">
              <a:srgbClr val="000000">
                <a:alpha val="10000"/>
              </a:srgbClr>
            </a:outerShdw>
          </a:effectLst>
        </p:spPr>
      </p:sp>
      <p:sp>
        <p:nvSpPr>
          <p:cNvPr id="7" name="Shape 5"/>
          <p:cNvSpPr/>
          <p:nvPr/>
        </p:nvSpPr>
        <p:spPr>
          <a:xfrm>
            <a:off x="548640" y="2011680"/>
            <a:ext cx="128016" cy="1188720"/>
          </a:xfrm>
          <a:prstGeom prst="rect">
            <a:avLst/>
          </a:prstGeom>
          <a:solidFill>
            <a:srgbClr val="D35400"/>
          </a:solidFill>
          <a:ln w="12700">
            <a:solidFill>
              <a:srgbClr val="D35400"/>
            </a:solidFill>
            <a:prstDash val="solid"/>
          </a:ln>
        </p:spPr>
      </p:sp>
      <p:sp>
        <p:nvSpPr>
          <p:cNvPr id="8" name="Text 6"/>
          <p:cNvSpPr/>
          <p:nvPr/>
        </p:nvSpPr>
        <p:spPr>
          <a:xfrm>
            <a:off x="822960" y="2084832"/>
            <a:ext cx="16642080" cy="1060704"/>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Security Misconfiguration occurs when security settings are improperly defined, default configurations are not changed, unnecessary features are enabled, or incomplete configurations leave vulnerabilities open. XXE (XML External Entities) is now merged into this category.</a:t>
            </a:r>
            <a:endParaRPr lang="en-US" sz="2100" dirty="0"/>
          </a:p>
        </p:txBody>
      </p:sp>
      <p:sp>
        <p:nvSpPr>
          <p:cNvPr id="9" name="Text 7"/>
          <p:cNvSpPr/>
          <p:nvPr/>
        </p:nvSpPr>
        <p:spPr>
          <a:xfrm>
            <a:off x="548640" y="3383280"/>
            <a:ext cx="9144000" cy="548640"/>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Common Misconfiguration Issues</a:t>
            </a:r>
            <a:endParaRPr lang="en-US" sz="2600" dirty="0"/>
          </a:p>
        </p:txBody>
      </p:sp>
      <p:sp>
        <p:nvSpPr>
          <p:cNvPr id="10" name="Shape 8"/>
          <p:cNvSpPr/>
          <p:nvPr/>
        </p:nvSpPr>
        <p:spPr>
          <a:xfrm>
            <a:off x="548640" y="4059936"/>
            <a:ext cx="8321040" cy="786384"/>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11" name="Shape 9"/>
          <p:cNvSpPr/>
          <p:nvPr/>
        </p:nvSpPr>
        <p:spPr>
          <a:xfrm>
            <a:off x="548640" y="4059936"/>
            <a:ext cx="109728" cy="786384"/>
          </a:xfrm>
          <a:prstGeom prst="rect">
            <a:avLst/>
          </a:prstGeom>
          <a:solidFill>
            <a:srgbClr val="C0392B"/>
          </a:solidFill>
          <a:ln w="12700">
            <a:solidFill>
              <a:srgbClr val="C0392B"/>
            </a:solidFill>
            <a:prstDash val="solid"/>
          </a:ln>
        </p:spPr>
      </p:sp>
      <p:sp>
        <p:nvSpPr>
          <p:cNvPr id="12" name="Text 10"/>
          <p:cNvSpPr/>
          <p:nvPr/>
        </p:nvSpPr>
        <p:spPr>
          <a:xfrm>
            <a:off x="786384" y="4133088"/>
            <a:ext cx="7955280" cy="64008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  Default credentials not changed (admin/admin)</a:t>
            </a:r>
            <a:endParaRPr lang="en-US" sz="1900" dirty="0"/>
          </a:p>
        </p:txBody>
      </p:sp>
      <p:sp>
        <p:nvSpPr>
          <p:cNvPr id="13" name="Shape 11"/>
          <p:cNvSpPr/>
          <p:nvPr/>
        </p:nvSpPr>
        <p:spPr>
          <a:xfrm>
            <a:off x="548640" y="4974336"/>
            <a:ext cx="8321040" cy="786384"/>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14" name="Shape 12"/>
          <p:cNvSpPr/>
          <p:nvPr/>
        </p:nvSpPr>
        <p:spPr>
          <a:xfrm>
            <a:off x="548640" y="4974336"/>
            <a:ext cx="109728" cy="786384"/>
          </a:xfrm>
          <a:prstGeom prst="rect">
            <a:avLst/>
          </a:prstGeom>
          <a:solidFill>
            <a:srgbClr val="E67E22"/>
          </a:solidFill>
          <a:ln w="12700">
            <a:solidFill>
              <a:srgbClr val="E67E22"/>
            </a:solidFill>
            <a:prstDash val="solid"/>
          </a:ln>
        </p:spPr>
      </p:sp>
      <p:sp>
        <p:nvSpPr>
          <p:cNvPr id="15" name="Text 13"/>
          <p:cNvSpPr/>
          <p:nvPr/>
        </p:nvSpPr>
        <p:spPr>
          <a:xfrm>
            <a:off x="786384" y="5047488"/>
            <a:ext cx="7955280" cy="64008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  Unpatched or outdated software &amp; components</a:t>
            </a:r>
            <a:endParaRPr lang="en-US" sz="1900" dirty="0"/>
          </a:p>
        </p:txBody>
      </p:sp>
      <p:sp>
        <p:nvSpPr>
          <p:cNvPr id="16" name="Shape 14"/>
          <p:cNvSpPr/>
          <p:nvPr/>
        </p:nvSpPr>
        <p:spPr>
          <a:xfrm>
            <a:off x="548640" y="5888736"/>
            <a:ext cx="8321040" cy="786384"/>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17" name="Shape 15"/>
          <p:cNvSpPr/>
          <p:nvPr/>
        </p:nvSpPr>
        <p:spPr>
          <a:xfrm>
            <a:off x="548640" y="5888736"/>
            <a:ext cx="109728" cy="786384"/>
          </a:xfrm>
          <a:prstGeom prst="rect">
            <a:avLst/>
          </a:prstGeom>
          <a:solidFill>
            <a:srgbClr val="D35400"/>
          </a:solidFill>
          <a:ln w="12700">
            <a:solidFill>
              <a:srgbClr val="D35400"/>
            </a:solidFill>
            <a:prstDash val="solid"/>
          </a:ln>
        </p:spPr>
      </p:sp>
      <p:sp>
        <p:nvSpPr>
          <p:cNvPr id="18" name="Text 16"/>
          <p:cNvSpPr/>
          <p:nvPr/>
        </p:nvSpPr>
        <p:spPr>
          <a:xfrm>
            <a:off x="786384" y="5961888"/>
            <a:ext cx="7955280" cy="64008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  Unnecessary ports and services left open</a:t>
            </a:r>
            <a:endParaRPr lang="en-US" sz="1900" dirty="0"/>
          </a:p>
        </p:txBody>
      </p:sp>
      <p:sp>
        <p:nvSpPr>
          <p:cNvPr id="19" name="Shape 17"/>
          <p:cNvSpPr/>
          <p:nvPr/>
        </p:nvSpPr>
        <p:spPr>
          <a:xfrm>
            <a:off x="9235440" y="4059936"/>
            <a:ext cx="8321040" cy="786384"/>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0" name="Shape 18"/>
          <p:cNvSpPr/>
          <p:nvPr/>
        </p:nvSpPr>
        <p:spPr>
          <a:xfrm>
            <a:off x="9235440" y="4059936"/>
            <a:ext cx="109728" cy="786384"/>
          </a:xfrm>
          <a:prstGeom prst="rect">
            <a:avLst/>
          </a:prstGeom>
          <a:solidFill>
            <a:srgbClr val="8E44AD"/>
          </a:solidFill>
          <a:ln w="12700">
            <a:solidFill>
              <a:srgbClr val="8E44AD"/>
            </a:solidFill>
            <a:prstDash val="solid"/>
          </a:ln>
        </p:spPr>
      </p:sp>
      <p:sp>
        <p:nvSpPr>
          <p:cNvPr id="21" name="Text 19"/>
          <p:cNvSpPr/>
          <p:nvPr/>
        </p:nvSpPr>
        <p:spPr>
          <a:xfrm>
            <a:off x="9473184" y="4133088"/>
            <a:ext cx="7955280" cy="64008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  Missing HTTP security headers in responses</a:t>
            </a:r>
            <a:endParaRPr lang="en-US" sz="1900" dirty="0"/>
          </a:p>
        </p:txBody>
      </p:sp>
      <p:sp>
        <p:nvSpPr>
          <p:cNvPr id="22" name="Shape 20"/>
          <p:cNvSpPr/>
          <p:nvPr/>
        </p:nvSpPr>
        <p:spPr>
          <a:xfrm>
            <a:off x="9235440" y="4974336"/>
            <a:ext cx="8321040" cy="786384"/>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3" name="Shape 21"/>
          <p:cNvSpPr/>
          <p:nvPr/>
        </p:nvSpPr>
        <p:spPr>
          <a:xfrm>
            <a:off x="9235440" y="4974336"/>
            <a:ext cx="109728" cy="786384"/>
          </a:xfrm>
          <a:prstGeom prst="rect">
            <a:avLst/>
          </a:prstGeom>
          <a:solidFill>
            <a:srgbClr val="C0392B"/>
          </a:solidFill>
          <a:ln w="12700">
            <a:solidFill>
              <a:srgbClr val="C0392B"/>
            </a:solidFill>
            <a:prstDash val="solid"/>
          </a:ln>
        </p:spPr>
      </p:sp>
      <p:sp>
        <p:nvSpPr>
          <p:cNvPr id="24" name="Text 22"/>
          <p:cNvSpPr/>
          <p:nvPr/>
        </p:nvSpPr>
        <p:spPr>
          <a:xfrm>
            <a:off x="9473184" y="5047488"/>
            <a:ext cx="7955280" cy="64008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  Detailed error messages revealing server info</a:t>
            </a:r>
            <a:endParaRPr lang="en-US" sz="1900" dirty="0"/>
          </a:p>
        </p:txBody>
      </p:sp>
      <p:sp>
        <p:nvSpPr>
          <p:cNvPr id="25" name="Shape 23"/>
          <p:cNvSpPr/>
          <p:nvPr/>
        </p:nvSpPr>
        <p:spPr>
          <a:xfrm>
            <a:off x="9235440" y="5888736"/>
            <a:ext cx="8321040" cy="786384"/>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6" name="Shape 24"/>
          <p:cNvSpPr/>
          <p:nvPr/>
        </p:nvSpPr>
        <p:spPr>
          <a:xfrm>
            <a:off x="9235440" y="5888736"/>
            <a:ext cx="109728" cy="786384"/>
          </a:xfrm>
          <a:prstGeom prst="rect">
            <a:avLst/>
          </a:prstGeom>
          <a:solidFill>
            <a:srgbClr val="E67E22"/>
          </a:solidFill>
          <a:ln w="12700">
            <a:solidFill>
              <a:srgbClr val="E67E22"/>
            </a:solidFill>
            <a:prstDash val="solid"/>
          </a:ln>
        </p:spPr>
      </p:sp>
      <p:sp>
        <p:nvSpPr>
          <p:cNvPr id="27" name="Text 25"/>
          <p:cNvSpPr/>
          <p:nvPr/>
        </p:nvSpPr>
        <p:spPr>
          <a:xfrm>
            <a:off x="9473184" y="5961888"/>
            <a:ext cx="7955280" cy="640080"/>
          </a:xfrm>
          <a:prstGeom prst="rect">
            <a:avLst/>
          </a:prstGeom>
          <a:noFill/>
          <a:ln/>
        </p:spPr>
        <p:txBody>
          <a:bodyPr wrap="square" rtlCol="0" anchor="ctr"/>
          <a:lstStyle/>
          <a:p>
            <a:r>
              <a:rPr lang="en-US" sz="1900" dirty="0">
                <a:solidFill>
                  <a:srgbClr val="2C3E50"/>
                </a:solidFill>
                <a:latin typeface="Calibri" pitchFamily="34" charset="0"/>
                <a:ea typeface="Calibri" pitchFamily="34" charset="-122"/>
                <a:cs typeface="Calibri" pitchFamily="34" charset="-120"/>
              </a:rPr>
              <a:t>☁️  Incorrect cloud permissions (e.g., public S3 buckets)</a:t>
            </a:r>
            <a:endParaRPr lang="en-US" sz="1900" dirty="0"/>
          </a:p>
        </p:txBody>
      </p:sp>
      <p:sp>
        <p:nvSpPr>
          <p:cNvPr id="28" name="Text 26"/>
          <p:cNvSpPr/>
          <p:nvPr/>
        </p:nvSpPr>
        <p:spPr>
          <a:xfrm>
            <a:off x="548640" y="7040880"/>
            <a:ext cx="16459200" cy="548640"/>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  Critical HTTP Security Headers to Add</a:t>
            </a:r>
            <a:endParaRPr lang="en-US" sz="2600" dirty="0"/>
          </a:p>
        </p:txBody>
      </p:sp>
      <p:sp>
        <p:nvSpPr>
          <p:cNvPr id="29" name="Shape 27"/>
          <p:cNvSpPr/>
          <p:nvPr/>
        </p:nvSpPr>
        <p:spPr>
          <a:xfrm>
            <a:off x="548640" y="7680960"/>
            <a:ext cx="17190720" cy="1865376"/>
          </a:xfrm>
          <a:prstGeom prst="rect">
            <a:avLst/>
          </a:prstGeom>
          <a:solidFill>
            <a:srgbClr val="1A2B30"/>
          </a:solidFill>
          <a:ln w="12700">
            <a:solidFill>
              <a:srgbClr val="00B4C8"/>
            </a:solidFill>
            <a:prstDash val="solid"/>
          </a:ln>
        </p:spPr>
      </p:sp>
      <p:sp>
        <p:nvSpPr>
          <p:cNvPr id="30" name="Text 28"/>
          <p:cNvSpPr/>
          <p:nvPr/>
        </p:nvSpPr>
        <p:spPr>
          <a:xfrm>
            <a:off x="731520" y="7735824"/>
            <a:ext cx="8412480" cy="548640"/>
          </a:xfrm>
          <a:prstGeom prst="rect">
            <a:avLst/>
          </a:prstGeom>
          <a:noFill/>
          <a:ln/>
        </p:spPr>
        <p:txBody>
          <a:bodyPr wrap="square" rtlCol="0" anchor="ctr"/>
          <a:lstStyle/>
          <a:p>
            <a:r>
              <a:rPr lang="en-US" sz="1700" dirty="0">
                <a:solidFill>
                  <a:srgbClr val="00FF88"/>
                </a:solidFill>
                <a:latin typeface="Consolas" pitchFamily="34" charset="0"/>
                <a:ea typeface="Consolas" pitchFamily="34" charset="-122"/>
                <a:cs typeface="Consolas" pitchFamily="34" charset="-120"/>
              </a:rPr>
              <a:t>  Content-Security-Policy: default-src 'self'</a:t>
            </a:r>
            <a:endParaRPr lang="en-US" sz="1700" dirty="0"/>
          </a:p>
        </p:txBody>
      </p:sp>
      <p:sp>
        <p:nvSpPr>
          <p:cNvPr id="31" name="Text 29"/>
          <p:cNvSpPr/>
          <p:nvPr/>
        </p:nvSpPr>
        <p:spPr>
          <a:xfrm>
            <a:off x="731520" y="8321040"/>
            <a:ext cx="8412480" cy="548640"/>
          </a:xfrm>
          <a:prstGeom prst="rect">
            <a:avLst/>
          </a:prstGeom>
          <a:noFill/>
          <a:ln/>
        </p:spPr>
        <p:txBody>
          <a:bodyPr wrap="square" rtlCol="0" anchor="ctr"/>
          <a:lstStyle/>
          <a:p>
            <a:r>
              <a:rPr lang="en-US" sz="1700" dirty="0">
                <a:solidFill>
                  <a:srgbClr val="00FF88"/>
                </a:solidFill>
                <a:latin typeface="Consolas" pitchFamily="34" charset="0"/>
                <a:ea typeface="Consolas" pitchFamily="34" charset="-122"/>
                <a:cs typeface="Consolas" pitchFamily="34" charset="-120"/>
              </a:rPr>
              <a:t>  X-Content-Type-Options: nosniff</a:t>
            </a:r>
            <a:endParaRPr lang="en-US" sz="1700" dirty="0"/>
          </a:p>
        </p:txBody>
      </p:sp>
      <p:sp>
        <p:nvSpPr>
          <p:cNvPr id="32" name="Text 30"/>
          <p:cNvSpPr/>
          <p:nvPr/>
        </p:nvSpPr>
        <p:spPr>
          <a:xfrm>
            <a:off x="731520" y="8906256"/>
            <a:ext cx="8412480" cy="548640"/>
          </a:xfrm>
          <a:prstGeom prst="rect">
            <a:avLst/>
          </a:prstGeom>
          <a:noFill/>
          <a:ln/>
        </p:spPr>
        <p:txBody>
          <a:bodyPr wrap="square" rtlCol="0" anchor="ctr"/>
          <a:lstStyle/>
          <a:p>
            <a:r>
              <a:rPr lang="en-US" sz="1700" dirty="0">
                <a:solidFill>
                  <a:srgbClr val="00FF88"/>
                </a:solidFill>
                <a:latin typeface="Consolas" pitchFamily="34" charset="0"/>
                <a:ea typeface="Consolas" pitchFamily="34" charset="-122"/>
                <a:cs typeface="Consolas" pitchFamily="34" charset="-120"/>
              </a:rPr>
              <a:t>  X-Frame-Options: DENY</a:t>
            </a:r>
            <a:endParaRPr lang="en-US" sz="1700" dirty="0"/>
          </a:p>
        </p:txBody>
      </p:sp>
      <p:sp>
        <p:nvSpPr>
          <p:cNvPr id="33" name="Text 31"/>
          <p:cNvSpPr/>
          <p:nvPr/>
        </p:nvSpPr>
        <p:spPr>
          <a:xfrm>
            <a:off x="9326880" y="7735824"/>
            <a:ext cx="8412480" cy="548640"/>
          </a:xfrm>
          <a:prstGeom prst="rect">
            <a:avLst/>
          </a:prstGeom>
          <a:noFill/>
          <a:ln/>
        </p:spPr>
        <p:txBody>
          <a:bodyPr wrap="square" rtlCol="0" anchor="ctr"/>
          <a:lstStyle/>
          <a:p>
            <a:r>
              <a:rPr lang="en-US" sz="1700" dirty="0">
                <a:solidFill>
                  <a:srgbClr val="00FF88"/>
                </a:solidFill>
                <a:latin typeface="Consolas" pitchFamily="34" charset="0"/>
                <a:ea typeface="Consolas" pitchFamily="34" charset="-122"/>
                <a:cs typeface="Consolas" pitchFamily="34" charset="-120"/>
              </a:rPr>
              <a:t>  Strict-Transport-Security: max-age=31536000; includeSubDomains</a:t>
            </a:r>
            <a:endParaRPr lang="en-US" sz="1700" dirty="0"/>
          </a:p>
        </p:txBody>
      </p:sp>
      <p:sp>
        <p:nvSpPr>
          <p:cNvPr id="34" name="Text 32"/>
          <p:cNvSpPr/>
          <p:nvPr/>
        </p:nvSpPr>
        <p:spPr>
          <a:xfrm>
            <a:off x="9326880" y="8321040"/>
            <a:ext cx="8412480" cy="548640"/>
          </a:xfrm>
          <a:prstGeom prst="rect">
            <a:avLst/>
          </a:prstGeom>
          <a:noFill/>
          <a:ln/>
        </p:spPr>
        <p:txBody>
          <a:bodyPr wrap="square" rtlCol="0" anchor="ctr"/>
          <a:lstStyle/>
          <a:p>
            <a:r>
              <a:rPr lang="en-US" sz="1700" dirty="0">
                <a:solidFill>
                  <a:srgbClr val="00FF88"/>
                </a:solidFill>
                <a:latin typeface="Consolas" pitchFamily="34" charset="0"/>
                <a:ea typeface="Consolas" pitchFamily="34" charset="-122"/>
                <a:cs typeface="Consolas" pitchFamily="34" charset="-120"/>
              </a:rPr>
              <a:t>  X-XSS-Protection: 1; mode=block</a:t>
            </a:r>
            <a:endParaRPr lang="en-US" sz="1700" dirty="0"/>
          </a:p>
        </p:txBody>
      </p:sp>
      <p:sp>
        <p:nvSpPr>
          <p:cNvPr id="35" name="Shape 33"/>
          <p:cNvSpPr/>
          <p:nvPr/>
        </p:nvSpPr>
        <p:spPr>
          <a:xfrm>
            <a:off x="0" y="9875520"/>
            <a:ext cx="18288000" cy="411480"/>
          </a:xfrm>
          <a:prstGeom prst="rect">
            <a:avLst/>
          </a:prstGeom>
          <a:solidFill>
            <a:srgbClr val="004D5B"/>
          </a:solidFill>
          <a:ln w="12700">
            <a:solidFill>
              <a:srgbClr val="004D5B"/>
            </a:solidFill>
            <a:prstDash val="solid"/>
          </a:ln>
        </p:spPr>
      </p:sp>
      <p:sp>
        <p:nvSpPr>
          <p:cNvPr id="36" name="Text 34"/>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38" name="Picture 37">
            <a:extLst>
              <a:ext uri="{FF2B5EF4-FFF2-40B4-BE49-F238E27FC236}">
                <a16:creationId xmlns:a16="http://schemas.microsoft.com/office/drawing/2014/main" id="{99905833-7831-D2F3-F119-2E91E02DA4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6776" y="-36576"/>
            <a:ext cx="4435024" cy="16276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828800"/>
          </a:xfrm>
          <a:prstGeom prst="rect">
            <a:avLst/>
          </a:prstGeom>
          <a:solidFill>
            <a:srgbClr val="004D5B"/>
          </a:solidFill>
          <a:ln w="12700">
            <a:solidFill>
              <a:srgbClr val="004D5B"/>
            </a:solidFill>
            <a:prstDash val="solid"/>
          </a:ln>
        </p:spPr>
      </p:sp>
      <p:sp>
        <p:nvSpPr>
          <p:cNvPr id="3" name="Text 1"/>
          <p:cNvSpPr/>
          <p:nvPr/>
        </p:nvSpPr>
        <p:spPr>
          <a:xfrm>
            <a:off x="548640" y="91440"/>
            <a:ext cx="15544800" cy="1097280"/>
          </a:xfrm>
          <a:prstGeom prst="rect">
            <a:avLst/>
          </a:prstGeom>
          <a:noFill/>
          <a:ln/>
        </p:spPr>
        <p:txBody>
          <a:bodyPr wrap="square" rtlCol="0" anchor="ctr"/>
          <a:lstStyle/>
          <a:p>
            <a:r>
              <a:rPr lang="en-US" sz="4800" b="1" dirty="0">
                <a:solidFill>
                  <a:srgbClr val="FFFFFF"/>
                </a:solidFill>
                <a:latin typeface="Arial Black" pitchFamily="34" charset="0"/>
                <a:ea typeface="Arial Black" pitchFamily="34" charset="-122"/>
                <a:cs typeface="Arial Black" pitchFamily="34" charset="-120"/>
              </a:rPr>
              <a:t>A06:2021 — Vulnerable &amp; Outdated Components</a:t>
            </a:r>
            <a:endParaRPr lang="en-US" sz="4800" dirty="0"/>
          </a:p>
        </p:txBody>
      </p:sp>
      <p:sp>
        <p:nvSpPr>
          <p:cNvPr id="4" name="Text 2"/>
          <p:cNvSpPr/>
          <p:nvPr/>
        </p:nvSpPr>
        <p:spPr>
          <a:xfrm>
            <a:off x="548640" y="1281684"/>
            <a:ext cx="15544800" cy="585216"/>
          </a:xfrm>
          <a:prstGeom prst="rect">
            <a:avLst/>
          </a:prstGeom>
          <a:noFill/>
          <a:ln/>
        </p:spPr>
        <p:txBody>
          <a:bodyPr wrap="square" rtlCol="0" anchor="ctr"/>
          <a:lstStyle/>
          <a:p>
            <a:r>
              <a:rPr lang="en-US" sz="2200" dirty="0">
                <a:solidFill>
                  <a:srgbClr val="00B4C8"/>
                </a:solidFill>
                <a:latin typeface="Calibri" pitchFamily="34" charset="0"/>
                <a:ea typeface="Calibri" pitchFamily="34" charset="-122"/>
                <a:cs typeface="Calibri" pitchFamily="34" charset="-120"/>
              </a:rPr>
              <a:t>Moved from #9 → #6 | Previously: 'Using Components with Known Vulnerabilities'</a:t>
            </a:r>
            <a:endParaRPr lang="en-US" sz="2200" dirty="0"/>
          </a:p>
        </p:txBody>
      </p:sp>
      <p:sp>
        <p:nvSpPr>
          <p:cNvPr id="5" name="Shape 3"/>
          <p:cNvSpPr/>
          <p:nvPr/>
        </p:nvSpPr>
        <p:spPr>
          <a:xfrm>
            <a:off x="0" y="1828800"/>
            <a:ext cx="18288000" cy="73152"/>
          </a:xfrm>
          <a:prstGeom prst="rect">
            <a:avLst/>
          </a:prstGeom>
          <a:solidFill>
            <a:srgbClr val="00B4C8"/>
          </a:solidFill>
          <a:ln w="12700">
            <a:solidFill>
              <a:srgbClr val="00B4C8"/>
            </a:solidFill>
            <a:prstDash val="solid"/>
          </a:ln>
        </p:spPr>
      </p:sp>
      <p:sp>
        <p:nvSpPr>
          <p:cNvPr id="6" name="Shape 4"/>
          <p:cNvSpPr/>
          <p:nvPr/>
        </p:nvSpPr>
        <p:spPr>
          <a:xfrm>
            <a:off x="548640" y="2048256"/>
            <a:ext cx="17190720" cy="1243584"/>
          </a:xfrm>
          <a:prstGeom prst="rect">
            <a:avLst/>
          </a:prstGeom>
          <a:solidFill>
            <a:srgbClr val="FFF5F5"/>
          </a:solidFill>
          <a:ln w="12700">
            <a:solidFill>
              <a:srgbClr val="C0392B"/>
            </a:solidFill>
            <a:prstDash val="solid"/>
          </a:ln>
          <a:effectLst>
            <a:outerShdw blurRad="76200" dist="25400" dir="8100000" algn="bl" rotWithShape="0">
              <a:srgbClr val="000000">
                <a:alpha val="10000"/>
              </a:srgbClr>
            </a:outerShdw>
          </a:effectLst>
        </p:spPr>
      </p:sp>
      <p:sp>
        <p:nvSpPr>
          <p:cNvPr id="7" name="Shape 5"/>
          <p:cNvSpPr/>
          <p:nvPr/>
        </p:nvSpPr>
        <p:spPr>
          <a:xfrm>
            <a:off x="548640" y="2048256"/>
            <a:ext cx="128016" cy="1243584"/>
          </a:xfrm>
          <a:prstGeom prst="rect">
            <a:avLst/>
          </a:prstGeom>
          <a:solidFill>
            <a:srgbClr val="C0392B"/>
          </a:solidFill>
          <a:ln w="12700">
            <a:solidFill>
              <a:srgbClr val="C0392B"/>
            </a:solidFill>
            <a:prstDash val="solid"/>
          </a:ln>
        </p:spPr>
      </p:sp>
      <p:sp>
        <p:nvSpPr>
          <p:cNvPr id="8" name="Text 6"/>
          <p:cNvSpPr/>
          <p:nvPr/>
        </p:nvSpPr>
        <p:spPr>
          <a:xfrm>
            <a:off x="822960" y="2121408"/>
            <a:ext cx="16642080" cy="1097280"/>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This category covers security risks from using outdated, unpatched, or unsupported software components, frameworks, libraries, or plugins with known security issues. The application is only as secure as its weakest component.</a:t>
            </a:r>
            <a:endParaRPr lang="en-US" sz="2100" dirty="0"/>
          </a:p>
        </p:txBody>
      </p:sp>
      <p:sp>
        <p:nvSpPr>
          <p:cNvPr id="9" name="Shape 7"/>
          <p:cNvSpPr/>
          <p:nvPr/>
        </p:nvSpPr>
        <p:spPr>
          <a:xfrm>
            <a:off x="548640" y="3474720"/>
            <a:ext cx="17190720" cy="3840480"/>
          </a:xfrm>
          <a:prstGeom prst="rect">
            <a:avLst/>
          </a:prstGeom>
          <a:solidFill>
            <a:srgbClr val="004D5B"/>
          </a:solidFill>
          <a:ln w="12700">
            <a:solidFill>
              <a:srgbClr val="004D5B"/>
            </a:solidFill>
            <a:prstDash val="solid"/>
          </a:ln>
          <a:effectLst>
            <a:outerShdw blurRad="101600" dist="38100" dir="8100000" algn="bl" rotWithShape="0">
              <a:srgbClr val="000000">
                <a:alpha val="12000"/>
              </a:srgbClr>
            </a:outerShdw>
          </a:effectLst>
        </p:spPr>
      </p:sp>
      <p:sp>
        <p:nvSpPr>
          <p:cNvPr id="10" name="Shape 8"/>
          <p:cNvSpPr/>
          <p:nvPr/>
        </p:nvSpPr>
        <p:spPr>
          <a:xfrm>
            <a:off x="548640" y="3474720"/>
            <a:ext cx="17190720" cy="731520"/>
          </a:xfrm>
          <a:prstGeom prst="rect">
            <a:avLst/>
          </a:prstGeom>
          <a:solidFill>
            <a:srgbClr val="C0392B"/>
          </a:solidFill>
          <a:ln w="12700">
            <a:solidFill>
              <a:srgbClr val="C0392B"/>
            </a:solidFill>
            <a:prstDash val="solid"/>
          </a:ln>
        </p:spPr>
      </p:sp>
      <p:sp>
        <p:nvSpPr>
          <p:cNvPr id="11" name="Text 9"/>
          <p:cNvSpPr/>
          <p:nvPr/>
        </p:nvSpPr>
        <p:spPr>
          <a:xfrm>
            <a:off x="822960" y="3511296"/>
            <a:ext cx="16642080" cy="658368"/>
          </a:xfrm>
          <a:prstGeom prst="rect">
            <a:avLst/>
          </a:prstGeom>
          <a:noFill/>
          <a:ln/>
        </p:spPr>
        <p:txBody>
          <a:bodyPr wrap="square" rtlCol="0" anchor="ctr"/>
          <a:lstStyle/>
          <a:p>
            <a:r>
              <a:rPr lang="en-US" sz="2400" b="1" dirty="0">
                <a:solidFill>
                  <a:srgbClr val="FFFFFF"/>
                </a:solidFill>
                <a:latin typeface="Arial Black" pitchFamily="34" charset="0"/>
                <a:ea typeface="Arial Black" pitchFamily="34" charset="-122"/>
                <a:cs typeface="Arial Black" pitchFamily="34" charset="-120"/>
              </a:rPr>
              <a:t>🏦  REAL CASE STUDY: 2017 Equifax Data Breach</a:t>
            </a:r>
            <a:endParaRPr lang="en-US" sz="2400" dirty="0"/>
          </a:p>
        </p:txBody>
      </p:sp>
      <p:sp>
        <p:nvSpPr>
          <p:cNvPr id="12" name="Text 10"/>
          <p:cNvSpPr/>
          <p:nvPr/>
        </p:nvSpPr>
        <p:spPr>
          <a:xfrm>
            <a:off x="914400" y="4352544"/>
            <a:ext cx="3108960" cy="585216"/>
          </a:xfrm>
          <a:prstGeom prst="rect">
            <a:avLst/>
          </a:prstGeom>
          <a:noFill/>
          <a:ln/>
        </p:spPr>
        <p:txBody>
          <a:bodyPr wrap="square" rtlCol="0" anchor="ctr"/>
          <a:lstStyle/>
          <a:p>
            <a:r>
              <a:rPr lang="en-US" sz="1900" b="1" dirty="0">
                <a:solidFill>
                  <a:srgbClr val="00B4C8"/>
                </a:solidFill>
                <a:latin typeface="Arial" pitchFamily="34" charset="0"/>
                <a:ea typeface="Arial" pitchFamily="34" charset="-122"/>
                <a:cs typeface="Arial" pitchFamily="34" charset="-120"/>
              </a:rPr>
              <a:t>Root Cause:</a:t>
            </a:r>
            <a:endParaRPr lang="en-US" sz="1900" dirty="0"/>
          </a:p>
        </p:txBody>
      </p:sp>
      <p:sp>
        <p:nvSpPr>
          <p:cNvPr id="13" name="Text 11"/>
          <p:cNvSpPr/>
          <p:nvPr/>
        </p:nvSpPr>
        <p:spPr>
          <a:xfrm>
            <a:off x="4059936" y="4352544"/>
            <a:ext cx="13350240" cy="585216"/>
          </a:xfrm>
          <a:prstGeom prst="rect">
            <a:avLst/>
          </a:prstGeom>
          <a:noFill/>
          <a:ln/>
        </p:spPr>
        <p:txBody>
          <a:bodyPr wrap="square" rtlCol="0" anchor="ctr"/>
          <a:lstStyle/>
          <a:p>
            <a:r>
              <a:rPr lang="en-US" sz="1900" dirty="0">
                <a:solidFill>
                  <a:srgbClr val="FFFFFF"/>
                </a:solidFill>
                <a:latin typeface="Calibri" pitchFamily="34" charset="0"/>
                <a:ea typeface="Calibri" pitchFamily="34" charset="-122"/>
                <a:cs typeface="Calibri" pitchFamily="34" charset="-120"/>
              </a:rPr>
              <a:t>Unpatched Apache Struts web framework (CVE-2017-5638)</a:t>
            </a:r>
            <a:endParaRPr lang="en-US" sz="1900" dirty="0"/>
          </a:p>
        </p:txBody>
      </p:sp>
      <p:sp>
        <p:nvSpPr>
          <p:cNvPr id="14" name="Text 12"/>
          <p:cNvSpPr/>
          <p:nvPr/>
        </p:nvSpPr>
        <p:spPr>
          <a:xfrm>
            <a:off x="914400" y="5047488"/>
            <a:ext cx="3108960" cy="585216"/>
          </a:xfrm>
          <a:prstGeom prst="rect">
            <a:avLst/>
          </a:prstGeom>
          <a:noFill/>
          <a:ln/>
        </p:spPr>
        <p:txBody>
          <a:bodyPr wrap="square" rtlCol="0" anchor="ctr"/>
          <a:lstStyle/>
          <a:p>
            <a:r>
              <a:rPr lang="en-US" sz="1900" b="1" dirty="0">
                <a:solidFill>
                  <a:srgbClr val="00B4C8"/>
                </a:solidFill>
                <a:latin typeface="Arial" pitchFamily="34" charset="0"/>
                <a:ea typeface="Arial" pitchFamily="34" charset="-122"/>
                <a:cs typeface="Arial" pitchFamily="34" charset="-120"/>
              </a:rPr>
              <a:t>Impact:</a:t>
            </a:r>
            <a:endParaRPr lang="en-US" sz="1900" dirty="0"/>
          </a:p>
        </p:txBody>
      </p:sp>
      <p:sp>
        <p:nvSpPr>
          <p:cNvPr id="15" name="Text 13"/>
          <p:cNvSpPr/>
          <p:nvPr/>
        </p:nvSpPr>
        <p:spPr>
          <a:xfrm>
            <a:off x="4059936" y="5047488"/>
            <a:ext cx="13350240" cy="585216"/>
          </a:xfrm>
          <a:prstGeom prst="rect">
            <a:avLst/>
          </a:prstGeom>
          <a:noFill/>
          <a:ln/>
        </p:spPr>
        <p:txBody>
          <a:bodyPr wrap="square" rtlCol="0" anchor="ctr"/>
          <a:lstStyle/>
          <a:p>
            <a:r>
              <a:rPr lang="en-US" sz="1900" dirty="0">
                <a:solidFill>
                  <a:srgbClr val="FFFFFF"/>
                </a:solidFill>
                <a:latin typeface="Calibri" pitchFamily="34" charset="0"/>
                <a:ea typeface="Calibri" pitchFamily="34" charset="-122"/>
                <a:cs typeface="Calibri" pitchFamily="34" charset="-120"/>
              </a:rPr>
              <a:t>147 MILLION individuals — SSNs, addresses, financial histories exposed</a:t>
            </a:r>
            <a:endParaRPr lang="en-US" sz="1900" dirty="0"/>
          </a:p>
        </p:txBody>
      </p:sp>
      <p:sp>
        <p:nvSpPr>
          <p:cNvPr id="16" name="Text 14"/>
          <p:cNvSpPr/>
          <p:nvPr/>
        </p:nvSpPr>
        <p:spPr>
          <a:xfrm>
            <a:off x="914400" y="5742432"/>
            <a:ext cx="3108960" cy="585216"/>
          </a:xfrm>
          <a:prstGeom prst="rect">
            <a:avLst/>
          </a:prstGeom>
          <a:noFill/>
          <a:ln/>
        </p:spPr>
        <p:txBody>
          <a:bodyPr wrap="square" rtlCol="0" anchor="ctr"/>
          <a:lstStyle/>
          <a:p>
            <a:r>
              <a:rPr lang="en-US" sz="1900" b="1" dirty="0">
                <a:solidFill>
                  <a:srgbClr val="00B4C8"/>
                </a:solidFill>
                <a:latin typeface="Arial" pitchFamily="34" charset="0"/>
                <a:ea typeface="Arial" pitchFamily="34" charset="-122"/>
                <a:cs typeface="Arial" pitchFamily="34" charset="-120"/>
              </a:rPr>
              <a:t>Data Stolen:</a:t>
            </a:r>
            <a:endParaRPr lang="en-US" sz="1900" dirty="0"/>
          </a:p>
        </p:txBody>
      </p:sp>
      <p:sp>
        <p:nvSpPr>
          <p:cNvPr id="17" name="Text 15"/>
          <p:cNvSpPr/>
          <p:nvPr/>
        </p:nvSpPr>
        <p:spPr>
          <a:xfrm>
            <a:off x="4059936" y="5742432"/>
            <a:ext cx="13350240" cy="585216"/>
          </a:xfrm>
          <a:prstGeom prst="rect">
            <a:avLst/>
          </a:prstGeom>
          <a:noFill/>
          <a:ln/>
        </p:spPr>
        <p:txBody>
          <a:bodyPr wrap="square" rtlCol="0" anchor="ctr"/>
          <a:lstStyle/>
          <a:p>
            <a:r>
              <a:rPr lang="en-US" sz="1900" dirty="0">
                <a:solidFill>
                  <a:srgbClr val="FFFFFF"/>
                </a:solidFill>
                <a:latin typeface="Calibri" pitchFamily="34" charset="0"/>
                <a:ea typeface="Calibri" pitchFamily="34" charset="-122"/>
                <a:cs typeface="Calibri" pitchFamily="34" charset="-120"/>
              </a:rPr>
              <a:t>Names, DOBs, SSNs, driver's licenses, credit card info</a:t>
            </a:r>
            <a:endParaRPr lang="en-US" sz="1900" dirty="0"/>
          </a:p>
        </p:txBody>
      </p:sp>
      <p:sp>
        <p:nvSpPr>
          <p:cNvPr id="18" name="Text 16"/>
          <p:cNvSpPr/>
          <p:nvPr/>
        </p:nvSpPr>
        <p:spPr>
          <a:xfrm>
            <a:off x="914400" y="6437376"/>
            <a:ext cx="3108960" cy="585216"/>
          </a:xfrm>
          <a:prstGeom prst="rect">
            <a:avLst/>
          </a:prstGeom>
          <a:noFill/>
          <a:ln/>
        </p:spPr>
        <p:txBody>
          <a:bodyPr wrap="square" rtlCol="0" anchor="ctr"/>
          <a:lstStyle/>
          <a:p>
            <a:r>
              <a:rPr lang="en-US" sz="1900" b="1" dirty="0">
                <a:solidFill>
                  <a:srgbClr val="00B4C8"/>
                </a:solidFill>
                <a:latin typeface="Arial" pitchFamily="34" charset="0"/>
                <a:ea typeface="Arial" pitchFamily="34" charset="-122"/>
                <a:cs typeface="Arial" pitchFamily="34" charset="-120"/>
              </a:rPr>
              <a:t>Penalty:</a:t>
            </a:r>
            <a:endParaRPr lang="en-US" sz="1900" dirty="0"/>
          </a:p>
        </p:txBody>
      </p:sp>
      <p:sp>
        <p:nvSpPr>
          <p:cNvPr id="19" name="Text 17"/>
          <p:cNvSpPr/>
          <p:nvPr/>
        </p:nvSpPr>
        <p:spPr>
          <a:xfrm>
            <a:off x="4059936" y="6437376"/>
            <a:ext cx="13350240" cy="585216"/>
          </a:xfrm>
          <a:prstGeom prst="rect">
            <a:avLst/>
          </a:prstGeom>
          <a:noFill/>
          <a:ln/>
        </p:spPr>
        <p:txBody>
          <a:bodyPr wrap="square" rtlCol="0" anchor="ctr"/>
          <a:lstStyle/>
          <a:p>
            <a:r>
              <a:rPr lang="en-US" sz="1900" dirty="0">
                <a:solidFill>
                  <a:srgbClr val="FFFFFF"/>
                </a:solidFill>
                <a:latin typeface="Calibri" pitchFamily="34" charset="0"/>
                <a:ea typeface="Calibri" pitchFamily="34" charset="-122"/>
                <a:cs typeface="Calibri" pitchFamily="34" charset="-120"/>
              </a:rPr>
              <a:t>$575 million FTC settlement — one of the largest ever</a:t>
            </a:r>
            <a:endParaRPr lang="en-US" sz="1900" dirty="0"/>
          </a:p>
        </p:txBody>
      </p:sp>
      <p:sp>
        <p:nvSpPr>
          <p:cNvPr id="20" name="Text 18"/>
          <p:cNvSpPr/>
          <p:nvPr/>
        </p:nvSpPr>
        <p:spPr>
          <a:xfrm>
            <a:off x="548640" y="7498080"/>
            <a:ext cx="8229600" cy="548640"/>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Common Causes &amp; Prevention</a:t>
            </a:r>
            <a:endParaRPr lang="en-US" sz="2600" dirty="0"/>
          </a:p>
        </p:txBody>
      </p:sp>
      <p:sp>
        <p:nvSpPr>
          <p:cNvPr id="21" name="Shape 19"/>
          <p:cNvSpPr/>
          <p:nvPr/>
        </p:nvSpPr>
        <p:spPr>
          <a:xfrm>
            <a:off x="548640" y="8193024"/>
            <a:ext cx="8412480" cy="768096"/>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2" name="Text 20"/>
          <p:cNvSpPr/>
          <p:nvPr/>
        </p:nvSpPr>
        <p:spPr>
          <a:xfrm>
            <a:off x="731520" y="8266176"/>
            <a:ext cx="8083296" cy="621792"/>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No component inventory  →  Maintain asset inventory of all dependencies</a:t>
            </a:r>
            <a:endParaRPr lang="en-US" sz="1700" dirty="0"/>
          </a:p>
        </p:txBody>
      </p:sp>
      <p:sp>
        <p:nvSpPr>
          <p:cNvPr id="23" name="Shape 21"/>
          <p:cNvSpPr/>
          <p:nvPr/>
        </p:nvSpPr>
        <p:spPr>
          <a:xfrm>
            <a:off x="548640" y="9070848"/>
            <a:ext cx="8412480" cy="768096"/>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4" name="Text 22"/>
          <p:cNvSpPr/>
          <p:nvPr/>
        </p:nvSpPr>
        <p:spPr>
          <a:xfrm>
            <a:off x="731520" y="9144000"/>
            <a:ext cx="8083296" cy="621792"/>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No regular updates / patches  →  Automate patch and vulnerability management</a:t>
            </a:r>
            <a:endParaRPr lang="en-US" sz="1700" dirty="0"/>
          </a:p>
        </p:txBody>
      </p:sp>
      <p:sp>
        <p:nvSpPr>
          <p:cNvPr id="25" name="Shape 23"/>
          <p:cNvSpPr/>
          <p:nvPr/>
        </p:nvSpPr>
        <p:spPr>
          <a:xfrm>
            <a:off x="9418320" y="8193024"/>
            <a:ext cx="8412480" cy="768096"/>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6" name="Text 24"/>
          <p:cNvSpPr/>
          <p:nvPr/>
        </p:nvSpPr>
        <p:spPr>
          <a:xfrm>
            <a:off x="9601200" y="8266176"/>
            <a:ext cx="8083296" cy="621792"/>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Using unsupported (EOL) software  →  Upgrade before vendor end-of-life dates</a:t>
            </a:r>
            <a:endParaRPr lang="en-US" sz="1700" dirty="0"/>
          </a:p>
        </p:txBody>
      </p:sp>
      <p:sp>
        <p:nvSpPr>
          <p:cNvPr id="27" name="Shape 25"/>
          <p:cNvSpPr/>
          <p:nvPr/>
        </p:nvSpPr>
        <p:spPr>
          <a:xfrm>
            <a:off x="9418320" y="9070848"/>
            <a:ext cx="8412480" cy="768096"/>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8" name="Text 26"/>
          <p:cNvSpPr/>
          <p:nvPr/>
        </p:nvSpPr>
        <p:spPr>
          <a:xfrm>
            <a:off x="9601200" y="9144000"/>
            <a:ext cx="8083296" cy="621792"/>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Unverified components from unknown sources  →  Use only trusted &amp; verified registries (npm, PyPI verified publishers)</a:t>
            </a:r>
            <a:endParaRPr lang="en-US" sz="1700" dirty="0"/>
          </a:p>
        </p:txBody>
      </p:sp>
      <p:sp>
        <p:nvSpPr>
          <p:cNvPr id="29" name="Shape 27"/>
          <p:cNvSpPr/>
          <p:nvPr/>
        </p:nvSpPr>
        <p:spPr>
          <a:xfrm>
            <a:off x="0" y="9875520"/>
            <a:ext cx="18288000" cy="411480"/>
          </a:xfrm>
          <a:prstGeom prst="rect">
            <a:avLst/>
          </a:prstGeom>
          <a:solidFill>
            <a:srgbClr val="004D5B"/>
          </a:solidFill>
          <a:ln w="12700">
            <a:solidFill>
              <a:srgbClr val="004D5B"/>
            </a:solidFill>
            <a:prstDash val="solid"/>
          </a:ln>
        </p:spPr>
      </p:sp>
      <p:sp>
        <p:nvSpPr>
          <p:cNvPr id="30" name="Text 28"/>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32" name="Picture 31">
            <a:extLst>
              <a:ext uri="{FF2B5EF4-FFF2-40B4-BE49-F238E27FC236}">
                <a16:creationId xmlns:a16="http://schemas.microsoft.com/office/drawing/2014/main" id="{5ECBD3FE-1A87-8554-06EF-DAAC24854A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6776" y="-36576"/>
            <a:ext cx="4435024" cy="16276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737360"/>
          </a:xfrm>
          <a:prstGeom prst="rect">
            <a:avLst/>
          </a:prstGeom>
          <a:solidFill>
            <a:srgbClr val="004D5B"/>
          </a:solidFill>
          <a:ln w="12700">
            <a:solidFill>
              <a:srgbClr val="004D5B"/>
            </a:solidFill>
            <a:prstDash val="solid"/>
          </a:ln>
        </p:spPr>
      </p:sp>
      <p:sp>
        <p:nvSpPr>
          <p:cNvPr id="3" name="Text 1"/>
          <p:cNvSpPr/>
          <p:nvPr/>
        </p:nvSpPr>
        <p:spPr>
          <a:xfrm>
            <a:off x="76200" y="91440"/>
            <a:ext cx="17007840" cy="1005840"/>
          </a:xfrm>
          <a:prstGeom prst="rect">
            <a:avLst/>
          </a:prstGeom>
          <a:noFill/>
          <a:ln/>
        </p:spPr>
        <p:txBody>
          <a:bodyPr wrap="square" rtlCol="0" anchor="ctr"/>
          <a:lstStyle/>
          <a:p>
            <a:r>
              <a:rPr lang="en-US" sz="3800" b="1" dirty="0">
                <a:solidFill>
                  <a:schemeClr val="bg1"/>
                </a:solidFill>
                <a:latin typeface="Arial Black" pitchFamily="34" charset="0"/>
                <a:ea typeface="Arial Black" pitchFamily="34" charset="-122"/>
                <a:cs typeface="Arial Black" pitchFamily="34" charset="-120"/>
              </a:rPr>
              <a:t>👤</a:t>
            </a:r>
            <a:r>
              <a:rPr lang="en-US" sz="3800" b="1" dirty="0">
                <a:solidFill>
                  <a:srgbClr val="FFFFFF"/>
                </a:solidFill>
                <a:latin typeface="Arial Black" pitchFamily="34" charset="0"/>
                <a:ea typeface="Arial Black" pitchFamily="34" charset="-122"/>
                <a:cs typeface="Arial Black" pitchFamily="34" charset="-120"/>
              </a:rPr>
              <a:t>  A07:2021 — Identification &amp; Authentication Failures</a:t>
            </a:r>
            <a:endParaRPr lang="en-US" sz="3800" dirty="0"/>
          </a:p>
        </p:txBody>
      </p:sp>
      <p:sp>
        <p:nvSpPr>
          <p:cNvPr id="4" name="Text 2"/>
          <p:cNvSpPr/>
          <p:nvPr/>
        </p:nvSpPr>
        <p:spPr>
          <a:xfrm>
            <a:off x="548640" y="1097280"/>
            <a:ext cx="17007840" cy="548640"/>
          </a:xfrm>
          <a:prstGeom prst="rect">
            <a:avLst/>
          </a:prstGeom>
          <a:noFill/>
          <a:ln/>
        </p:spPr>
        <p:txBody>
          <a:bodyPr wrap="square" rtlCol="0" anchor="ctr"/>
          <a:lstStyle/>
          <a:p>
            <a:r>
              <a:rPr lang="en-US" sz="2000" dirty="0">
                <a:solidFill>
                  <a:srgbClr val="00B4C8"/>
                </a:solidFill>
                <a:latin typeface="Calibri" pitchFamily="34" charset="0"/>
                <a:ea typeface="Calibri" pitchFamily="34" charset="-122"/>
                <a:cs typeface="Calibri" pitchFamily="34" charset="-120"/>
              </a:rPr>
              <a:t>Previously: 'Broken Authentication' | Moved from #2 | Includes identification failures related to user identity verification</a:t>
            </a:r>
            <a:endParaRPr lang="en-US" sz="2000" dirty="0"/>
          </a:p>
        </p:txBody>
      </p:sp>
      <p:sp>
        <p:nvSpPr>
          <p:cNvPr id="5" name="Shape 3"/>
          <p:cNvSpPr/>
          <p:nvPr/>
        </p:nvSpPr>
        <p:spPr>
          <a:xfrm>
            <a:off x="0" y="1737360"/>
            <a:ext cx="18288000" cy="73152"/>
          </a:xfrm>
          <a:prstGeom prst="rect">
            <a:avLst/>
          </a:prstGeom>
          <a:solidFill>
            <a:srgbClr val="8E44AD"/>
          </a:solidFill>
          <a:ln w="12700">
            <a:solidFill>
              <a:srgbClr val="8E44AD"/>
            </a:solidFill>
            <a:prstDash val="solid"/>
          </a:ln>
        </p:spPr>
      </p:sp>
      <p:sp>
        <p:nvSpPr>
          <p:cNvPr id="6" name="Shape 4"/>
          <p:cNvSpPr/>
          <p:nvPr/>
        </p:nvSpPr>
        <p:spPr>
          <a:xfrm>
            <a:off x="548640" y="2011680"/>
            <a:ext cx="17190720" cy="1243584"/>
          </a:xfrm>
          <a:prstGeom prst="rect">
            <a:avLst/>
          </a:prstGeom>
          <a:solidFill>
            <a:srgbClr val="F9F0FF"/>
          </a:solidFill>
          <a:ln w="12700">
            <a:solidFill>
              <a:srgbClr val="8E44AD"/>
            </a:solidFill>
            <a:prstDash val="solid"/>
          </a:ln>
          <a:effectLst>
            <a:outerShdw blurRad="76200" dist="25400" dir="8100000" algn="bl" rotWithShape="0">
              <a:srgbClr val="000000">
                <a:alpha val="10000"/>
              </a:srgbClr>
            </a:outerShdw>
          </a:effectLst>
        </p:spPr>
      </p:sp>
      <p:sp>
        <p:nvSpPr>
          <p:cNvPr id="7" name="Shape 5"/>
          <p:cNvSpPr/>
          <p:nvPr/>
        </p:nvSpPr>
        <p:spPr>
          <a:xfrm>
            <a:off x="548640" y="2011680"/>
            <a:ext cx="128016" cy="1243584"/>
          </a:xfrm>
          <a:prstGeom prst="rect">
            <a:avLst/>
          </a:prstGeom>
          <a:solidFill>
            <a:srgbClr val="8E44AD"/>
          </a:solidFill>
          <a:ln w="12700">
            <a:solidFill>
              <a:srgbClr val="8E44AD"/>
            </a:solidFill>
            <a:prstDash val="solid"/>
          </a:ln>
        </p:spPr>
      </p:sp>
      <p:sp>
        <p:nvSpPr>
          <p:cNvPr id="8" name="Text 6"/>
          <p:cNvSpPr/>
          <p:nvPr/>
        </p:nvSpPr>
        <p:spPr>
          <a:xfrm>
            <a:off x="822960" y="2084832"/>
            <a:ext cx="16642080" cy="1097280"/>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These vulnerabilities relate to flaws in how applications identify users and validate their identities before granting access to sensitive data. Includes weak passwords, missing MFA, insecure session management, and poor credential handling.</a:t>
            </a:r>
            <a:endParaRPr lang="en-US" sz="2100" dirty="0"/>
          </a:p>
        </p:txBody>
      </p:sp>
      <p:sp>
        <p:nvSpPr>
          <p:cNvPr id="9" name="Text 7"/>
          <p:cNvSpPr/>
          <p:nvPr/>
        </p:nvSpPr>
        <p:spPr>
          <a:xfrm>
            <a:off x="548640" y="3474720"/>
            <a:ext cx="9144000" cy="548640"/>
          </a:xfrm>
          <a:prstGeom prst="rect">
            <a:avLst/>
          </a:prstGeom>
          <a:noFill/>
          <a:ln/>
        </p:spPr>
        <p:txBody>
          <a:bodyPr wrap="square" rtlCol="0" anchor="ctr"/>
          <a:lstStyle/>
          <a:p>
            <a:r>
              <a:rPr lang="en-US" sz="2600" b="1" dirty="0">
                <a:solidFill>
                  <a:srgbClr val="004D5B"/>
                </a:solidFill>
                <a:latin typeface="Arial" pitchFamily="34" charset="0"/>
                <a:ea typeface="Arial" pitchFamily="34" charset="-122"/>
                <a:cs typeface="Arial" pitchFamily="34" charset="-120"/>
              </a:rPr>
              <a:t>⚠️  Attack Example: Credential Stuffing</a:t>
            </a:r>
            <a:endParaRPr lang="en-US" sz="2600" dirty="0"/>
          </a:p>
        </p:txBody>
      </p:sp>
      <p:sp>
        <p:nvSpPr>
          <p:cNvPr id="10" name="Shape 8"/>
          <p:cNvSpPr/>
          <p:nvPr/>
        </p:nvSpPr>
        <p:spPr>
          <a:xfrm>
            <a:off x="548640" y="4169664"/>
            <a:ext cx="2468880" cy="1499616"/>
          </a:xfrm>
          <a:prstGeom prst="rect">
            <a:avLst/>
          </a:prstGeom>
          <a:solidFill>
            <a:srgbClr val="C0392B"/>
          </a:solidFill>
          <a:ln w="12700">
            <a:solidFill>
              <a:srgbClr val="C0392B"/>
            </a:solidFill>
            <a:prstDash val="solid"/>
          </a:ln>
        </p:spPr>
      </p:sp>
      <p:sp>
        <p:nvSpPr>
          <p:cNvPr id="11" name="Text 9"/>
          <p:cNvSpPr/>
          <p:nvPr/>
        </p:nvSpPr>
        <p:spPr>
          <a:xfrm>
            <a:off x="548640" y="4169664"/>
            <a:ext cx="2468880" cy="1499616"/>
          </a:xfrm>
          <a:prstGeom prst="rect">
            <a:avLst/>
          </a:prstGeom>
          <a:noFill/>
          <a:ln/>
        </p:spPr>
        <p:txBody>
          <a:bodyPr wrap="square" rtlCol="0" anchor="ctr"/>
          <a:lstStyle/>
          <a:p>
            <a:pPr algn="ctr"/>
            <a:r>
              <a:rPr lang="en-US" sz="1600" dirty="0">
                <a:solidFill>
                  <a:srgbClr val="FFFFFF"/>
                </a:solidFill>
                <a:latin typeface="Calibri" pitchFamily="34" charset="0"/>
                <a:ea typeface="Calibri" pitchFamily="34" charset="-122"/>
                <a:cs typeface="Calibri" pitchFamily="34" charset="-120"/>
              </a:rPr>
              <a:t>🌑</a:t>
            </a:r>
            <a:endParaRPr lang="en-US" sz="1600" dirty="0"/>
          </a:p>
          <a:p>
            <a:pPr algn="ctr"/>
            <a:r>
              <a:rPr lang="en-US" sz="1600" dirty="0">
                <a:solidFill>
                  <a:srgbClr val="FFFFFF"/>
                </a:solidFill>
                <a:latin typeface="Calibri" pitchFamily="34" charset="0"/>
                <a:ea typeface="Calibri" pitchFamily="34" charset="-122"/>
                <a:cs typeface="Calibri" pitchFamily="34" charset="-120"/>
              </a:rPr>
              <a:t>Dark Web</a:t>
            </a:r>
            <a:endParaRPr lang="en-US" sz="1600" dirty="0"/>
          </a:p>
          <a:p>
            <a:pPr algn="ctr"/>
            <a:r>
              <a:rPr lang="en-US" sz="1600" dirty="0">
                <a:solidFill>
                  <a:srgbClr val="FFFFFF"/>
                </a:solidFill>
                <a:latin typeface="Calibri" pitchFamily="34" charset="0"/>
                <a:ea typeface="Calibri" pitchFamily="34" charset="-122"/>
                <a:cs typeface="Calibri" pitchFamily="34" charset="-120"/>
              </a:rPr>
              <a:t>Leaked Creds</a:t>
            </a:r>
            <a:endParaRPr lang="en-US" sz="1600" dirty="0"/>
          </a:p>
        </p:txBody>
      </p:sp>
      <p:sp>
        <p:nvSpPr>
          <p:cNvPr id="12" name="Shape 10"/>
          <p:cNvSpPr/>
          <p:nvPr/>
        </p:nvSpPr>
        <p:spPr>
          <a:xfrm>
            <a:off x="3072384" y="4754880"/>
            <a:ext cx="2048256" cy="128016"/>
          </a:xfrm>
          <a:prstGeom prst="rect">
            <a:avLst/>
          </a:prstGeom>
          <a:solidFill>
            <a:srgbClr val="C0392B"/>
          </a:solidFill>
          <a:ln w="12700">
            <a:solidFill>
              <a:srgbClr val="C0392B"/>
            </a:solidFill>
            <a:prstDash val="solid"/>
          </a:ln>
        </p:spPr>
      </p:sp>
      <p:sp>
        <p:nvSpPr>
          <p:cNvPr id="13" name="Shape 11"/>
          <p:cNvSpPr/>
          <p:nvPr/>
        </p:nvSpPr>
        <p:spPr>
          <a:xfrm>
            <a:off x="5010912" y="4608576"/>
            <a:ext cx="256032" cy="402336"/>
          </a:xfrm>
          <a:prstGeom prst="triangle">
            <a:avLst/>
          </a:prstGeom>
          <a:solidFill>
            <a:srgbClr val="C0392B"/>
          </a:solidFill>
          <a:ln w="12700">
            <a:solidFill>
              <a:srgbClr val="C0392B"/>
            </a:solidFill>
            <a:prstDash val="solid"/>
          </a:ln>
        </p:spPr>
      </p:sp>
      <p:sp>
        <p:nvSpPr>
          <p:cNvPr id="14" name="Shape 12"/>
          <p:cNvSpPr/>
          <p:nvPr/>
        </p:nvSpPr>
        <p:spPr>
          <a:xfrm>
            <a:off x="5303520" y="4169664"/>
            <a:ext cx="2468880" cy="1499616"/>
          </a:xfrm>
          <a:prstGeom prst="rect">
            <a:avLst/>
          </a:prstGeom>
          <a:solidFill>
            <a:srgbClr val="E67E22"/>
          </a:solidFill>
          <a:ln w="12700">
            <a:solidFill>
              <a:srgbClr val="E67E22"/>
            </a:solidFill>
            <a:prstDash val="solid"/>
          </a:ln>
        </p:spPr>
      </p:sp>
      <p:sp>
        <p:nvSpPr>
          <p:cNvPr id="15" name="Text 13"/>
          <p:cNvSpPr/>
          <p:nvPr/>
        </p:nvSpPr>
        <p:spPr>
          <a:xfrm>
            <a:off x="5303520" y="4169664"/>
            <a:ext cx="2468880" cy="1499616"/>
          </a:xfrm>
          <a:prstGeom prst="rect">
            <a:avLst/>
          </a:prstGeom>
          <a:noFill/>
          <a:ln/>
        </p:spPr>
        <p:txBody>
          <a:bodyPr wrap="square" rtlCol="0" anchor="ctr"/>
          <a:lstStyle/>
          <a:p>
            <a:pPr algn="ctr"/>
            <a:r>
              <a:rPr lang="en-US" sz="1600" dirty="0">
                <a:solidFill>
                  <a:srgbClr val="FFFFFF"/>
                </a:solidFill>
                <a:latin typeface="Calibri" pitchFamily="34" charset="0"/>
                <a:ea typeface="Calibri" pitchFamily="34" charset="-122"/>
                <a:cs typeface="Calibri" pitchFamily="34" charset="-120"/>
              </a:rPr>
              <a:t>🤖</a:t>
            </a:r>
            <a:endParaRPr lang="en-US" sz="1600" dirty="0"/>
          </a:p>
          <a:p>
            <a:pPr algn="ctr"/>
            <a:r>
              <a:rPr lang="en-US" sz="1600" dirty="0">
                <a:solidFill>
                  <a:srgbClr val="FFFFFF"/>
                </a:solidFill>
                <a:latin typeface="Calibri" pitchFamily="34" charset="0"/>
                <a:ea typeface="Calibri" pitchFamily="34" charset="-122"/>
                <a:cs typeface="Calibri" pitchFamily="34" charset="-120"/>
              </a:rPr>
              <a:t>AutoBot</a:t>
            </a:r>
            <a:endParaRPr lang="en-US" sz="1600" dirty="0"/>
          </a:p>
          <a:p>
            <a:pPr algn="ctr"/>
            <a:r>
              <a:rPr lang="en-US" sz="1600" dirty="0">
                <a:solidFill>
                  <a:srgbClr val="FFFFFF"/>
                </a:solidFill>
                <a:latin typeface="Calibri" pitchFamily="34" charset="0"/>
                <a:ea typeface="Calibri" pitchFamily="34" charset="-122"/>
                <a:cs typeface="Calibri" pitchFamily="34" charset="-120"/>
              </a:rPr>
              <a:t>Tests Logins</a:t>
            </a:r>
            <a:endParaRPr lang="en-US" sz="1600" dirty="0"/>
          </a:p>
        </p:txBody>
      </p:sp>
      <p:sp>
        <p:nvSpPr>
          <p:cNvPr id="16" name="Shape 14"/>
          <p:cNvSpPr/>
          <p:nvPr/>
        </p:nvSpPr>
        <p:spPr>
          <a:xfrm>
            <a:off x="7827264" y="4754880"/>
            <a:ext cx="1682496" cy="128016"/>
          </a:xfrm>
          <a:prstGeom prst="rect">
            <a:avLst/>
          </a:prstGeom>
          <a:solidFill>
            <a:srgbClr val="E67E22"/>
          </a:solidFill>
          <a:ln w="12700">
            <a:solidFill>
              <a:srgbClr val="E67E22"/>
            </a:solidFill>
            <a:prstDash val="solid"/>
          </a:ln>
        </p:spPr>
      </p:sp>
      <p:sp>
        <p:nvSpPr>
          <p:cNvPr id="17" name="Shape 15"/>
          <p:cNvSpPr/>
          <p:nvPr/>
        </p:nvSpPr>
        <p:spPr>
          <a:xfrm>
            <a:off x="9400032" y="4608576"/>
            <a:ext cx="256032" cy="402336"/>
          </a:xfrm>
          <a:prstGeom prst="triangle">
            <a:avLst/>
          </a:prstGeom>
          <a:solidFill>
            <a:srgbClr val="E67E22"/>
          </a:solidFill>
          <a:ln w="12700">
            <a:solidFill>
              <a:srgbClr val="E67E22"/>
            </a:solidFill>
            <a:prstDash val="solid"/>
          </a:ln>
        </p:spPr>
      </p:sp>
      <p:sp>
        <p:nvSpPr>
          <p:cNvPr id="18" name="Shape 16"/>
          <p:cNvSpPr/>
          <p:nvPr/>
        </p:nvSpPr>
        <p:spPr>
          <a:xfrm>
            <a:off x="9692640" y="4169664"/>
            <a:ext cx="2468880" cy="1499616"/>
          </a:xfrm>
          <a:prstGeom prst="rect">
            <a:avLst/>
          </a:prstGeom>
          <a:solidFill>
            <a:srgbClr val="8E44AD"/>
          </a:solidFill>
          <a:ln w="12700">
            <a:solidFill>
              <a:srgbClr val="8E44AD"/>
            </a:solidFill>
            <a:prstDash val="solid"/>
          </a:ln>
        </p:spPr>
      </p:sp>
      <p:sp>
        <p:nvSpPr>
          <p:cNvPr id="19" name="Text 17"/>
          <p:cNvSpPr/>
          <p:nvPr/>
        </p:nvSpPr>
        <p:spPr>
          <a:xfrm>
            <a:off x="9692640" y="4169664"/>
            <a:ext cx="2468880" cy="1499616"/>
          </a:xfrm>
          <a:prstGeom prst="rect">
            <a:avLst/>
          </a:prstGeom>
          <a:noFill/>
          <a:ln/>
        </p:spPr>
        <p:txBody>
          <a:bodyPr wrap="square" rtlCol="0" anchor="ctr"/>
          <a:lstStyle/>
          <a:p>
            <a:pPr algn="ctr"/>
            <a:r>
              <a:rPr lang="en-US" sz="1600" dirty="0">
                <a:solidFill>
                  <a:srgbClr val="FFFFFF"/>
                </a:solidFill>
                <a:latin typeface="Calibri" pitchFamily="34" charset="0"/>
                <a:ea typeface="Calibri" pitchFamily="34" charset="-122"/>
                <a:cs typeface="Calibri" pitchFamily="34" charset="-120"/>
              </a:rPr>
              <a:t>🔓</a:t>
            </a:r>
            <a:endParaRPr lang="en-US" sz="1600" dirty="0"/>
          </a:p>
          <a:p>
            <a:pPr algn="ctr"/>
            <a:r>
              <a:rPr lang="en-US" sz="1600" dirty="0">
                <a:solidFill>
                  <a:srgbClr val="FFFFFF"/>
                </a:solidFill>
                <a:latin typeface="Calibri" pitchFamily="34" charset="0"/>
                <a:ea typeface="Calibri" pitchFamily="34" charset="-122"/>
                <a:cs typeface="Calibri" pitchFamily="34" charset="-120"/>
              </a:rPr>
              <a:t>No MFA</a:t>
            </a:r>
            <a:endParaRPr lang="en-US" sz="1600" dirty="0"/>
          </a:p>
          <a:p>
            <a:pPr algn="ctr"/>
            <a:r>
              <a:rPr lang="en-US" sz="1600" dirty="0">
                <a:solidFill>
                  <a:srgbClr val="FFFFFF"/>
                </a:solidFill>
                <a:latin typeface="Calibri" pitchFamily="34" charset="0"/>
                <a:ea typeface="Calibri" pitchFamily="34" charset="-122"/>
                <a:cs typeface="Calibri" pitchFamily="34" charset="-120"/>
              </a:rPr>
              <a:t>Weak App</a:t>
            </a:r>
            <a:endParaRPr lang="en-US" sz="1600" dirty="0"/>
          </a:p>
        </p:txBody>
      </p:sp>
      <p:sp>
        <p:nvSpPr>
          <p:cNvPr id="20" name="Shape 18"/>
          <p:cNvSpPr/>
          <p:nvPr/>
        </p:nvSpPr>
        <p:spPr>
          <a:xfrm>
            <a:off x="12216384" y="4754880"/>
            <a:ext cx="1682496" cy="128016"/>
          </a:xfrm>
          <a:prstGeom prst="rect">
            <a:avLst/>
          </a:prstGeom>
          <a:solidFill>
            <a:srgbClr val="C0392B"/>
          </a:solidFill>
          <a:ln w="12700">
            <a:solidFill>
              <a:srgbClr val="C0392B"/>
            </a:solidFill>
            <a:prstDash val="solid"/>
          </a:ln>
        </p:spPr>
      </p:sp>
      <p:sp>
        <p:nvSpPr>
          <p:cNvPr id="21" name="Shape 19"/>
          <p:cNvSpPr/>
          <p:nvPr/>
        </p:nvSpPr>
        <p:spPr>
          <a:xfrm>
            <a:off x="13789152" y="4608576"/>
            <a:ext cx="256032" cy="402336"/>
          </a:xfrm>
          <a:prstGeom prst="triangle">
            <a:avLst/>
          </a:prstGeom>
          <a:solidFill>
            <a:srgbClr val="C0392B"/>
          </a:solidFill>
          <a:ln w="12700">
            <a:solidFill>
              <a:srgbClr val="C0392B"/>
            </a:solidFill>
            <a:prstDash val="solid"/>
          </a:ln>
        </p:spPr>
      </p:sp>
      <p:sp>
        <p:nvSpPr>
          <p:cNvPr id="22" name="Shape 20"/>
          <p:cNvSpPr/>
          <p:nvPr/>
        </p:nvSpPr>
        <p:spPr>
          <a:xfrm>
            <a:off x="14081760" y="4169664"/>
            <a:ext cx="2468880" cy="1499616"/>
          </a:xfrm>
          <a:prstGeom prst="rect">
            <a:avLst/>
          </a:prstGeom>
          <a:solidFill>
            <a:srgbClr val="C0392B"/>
          </a:solidFill>
          <a:ln w="12700">
            <a:solidFill>
              <a:srgbClr val="C0392B"/>
            </a:solidFill>
            <a:prstDash val="solid"/>
          </a:ln>
        </p:spPr>
      </p:sp>
      <p:sp>
        <p:nvSpPr>
          <p:cNvPr id="23" name="Text 21"/>
          <p:cNvSpPr/>
          <p:nvPr/>
        </p:nvSpPr>
        <p:spPr>
          <a:xfrm>
            <a:off x="14081760" y="4169664"/>
            <a:ext cx="2468880" cy="1499616"/>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a:t>
            </a:r>
            <a:endParaRPr lang="en-US" sz="1600" dirty="0"/>
          </a:p>
          <a:p>
            <a:pPr algn="ctr"/>
            <a:r>
              <a:rPr lang="en-US" sz="1600" b="1" dirty="0">
                <a:solidFill>
                  <a:srgbClr val="FFFFFF"/>
                </a:solidFill>
                <a:latin typeface="Calibri" pitchFamily="34" charset="0"/>
                <a:ea typeface="Calibri" pitchFamily="34" charset="-122"/>
                <a:cs typeface="Calibri" pitchFamily="34" charset="-120"/>
              </a:rPr>
              <a:t>Account</a:t>
            </a:r>
            <a:endParaRPr lang="en-US" sz="1600" dirty="0"/>
          </a:p>
          <a:p>
            <a:pPr algn="ctr"/>
            <a:r>
              <a:rPr lang="en-US" sz="1600" b="1" dirty="0">
                <a:solidFill>
                  <a:srgbClr val="FFFFFF"/>
                </a:solidFill>
                <a:latin typeface="Calibri" pitchFamily="34" charset="0"/>
                <a:ea typeface="Calibri" pitchFamily="34" charset="-122"/>
                <a:cs typeface="Calibri" pitchFamily="34" charset="-120"/>
              </a:rPr>
              <a:t>Takeover!</a:t>
            </a:r>
            <a:endParaRPr lang="en-US" sz="1600" dirty="0"/>
          </a:p>
        </p:txBody>
      </p:sp>
      <p:sp>
        <p:nvSpPr>
          <p:cNvPr id="24" name="Text 22"/>
          <p:cNvSpPr/>
          <p:nvPr/>
        </p:nvSpPr>
        <p:spPr>
          <a:xfrm>
            <a:off x="548640" y="5943600"/>
            <a:ext cx="8229600" cy="548640"/>
          </a:xfrm>
          <a:prstGeom prst="rect">
            <a:avLst/>
          </a:prstGeom>
          <a:noFill/>
          <a:ln/>
        </p:spPr>
        <p:txBody>
          <a:bodyPr wrap="square" rtlCol="0" anchor="ctr"/>
          <a:lstStyle/>
          <a:p>
            <a:r>
              <a:rPr lang="en-US" sz="2400" b="1" dirty="0">
                <a:solidFill>
                  <a:srgbClr val="004D5B"/>
                </a:solidFill>
                <a:latin typeface="Arial" pitchFamily="34" charset="0"/>
                <a:ea typeface="Arial" pitchFamily="34" charset="-122"/>
                <a:cs typeface="Arial" pitchFamily="34" charset="-120"/>
              </a:rPr>
              <a:t>Common Causes</a:t>
            </a:r>
            <a:endParaRPr lang="en-US" sz="2400" dirty="0"/>
          </a:p>
        </p:txBody>
      </p:sp>
      <p:sp>
        <p:nvSpPr>
          <p:cNvPr id="25" name="Text 23"/>
          <p:cNvSpPr/>
          <p:nvPr/>
        </p:nvSpPr>
        <p:spPr>
          <a:xfrm>
            <a:off x="9509760" y="5943600"/>
            <a:ext cx="8229600" cy="548640"/>
          </a:xfrm>
          <a:prstGeom prst="rect">
            <a:avLst/>
          </a:prstGeom>
          <a:noFill/>
          <a:ln/>
        </p:spPr>
        <p:txBody>
          <a:bodyPr wrap="square" rtlCol="0" anchor="ctr"/>
          <a:lstStyle/>
          <a:p>
            <a:r>
              <a:rPr lang="en-US" sz="2400" b="1" dirty="0">
                <a:solidFill>
                  <a:srgbClr val="27AE60"/>
                </a:solidFill>
                <a:latin typeface="Arial" pitchFamily="34" charset="0"/>
                <a:ea typeface="Arial" pitchFamily="34" charset="-122"/>
                <a:cs typeface="Arial" pitchFamily="34" charset="-120"/>
              </a:rPr>
              <a:t>Prevention Measures</a:t>
            </a:r>
            <a:endParaRPr lang="en-US" sz="2400" dirty="0"/>
          </a:p>
        </p:txBody>
      </p:sp>
      <p:sp>
        <p:nvSpPr>
          <p:cNvPr id="26" name="Shape 24"/>
          <p:cNvSpPr/>
          <p:nvPr/>
        </p:nvSpPr>
        <p:spPr>
          <a:xfrm>
            <a:off x="548640" y="6583680"/>
            <a:ext cx="8412480" cy="603504"/>
          </a:xfrm>
          <a:prstGeom prst="rect">
            <a:avLst/>
          </a:prstGeom>
          <a:solidFill>
            <a:srgbClr val="FFF5F5"/>
          </a:solidFill>
          <a:ln w="12700">
            <a:solidFill>
              <a:srgbClr val="F5C6C6"/>
            </a:solidFill>
            <a:prstDash val="solid"/>
          </a:ln>
        </p:spPr>
      </p:sp>
      <p:sp>
        <p:nvSpPr>
          <p:cNvPr id="27" name="Text 25"/>
          <p:cNvSpPr/>
          <p:nvPr/>
        </p:nvSpPr>
        <p:spPr>
          <a:xfrm>
            <a:off x="731520" y="6638544"/>
            <a:ext cx="8046720" cy="493776"/>
          </a:xfrm>
          <a:prstGeom prst="rect">
            <a:avLst/>
          </a:prstGeom>
          <a:noFill/>
          <a:ln/>
        </p:spPr>
        <p:txBody>
          <a:bodyPr wrap="square" rtlCol="0" anchor="ctr"/>
          <a:lstStyle/>
          <a:p>
            <a:r>
              <a:rPr lang="en-US" dirty="0">
                <a:solidFill>
                  <a:srgbClr val="7B241C"/>
                </a:solidFill>
                <a:latin typeface="Calibri" pitchFamily="34" charset="0"/>
                <a:ea typeface="Calibri" pitchFamily="34" charset="-122"/>
                <a:cs typeface="Calibri" pitchFamily="34" charset="-120"/>
              </a:rPr>
              <a:t>✕  Weak password policy (allows 'abc123')</a:t>
            </a:r>
            <a:endParaRPr lang="en-US" dirty="0"/>
          </a:p>
        </p:txBody>
      </p:sp>
      <p:sp>
        <p:nvSpPr>
          <p:cNvPr id="28" name="Shape 26"/>
          <p:cNvSpPr/>
          <p:nvPr/>
        </p:nvSpPr>
        <p:spPr>
          <a:xfrm>
            <a:off x="548640" y="7278624"/>
            <a:ext cx="8412480" cy="603504"/>
          </a:xfrm>
          <a:prstGeom prst="rect">
            <a:avLst/>
          </a:prstGeom>
          <a:solidFill>
            <a:srgbClr val="FFF5F5"/>
          </a:solidFill>
          <a:ln w="12700">
            <a:solidFill>
              <a:srgbClr val="F5C6C6"/>
            </a:solidFill>
            <a:prstDash val="solid"/>
          </a:ln>
        </p:spPr>
      </p:sp>
      <p:sp>
        <p:nvSpPr>
          <p:cNvPr id="29" name="Text 27"/>
          <p:cNvSpPr/>
          <p:nvPr/>
        </p:nvSpPr>
        <p:spPr>
          <a:xfrm>
            <a:off x="731520" y="7333488"/>
            <a:ext cx="8046720" cy="493776"/>
          </a:xfrm>
          <a:prstGeom prst="rect">
            <a:avLst/>
          </a:prstGeom>
          <a:noFill/>
          <a:ln/>
        </p:spPr>
        <p:txBody>
          <a:bodyPr wrap="square" rtlCol="0" anchor="ctr"/>
          <a:lstStyle/>
          <a:p>
            <a:r>
              <a:rPr lang="en-US" dirty="0">
                <a:solidFill>
                  <a:srgbClr val="7B241C"/>
                </a:solidFill>
                <a:latin typeface="Calibri" pitchFamily="34" charset="0"/>
                <a:ea typeface="Calibri" pitchFamily="34" charset="-122"/>
                <a:cs typeface="Calibri" pitchFamily="34" charset="-120"/>
              </a:rPr>
              <a:t>✕  No MFA or CAPTCHA configured</a:t>
            </a:r>
            <a:endParaRPr lang="en-US" dirty="0"/>
          </a:p>
        </p:txBody>
      </p:sp>
      <p:sp>
        <p:nvSpPr>
          <p:cNvPr id="30" name="Shape 28"/>
          <p:cNvSpPr/>
          <p:nvPr/>
        </p:nvSpPr>
        <p:spPr>
          <a:xfrm>
            <a:off x="548640" y="7973568"/>
            <a:ext cx="8412480" cy="603504"/>
          </a:xfrm>
          <a:prstGeom prst="rect">
            <a:avLst/>
          </a:prstGeom>
          <a:solidFill>
            <a:srgbClr val="FFF5F5"/>
          </a:solidFill>
          <a:ln w="12700">
            <a:solidFill>
              <a:srgbClr val="F5C6C6"/>
            </a:solidFill>
            <a:prstDash val="solid"/>
          </a:ln>
        </p:spPr>
      </p:sp>
      <p:sp>
        <p:nvSpPr>
          <p:cNvPr id="31" name="Text 29"/>
          <p:cNvSpPr/>
          <p:nvPr/>
        </p:nvSpPr>
        <p:spPr>
          <a:xfrm>
            <a:off x="731520" y="8028432"/>
            <a:ext cx="8046720" cy="493776"/>
          </a:xfrm>
          <a:prstGeom prst="rect">
            <a:avLst/>
          </a:prstGeom>
          <a:noFill/>
          <a:ln/>
        </p:spPr>
        <p:txBody>
          <a:bodyPr wrap="square" rtlCol="0" anchor="ctr"/>
          <a:lstStyle/>
          <a:p>
            <a:r>
              <a:rPr lang="en-US" dirty="0">
                <a:solidFill>
                  <a:srgbClr val="7B241C"/>
                </a:solidFill>
                <a:latin typeface="Calibri" pitchFamily="34" charset="0"/>
                <a:ea typeface="Calibri" pitchFamily="34" charset="-122"/>
                <a:cs typeface="Calibri" pitchFamily="34" charset="-120"/>
              </a:rPr>
              <a:t>✕  Passwords stored in plain text or hardcoded</a:t>
            </a:r>
            <a:endParaRPr lang="en-US" dirty="0"/>
          </a:p>
        </p:txBody>
      </p:sp>
      <p:sp>
        <p:nvSpPr>
          <p:cNvPr id="32" name="Shape 30"/>
          <p:cNvSpPr/>
          <p:nvPr/>
        </p:nvSpPr>
        <p:spPr>
          <a:xfrm>
            <a:off x="548640" y="8668512"/>
            <a:ext cx="8412480" cy="603504"/>
          </a:xfrm>
          <a:prstGeom prst="rect">
            <a:avLst/>
          </a:prstGeom>
          <a:solidFill>
            <a:srgbClr val="FFF5F5"/>
          </a:solidFill>
          <a:ln w="12700">
            <a:solidFill>
              <a:srgbClr val="F5C6C6"/>
            </a:solidFill>
            <a:prstDash val="solid"/>
          </a:ln>
        </p:spPr>
      </p:sp>
      <p:sp>
        <p:nvSpPr>
          <p:cNvPr id="33" name="Text 31"/>
          <p:cNvSpPr/>
          <p:nvPr/>
        </p:nvSpPr>
        <p:spPr>
          <a:xfrm>
            <a:off x="731520" y="8723376"/>
            <a:ext cx="8046720" cy="493776"/>
          </a:xfrm>
          <a:prstGeom prst="rect">
            <a:avLst/>
          </a:prstGeom>
          <a:noFill/>
          <a:ln/>
        </p:spPr>
        <p:txBody>
          <a:bodyPr wrap="square" rtlCol="0" anchor="ctr"/>
          <a:lstStyle/>
          <a:p>
            <a:r>
              <a:rPr lang="en-US" dirty="0">
                <a:solidFill>
                  <a:srgbClr val="7B241C"/>
                </a:solidFill>
                <a:latin typeface="Calibri" pitchFamily="34" charset="0"/>
                <a:ea typeface="Calibri" pitchFamily="34" charset="-122"/>
                <a:cs typeface="Calibri" pitchFamily="34" charset="-120"/>
              </a:rPr>
              <a:t>✕  Same session IDs after login (predictable)</a:t>
            </a:r>
            <a:endParaRPr lang="en-US" dirty="0"/>
          </a:p>
        </p:txBody>
      </p:sp>
      <p:sp>
        <p:nvSpPr>
          <p:cNvPr id="34" name="Shape 32"/>
          <p:cNvSpPr/>
          <p:nvPr/>
        </p:nvSpPr>
        <p:spPr>
          <a:xfrm>
            <a:off x="548640" y="9363456"/>
            <a:ext cx="8412480" cy="603504"/>
          </a:xfrm>
          <a:prstGeom prst="rect">
            <a:avLst/>
          </a:prstGeom>
          <a:solidFill>
            <a:srgbClr val="FFF5F5"/>
          </a:solidFill>
          <a:ln w="12700">
            <a:solidFill>
              <a:srgbClr val="F5C6C6"/>
            </a:solidFill>
            <a:prstDash val="solid"/>
          </a:ln>
        </p:spPr>
      </p:sp>
      <p:sp>
        <p:nvSpPr>
          <p:cNvPr id="35" name="Text 33"/>
          <p:cNvSpPr/>
          <p:nvPr/>
        </p:nvSpPr>
        <p:spPr>
          <a:xfrm>
            <a:off x="731520" y="9418320"/>
            <a:ext cx="8046720" cy="493776"/>
          </a:xfrm>
          <a:prstGeom prst="rect">
            <a:avLst/>
          </a:prstGeom>
          <a:noFill/>
          <a:ln/>
        </p:spPr>
        <p:txBody>
          <a:bodyPr wrap="square" rtlCol="0" anchor="ctr"/>
          <a:lstStyle/>
          <a:p>
            <a:r>
              <a:rPr lang="en-US" dirty="0">
                <a:solidFill>
                  <a:srgbClr val="7B241C"/>
                </a:solidFill>
                <a:latin typeface="Calibri" pitchFamily="34" charset="0"/>
                <a:ea typeface="Calibri" pitchFamily="34" charset="-122"/>
                <a:cs typeface="Calibri" pitchFamily="34" charset="-120"/>
              </a:rPr>
              <a:t>✕  Weak 'Forgot Password' flow</a:t>
            </a:r>
            <a:endParaRPr lang="en-US" dirty="0"/>
          </a:p>
        </p:txBody>
      </p:sp>
      <p:sp>
        <p:nvSpPr>
          <p:cNvPr id="36" name="Shape 34"/>
          <p:cNvSpPr/>
          <p:nvPr/>
        </p:nvSpPr>
        <p:spPr>
          <a:xfrm>
            <a:off x="9509760" y="6583680"/>
            <a:ext cx="8412480" cy="603504"/>
          </a:xfrm>
          <a:prstGeom prst="rect">
            <a:avLst/>
          </a:prstGeom>
          <a:solidFill>
            <a:srgbClr val="EAFAF1"/>
          </a:solidFill>
          <a:ln w="12700">
            <a:solidFill>
              <a:srgbClr val="A9DFBF"/>
            </a:solidFill>
            <a:prstDash val="solid"/>
          </a:ln>
        </p:spPr>
      </p:sp>
      <p:sp>
        <p:nvSpPr>
          <p:cNvPr id="37" name="Text 35"/>
          <p:cNvSpPr/>
          <p:nvPr/>
        </p:nvSpPr>
        <p:spPr>
          <a:xfrm>
            <a:off x="9692640" y="6638544"/>
            <a:ext cx="8046720" cy="493776"/>
          </a:xfrm>
          <a:prstGeom prst="rect">
            <a:avLst/>
          </a:prstGeom>
          <a:noFill/>
          <a:ln/>
        </p:spPr>
        <p:txBody>
          <a:bodyPr wrap="square" rtlCol="0" anchor="ctr"/>
          <a:lstStyle/>
          <a:p>
            <a:r>
              <a:rPr lang="en-US" dirty="0">
                <a:solidFill>
                  <a:srgbClr val="1E8449"/>
                </a:solidFill>
                <a:latin typeface="Calibri" pitchFamily="34" charset="0"/>
                <a:ea typeface="Calibri" pitchFamily="34" charset="-122"/>
                <a:cs typeface="Calibri" pitchFamily="34" charset="-120"/>
              </a:rPr>
              <a:t>✓  Enforce strong password policy (length + complexity)</a:t>
            </a:r>
            <a:endParaRPr lang="en-US" dirty="0"/>
          </a:p>
        </p:txBody>
      </p:sp>
      <p:sp>
        <p:nvSpPr>
          <p:cNvPr id="38" name="Shape 36"/>
          <p:cNvSpPr/>
          <p:nvPr/>
        </p:nvSpPr>
        <p:spPr>
          <a:xfrm>
            <a:off x="9509760" y="7278624"/>
            <a:ext cx="8412480" cy="603504"/>
          </a:xfrm>
          <a:prstGeom prst="rect">
            <a:avLst/>
          </a:prstGeom>
          <a:solidFill>
            <a:srgbClr val="EAFAF1"/>
          </a:solidFill>
          <a:ln w="12700">
            <a:solidFill>
              <a:srgbClr val="A9DFBF"/>
            </a:solidFill>
            <a:prstDash val="solid"/>
          </a:ln>
        </p:spPr>
      </p:sp>
      <p:sp>
        <p:nvSpPr>
          <p:cNvPr id="39" name="Text 37"/>
          <p:cNvSpPr/>
          <p:nvPr/>
        </p:nvSpPr>
        <p:spPr>
          <a:xfrm>
            <a:off x="9692640" y="7333488"/>
            <a:ext cx="8046720" cy="493776"/>
          </a:xfrm>
          <a:prstGeom prst="rect">
            <a:avLst/>
          </a:prstGeom>
          <a:noFill/>
          <a:ln/>
        </p:spPr>
        <p:txBody>
          <a:bodyPr wrap="square" rtlCol="0" anchor="ctr"/>
          <a:lstStyle/>
          <a:p>
            <a:r>
              <a:rPr lang="en-US" dirty="0">
                <a:solidFill>
                  <a:srgbClr val="1E8449"/>
                </a:solidFill>
                <a:latin typeface="Calibri" pitchFamily="34" charset="0"/>
                <a:ea typeface="Calibri" pitchFamily="34" charset="-122"/>
                <a:cs typeface="Calibri" pitchFamily="34" charset="-120"/>
              </a:rPr>
              <a:t>✓  Implement MFA and CAPTCHA at login</a:t>
            </a:r>
            <a:endParaRPr lang="en-US" dirty="0"/>
          </a:p>
        </p:txBody>
      </p:sp>
      <p:sp>
        <p:nvSpPr>
          <p:cNvPr id="40" name="Shape 38"/>
          <p:cNvSpPr/>
          <p:nvPr/>
        </p:nvSpPr>
        <p:spPr>
          <a:xfrm>
            <a:off x="9509760" y="7973568"/>
            <a:ext cx="8412480" cy="603504"/>
          </a:xfrm>
          <a:prstGeom prst="rect">
            <a:avLst/>
          </a:prstGeom>
          <a:solidFill>
            <a:srgbClr val="EAFAF1"/>
          </a:solidFill>
          <a:ln w="12700">
            <a:solidFill>
              <a:srgbClr val="A9DFBF"/>
            </a:solidFill>
            <a:prstDash val="solid"/>
          </a:ln>
        </p:spPr>
      </p:sp>
      <p:sp>
        <p:nvSpPr>
          <p:cNvPr id="41" name="Text 39"/>
          <p:cNvSpPr/>
          <p:nvPr/>
        </p:nvSpPr>
        <p:spPr>
          <a:xfrm>
            <a:off x="9692640" y="8028432"/>
            <a:ext cx="8046720" cy="493776"/>
          </a:xfrm>
          <a:prstGeom prst="rect">
            <a:avLst/>
          </a:prstGeom>
          <a:noFill/>
          <a:ln/>
        </p:spPr>
        <p:txBody>
          <a:bodyPr wrap="square" rtlCol="0" anchor="ctr"/>
          <a:lstStyle/>
          <a:p>
            <a:r>
              <a:rPr lang="en-US" dirty="0">
                <a:solidFill>
                  <a:srgbClr val="1E8449"/>
                </a:solidFill>
                <a:latin typeface="Calibri" pitchFamily="34" charset="0"/>
                <a:ea typeface="Calibri" pitchFamily="34" charset="-122"/>
                <a:cs typeface="Calibri" pitchFamily="34" charset="-120"/>
              </a:rPr>
              <a:t>✓  Hash passwords with bcrypt/Argon2 + salt</a:t>
            </a:r>
            <a:endParaRPr lang="en-US" dirty="0"/>
          </a:p>
        </p:txBody>
      </p:sp>
      <p:sp>
        <p:nvSpPr>
          <p:cNvPr id="42" name="Shape 40"/>
          <p:cNvSpPr/>
          <p:nvPr/>
        </p:nvSpPr>
        <p:spPr>
          <a:xfrm>
            <a:off x="9509760" y="8668512"/>
            <a:ext cx="8412480" cy="603504"/>
          </a:xfrm>
          <a:prstGeom prst="rect">
            <a:avLst/>
          </a:prstGeom>
          <a:solidFill>
            <a:srgbClr val="EAFAF1"/>
          </a:solidFill>
          <a:ln w="12700">
            <a:solidFill>
              <a:srgbClr val="A9DFBF"/>
            </a:solidFill>
            <a:prstDash val="solid"/>
          </a:ln>
        </p:spPr>
      </p:sp>
      <p:sp>
        <p:nvSpPr>
          <p:cNvPr id="43" name="Text 41"/>
          <p:cNvSpPr/>
          <p:nvPr/>
        </p:nvSpPr>
        <p:spPr>
          <a:xfrm>
            <a:off x="9692640" y="8723376"/>
            <a:ext cx="8046720" cy="493776"/>
          </a:xfrm>
          <a:prstGeom prst="rect">
            <a:avLst/>
          </a:prstGeom>
          <a:noFill/>
          <a:ln/>
        </p:spPr>
        <p:txBody>
          <a:bodyPr wrap="square" rtlCol="0" anchor="ctr"/>
          <a:lstStyle/>
          <a:p>
            <a:r>
              <a:rPr lang="en-US" dirty="0">
                <a:solidFill>
                  <a:srgbClr val="1E8449"/>
                </a:solidFill>
                <a:latin typeface="Calibri" pitchFamily="34" charset="0"/>
                <a:ea typeface="Calibri" pitchFamily="34" charset="-122"/>
                <a:cs typeface="Calibri" pitchFamily="34" charset="-120"/>
              </a:rPr>
              <a:t>✓  Rotate session IDs on login, set timeouts</a:t>
            </a:r>
            <a:endParaRPr lang="en-US" dirty="0"/>
          </a:p>
        </p:txBody>
      </p:sp>
      <p:sp>
        <p:nvSpPr>
          <p:cNvPr id="44" name="Shape 42"/>
          <p:cNvSpPr/>
          <p:nvPr/>
        </p:nvSpPr>
        <p:spPr>
          <a:xfrm>
            <a:off x="9509760" y="9363456"/>
            <a:ext cx="8412480" cy="603504"/>
          </a:xfrm>
          <a:prstGeom prst="rect">
            <a:avLst/>
          </a:prstGeom>
          <a:solidFill>
            <a:srgbClr val="EAFAF1"/>
          </a:solidFill>
          <a:ln w="12700">
            <a:solidFill>
              <a:srgbClr val="A9DFBF"/>
            </a:solidFill>
            <a:prstDash val="solid"/>
          </a:ln>
        </p:spPr>
      </p:sp>
      <p:sp>
        <p:nvSpPr>
          <p:cNvPr id="45" name="Text 43"/>
          <p:cNvSpPr/>
          <p:nvPr/>
        </p:nvSpPr>
        <p:spPr>
          <a:xfrm>
            <a:off x="9692640" y="9418320"/>
            <a:ext cx="8046720" cy="493776"/>
          </a:xfrm>
          <a:prstGeom prst="rect">
            <a:avLst/>
          </a:prstGeom>
          <a:noFill/>
          <a:ln/>
        </p:spPr>
        <p:txBody>
          <a:bodyPr wrap="square" rtlCol="0" anchor="ctr"/>
          <a:lstStyle/>
          <a:p>
            <a:r>
              <a:rPr lang="en-US" dirty="0">
                <a:solidFill>
                  <a:srgbClr val="1E8449"/>
                </a:solidFill>
                <a:latin typeface="Calibri" pitchFamily="34" charset="0"/>
                <a:ea typeface="Calibri" pitchFamily="34" charset="-122"/>
                <a:cs typeface="Calibri" pitchFamily="34" charset="-120"/>
              </a:rPr>
              <a:t>✓  Audit and test authentication flows regularly</a:t>
            </a:r>
            <a:endParaRPr lang="en-US" dirty="0"/>
          </a:p>
        </p:txBody>
      </p:sp>
      <p:sp>
        <p:nvSpPr>
          <p:cNvPr id="46" name="Shape 44"/>
          <p:cNvSpPr/>
          <p:nvPr/>
        </p:nvSpPr>
        <p:spPr>
          <a:xfrm>
            <a:off x="0" y="9875520"/>
            <a:ext cx="18288000" cy="411480"/>
          </a:xfrm>
          <a:prstGeom prst="rect">
            <a:avLst/>
          </a:prstGeom>
          <a:solidFill>
            <a:srgbClr val="004D5B"/>
          </a:solidFill>
          <a:ln w="12700">
            <a:solidFill>
              <a:srgbClr val="004D5B"/>
            </a:solidFill>
            <a:prstDash val="solid"/>
          </a:ln>
        </p:spPr>
      </p:sp>
      <p:sp>
        <p:nvSpPr>
          <p:cNvPr id="47" name="Text 45"/>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49" name="Picture 48">
            <a:extLst>
              <a:ext uri="{FF2B5EF4-FFF2-40B4-BE49-F238E27FC236}">
                <a16:creationId xmlns:a16="http://schemas.microsoft.com/office/drawing/2014/main" id="{43041BDC-0176-BFA9-0D6B-CB99469AB5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87600" y="34534"/>
            <a:ext cx="3124200" cy="114656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737360"/>
          </a:xfrm>
          <a:prstGeom prst="rect">
            <a:avLst/>
          </a:prstGeom>
          <a:solidFill>
            <a:srgbClr val="004D5B"/>
          </a:solidFill>
          <a:ln w="12700">
            <a:solidFill>
              <a:srgbClr val="004D5B"/>
            </a:solidFill>
            <a:prstDash val="solid"/>
          </a:ln>
        </p:spPr>
      </p:sp>
      <p:sp>
        <p:nvSpPr>
          <p:cNvPr id="3" name="Text 1"/>
          <p:cNvSpPr/>
          <p:nvPr/>
        </p:nvSpPr>
        <p:spPr>
          <a:xfrm>
            <a:off x="-152400" y="91440"/>
            <a:ext cx="17007840" cy="1005840"/>
          </a:xfrm>
          <a:prstGeom prst="rect">
            <a:avLst/>
          </a:prstGeom>
          <a:noFill/>
          <a:ln/>
        </p:spPr>
        <p:txBody>
          <a:bodyPr wrap="square" rtlCol="0" anchor="ctr"/>
          <a:lstStyle/>
          <a:p>
            <a:r>
              <a:rPr lang="en-US" sz="3800" b="1" dirty="0">
                <a:solidFill>
                  <a:srgbClr val="FFFFFF"/>
                </a:solidFill>
                <a:latin typeface="Arial Black" pitchFamily="34" charset="0"/>
                <a:ea typeface="Arial Black" pitchFamily="34" charset="-122"/>
                <a:cs typeface="Arial Black" pitchFamily="34" charset="-120"/>
              </a:rPr>
              <a:t>🔄  A08:2021:Software &amp; Data Integrity Failures  🆕</a:t>
            </a:r>
            <a:endParaRPr lang="en-US" sz="3800" dirty="0"/>
          </a:p>
        </p:txBody>
      </p:sp>
      <p:sp>
        <p:nvSpPr>
          <p:cNvPr id="4" name="Text 2"/>
          <p:cNvSpPr/>
          <p:nvPr/>
        </p:nvSpPr>
        <p:spPr>
          <a:xfrm>
            <a:off x="548640" y="1097280"/>
            <a:ext cx="17007840" cy="548640"/>
          </a:xfrm>
          <a:prstGeom prst="rect">
            <a:avLst/>
          </a:prstGeom>
          <a:noFill/>
          <a:ln/>
        </p:spPr>
        <p:txBody>
          <a:bodyPr wrap="square" rtlCol="0" anchor="ctr"/>
          <a:lstStyle/>
          <a:p>
            <a:r>
              <a:rPr lang="en-US" sz="2000" dirty="0">
                <a:solidFill>
                  <a:srgbClr val="00B4C8"/>
                </a:solidFill>
                <a:latin typeface="Calibri" pitchFamily="34" charset="0"/>
                <a:ea typeface="Calibri" pitchFamily="34" charset="-122"/>
                <a:cs typeface="Calibri" pitchFamily="34" charset="-120"/>
              </a:rPr>
              <a:t>New in 2021 | Focuses on supply chain attacks, CI/CD pipelines, and unverified software updates</a:t>
            </a:r>
            <a:endParaRPr lang="en-US" sz="2000" dirty="0"/>
          </a:p>
        </p:txBody>
      </p:sp>
      <p:sp>
        <p:nvSpPr>
          <p:cNvPr id="5" name="Shape 3"/>
          <p:cNvSpPr/>
          <p:nvPr/>
        </p:nvSpPr>
        <p:spPr>
          <a:xfrm>
            <a:off x="0" y="1737360"/>
            <a:ext cx="18288000" cy="73152"/>
          </a:xfrm>
          <a:prstGeom prst="rect">
            <a:avLst/>
          </a:prstGeom>
          <a:solidFill>
            <a:srgbClr val="27AE60"/>
          </a:solidFill>
          <a:ln w="12700">
            <a:solidFill>
              <a:srgbClr val="27AE60"/>
            </a:solidFill>
            <a:prstDash val="solid"/>
          </a:ln>
        </p:spPr>
      </p:sp>
      <p:sp>
        <p:nvSpPr>
          <p:cNvPr id="6" name="Shape 4"/>
          <p:cNvSpPr/>
          <p:nvPr/>
        </p:nvSpPr>
        <p:spPr>
          <a:xfrm>
            <a:off x="548640" y="2011680"/>
            <a:ext cx="17190720" cy="1316736"/>
          </a:xfrm>
          <a:prstGeom prst="rect">
            <a:avLst/>
          </a:prstGeom>
          <a:solidFill>
            <a:srgbClr val="EAFAF1"/>
          </a:solidFill>
          <a:ln w="12700">
            <a:solidFill>
              <a:srgbClr val="27AE60"/>
            </a:solidFill>
            <a:prstDash val="solid"/>
          </a:ln>
          <a:effectLst>
            <a:outerShdw blurRad="76200" dist="25400" dir="8100000" algn="bl" rotWithShape="0">
              <a:srgbClr val="000000">
                <a:alpha val="10000"/>
              </a:srgbClr>
            </a:outerShdw>
          </a:effectLst>
        </p:spPr>
      </p:sp>
      <p:sp>
        <p:nvSpPr>
          <p:cNvPr id="7" name="Shape 5"/>
          <p:cNvSpPr/>
          <p:nvPr/>
        </p:nvSpPr>
        <p:spPr>
          <a:xfrm>
            <a:off x="548640" y="2011680"/>
            <a:ext cx="128016" cy="1316736"/>
          </a:xfrm>
          <a:prstGeom prst="rect">
            <a:avLst/>
          </a:prstGeom>
          <a:solidFill>
            <a:srgbClr val="27AE60"/>
          </a:solidFill>
          <a:ln w="12700">
            <a:solidFill>
              <a:srgbClr val="27AE60"/>
            </a:solidFill>
            <a:prstDash val="solid"/>
          </a:ln>
        </p:spPr>
      </p:sp>
      <p:sp>
        <p:nvSpPr>
          <p:cNvPr id="8" name="Text 6"/>
          <p:cNvSpPr/>
          <p:nvPr/>
        </p:nvSpPr>
        <p:spPr>
          <a:xfrm>
            <a:off x="822960" y="2084832"/>
            <a:ext cx="16642080" cy="1170432"/>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Software &amp; Data Integrity Failures occur when applications, updates, or critical data are NOT properly protected from unauthorized alteration. This includes insecure CI/CD pipelines, auto-update mechanisms, and serialization vulnerabilities — risks from untrusted software and data.</a:t>
            </a:r>
            <a:endParaRPr lang="en-US" sz="2100" dirty="0"/>
          </a:p>
        </p:txBody>
      </p:sp>
      <p:sp>
        <p:nvSpPr>
          <p:cNvPr id="9" name="Shape 7"/>
          <p:cNvSpPr/>
          <p:nvPr/>
        </p:nvSpPr>
        <p:spPr>
          <a:xfrm>
            <a:off x="563880" y="4206240"/>
            <a:ext cx="17190720" cy="4067075"/>
          </a:xfrm>
          <a:prstGeom prst="rect">
            <a:avLst/>
          </a:prstGeom>
          <a:solidFill>
            <a:srgbClr val="004D5B"/>
          </a:solidFill>
          <a:ln w="12700">
            <a:solidFill>
              <a:srgbClr val="004D5B"/>
            </a:solidFill>
            <a:prstDash val="solid"/>
          </a:ln>
          <a:effectLst>
            <a:outerShdw blurRad="101600" dist="38100" dir="8100000" algn="bl" rotWithShape="0">
              <a:srgbClr val="000000">
                <a:alpha val="12000"/>
              </a:srgbClr>
            </a:outerShdw>
          </a:effectLst>
        </p:spPr>
      </p:sp>
      <p:sp>
        <p:nvSpPr>
          <p:cNvPr id="10" name="Shape 8"/>
          <p:cNvSpPr/>
          <p:nvPr/>
        </p:nvSpPr>
        <p:spPr>
          <a:xfrm>
            <a:off x="548640" y="3511296"/>
            <a:ext cx="17190720" cy="694944"/>
          </a:xfrm>
          <a:prstGeom prst="rect">
            <a:avLst/>
          </a:prstGeom>
          <a:solidFill>
            <a:srgbClr val="C0392B"/>
          </a:solidFill>
          <a:ln w="12700">
            <a:solidFill>
              <a:srgbClr val="C0392B"/>
            </a:solidFill>
            <a:prstDash val="solid"/>
          </a:ln>
        </p:spPr>
      </p:sp>
      <p:sp>
        <p:nvSpPr>
          <p:cNvPr id="11" name="Text 9"/>
          <p:cNvSpPr/>
          <p:nvPr/>
        </p:nvSpPr>
        <p:spPr>
          <a:xfrm>
            <a:off x="822960" y="3547872"/>
            <a:ext cx="16642080" cy="621792"/>
          </a:xfrm>
          <a:prstGeom prst="rect">
            <a:avLst/>
          </a:prstGeom>
          <a:noFill/>
          <a:ln/>
        </p:spPr>
        <p:txBody>
          <a:bodyPr wrap="square" rtlCol="0" anchor="ctr"/>
          <a:lstStyle/>
          <a:p>
            <a:r>
              <a:rPr lang="en-US" sz="2200" b="1" dirty="0">
                <a:solidFill>
                  <a:srgbClr val="FFFFFF"/>
                </a:solidFill>
                <a:latin typeface="Arial Black" pitchFamily="34" charset="0"/>
                <a:ea typeface="Arial Black" pitchFamily="34" charset="-122"/>
                <a:cs typeface="Arial Black" pitchFamily="34" charset="-120"/>
              </a:rPr>
              <a:t>🌐  REAL CASE STUDY: SolarWinds Supply Chain Attack (2020)</a:t>
            </a:r>
            <a:endParaRPr lang="en-US" sz="2200" dirty="0"/>
          </a:p>
        </p:txBody>
      </p:sp>
      <p:sp>
        <p:nvSpPr>
          <p:cNvPr id="12" name="Text 10"/>
          <p:cNvSpPr/>
          <p:nvPr/>
        </p:nvSpPr>
        <p:spPr>
          <a:xfrm>
            <a:off x="914400" y="4315968"/>
            <a:ext cx="2194560" cy="548640"/>
          </a:xfrm>
          <a:prstGeom prst="rect">
            <a:avLst/>
          </a:prstGeom>
          <a:noFill/>
          <a:ln/>
        </p:spPr>
        <p:txBody>
          <a:bodyPr wrap="square" rtlCol="0" anchor="ctr"/>
          <a:lstStyle/>
          <a:p>
            <a:r>
              <a:rPr lang="en-US" b="1" dirty="0">
                <a:solidFill>
                  <a:srgbClr val="00B4C8"/>
                </a:solidFill>
                <a:latin typeface="Arial" pitchFamily="34" charset="0"/>
                <a:ea typeface="Arial" pitchFamily="34" charset="-122"/>
                <a:cs typeface="Arial" pitchFamily="34" charset="-120"/>
              </a:rPr>
              <a:t>Attacker:</a:t>
            </a:r>
            <a:endParaRPr lang="en-US" dirty="0"/>
          </a:p>
        </p:txBody>
      </p:sp>
      <p:sp>
        <p:nvSpPr>
          <p:cNvPr id="13" name="Text 11"/>
          <p:cNvSpPr/>
          <p:nvPr/>
        </p:nvSpPr>
        <p:spPr>
          <a:xfrm>
            <a:off x="3200400" y="4315968"/>
            <a:ext cx="14264640" cy="548640"/>
          </a:xfrm>
          <a:prstGeom prst="rect">
            <a:avLst/>
          </a:prstGeom>
          <a:noFill/>
          <a:ln/>
        </p:spPr>
        <p:txBody>
          <a:bodyPr wrap="square" rtlCol="0" anchor="ctr"/>
          <a:lstStyle/>
          <a:p>
            <a:r>
              <a:rPr lang="en-US" dirty="0">
                <a:solidFill>
                  <a:srgbClr val="FFFFFF"/>
                </a:solidFill>
                <a:latin typeface="Calibri" pitchFamily="34" charset="0"/>
                <a:ea typeface="Calibri" pitchFamily="34" charset="-122"/>
                <a:cs typeface="Calibri" pitchFamily="34" charset="-120"/>
              </a:rPr>
              <a:t>Russian state-sponsored group (APT29/Cozy Bear)</a:t>
            </a:r>
            <a:endParaRPr lang="en-US" dirty="0"/>
          </a:p>
        </p:txBody>
      </p:sp>
      <p:sp>
        <p:nvSpPr>
          <p:cNvPr id="14" name="Text 12"/>
          <p:cNvSpPr/>
          <p:nvPr/>
        </p:nvSpPr>
        <p:spPr>
          <a:xfrm>
            <a:off x="914400" y="4956048"/>
            <a:ext cx="2194560" cy="548640"/>
          </a:xfrm>
          <a:prstGeom prst="rect">
            <a:avLst/>
          </a:prstGeom>
          <a:noFill/>
          <a:ln/>
        </p:spPr>
        <p:txBody>
          <a:bodyPr wrap="square" rtlCol="0" anchor="ctr"/>
          <a:lstStyle/>
          <a:p>
            <a:r>
              <a:rPr lang="en-US" b="1" dirty="0">
                <a:solidFill>
                  <a:srgbClr val="00B4C8"/>
                </a:solidFill>
                <a:latin typeface="Arial" pitchFamily="34" charset="0"/>
                <a:ea typeface="Arial" pitchFamily="34" charset="-122"/>
                <a:cs typeface="Arial" pitchFamily="34" charset="-120"/>
              </a:rPr>
              <a:t>Method:</a:t>
            </a:r>
            <a:endParaRPr lang="en-US" dirty="0"/>
          </a:p>
        </p:txBody>
      </p:sp>
      <p:sp>
        <p:nvSpPr>
          <p:cNvPr id="15" name="Text 13"/>
          <p:cNvSpPr/>
          <p:nvPr/>
        </p:nvSpPr>
        <p:spPr>
          <a:xfrm>
            <a:off x="3200400" y="4956048"/>
            <a:ext cx="14264640" cy="548640"/>
          </a:xfrm>
          <a:prstGeom prst="rect">
            <a:avLst/>
          </a:prstGeom>
          <a:noFill/>
          <a:ln/>
        </p:spPr>
        <p:txBody>
          <a:bodyPr wrap="square" rtlCol="0" anchor="ctr"/>
          <a:lstStyle/>
          <a:p>
            <a:r>
              <a:rPr lang="en-US" dirty="0">
                <a:solidFill>
                  <a:srgbClr val="FFFFFF"/>
                </a:solidFill>
                <a:latin typeface="Calibri" pitchFamily="34" charset="0"/>
                <a:ea typeface="Calibri" pitchFamily="34" charset="-122"/>
                <a:cs typeface="Calibri" pitchFamily="34" charset="-120"/>
              </a:rPr>
              <a:t>Inserted 'SUNBURST' backdoor into SolarWinds Orion IT monitoring software build pipeline</a:t>
            </a:r>
            <a:endParaRPr lang="en-US" dirty="0"/>
          </a:p>
        </p:txBody>
      </p:sp>
      <p:sp>
        <p:nvSpPr>
          <p:cNvPr id="16" name="Text 14"/>
          <p:cNvSpPr/>
          <p:nvPr/>
        </p:nvSpPr>
        <p:spPr>
          <a:xfrm>
            <a:off x="914400" y="5596128"/>
            <a:ext cx="2194560" cy="548640"/>
          </a:xfrm>
          <a:prstGeom prst="rect">
            <a:avLst/>
          </a:prstGeom>
          <a:noFill/>
          <a:ln/>
        </p:spPr>
        <p:txBody>
          <a:bodyPr wrap="square" rtlCol="0" anchor="ctr"/>
          <a:lstStyle/>
          <a:p>
            <a:r>
              <a:rPr lang="en-US" b="1" dirty="0">
                <a:solidFill>
                  <a:srgbClr val="00B4C8"/>
                </a:solidFill>
                <a:latin typeface="Arial" pitchFamily="34" charset="0"/>
                <a:ea typeface="Arial" pitchFamily="34" charset="-122"/>
                <a:cs typeface="Arial" pitchFamily="34" charset="-120"/>
              </a:rPr>
              <a:t>Distribution:</a:t>
            </a:r>
            <a:endParaRPr lang="en-US" dirty="0"/>
          </a:p>
        </p:txBody>
      </p:sp>
      <p:sp>
        <p:nvSpPr>
          <p:cNvPr id="17" name="Text 15"/>
          <p:cNvSpPr/>
          <p:nvPr/>
        </p:nvSpPr>
        <p:spPr>
          <a:xfrm>
            <a:off x="3200400" y="5596128"/>
            <a:ext cx="14264640" cy="548640"/>
          </a:xfrm>
          <a:prstGeom prst="rect">
            <a:avLst/>
          </a:prstGeom>
          <a:noFill/>
          <a:ln/>
        </p:spPr>
        <p:txBody>
          <a:bodyPr wrap="square" rtlCol="0" anchor="ctr"/>
          <a:lstStyle/>
          <a:p>
            <a:r>
              <a:rPr lang="en-US" dirty="0">
                <a:solidFill>
                  <a:srgbClr val="FFFFFF"/>
                </a:solidFill>
                <a:latin typeface="Calibri" pitchFamily="34" charset="0"/>
                <a:ea typeface="Calibri" pitchFamily="34" charset="-122"/>
                <a:cs typeface="Calibri" pitchFamily="34" charset="-120"/>
              </a:rPr>
              <a:t>~18,000 customers installed the trojanized (digitally signed!) update</a:t>
            </a:r>
            <a:endParaRPr lang="en-US" dirty="0"/>
          </a:p>
        </p:txBody>
      </p:sp>
      <p:sp>
        <p:nvSpPr>
          <p:cNvPr id="18" name="Text 16"/>
          <p:cNvSpPr/>
          <p:nvPr/>
        </p:nvSpPr>
        <p:spPr>
          <a:xfrm>
            <a:off x="914400" y="6236208"/>
            <a:ext cx="2194560" cy="548640"/>
          </a:xfrm>
          <a:prstGeom prst="rect">
            <a:avLst/>
          </a:prstGeom>
          <a:noFill/>
          <a:ln/>
        </p:spPr>
        <p:txBody>
          <a:bodyPr wrap="square" rtlCol="0" anchor="ctr"/>
          <a:lstStyle/>
          <a:p>
            <a:r>
              <a:rPr lang="en-US" b="1" dirty="0">
                <a:solidFill>
                  <a:srgbClr val="00B4C8"/>
                </a:solidFill>
                <a:latin typeface="Arial" pitchFamily="34" charset="0"/>
                <a:ea typeface="Arial" pitchFamily="34" charset="-122"/>
                <a:cs typeface="Arial" pitchFamily="34" charset="-120"/>
              </a:rPr>
              <a:t>Victims:</a:t>
            </a:r>
            <a:endParaRPr lang="en-US" dirty="0"/>
          </a:p>
        </p:txBody>
      </p:sp>
      <p:sp>
        <p:nvSpPr>
          <p:cNvPr id="19" name="Text 17"/>
          <p:cNvSpPr/>
          <p:nvPr/>
        </p:nvSpPr>
        <p:spPr>
          <a:xfrm>
            <a:off x="3200400" y="6236208"/>
            <a:ext cx="14264640" cy="548640"/>
          </a:xfrm>
          <a:prstGeom prst="rect">
            <a:avLst/>
          </a:prstGeom>
          <a:noFill/>
          <a:ln/>
        </p:spPr>
        <p:txBody>
          <a:bodyPr wrap="square" rtlCol="0" anchor="ctr"/>
          <a:lstStyle/>
          <a:p>
            <a:r>
              <a:rPr lang="en-US" dirty="0">
                <a:solidFill>
                  <a:srgbClr val="FFFFFF"/>
                </a:solidFill>
                <a:latin typeface="Calibri" pitchFamily="34" charset="0"/>
                <a:ea typeface="Calibri" pitchFamily="34" charset="-122"/>
                <a:cs typeface="Calibri" pitchFamily="34" charset="-120"/>
              </a:rPr>
              <a:t>US Federal agencies (Treasury, Homeland Security), Microsoft, FireEye, and more</a:t>
            </a:r>
            <a:endParaRPr lang="en-US" dirty="0"/>
          </a:p>
        </p:txBody>
      </p:sp>
      <p:sp>
        <p:nvSpPr>
          <p:cNvPr id="22" name="Text 20"/>
          <p:cNvSpPr/>
          <p:nvPr/>
        </p:nvSpPr>
        <p:spPr>
          <a:xfrm>
            <a:off x="548640" y="7790688"/>
            <a:ext cx="2926080" cy="1426464"/>
          </a:xfrm>
          <a:prstGeom prst="rect">
            <a:avLst/>
          </a:prstGeom>
          <a:noFill/>
          <a:ln/>
        </p:spPr>
        <p:txBody>
          <a:bodyPr wrap="square" rtlCol="0" anchor="ctr"/>
          <a:lstStyle/>
          <a:p>
            <a:pPr algn="ctr"/>
            <a:r>
              <a:rPr lang="en-US" b="1" dirty="0">
                <a:solidFill>
                  <a:srgbClr val="FFFFFF"/>
                </a:solidFill>
                <a:latin typeface="Calibri" pitchFamily="34" charset="0"/>
                <a:ea typeface="Calibri" pitchFamily="34" charset="-122"/>
                <a:cs typeface="Calibri" pitchFamily="34" charset="-120"/>
              </a:rPr>
              <a:t>Code</a:t>
            </a:r>
            <a:endParaRPr lang="en-US" dirty="0"/>
          </a:p>
          <a:p>
            <a:pPr algn="ctr"/>
            <a:r>
              <a:rPr lang="en-US" b="1" dirty="0">
                <a:solidFill>
                  <a:srgbClr val="FFFFFF"/>
                </a:solidFill>
                <a:latin typeface="Calibri" pitchFamily="34" charset="0"/>
                <a:ea typeface="Calibri" pitchFamily="34" charset="-122"/>
                <a:cs typeface="Calibri" pitchFamily="34" charset="-120"/>
              </a:rPr>
              <a:t>Commit</a:t>
            </a:r>
            <a:endParaRPr lang="en-US" dirty="0"/>
          </a:p>
        </p:txBody>
      </p:sp>
      <p:sp>
        <p:nvSpPr>
          <p:cNvPr id="30" name="Text 28"/>
          <p:cNvSpPr/>
          <p:nvPr/>
        </p:nvSpPr>
        <p:spPr>
          <a:xfrm>
            <a:off x="7424928" y="7790688"/>
            <a:ext cx="2926080" cy="1426464"/>
          </a:xfrm>
          <a:prstGeom prst="rect">
            <a:avLst/>
          </a:prstGeom>
          <a:noFill/>
          <a:ln/>
        </p:spPr>
        <p:txBody>
          <a:bodyPr wrap="square" rtlCol="0" anchor="ctr"/>
          <a:lstStyle/>
          <a:p>
            <a:pPr algn="ctr"/>
            <a:r>
              <a:rPr lang="en-US" b="1" dirty="0">
                <a:solidFill>
                  <a:srgbClr val="FFFFFF"/>
                </a:solidFill>
                <a:latin typeface="Calibri" pitchFamily="34" charset="0"/>
                <a:ea typeface="Calibri" pitchFamily="34" charset="-122"/>
                <a:cs typeface="Calibri" pitchFamily="34" charset="-120"/>
              </a:rPr>
              <a:t>Test</a:t>
            </a:r>
            <a:endParaRPr lang="en-US" dirty="0"/>
          </a:p>
          <a:p>
            <a:pPr algn="ctr"/>
            <a:r>
              <a:rPr lang="en-US" b="1" dirty="0">
                <a:solidFill>
                  <a:srgbClr val="FFFFFF"/>
                </a:solidFill>
                <a:latin typeface="Calibri" pitchFamily="34" charset="0"/>
                <a:ea typeface="Calibri" pitchFamily="34" charset="-122"/>
                <a:cs typeface="Calibri" pitchFamily="34" charset="-120"/>
              </a:rPr>
              <a:t>Suite</a:t>
            </a:r>
            <a:endParaRPr lang="en-US" dirty="0"/>
          </a:p>
        </p:txBody>
      </p:sp>
      <p:sp>
        <p:nvSpPr>
          <p:cNvPr id="34" name="Text 32"/>
          <p:cNvSpPr/>
          <p:nvPr/>
        </p:nvSpPr>
        <p:spPr>
          <a:xfrm>
            <a:off x="10863072" y="7790688"/>
            <a:ext cx="2926080" cy="1426464"/>
          </a:xfrm>
          <a:prstGeom prst="rect">
            <a:avLst/>
          </a:prstGeom>
          <a:noFill/>
          <a:ln/>
        </p:spPr>
        <p:txBody>
          <a:bodyPr wrap="square" rtlCol="0" anchor="ctr"/>
          <a:lstStyle/>
          <a:p>
            <a:pPr algn="ctr"/>
            <a:r>
              <a:rPr lang="en-US" b="1" dirty="0">
                <a:solidFill>
                  <a:srgbClr val="FFFFFF"/>
                </a:solidFill>
                <a:latin typeface="Calibri" pitchFamily="34" charset="0"/>
                <a:ea typeface="Calibri" pitchFamily="34" charset="-122"/>
                <a:cs typeface="Calibri" pitchFamily="34" charset="-120"/>
              </a:rPr>
              <a:t>Sign</a:t>
            </a:r>
            <a:endParaRPr lang="en-US" dirty="0"/>
          </a:p>
          <a:p>
            <a:pPr algn="ctr"/>
            <a:r>
              <a:rPr lang="en-US" b="1" dirty="0">
                <a:solidFill>
                  <a:srgbClr val="FFFFFF"/>
                </a:solidFill>
                <a:latin typeface="Calibri" pitchFamily="34" charset="0"/>
                <a:ea typeface="Calibri" pitchFamily="34" charset="-122"/>
                <a:cs typeface="Calibri" pitchFamily="34" charset="-120"/>
              </a:rPr>
              <a:t>&amp; Verify</a:t>
            </a:r>
            <a:endParaRPr lang="en-US" dirty="0"/>
          </a:p>
        </p:txBody>
      </p:sp>
      <p:sp>
        <p:nvSpPr>
          <p:cNvPr id="41" name="Shape 39"/>
          <p:cNvSpPr/>
          <p:nvPr/>
        </p:nvSpPr>
        <p:spPr>
          <a:xfrm>
            <a:off x="0" y="9875520"/>
            <a:ext cx="18288000" cy="411480"/>
          </a:xfrm>
          <a:prstGeom prst="rect">
            <a:avLst/>
          </a:prstGeom>
          <a:solidFill>
            <a:srgbClr val="004D5B"/>
          </a:solidFill>
          <a:ln w="12700">
            <a:solidFill>
              <a:srgbClr val="004D5B"/>
            </a:solidFill>
            <a:prstDash val="solid"/>
          </a:ln>
        </p:spPr>
      </p:sp>
      <p:sp>
        <p:nvSpPr>
          <p:cNvPr id="42" name="Text 40"/>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44" name="Picture 43">
            <a:extLst>
              <a:ext uri="{FF2B5EF4-FFF2-40B4-BE49-F238E27FC236}">
                <a16:creationId xmlns:a16="http://schemas.microsoft.com/office/drawing/2014/main" id="{817D0485-44BE-F027-5A68-0B1D909B7F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92016" y="56388"/>
            <a:ext cx="4435024" cy="16276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011" y="0"/>
            <a:ext cx="18288000" cy="1828800"/>
          </a:xfrm>
          <a:prstGeom prst="rect">
            <a:avLst/>
          </a:prstGeom>
          <a:solidFill>
            <a:srgbClr val="004D5B"/>
          </a:solidFill>
          <a:ln w="12700">
            <a:solidFill>
              <a:srgbClr val="004D5B"/>
            </a:solidFill>
            <a:prstDash val="solid"/>
          </a:ln>
        </p:spPr>
      </p:sp>
      <p:sp>
        <p:nvSpPr>
          <p:cNvPr id="3" name="Text 1"/>
          <p:cNvSpPr/>
          <p:nvPr/>
        </p:nvSpPr>
        <p:spPr>
          <a:xfrm>
            <a:off x="27272" y="135796"/>
            <a:ext cx="15544800" cy="1473548"/>
          </a:xfrm>
          <a:prstGeom prst="rect">
            <a:avLst/>
          </a:prstGeom>
          <a:noFill/>
          <a:ln/>
        </p:spPr>
        <p:txBody>
          <a:bodyPr wrap="square" rtlCol="0" anchor="ctr"/>
          <a:lstStyle/>
          <a:p>
            <a:r>
              <a:rPr lang="en-US" sz="4800" b="1" dirty="0">
                <a:solidFill>
                  <a:srgbClr val="FFFFFF"/>
                </a:solidFill>
                <a:latin typeface="Arial Black" pitchFamily="34" charset="0"/>
                <a:ea typeface="Arial Black" pitchFamily="34" charset="-122"/>
                <a:cs typeface="Arial Black" pitchFamily="34" charset="-120"/>
              </a:rPr>
              <a:t>A08: Software &amp; Data Integrity:</a:t>
            </a:r>
          </a:p>
          <a:p>
            <a:r>
              <a:rPr lang="en-US" sz="4800" b="1" dirty="0">
                <a:solidFill>
                  <a:srgbClr val="FFFFFF"/>
                </a:solidFill>
                <a:latin typeface="Arial Black" pitchFamily="34" charset="0"/>
                <a:ea typeface="Arial Black" pitchFamily="34" charset="-122"/>
                <a:cs typeface="Arial Black" pitchFamily="34" charset="-120"/>
              </a:rPr>
              <a:t>Prevention</a:t>
            </a:r>
            <a:endParaRPr lang="en-US" sz="4800" dirty="0"/>
          </a:p>
        </p:txBody>
      </p:sp>
      <p:sp>
        <p:nvSpPr>
          <p:cNvPr id="4" name="Text 2"/>
          <p:cNvSpPr/>
          <p:nvPr/>
        </p:nvSpPr>
        <p:spPr>
          <a:xfrm>
            <a:off x="9144000" y="1181902"/>
            <a:ext cx="4876800" cy="585216"/>
          </a:xfrm>
          <a:prstGeom prst="rect">
            <a:avLst/>
          </a:prstGeom>
          <a:noFill/>
          <a:ln/>
        </p:spPr>
        <p:txBody>
          <a:bodyPr wrap="square" rtlCol="0" anchor="ctr"/>
          <a:lstStyle/>
          <a:p>
            <a:r>
              <a:rPr lang="en-US" sz="2200" dirty="0">
                <a:solidFill>
                  <a:srgbClr val="00B4C8"/>
                </a:solidFill>
                <a:latin typeface="Calibri" pitchFamily="34" charset="0"/>
                <a:ea typeface="Calibri" pitchFamily="34" charset="-122"/>
                <a:cs typeface="Calibri" pitchFamily="34" charset="-120"/>
              </a:rPr>
              <a:t>Protecting Your Software Supply Chain</a:t>
            </a:r>
            <a:endParaRPr lang="en-US" sz="2200" dirty="0"/>
          </a:p>
        </p:txBody>
      </p:sp>
      <p:sp>
        <p:nvSpPr>
          <p:cNvPr id="5" name="Shape 3"/>
          <p:cNvSpPr/>
          <p:nvPr/>
        </p:nvSpPr>
        <p:spPr>
          <a:xfrm>
            <a:off x="0" y="1828800"/>
            <a:ext cx="18288000" cy="73152"/>
          </a:xfrm>
          <a:prstGeom prst="rect">
            <a:avLst/>
          </a:prstGeom>
          <a:solidFill>
            <a:srgbClr val="00B4C8"/>
          </a:solidFill>
          <a:ln w="12700">
            <a:solidFill>
              <a:srgbClr val="00B4C8"/>
            </a:solidFill>
            <a:prstDash val="solid"/>
          </a:ln>
        </p:spPr>
      </p:sp>
      <p:sp>
        <p:nvSpPr>
          <p:cNvPr id="6" name="Shape 4"/>
          <p:cNvSpPr/>
          <p:nvPr/>
        </p:nvSpPr>
        <p:spPr>
          <a:xfrm>
            <a:off x="365760" y="2157984"/>
            <a:ext cx="8595360" cy="2340864"/>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7" name="Shape 5"/>
          <p:cNvSpPr/>
          <p:nvPr/>
        </p:nvSpPr>
        <p:spPr>
          <a:xfrm>
            <a:off x="365760" y="2157984"/>
            <a:ext cx="8595360" cy="109728"/>
          </a:xfrm>
          <a:prstGeom prst="rect">
            <a:avLst/>
          </a:prstGeom>
          <a:solidFill>
            <a:srgbClr val="004D5B"/>
          </a:solidFill>
          <a:ln w="12700">
            <a:solidFill>
              <a:srgbClr val="004D5B"/>
            </a:solidFill>
            <a:prstDash val="solid"/>
          </a:ln>
        </p:spPr>
      </p:sp>
      <p:sp>
        <p:nvSpPr>
          <p:cNvPr id="8" name="Shape 6"/>
          <p:cNvSpPr/>
          <p:nvPr/>
        </p:nvSpPr>
        <p:spPr>
          <a:xfrm>
            <a:off x="585216" y="2377440"/>
            <a:ext cx="822960" cy="822960"/>
          </a:xfrm>
          <a:prstGeom prst="ellipse">
            <a:avLst/>
          </a:prstGeom>
          <a:solidFill>
            <a:srgbClr val="004D5B"/>
          </a:solidFill>
          <a:ln w="12700">
            <a:solidFill>
              <a:srgbClr val="004D5B"/>
            </a:solidFill>
            <a:prstDash val="solid"/>
          </a:ln>
        </p:spPr>
      </p:sp>
      <p:sp>
        <p:nvSpPr>
          <p:cNvPr id="9" name="Text 7"/>
          <p:cNvSpPr/>
          <p:nvPr/>
        </p:nvSpPr>
        <p:spPr>
          <a:xfrm>
            <a:off x="585216" y="2377440"/>
            <a:ext cx="822960" cy="822960"/>
          </a:xfrm>
          <a:prstGeom prst="rect">
            <a:avLst/>
          </a:prstGeom>
          <a:noFill/>
          <a:ln/>
        </p:spPr>
        <p:txBody>
          <a:bodyPr wrap="square" rtlCol="0" anchor="ctr"/>
          <a:lstStyle/>
          <a:p>
            <a:pPr algn="ctr"/>
            <a:r>
              <a:rPr lang="en-US" sz="2800" dirty="0">
                <a:solidFill>
                  <a:srgbClr val="000000"/>
                </a:solidFill>
              </a:rPr>
              <a:t>🖊️</a:t>
            </a:r>
            <a:endParaRPr lang="en-US" sz="2800" dirty="0"/>
          </a:p>
        </p:txBody>
      </p:sp>
      <p:sp>
        <p:nvSpPr>
          <p:cNvPr id="10" name="Text 8"/>
          <p:cNvSpPr/>
          <p:nvPr/>
        </p:nvSpPr>
        <p:spPr>
          <a:xfrm>
            <a:off x="1554480" y="2414016"/>
            <a:ext cx="7205472" cy="694944"/>
          </a:xfrm>
          <a:prstGeom prst="rect">
            <a:avLst/>
          </a:prstGeom>
          <a:noFill/>
          <a:ln/>
        </p:spPr>
        <p:txBody>
          <a:bodyPr wrap="square" rtlCol="0" anchor="ctr"/>
          <a:lstStyle/>
          <a:p>
            <a:r>
              <a:rPr lang="en-US" sz="2100" b="1" dirty="0">
                <a:solidFill>
                  <a:srgbClr val="004D5B"/>
                </a:solidFill>
                <a:latin typeface="Arial" pitchFamily="34" charset="0"/>
                <a:ea typeface="Arial" pitchFamily="34" charset="-122"/>
                <a:cs typeface="Arial" pitchFamily="34" charset="-120"/>
              </a:rPr>
              <a:t>Digital Signatures Verification</a:t>
            </a:r>
            <a:endParaRPr lang="en-US" sz="2100" dirty="0"/>
          </a:p>
        </p:txBody>
      </p:sp>
      <p:sp>
        <p:nvSpPr>
          <p:cNvPr id="11" name="Text 9"/>
          <p:cNvSpPr/>
          <p:nvPr/>
        </p:nvSpPr>
        <p:spPr>
          <a:xfrm>
            <a:off x="585216" y="3346704"/>
            <a:ext cx="8193024" cy="1060704"/>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Ensure all software updates and packages are digitally signed. Verify signatures before deploying to production. Reject unsigned or invalid updates.</a:t>
            </a:r>
            <a:endParaRPr lang="en-US" dirty="0"/>
          </a:p>
        </p:txBody>
      </p:sp>
      <p:sp>
        <p:nvSpPr>
          <p:cNvPr id="12" name="Shape 10"/>
          <p:cNvSpPr/>
          <p:nvPr/>
        </p:nvSpPr>
        <p:spPr>
          <a:xfrm>
            <a:off x="365760" y="4718304"/>
            <a:ext cx="8595360" cy="2340864"/>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13" name="Shape 11"/>
          <p:cNvSpPr/>
          <p:nvPr/>
        </p:nvSpPr>
        <p:spPr>
          <a:xfrm>
            <a:off x="365760" y="4718304"/>
            <a:ext cx="8595360" cy="109728"/>
          </a:xfrm>
          <a:prstGeom prst="rect">
            <a:avLst/>
          </a:prstGeom>
          <a:solidFill>
            <a:srgbClr val="27AE60"/>
          </a:solidFill>
          <a:ln w="12700">
            <a:solidFill>
              <a:srgbClr val="27AE60"/>
            </a:solidFill>
            <a:prstDash val="solid"/>
          </a:ln>
        </p:spPr>
      </p:sp>
      <p:sp>
        <p:nvSpPr>
          <p:cNvPr id="14" name="Shape 12"/>
          <p:cNvSpPr/>
          <p:nvPr/>
        </p:nvSpPr>
        <p:spPr>
          <a:xfrm>
            <a:off x="585216" y="4937760"/>
            <a:ext cx="822960" cy="822960"/>
          </a:xfrm>
          <a:prstGeom prst="ellipse">
            <a:avLst/>
          </a:prstGeom>
          <a:solidFill>
            <a:srgbClr val="27AE60"/>
          </a:solidFill>
          <a:ln w="12700">
            <a:solidFill>
              <a:srgbClr val="27AE60"/>
            </a:solidFill>
            <a:prstDash val="solid"/>
          </a:ln>
        </p:spPr>
      </p:sp>
      <p:sp>
        <p:nvSpPr>
          <p:cNvPr id="15" name="Text 13"/>
          <p:cNvSpPr/>
          <p:nvPr/>
        </p:nvSpPr>
        <p:spPr>
          <a:xfrm>
            <a:off x="585216" y="4937760"/>
            <a:ext cx="822960" cy="822960"/>
          </a:xfrm>
          <a:prstGeom prst="rect">
            <a:avLst/>
          </a:prstGeom>
          <a:noFill/>
          <a:ln/>
        </p:spPr>
        <p:txBody>
          <a:bodyPr wrap="square" rtlCol="0" anchor="ctr"/>
          <a:lstStyle/>
          <a:p>
            <a:pPr algn="ctr"/>
            <a:r>
              <a:rPr lang="en-US" sz="2800" dirty="0">
                <a:solidFill>
                  <a:srgbClr val="000000"/>
                </a:solidFill>
              </a:rPr>
              <a:t>🔒</a:t>
            </a:r>
            <a:endParaRPr lang="en-US" sz="2800" dirty="0"/>
          </a:p>
        </p:txBody>
      </p:sp>
      <p:sp>
        <p:nvSpPr>
          <p:cNvPr id="16" name="Text 14"/>
          <p:cNvSpPr/>
          <p:nvPr/>
        </p:nvSpPr>
        <p:spPr>
          <a:xfrm>
            <a:off x="1554480" y="4974336"/>
            <a:ext cx="7205472" cy="694944"/>
          </a:xfrm>
          <a:prstGeom prst="rect">
            <a:avLst/>
          </a:prstGeom>
          <a:noFill/>
          <a:ln/>
        </p:spPr>
        <p:txBody>
          <a:bodyPr wrap="square" rtlCol="0" anchor="ctr"/>
          <a:lstStyle/>
          <a:p>
            <a:r>
              <a:rPr lang="en-US" sz="2100" b="1" dirty="0">
                <a:solidFill>
                  <a:srgbClr val="27AE60"/>
                </a:solidFill>
                <a:latin typeface="Arial" pitchFamily="34" charset="0"/>
                <a:ea typeface="Arial" pitchFamily="34" charset="-122"/>
                <a:cs typeface="Arial" pitchFamily="34" charset="-120"/>
              </a:rPr>
              <a:t>Secure CI/CD Pipelines</a:t>
            </a:r>
            <a:endParaRPr lang="en-US" sz="2100" dirty="0"/>
          </a:p>
        </p:txBody>
      </p:sp>
      <p:sp>
        <p:nvSpPr>
          <p:cNvPr id="17" name="Text 15"/>
          <p:cNvSpPr/>
          <p:nvPr/>
        </p:nvSpPr>
        <p:spPr>
          <a:xfrm>
            <a:off x="585216" y="5907024"/>
            <a:ext cx="8193024" cy="1060704"/>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Implement strict access controls and MFA for all pipeline tools. Monitor pipeline activity. Require code reviews before merging. Use dedicated build servers.</a:t>
            </a:r>
            <a:endParaRPr lang="en-US" dirty="0"/>
          </a:p>
        </p:txBody>
      </p:sp>
      <p:sp>
        <p:nvSpPr>
          <p:cNvPr id="18" name="Shape 16"/>
          <p:cNvSpPr/>
          <p:nvPr/>
        </p:nvSpPr>
        <p:spPr>
          <a:xfrm>
            <a:off x="365760" y="7278624"/>
            <a:ext cx="8595360" cy="2340864"/>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19" name="Shape 17"/>
          <p:cNvSpPr/>
          <p:nvPr/>
        </p:nvSpPr>
        <p:spPr>
          <a:xfrm>
            <a:off x="365760" y="7278624"/>
            <a:ext cx="8595360" cy="109728"/>
          </a:xfrm>
          <a:prstGeom prst="rect">
            <a:avLst/>
          </a:prstGeom>
          <a:solidFill>
            <a:srgbClr val="2980B9"/>
          </a:solidFill>
          <a:ln w="12700">
            <a:solidFill>
              <a:srgbClr val="2980B9"/>
            </a:solidFill>
            <a:prstDash val="solid"/>
          </a:ln>
        </p:spPr>
      </p:sp>
      <p:sp>
        <p:nvSpPr>
          <p:cNvPr id="20" name="Shape 18"/>
          <p:cNvSpPr/>
          <p:nvPr/>
        </p:nvSpPr>
        <p:spPr>
          <a:xfrm>
            <a:off x="585216" y="7498080"/>
            <a:ext cx="822960" cy="822960"/>
          </a:xfrm>
          <a:prstGeom prst="ellipse">
            <a:avLst/>
          </a:prstGeom>
          <a:solidFill>
            <a:srgbClr val="2980B9"/>
          </a:solidFill>
          <a:ln w="12700">
            <a:solidFill>
              <a:srgbClr val="2980B9"/>
            </a:solidFill>
            <a:prstDash val="solid"/>
          </a:ln>
        </p:spPr>
      </p:sp>
      <p:sp>
        <p:nvSpPr>
          <p:cNvPr id="21" name="Text 19"/>
          <p:cNvSpPr/>
          <p:nvPr/>
        </p:nvSpPr>
        <p:spPr>
          <a:xfrm>
            <a:off x="585216" y="7498080"/>
            <a:ext cx="822960" cy="822960"/>
          </a:xfrm>
          <a:prstGeom prst="rect">
            <a:avLst/>
          </a:prstGeom>
          <a:noFill/>
          <a:ln/>
        </p:spPr>
        <p:txBody>
          <a:bodyPr wrap="square" rtlCol="0" anchor="ctr"/>
          <a:lstStyle/>
          <a:p>
            <a:pPr algn="ctr"/>
            <a:r>
              <a:rPr lang="en-US" sz="2800" dirty="0">
                <a:solidFill>
                  <a:srgbClr val="000000"/>
                </a:solidFill>
              </a:rPr>
              <a:t>📋</a:t>
            </a:r>
            <a:endParaRPr lang="en-US" sz="2800" dirty="0"/>
          </a:p>
        </p:txBody>
      </p:sp>
      <p:sp>
        <p:nvSpPr>
          <p:cNvPr id="22" name="Text 20"/>
          <p:cNvSpPr/>
          <p:nvPr/>
        </p:nvSpPr>
        <p:spPr>
          <a:xfrm>
            <a:off x="1554480" y="7534656"/>
            <a:ext cx="7205472" cy="694944"/>
          </a:xfrm>
          <a:prstGeom prst="rect">
            <a:avLst/>
          </a:prstGeom>
          <a:noFill/>
          <a:ln/>
        </p:spPr>
        <p:txBody>
          <a:bodyPr wrap="square" rtlCol="0" anchor="ctr"/>
          <a:lstStyle/>
          <a:p>
            <a:r>
              <a:rPr lang="en-US" sz="2100" b="1" dirty="0">
                <a:solidFill>
                  <a:srgbClr val="2980B9"/>
                </a:solidFill>
                <a:latin typeface="Arial" pitchFamily="34" charset="0"/>
                <a:ea typeface="Arial" pitchFamily="34" charset="-122"/>
                <a:cs typeface="Arial" pitchFamily="34" charset="-120"/>
              </a:rPr>
              <a:t>SBOM (Software Bill of Materials)</a:t>
            </a:r>
            <a:endParaRPr lang="en-US" sz="2100" dirty="0"/>
          </a:p>
        </p:txBody>
      </p:sp>
      <p:sp>
        <p:nvSpPr>
          <p:cNvPr id="23" name="Text 21"/>
          <p:cNvSpPr/>
          <p:nvPr/>
        </p:nvSpPr>
        <p:spPr>
          <a:xfrm>
            <a:off x="585216" y="8467344"/>
            <a:ext cx="8193024" cy="1060704"/>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Maintain a comprehensive inventory of all components, dependencies, and libraries (SBOM). Know what's in your software supply chain at all times.</a:t>
            </a:r>
            <a:endParaRPr lang="en-US" dirty="0"/>
          </a:p>
        </p:txBody>
      </p:sp>
      <p:sp>
        <p:nvSpPr>
          <p:cNvPr id="24" name="Shape 22"/>
          <p:cNvSpPr/>
          <p:nvPr/>
        </p:nvSpPr>
        <p:spPr>
          <a:xfrm>
            <a:off x="9418320" y="2157984"/>
            <a:ext cx="8595360" cy="2340864"/>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5" name="Shape 23"/>
          <p:cNvSpPr/>
          <p:nvPr/>
        </p:nvSpPr>
        <p:spPr>
          <a:xfrm>
            <a:off x="9418320" y="2157984"/>
            <a:ext cx="8595360" cy="109728"/>
          </a:xfrm>
          <a:prstGeom prst="rect">
            <a:avLst/>
          </a:prstGeom>
          <a:solidFill>
            <a:srgbClr val="8E44AD"/>
          </a:solidFill>
          <a:ln w="12700">
            <a:solidFill>
              <a:srgbClr val="8E44AD"/>
            </a:solidFill>
            <a:prstDash val="solid"/>
          </a:ln>
        </p:spPr>
      </p:sp>
      <p:sp>
        <p:nvSpPr>
          <p:cNvPr id="26" name="Shape 24"/>
          <p:cNvSpPr/>
          <p:nvPr/>
        </p:nvSpPr>
        <p:spPr>
          <a:xfrm>
            <a:off x="9637776" y="2377440"/>
            <a:ext cx="822960" cy="822960"/>
          </a:xfrm>
          <a:prstGeom prst="ellipse">
            <a:avLst/>
          </a:prstGeom>
          <a:solidFill>
            <a:srgbClr val="8E44AD"/>
          </a:solidFill>
          <a:ln w="12700">
            <a:solidFill>
              <a:srgbClr val="8E44AD"/>
            </a:solidFill>
            <a:prstDash val="solid"/>
          </a:ln>
        </p:spPr>
      </p:sp>
      <p:sp>
        <p:nvSpPr>
          <p:cNvPr id="27" name="Text 25"/>
          <p:cNvSpPr/>
          <p:nvPr/>
        </p:nvSpPr>
        <p:spPr>
          <a:xfrm>
            <a:off x="9637776" y="2377440"/>
            <a:ext cx="822960" cy="822960"/>
          </a:xfrm>
          <a:prstGeom prst="rect">
            <a:avLst/>
          </a:prstGeom>
          <a:noFill/>
          <a:ln/>
        </p:spPr>
        <p:txBody>
          <a:bodyPr wrap="square" rtlCol="0" anchor="ctr"/>
          <a:lstStyle/>
          <a:p>
            <a:pPr algn="ctr"/>
            <a:r>
              <a:rPr lang="en-US" sz="2800" dirty="0">
                <a:solidFill>
                  <a:srgbClr val="000000"/>
                </a:solidFill>
              </a:rPr>
              <a:t>🔍</a:t>
            </a:r>
            <a:endParaRPr lang="en-US" sz="2800" dirty="0"/>
          </a:p>
        </p:txBody>
      </p:sp>
      <p:sp>
        <p:nvSpPr>
          <p:cNvPr id="28" name="Text 26"/>
          <p:cNvSpPr/>
          <p:nvPr/>
        </p:nvSpPr>
        <p:spPr>
          <a:xfrm>
            <a:off x="10607040" y="2414016"/>
            <a:ext cx="7205472" cy="694944"/>
          </a:xfrm>
          <a:prstGeom prst="rect">
            <a:avLst/>
          </a:prstGeom>
          <a:noFill/>
          <a:ln/>
        </p:spPr>
        <p:txBody>
          <a:bodyPr wrap="square" rtlCol="0" anchor="ctr"/>
          <a:lstStyle/>
          <a:p>
            <a:r>
              <a:rPr lang="en-US" sz="2100" b="1" dirty="0">
                <a:solidFill>
                  <a:srgbClr val="8E44AD"/>
                </a:solidFill>
                <a:latin typeface="Arial" pitchFamily="34" charset="0"/>
                <a:ea typeface="Arial" pitchFamily="34" charset="-122"/>
                <a:cs typeface="Arial" pitchFamily="34" charset="-120"/>
              </a:rPr>
              <a:t>Hash Integrity Checks</a:t>
            </a:r>
            <a:endParaRPr lang="en-US" sz="2100" dirty="0"/>
          </a:p>
        </p:txBody>
      </p:sp>
      <p:sp>
        <p:nvSpPr>
          <p:cNvPr id="29" name="Text 27"/>
          <p:cNvSpPr/>
          <p:nvPr/>
        </p:nvSpPr>
        <p:spPr>
          <a:xfrm>
            <a:off x="9637776" y="3346704"/>
            <a:ext cx="8193024" cy="1060704"/>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Verify cryptographic hashes of critical data, configuration files, and downloaded packages before use. Any mismatch = tampering detected.</a:t>
            </a:r>
            <a:endParaRPr lang="en-US" dirty="0"/>
          </a:p>
        </p:txBody>
      </p:sp>
      <p:sp>
        <p:nvSpPr>
          <p:cNvPr id="30" name="Shape 28"/>
          <p:cNvSpPr/>
          <p:nvPr/>
        </p:nvSpPr>
        <p:spPr>
          <a:xfrm>
            <a:off x="9418320" y="4718304"/>
            <a:ext cx="8595360" cy="2340864"/>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31" name="Shape 29"/>
          <p:cNvSpPr/>
          <p:nvPr/>
        </p:nvSpPr>
        <p:spPr>
          <a:xfrm>
            <a:off x="9418320" y="4718304"/>
            <a:ext cx="8595360" cy="109728"/>
          </a:xfrm>
          <a:prstGeom prst="rect">
            <a:avLst/>
          </a:prstGeom>
          <a:solidFill>
            <a:srgbClr val="E67E22"/>
          </a:solidFill>
          <a:ln w="12700">
            <a:solidFill>
              <a:srgbClr val="E67E22"/>
            </a:solidFill>
            <a:prstDash val="solid"/>
          </a:ln>
        </p:spPr>
      </p:sp>
      <p:sp>
        <p:nvSpPr>
          <p:cNvPr id="32" name="Shape 30"/>
          <p:cNvSpPr/>
          <p:nvPr/>
        </p:nvSpPr>
        <p:spPr>
          <a:xfrm>
            <a:off x="9637776" y="4937760"/>
            <a:ext cx="822960" cy="822960"/>
          </a:xfrm>
          <a:prstGeom prst="ellipse">
            <a:avLst/>
          </a:prstGeom>
          <a:solidFill>
            <a:srgbClr val="E67E22"/>
          </a:solidFill>
          <a:ln w="12700">
            <a:solidFill>
              <a:srgbClr val="E67E22"/>
            </a:solidFill>
            <a:prstDash val="solid"/>
          </a:ln>
        </p:spPr>
      </p:sp>
      <p:sp>
        <p:nvSpPr>
          <p:cNvPr id="33" name="Text 31"/>
          <p:cNvSpPr/>
          <p:nvPr/>
        </p:nvSpPr>
        <p:spPr>
          <a:xfrm>
            <a:off x="9637776" y="4937760"/>
            <a:ext cx="822960" cy="822960"/>
          </a:xfrm>
          <a:prstGeom prst="rect">
            <a:avLst/>
          </a:prstGeom>
          <a:noFill/>
          <a:ln/>
        </p:spPr>
        <p:txBody>
          <a:bodyPr wrap="square" rtlCol="0" anchor="ctr"/>
          <a:lstStyle/>
          <a:p>
            <a:pPr algn="ctr"/>
            <a:r>
              <a:rPr lang="en-US" sz="2800" dirty="0">
                <a:solidFill>
                  <a:srgbClr val="000000"/>
                </a:solidFill>
              </a:rPr>
              <a:t>🚫</a:t>
            </a:r>
            <a:endParaRPr lang="en-US" sz="2800" dirty="0"/>
          </a:p>
        </p:txBody>
      </p:sp>
      <p:sp>
        <p:nvSpPr>
          <p:cNvPr id="34" name="Text 32"/>
          <p:cNvSpPr/>
          <p:nvPr/>
        </p:nvSpPr>
        <p:spPr>
          <a:xfrm>
            <a:off x="10607040" y="4974336"/>
            <a:ext cx="7205472" cy="694944"/>
          </a:xfrm>
          <a:prstGeom prst="rect">
            <a:avLst/>
          </a:prstGeom>
          <a:noFill/>
          <a:ln/>
        </p:spPr>
        <p:txBody>
          <a:bodyPr wrap="square" rtlCol="0" anchor="ctr"/>
          <a:lstStyle/>
          <a:p>
            <a:r>
              <a:rPr lang="en-US" sz="2100" b="1" dirty="0">
                <a:solidFill>
                  <a:srgbClr val="E67E22"/>
                </a:solidFill>
                <a:latin typeface="Arial" pitchFamily="34" charset="0"/>
                <a:ea typeface="Arial" pitchFamily="34" charset="-122"/>
                <a:cs typeface="Arial" pitchFamily="34" charset="-120"/>
              </a:rPr>
              <a:t>Zero Trust for External Components</a:t>
            </a:r>
            <a:endParaRPr lang="en-US" sz="2100" dirty="0"/>
          </a:p>
        </p:txBody>
      </p:sp>
      <p:sp>
        <p:nvSpPr>
          <p:cNvPr id="35" name="Text 33"/>
          <p:cNvSpPr/>
          <p:nvPr/>
        </p:nvSpPr>
        <p:spPr>
          <a:xfrm>
            <a:off x="9637776" y="5907024"/>
            <a:ext cx="8193024" cy="1060704"/>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Never blindly trust third-party or open-source components. Vet all dependencies. Use trusted registries only. Apply Zero Trust principles.</a:t>
            </a:r>
            <a:endParaRPr lang="en-US" dirty="0"/>
          </a:p>
        </p:txBody>
      </p:sp>
      <p:sp>
        <p:nvSpPr>
          <p:cNvPr id="36" name="Shape 34"/>
          <p:cNvSpPr/>
          <p:nvPr/>
        </p:nvSpPr>
        <p:spPr>
          <a:xfrm>
            <a:off x="9418320" y="7278624"/>
            <a:ext cx="8595360" cy="2340864"/>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37" name="Shape 35"/>
          <p:cNvSpPr/>
          <p:nvPr/>
        </p:nvSpPr>
        <p:spPr>
          <a:xfrm>
            <a:off x="9418320" y="7278624"/>
            <a:ext cx="8595360" cy="109728"/>
          </a:xfrm>
          <a:prstGeom prst="rect">
            <a:avLst/>
          </a:prstGeom>
          <a:solidFill>
            <a:srgbClr val="C0392B"/>
          </a:solidFill>
          <a:ln w="12700">
            <a:solidFill>
              <a:srgbClr val="C0392B"/>
            </a:solidFill>
            <a:prstDash val="solid"/>
          </a:ln>
        </p:spPr>
      </p:sp>
      <p:sp>
        <p:nvSpPr>
          <p:cNvPr id="38" name="Shape 36"/>
          <p:cNvSpPr/>
          <p:nvPr/>
        </p:nvSpPr>
        <p:spPr>
          <a:xfrm>
            <a:off x="9637776" y="7498080"/>
            <a:ext cx="822960" cy="822960"/>
          </a:xfrm>
          <a:prstGeom prst="ellipse">
            <a:avLst/>
          </a:prstGeom>
          <a:solidFill>
            <a:srgbClr val="C0392B"/>
          </a:solidFill>
          <a:ln w="12700">
            <a:solidFill>
              <a:srgbClr val="C0392B"/>
            </a:solidFill>
            <a:prstDash val="solid"/>
          </a:ln>
        </p:spPr>
      </p:sp>
      <p:sp>
        <p:nvSpPr>
          <p:cNvPr id="39" name="Text 37"/>
          <p:cNvSpPr/>
          <p:nvPr/>
        </p:nvSpPr>
        <p:spPr>
          <a:xfrm>
            <a:off x="9637776" y="7498080"/>
            <a:ext cx="822960" cy="822960"/>
          </a:xfrm>
          <a:prstGeom prst="rect">
            <a:avLst/>
          </a:prstGeom>
          <a:noFill/>
          <a:ln/>
        </p:spPr>
        <p:txBody>
          <a:bodyPr wrap="square" rtlCol="0" anchor="ctr"/>
          <a:lstStyle/>
          <a:p>
            <a:pPr algn="ctr"/>
            <a:r>
              <a:rPr lang="en-US" sz="2800" dirty="0">
                <a:solidFill>
                  <a:srgbClr val="000000"/>
                </a:solidFill>
              </a:rPr>
              <a:t>📦</a:t>
            </a:r>
            <a:endParaRPr lang="en-US" sz="2800" dirty="0"/>
          </a:p>
        </p:txBody>
      </p:sp>
      <p:sp>
        <p:nvSpPr>
          <p:cNvPr id="40" name="Text 38"/>
          <p:cNvSpPr/>
          <p:nvPr/>
        </p:nvSpPr>
        <p:spPr>
          <a:xfrm>
            <a:off x="10607040" y="7534656"/>
            <a:ext cx="7205472" cy="694944"/>
          </a:xfrm>
          <a:prstGeom prst="rect">
            <a:avLst/>
          </a:prstGeom>
          <a:noFill/>
          <a:ln/>
        </p:spPr>
        <p:txBody>
          <a:bodyPr wrap="square" rtlCol="0" anchor="ctr"/>
          <a:lstStyle/>
          <a:p>
            <a:r>
              <a:rPr lang="en-US" sz="2100" b="1" dirty="0">
                <a:solidFill>
                  <a:srgbClr val="C0392B"/>
                </a:solidFill>
                <a:latin typeface="Arial" pitchFamily="34" charset="0"/>
                <a:ea typeface="Arial" pitchFamily="34" charset="-122"/>
                <a:cs typeface="Arial" pitchFamily="34" charset="-120"/>
              </a:rPr>
              <a:t>Secure Deserialization</a:t>
            </a:r>
            <a:endParaRPr lang="en-US" sz="2100" dirty="0"/>
          </a:p>
        </p:txBody>
      </p:sp>
      <p:sp>
        <p:nvSpPr>
          <p:cNvPr id="41" name="Text 39"/>
          <p:cNvSpPr/>
          <p:nvPr/>
        </p:nvSpPr>
        <p:spPr>
          <a:xfrm>
            <a:off x="9637776" y="8467344"/>
            <a:ext cx="8193024" cy="1060704"/>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Use integrity checks on serialized data. Prefer simple data formats (JSON, XML) over serialized objects. Validate before deserialization.</a:t>
            </a:r>
            <a:endParaRPr lang="en-US" dirty="0"/>
          </a:p>
        </p:txBody>
      </p:sp>
      <p:sp>
        <p:nvSpPr>
          <p:cNvPr id="42" name="Shape 40"/>
          <p:cNvSpPr/>
          <p:nvPr/>
        </p:nvSpPr>
        <p:spPr>
          <a:xfrm>
            <a:off x="0" y="9875520"/>
            <a:ext cx="18288000" cy="411480"/>
          </a:xfrm>
          <a:prstGeom prst="rect">
            <a:avLst/>
          </a:prstGeom>
          <a:solidFill>
            <a:srgbClr val="004D5B"/>
          </a:solidFill>
          <a:ln w="12700">
            <a:solidFill>
              <a:srgbClr val="004D5B"/>
            </a:solidFill>
            <a:prstDash val="solid"/>
          </a:ln>
        </p:spPr>
      </p:sp>
      <p:sp>
        <p:nvSpPr>
          <p:cNvPr id="43" name="Text 41"/>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45" name="Picture 44">
            <a:extLst>
              <a:ext uri="{FF2B5EF4-FFF2-40B4-BE49-F238E27FC236}">
                <a16:creationId xmlns:a16="http://schemas.microsoft.com/office/drawing/2014/main" id="{CA2C004A-F017-3824-119F-C52EE22E0E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92016" y="56388"/>
            <a:ext cx="4435024" cy="162763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737360"/>
          </a:xfrm>
          <a:prstGeom prst="rect">
            <a:avLst/>
          </a:prstGeom>
          <a:solidFill>
            <a:srgbClr val="004D5B"/>
          </a:solidFill>
          <a:ln w="12700">
            <a:solidFill>
              <a:srgbClr val="004D5B"/>
            </a:solidFill>
            <a:prstDash val="solid"/>
          </a:ln>
        </p:spPr>
      </p:sp>
      <p:sp>
        <p:nvSpPr>
          <p:cNvPr id="3" name="Text 1"/>
          <p:cNvSpPr/>
          <p:nvPr/>
        </p:nvSpPr>
        <p:spPr>
          <a:xfrm>
            <a:off x="-201168" y="18288"/>
            <a:ext cx="17007840" cy="1005840"/>
          </a:xfrm>
          <a:prstGeom prst="rect">
            <a:avLst/>
          </a:prstGeom>
          <a:noFill/>
          <a:ln/>
        </p:spPr>
        <p:txBody>
          <a:bodyPr wrap="square" rtlCol="0" anchor="ctr"/>
          <a:lstStyle/>
          <a:p>
            <a:r>
              <a:rPr lang="en-US" sz="3800" b="1" dirty="0">
                <a:solidFill>
                  <a:srgbClr val="FFFFFF"/>
                </a:solidFill>
                <a:latin typeface="Arial Black" pitchFamily="34" charset="0"/>
                <a:ea typeface="Arial Black" pitchFamily="34" charset="-122"/>
                <a:cs typeface="Arial Black" pitchFamily="34" charset="-120"/>
              </a:rPr>
              <a:t>📋  A09:2021: Security Logging &amp; Monitoring Failures</a:t>
            </a:r>
            <a:endParaRPr lang="en-US" sz="3800" dirty="0"/>
          </a:p>
        </p:txBody>
      </p:sp>
      <p:sp>
        <p:nvSpPr>
          <p:cNvPr id="4" name="Text 2"/>
          <p:cNvSpPr/>
          <p:nvPr/>
        </p:nvSpPr>
        <p:spPr>
          <a:xfrm>
            <a:off x="548640" y="1097280"/>
            <a:ext cx="17007840" cy="548640"/>
          </a:xfrm>
          <a:prstGeom prst="rect">
            <a:avLst/>
          </a:prstGeom>
          <a:noFill/>
          <a:ln/>
        </p:spPr>
        <p:txBody>
          <a:bodyPr wrap="square" rtlCol="0" anchor="ctr"/>
          <a:lstStyle/>
          <a:p>
            <a:r>
              <a:rPr lang="en-US" sz="2000" dirty="0">
                <a:solidFill>
                  <a:srgbClr val="00B4C8"/>
                </a:solidFill>
                <a:latin typeface="Calibri" pitchFamily="34" charset="0"/>
                <a:ea typeface="Calibri" pitchFamily="34" charset="-122"/>
                <a:cs typeface="Calibri" pitchFamily="34" charset="-120"/>
              </a:rPr>
              <a:t>Moved from #10 → #9 | Hard to test for | Critical for breach detection &amp; forensics | Expanded scope in 2021</a:t>
            </a:r>
            <a:endParaRPr lang="en-US" sz="2000" dirty="0"/>
          </a:p>
        </p:txBody>
      </p:sp>
      <p:sp>
        <p:nvSpPr>
          <p:cNvPr id="5" name="Shape 3"/>
          <p:cNvSpPr/>
          <p:nvPr/>
        </p:nvSpPr>
        <p:spPr>
          <a:xfrm>
            <a:off x="0" y="1737360"/>
            <a:ext cx="18288000" cy="73152"/>
          </a:xfrm>
          <a:prstGeom prst="rect">
            <a:avLst/>
          </a:prstGeom>
          <a:solidFill>
            <a:srgbClr val="E67E22"/>
          </a:solidFill>
          <a:ln w="12700">
            <a:solidFill>
              <a:srgbClr val="E67E22"/>
            </a:solidFill>
            <a:prstDash val="solid"/>
          </a:ln>
        </p:spPr>
      </p:sp>
      <p:sp>
        <p:nvSpPr>
          <p:cNvPr id="6" name="Shape 4"/>
          <p:cNvSpPr/>
          <p:nvPr/>
        </p:nvSpPr>
        <p:spPr>
          <a:xfrm>
            <a:off x="548640" y="2011680"/>
            <a:ext cx="17190720" cy="1243584"/>
          </a:xfrm>
          <a:prstGeom prst="rect">
            <a:avLst/>
          </a:prstGeom>
          <a:solidFill>
            <a:srgbClr val="FEF0E7"/>
          </a:solidFill>
          <a:ln w="12700">
            <a:solidFill>
              <a:srgbClr val="E67E22"/>
            </a:solidFill>
            <a:prstDash val="solid"/>
          </a:ln>
          <a:effectLst>
            <a:outerShdw blurRad="76200" dist="25400" dir="8100000" algn="bl" rotWithShape="0">
              <a:srgbClr val="000000">
                <a:alpha val="10000"/>
              </a:srgbClr>
            </a:outerShdw>
          </a:effectLst>
        </p:spPr>
      </p:sp>
      <p:sp>
        <p:nvSpPr>
          <p:cNvPr id="7" name="Shape 5"/>
          <p:cNvSpPr/>
          <p:nvPr/>
        </p:nvSpPr>
        <p:spPr>
          <a:xfrm>
            <a:off x="548640" y="2011680"/>
            <a:ext cx="128016" cy="1243584"/>
          </a:xfrm>
          <a:prstGeom prst="rect">
            <a:avLst/>
          </a:prstGeom>
          <a:solidFill>
            <a:srgbClr val="E67E22"/>
          </a:solidFill>
          <a:ln w="12700">
            <a:solidFill>
              <a:srgbClr val="E67E22"/>
            </a:solidFill>
            <a:prstDash val="solid"/>
          </a:ln>
        </p:spPr>
      </p:sp>
      <p:sp>
        <p:nvSpPr>
          <p:cNvPr id="8" name="Text 6"/>
          <p:cNvSpPr/>
          <p:nvPr/>
        </p:nvSpPr>
        <p:spPr>
          <a:xfrm>
            <a:off x="822960" y="2084832"/>
            <a:ext cx="16642080" cy="1097280"/>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Without adequate logging and monitoring, attackers can operate undetected for extended periods. Insufficient logging hampers real-time detection, incident response, and forensic analysis. Average time to detect a breach: 207 days. Proper logging is the last line of defense.</a:t>
            </a:r>
            <a:endParaRPr lang="en-US" sz="2100" dirty="0"/>
          </a:p>
        </p:txBody>
      </p:sp>
      <p:sp>
        <p:nvSpPr>
          <p:cNvPr id="9" name="Shape 7"/>
          <p:cNvSpPr/>
          <p:nvPr/>
        </p:nvSpPr>
        <p:spPr>
          <a:xfrm>
            <a:off x="548640" y="3474720"/>
            <a:ext cx="3657600" cy="2103120"/>
          </a:xfrm>
          <a:prstGeom prst="rect">
            <a:avLst/>
          </a:prstGeom>
          <a:solidFill>
            <a:srgbClr val="C0392B"/>
          </a:solidFill>
          <a:ln w="12700">
            <a:solidFill>
              <a:srgbClr val="C0392B"/>
            </a:solidFill>
            <a:prstDash val="solid"/>
          </a:ln>
          <a:effectLst>
            <a:outerShdw blurRad="76200" dist="25400" dir="8100000" algn="bl" rotWithShape="0">
              <a:srgbClr val="000000">
                <a:alpha val="10000"/>
              </a:srgbClr>
            </a:outerShdw>
          </a:effectLst>
        </p:spPr>
      </p:sp>
      <p:sp>
        <p:nvSpPr>
          <p:cNvPr id="10" name="Text 8"/>
          <p:cNvSpPr/>
          <p:nvPr/>
        </p:nvSpPr>
        <p:spPr>
          <a:xfrm>
            <a:off x="548640" y="3566160"/>
            <a:ext cx="3657600" cy="1156716"/>
          </a:xfrm>
          <a:prstGeom prst="rect">
            <a:avLst/>
          </a:prstGeom>
          <a:noFill/>
          <a:ln/>
        </p:spPr>
        <p:txBody>
          <a:bodyPr wrap="square" rtlCol="0" anchor="ctr"/>
          <a:lstStyle/>
          <a:p>
            <a:pPr algn="ctr"/>
            <a:r>
              <a:rPr lang="en-US" sz="5600" b="1" dirty="0">
                <a:solidFill>
                  <a:srgbClr val="FFFFFF"/>
                </a:solidFill>
                <a:latin typeface="Arial Black" pitchFamily="34" charset="0"/>
                <a:ea typeface="Arial Black" pitchFamily="34" charset="-122"/>
                <a:cs typeface="Arial Black" pitchFamily="34" charset="-120"/>
              </a:rPr>
              <a:t>207</a:t>
            </a:r>
            <a:endParaRPr lang="en-US" sz="5600" dirty="0"/>
          </a:p>
        </p:txBody>
      </p:sp>
      <p:sp>
        <p:nvSpPr>
          <p:cNvPr id="11" name="Text 9"/>
          <p:cNvSpPr/>
          <p:nvPr/>
        </p:nvSpPr>
        <p:spPr>
          <a:xfrm>
            <a:off x="548640" y="4568343"/>
            <a:ext cx="3657600" cy="883310"/>
          </a:xfrm>
          <a:prstGeom prst="rect">
            <a:avLst/>
          </a:prstGeom>
          <a:noFill/>
          <a:ln/>
        </p:spPr>
        <p:txBody>
          <a:bodyPr wrap="square" rtlCol="0" anchor="t"/>
          <a:lstStyle/>
          <a:p>
            <a:pPr algn="ctr"/>
            <a:r>
              <a:rPr lang="en-US" sz="2000" dirty="0">
                <a:solidFill>
                  <a:srgbClr val="FFFFFF"/>
                </a:solidFill>
                <a:latin typeface="Calibri" pitchFamily="34" charset="0"/>
                <a:ea typeface="Calibri" pitchFamily="34" charset="-122"/>
                <a:cs typeface="Calibri" pitchFamily="34" charset="-120"/>
              </a:rPr>
              <a:t>Average days</a:t>
            </a:r>
            <a:endParaRPr lang="en-US" sz="2000" dirty="0"/>
          </a:p>
          <a:p>
            <a:pPr algn="ctr"/>
            <a:r>
              <a:rPr lang="en-US" sz="2000" dirty="0">
                <a:solidFill>
                  <a:srgbClr val="FFFFFF"/>
                </a:solidFill>
                <a:latin typeface="Calibri" pitchFamily="34" charset="0"/>
                <a:ea typeface="Calibri" pitchFamily="34" charset="-122"/>
                <a:cs typeface="Calibri" pitchFamily="34" charset="-120"/>
              </a:rPr>
              <a:t>to detect a breach</a:t>
            </a:r>
            <a:endParaRPr lang="en-US" sz="2000" dirty="0"/>
          </a:p>
          <a:p>
            <a:pPr algn="ctr"/>
            <a:r>
              <a:rPr lang="en-US" sz="2000" dirty="0">
                <a:solidFill>
                  <a:srgbClr val="FFFFFF"/>
                </a:solidFill>
                <a:latin typeface="Calibri" pitchFamily="34" charset="0"/>
                <a:ea typeface="Calibri" pitchFamily="34" charset="-122"/>
                <a:cs typeface="Calibri" pitchFamily="34" charset="-120"/>
              </a:rPr>
              <a:t>(IBM 2023 Report)</a:t>
            </a:r>
            <a:endParaRPr lang="en-US" sz="2000" dirty="0"/>
          </a:p>
        </p:txBody>
      </p:sp>
      <p:sp>
        <p:nvSpPr>
          <p:cNvPr id="12" name="Shape 10"/>
          <p:cNvSpPr/>
          <p:nvPr/>
        </p:nvSpPr>
        <p:spPr>
          <a:xfrm>
            <a:off x="4425696" y="3474720"/>
            <a:ext cx="3657600" cy="2103120"/>
          </a:xfrm>
          <a:prstGeom prst="rect">
            <a:avLst/>
          </a:prstGeom>
          <a:solidFill>
            <a:srgbClr val="E67E22"/>
          </a:solidFill>
          <a:ln w="12700">
            <a:solidFill>
              <a:srgbClr val="E67E22"/>
            </a:solidFill>
            <a:prstDash val="solid"/>
          </a:ln>
          <a:effectLst>
            <a:outerShdw blurRad="76200" dist="25400" dir="8100000" algn="bl" rotWithShape="0">
              <a:srgbClr val="000000">
                <a:alpha val="10000"/>
              </a:srgbClr>
            </a:outerShdw>
          </a:effectLst>
        </p:spPr>
      </p:sp>
      <p:sp>
        <p:nvSpPr>
          <p:cNvPr id="13" name="Text 11"/>
          <p:cNvSpPr/>
          <p:nvPr/>
        </p:nvSpPr>
        <p:spPr>
          <a:xfrm>
            <a:off x="4425696" y="3566160"/>
            <a:ext cx="3657600" cy="1156716"/>
          </a:xfrm>
          <a:prstGeom prst="rect">
            <a:avLst/>
          </a:prstGeom>
          <a:noFill/>
          <a:ln/>
        </p:spPr>
        <p:txBody>
          <a:bodyPr wrap="square" rtlCol="0" anchor="ctr"/>
          <a:lstStyle/>
          <a:p>
            <a:pPr algn="ctr"/>
            <a:r>
              <a:rPr lang="en-US" sz="5600" b="1" dirty="0">
                <a:solidFill>
                  <a:srgbClr val="FFFFFF"/>
                </a:solidFill>
                <a:latin typeface="Arial Black" pitchFamily="34" charset="0"/>
                <a:ea typeface="Arial Black" pitchFamily="34" charset="-122"/>
                <a:cs typeface="Arial Black" pitchFamily="34" charset="-120"/>
              </a:rPr>
              <a:t>280</a:t>
            </a:r>
            <a:endParaRPr lang="en-US" sz="5600" dirty="0"/>
          </a:p>
        </p:txBody>
      </p:sp>
      <p:sp>
        <p:nvSpPr>
          <p:cNvPr id="14" name="Text 12"/>
          <p:cNvSpPr/>
          <p:nvPr/>
        </p:nvSpPr>
        <p:spPr>
          <a:xfrm>
            <a:off x="4425696" y="4568343"/>
            <a:ext cx="3657600" cy="883310"/>
          </a:xfrm>
          <a:prstGeom prst="rect">
            <a:avLst/>
          </a:prstGeom>
          <a:noFill/>
          <a:ln/>
        </p:spPr>
        <p:txBody>
          <a:bodyPr wrap="square" rtlCol="0" anchor="t"/>
          <a:lstStyle/>
          <a:p>
            <a:pPr algn="ctr"/>
            <a:r>
              <a:rPr lang="en-US" sz="2000" dirty="0">
                <a:solidFill>
                  <a:srgbClr val="FFFFFF"/>
                </a:solidFill>
                <a:latin typeface="Calibri" pitchFamily="34" charset="0"/>
                <a:ea typeface="Calibri" pitchFamily="34" charset="-122"/>
                <a:cs typeface="Calibri" pitchFamily="34" charset="-120"/>
              </a:rPr>
              <a:t>Days avg to</a:t>
            </a:r>
            <a:endParaRPr lang="en-US" sz="2000" dirty="0"/>
          </a:p>
          <a:p>
            <a:pPr algn="ctr"/>
            <a:r>
              <a:rPr lang="en-US" sz="2000" dirty="0">
                <a:solidFill>
                  <a:srgbClr val="FFFFFF"/>
                </a:solidFill>
                <a:latin typeface="Calibri" pitchFamily="34" charset="0"/>
                <a:ea typeface="Calibri" pitchFamily="34" charset="-122"/>
                <a:cs typeface="Calibri" pitchFamily="34" charset="-120"/>
              </a:rPr>
              <a:t>fully contain</a:t>
            </a:r>
            <a:endParaRPr lang="en-US" sz="2000" dirty="0"/>
          </a:p>
          <a:p>
            <a:pPr algn="ctr"/>
            <a:r>
              <a:rPr lang="en-US" sz="2000" dirty="0">
                <a:solidFill>
                  <a:srgbClr val="FFFFFF"/>
                </a:solidFill>
                <a:latin typeface="Calibri" pitchFamily="34" charset="0"/>
                <a:ea typeface="Calibri" pitchFamily="34" charset="-122"/>
                <a:cs typeface="Calibri" pitchFamily="34" charset="-120"/>
              </a:rPr>
              <a:t>a data breach</a:t>
            </a:r>
            <a:endParaRPr lang="en-US" sz="2000" dirty="0"/>
          </a:p>
        </p:txBody>
      </p:sp>
      <p:sp>
        <p:nvSpPr>
          <p:cNvPr id="15" name="Shape 13"/>
          <p:cNvSpPr/>
          <p:nvPr/>
        </p:nvSpPr>
        <p:spPr>
          <a:xfrm>
            <a:off x="8302752" y="3474720"/>
            <a:ext cx="3657600" cy="2103120"/>
          </a:xfrm>
          <a:prstGeom prst="rect">
            <a:avLst/>
          </a:prstGeom>
          <a:solidFill>
            <a:srgbClr val="004D5B"/>
          </a:solidFill>
          <a:ln w="12700">
            <a:solidFill>
              <a:srgbClr val="004D5B"/>
            </a:solidFill>
            <a:prstDash val="solid"/>
          </a:ln>
          <a:effectLst>
            <a:outerShdw blurRad="76200" dist="25400" dir="8100000" algn="bl" rotWithShape="0">
              <a:srgbClr val="000000">
                <a:alpha val="10000"/>
              </a:srgbClr>
            </a:outerShdw>
          </a:effectLst>
        </p:spPr>
      </p:sp>
      <p:sp>
        <p:nvSpPr>
          <p:cNvPr id="16" name="Text 14"/>
          <p:cNvSpPr/>
          <p:nvPr/>
        </p:nvSpPr>
        <p:spPr>
          <a:xfrm>
            <a:off x="8302752" y="3566160"/>
            <a:ext cx="3657600" cy="1156716"/>
          </a:xfrm>
          <a:prstGeom prst="rect">
            <a:avLst/>
          </a:prstGeom>
          <a:noFill/>
          <a:ln/>
        </p:spPr>
        <p:txBody>
          <a:bodyPr wrap="square" rtlCol="0" anchor="ctr"/>
          <a:lstStyle/>
          <a:p>
            <a:pPr algn="ctr"/>
            <a:r>
              <a:rPr lang="en-US" sz="5600" b="1" dirty="0">
                <a:solidFill>
                  <a:srgbClr val="FFFFFF"/>
                </a:solidFill>
                <a:latin typeface="Arial Black" pitchFamily="34" charset="0"/>
                <a:ea typeface="Arial Black" pitchFamily="34" charset="-122"/>
                <a:cs typeface="Arial Black" pitchFamily="34" charset="-120"/>
              </a:rPr>
              <a:t>$4.45M</a:t>
            </a:r>
            <a:endParaRPr lang="en-US" sz="5600" dirty="0"/>
          </a:p>
        </p:txBody>
      </p:sp>
      <p:sp>
        <p:nvSpPr>
          <p:cNvPr id="17" name="Text 15"/>
          <p:cNvSpPr/>
          <p:nvPr/>
        </p:nvSpPr>
        <p:spPr>
          <a:xfrm>
            <a:off x="8302752" y="4568343"/>
            <a:ext cx="3657600" cy="883310"/>
          </a:xfrm>
          <a:prstGeom prst="rect">
            <a:avLst/>
          </a:prstGeom>
          <a:noFill/>
          <a:ln/>
        </p:spPr>
        <p:txBody>
          <a:bodyPr wrap="square" rtlCol="0" anchor="t"/>
          <a:lstStyle/>
          <a:p>
            <a:pPr algn="ctr"/>
            <a:r>
              <a:rPr lang="en-US" sz="2000" dirty="0">
                <a:solidFill>
                  <a:srgbClr val="FFFFFF"/>
                </a:solidFill>
                <a:latin typeface="Calibri" pitchFamily="34" charset="0"/>
                <a:ea typeface="Calibri" pitchFamily="34" charset="-122"/>
                <a:cs typeface="Calibri" pitchFamily="34" charset="-120"/>
              </a:rPr>
              <a:t>Average cost of</a:t>
            </a:r>
            <a:endParaRPr lang="en-US" sz="2000" dirty="0"/>
          </a:p>
          <a:p>
            <a:pPr algn="ctr"/>
            <a:r>
              <a:rPr lang="en-US" sz="2000" dirty="0">
                <a:solidFill>
                  <a:srgbClr val="FFFFFF"/>
                </a:solidFill>
                <a:latin typeface="Calibri" pitchFamily="34" charset="0"/>
                <a:ea typeface="Calibri" pitchFamily="34" charset="-122"/>
                <a:cs typeface="Calibri" pitchFamily="34" charset="-120"/>
              </a:rPr>
              <a:t>a data breach</a:t>
            </a:r>
            <a:endParaRPr lang="en-US" sz="2000" dirty="0"/>
          </a:p>
          <a:p>
            <a:pPr algn="ctr"/>
            <a:r>
              <a:rPr lang="en-US" sz="2000" dirty="0">
                <a:solidFill>
                  <a:srgbClr val="FFFFFF"/>
                </a:solidFill>
                <a:latin typeface="Calibri" pitchFamily="34" charset="0"/>
                <a:ea typeface="Calibri" pitchFamily="34" charset="-122"/>
                <a:cs typeface="Calibri" pitchFamily="34" charset="-120"/>
              </a:rPr>
              <a:t>(IBM 2023 Report)</a:t>
            </a:r>
            <a:endParaRPr lang="en-US" sz="2000" dirty="0"/>
          </a:p>
        </p:txBody>
      </p:sp>
      <p:sp>
        <p:nvSpPr>
          <p:cNvPr id="18" name="Shape 16"/>
          <p:cNvSpPr/>
          <p:nvPr/>
        </p:nvSpPr>
        <p:spPr>
          <a:xfrm>
            <a:off x="12252960" y="3474720"/>
            <a:ext cx="5669280" cy="2103120"/>
          </a:xfrm>
          <a:prstGeom prst="rect">
            <a:avLst/>
          </a:prstGeom>
          <a:solidFill>
            <a:srgbClr val="FFF5F5"/>
          </a:solidFill>
          <a:ln w="12700">
            <a:solidFill>
              <a:srgbClr val="C0392B"/>
            </a:solidFill>
            <a:prstDash val="solid"/>
          </a:ln>
          <a:effectLst>
            <a:outerShdw blurRad="76200" dist="25400" dir="8100000" algn="bl" rotWithShape="0">
              <a:srgbClr val="000000">
                <a:alpha val="10000"/>
              </a:srgbClr>
            </a:outerShdw>
          </a:effectLst>
        </p:spPr>
      </p:sp>
      <p:sp>
        <p:nvSpPr>
          <p:cNvPr id="19" name="Text 17"/>
          <p:cNvSpPr/>
          <p:nvPr/>
        </p:nvSpPr>
        <p:spPr>
          <a:xfrm>
            <a:off x="12435840" y="3566160"/>
            <a:ext cx="5303520" cy="877824"/>
          </a:xfrm>
          <a:prstGeom prst="rect">
            <a:avLst/>
          </a:prstGeom>
          <a:noFill/>
          <a:ln/>
        </p:spPr>
        <p:txBody>
          <a:bodyPr wrap="square" rtlCol="0" anchor="ctr"/>
          <a:lstStyle/>
          <a:p>
            <a:r>
              <a:rPr lang="en-US" sz="1900" b="1" dirty="0">
                <a:solidFill>
                  <a:srgbClr val="C0392B"/>
                </a:solidFill>
                <a:latin typeface="Arial" pitchFamily="34" charset="0"/>
                <a:ea typeface="Arial" pitchFamily="34" charset="-122"/>
                <a:cs typeface="Arial" pitchFamily="34" charset="-120"/>
              </a:rPr>
              <a:t>🏛️  US Federal Court</a:t>
            </a:r>
            <a:endParaRPr lang="en-US" sz="1900" dirty="0"/>
          </a:p>
          <a:p>
            <a:r>
              <a:rPr lang="en-US" sz="1900" b="1" dirty="0">
                <a:solidFill>
                  <a:srgbClr val="C0392B"/>
                </a:solidFill>
                <a:latin typeface="Arial" pitchFamily="34" charset="0"/>
                <a:ea typeface="Arial" pitchFamily="34" charset="-122"/>
                <a:cs typeface="Arial" pitchFamily="34" charset="-120"/>
              </a:rPr>
              <a:t>CM/ECF Breach (2025)</a:t>
            </a:r>
            <a:endParaRPr lang="en-US" sz="1900" dirty="0"/>
          </a:p>
        </p:txBody>
      </p:sp>
      <p:sp>
        <p:nvSpPr>
          <p:cNvPr id="20" name="Text 18"/>
          <p:cNvSpPr/>
          <p:nvPr/>
        </p:nvSpPr>
        <p:spPr>
          <a:xfrm>
            <a:off x="12435840" y="4480560"/>
            <a:ext cx="5303520" cy="1024128"/>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12 districts compromised.</a:t>
            </a:r>
            <a:endParaRPr lang="en-US" sz="1700" dirty="0"/>
          </a:p>
          <a:p>
            <a:r>
              <a:rPr lang="en-US" sz="1700" dirty="0">
                <a:solidFill>
                  <a:srgbClr val="2C3E50"/>
                </a:solidFill>
                <a:latin typeface="Calibri" pitchFamily="34" charset="0"/>
                <a:ea typeface="Calibri" pitchFamily="34" charset="-122"/>
                <a:cs typeface="Calibri" pitchFamily="34" charset="-120"/>
              </a:rPr>
              <a:t>Sealed court docs exposed.</a:t>
            </a:r>
            <a:endParaRPr lang="en-US" sz="1700" dirty="0"/>
          </a:p>
          <a:p>
            <a:r>
              <a:rPr lang="en-US" sz="1700" dirty="0">
                <a:solidFill>
                  <a:srgbClr val="2C3E50"/>
                </a:solidFill>
                <a:latin typeface="Calibri" pitchFamily="34" charset="0"/>
                <a:ea typeface="Calibri" pitchFamily="34" charset="-122"/>
                <a:cs typeface="Calibri" pitchFamily="34" charset="-120"/>
              </a:rPr>
              <a:t>Exploited undetected since 2020.</a:t>
            </a:r>
            <a:endParaRPr lang="en-US" sz="1700" dirty="0"/>
          </a:p>
        </p:txBody>
      </p:sp>
      <p:sp>
        <p:nvSpPr>
          <p:cNvPr id="21" name="Text 19"/>
          <p:cNvSpPr/>
          <p:nvPr/>
        </p:nvSpPr>
        <p:spPr>
          <a:xfrm>
            <a:off x="548640" y="5760720"/>
            <a:ext cx="8229600" cy="548640"/>
          </a:xfrm>
          <a:prstGeom prst="rect">
            <a:avLst/>
          </a:prstGeom>
          <a:noFill/>
          <a:ln/>
        </p:spPr>
        <p:txBody>
          <a:bodyPr wrap="square" rtlCol="0" anchor="ctr"/>
          <a:lstStyle/>
          <a:p>
            <a:r>
              <a:rPr lang="en-US" sz="2400" b="1" dirty="0">
                <a:solidFill>
                  <a:srgbClr val="004D5B"/>
                </a:solidFill>
                <a:latin typeface="Arial" pitchFamily="34" charset="0"/>
                <a:ea typeface="Arial" pitchFamily="34" charset="-122"/>
                <a:cs typeface="Arial" pitchFamily="34" charset="-120"/>
              </a:rPr>
              <a:t>Common Logging Failures</a:t>
            </a:r>
            <a:endParaRPr lang="en-US" sz="2400" dirty="0"/>
          </a:p>
        </p:txBody>
      </p:sp>
      <p:sp>
        <p:nvSpPr>
          <p:cNvPr id="22" name="Text 20"/>
          <p:cNvSpPr/>
          <p:nvPr/>
        </p:nvSpPr>
        <p:spPr>
          <a:xfrm>
            <a:off x="9509760" y="5760720"/>
            <a:ext cx="8229600" cy="548640"/>
          </a:xfrm>
          <a:prstGeom prst="rect">
            <a:avLst/>
          </a:prstGeom>
          <a:noFill/>
          <a:ln/>
        </p:spPr>
        <p:txBody>
          <a:bodyPr wrap="square" rtlCol="0" anchor="ctr"/>
          <a:lstStyle/>
          <a:p>
            <a:r>
              <a:rPr lang="en-US" sz="2400" b="1" dirty="0">
                <a:solidFill>
                  <a:srgbClr val="27AE60"/>
                </a:solidFill>
                <a:latin typeface="Arial" pitchFamily="34" charset="0"/>
                <a:ea typeface="Arial" pitchFamily="34" charset="-122"/>
                <a:cs typeface="Arial" pitchFamily="34" charset="-120"/>
              </a:rPr>
              <a:t>Best Practices</a:t>
            </a:r>
            <a:endParaRPr lang="en-US" sz="2400" dirty="0"/>
          </a:p>
        </p:txBody>
      </p:sp>
      <p:sp>
        <p:nvSpPr>
          <p:cNvPr id="23" name="Shape 21"/>
          <p:cNvSpPr/>
          <p:nvPr/>
        </p:nvSpPr>
        <p:spPr>
          <a:xfrm>
            <a:off x="548640" y="6400800"/>
            <a:ext cx="8412480" cy="548640"/>
          </a:xfrm>
          <a:prstGeom prst="rect">
            <a:avLst/>
          </a:prstGeom>
          <a:solidFill>
            <a:srgbClr val="FFF5F5"/>
          </a:solidFill>
          <a:ln w="12700">
            <a:solidFill>
              <a:srgbClr val="F5C6C6"/>
            </a:solidFill>
            <a:prstDash val="solid"/>
          </a:ln>
        </p:spPr>
      </p:sp>
      <p:sp>
        <p:nvSpPr>
          <p:cNvPr id="24" name="Text 22"/>
          <p:cNvSpPr/>
          <p:nvPr/>
        </p:nvSpPr>
        <p:spPr>
          <a:xfrm>
            <a:off x="731520" y="6455664"/>
            <a:ext cx="8046720" cy="438912"/>
          </a:xfrm>
          <a:prstGeom prst="rect">
            <a:avLst/>
          </a:prstGeom>
          <a:noFill/>
          <a:ln/>
        </p:spPr>
        <p:txBody>
          <a:bodyPr wrap="square" rtlCol="0" anchor="ctr"/>
          <a:lstStyle/>
          <a:p>
            <a:r>
              <a:rPr lang="en-US" sz="1700" dirty="0">
                <a:solidFill>
                  <a:srgbClr val="7B241C"/>
                </a:solidFill>
                <a:latin typeface="Calibri" pitchFamily="34" charset="0"/>
                <a:ea typeface="Calibri" pitchFamily="34" charset="-122"/>
                <a:cs typeface="Calibri" pitchFamily="34" charset="-120"/>
              </a:rPr>
              <a:t>✕  Logins &amp; failed attempts not logged</a:t>
            </a:r>
            <a:endParaRPr lang="en-US" sz="1700" dirty="0"/>
          </a:p>
        </p:txBody>
      </p:sp>
      <p:sp>
        <p:nvSpPr>
          <p:cNvPr id="25" name="Shape 23"/>
          <p:cNvSpPr/>
          <p:nvPr/>
        </p:nvSpPr>
        <p:spPr>
          <a:xfrm>
            <a:off x="548640" y="7022592"/>
            <a:ext cx="8412480" cy="548640"/>
          </a:xfrm>
          <a:prstGeom prst="rect">
            <a:avLst/>
          </a:prstGeom>
          <a:solidFill>
            <a:srgbClr val="FFF5F5"/>
          </a:solidFill>
          <a:ln w="12700">
            <a:solidFill>
              <a:srgbClr val="F5C6C6"/>
            </a:solidFill>
            <a:prstDash val="solid"/>
          </a:ln>
        </p:spPr>
      </p:sp>
      <p:sp>
        <p:nvSpPr>
          <p:cNvPr id="26" name="Text 24"/>
          <p:cNvSpPr/>
          <p:nvPr/>
        </p:nvSpPr>
        <p:spPr>
          <a:xfrm>
            <a:off x="731520" y="7077456"/>
            <a:ext cx="8046720" cy="438912"/>
          </a:xfrm>
          <a:prstGeom prst="rect">
            <a:avLst/>
          </a:prstGeom>
          <a:noFill/>
          <a:ln/>
        </p:spPr>
        <p:txBody>
          <a:bodyPr wrap="square" rtlCol="0" anchor="ctr"/>
          <a:lstStyle/>
          <a:p>
            <a:r>
              <a:rPr lang="en-US" sz="1700" dirty="0">
                <a:solidFill>
                  <a:srgbClr val="7B241C"/>
                </a:solidFill>
                <a:latin typeface="Calibri" pitchFamily="34" charset="0"/>
                <a:ea typeface="Calibri" pitchFamily="34" charset="-122"/>
                <a:cs typeface="Calibri" pitchFamily="34" charset="-120"/>
              </a:rPr>
              <a:t>✕  Poor log quality — missing context</a:t>
            </a:r>
            <a:endParaRPr lang="en-US" sz="1700" dirty="0"/>
          </a:p>
        </p:txBody>
      </p:sp>
      <p:sp>
        <p:nvSpPr>
          <p:cNvPr id="27" name="Shape 25"/>
          <p:cNvSpPr/>
          <p:nvPr/>
        </p:nvSpPr>
        <p:spPr>
          <a:xfrm>
            <a:off x="548640" y="7644384"/>
            <a:ext cx="8412480" cy="548640"/>
          </a:xfrm>
          <a:prstGeom prst="rect">
            <a:avLst/>
          </a:prstGeom>
          <a:solidFill>
            <a:srgbClr val="FFF5F5"/>
          </a:solidFill>
          <a:ln w="12700">
            <a:solidFill>
              <a:srgbClr val="F5C6C6"/>
            </a:solidFill>
            <a:prstDash val="solid"/>
          </a:ln>
        </p:spPr>
      </p:sp>
      <p:sp>
        <p:nvSpPr>
          <p:cNvPr id="28" name="Text 26"/>
          <p:cNvSpPr/>
          <p:nvPr/>
        </p:nvSpPr>
        <p:spPr>
          <a:xfrm>
            <a:off x="731520" y="7699248"/>
            <a:ext cx="8046720" cy="438912"/>
          </a:xfrm>
          <a:prstGeom prst="rect">
            <a:avLst/>
          </a:prstGeom>
          <a:noFill/>
          <a:ln/>
        </p:spPr>
        <p:txBody>
          <a:bodyPr wrap="square" rtlCol="0" anchor="ctr"/>
          <a:lstStyle/>
          <a:p>
            <a:r>
              <a:rPr lang="en-US" sz="1700" dirty="0">
                <a:solidFill>
                  <a:srgbClr val="7B241C"/>
                </a:solidFill>
                <a:latin typeface="Calibri" pitchFamily="34" charset="0"/>
                <a:ea typeface="Calibri" pitchFamily="34" charset="-122"/>
                <a:cs typeface="Calibri" pitchFamily="34" charset="-120"/>
              </a:rPr>
              <a:t>✕  Logs stored only locally (risk of tampering)</a:t>
            </a:r>
            <a:endParaRPr lang="en-US" sz="1700" dirty="0"/>
          </a:p>
        </p:txBody>
      </p:sp>
      <p:sp>
        <p:nvSpPr>
          <p:cNvPr id="29" name="Shape 27"/>
          <p:cNvSpPr/>
          <p:nvPr/>
        </p:nvSpPr>
        <p:spPr>
          <a:xfrm>
            <a:off x="548640" y="8266176"/>
            <a:ext cx="8412480" cy="548640"/>
          </a:xfrm>
          <a:prstGeom prst="rect">
            <a:avLst/>
          </a:prstGeom>
          <a:solidFill>
            <a:srgbClr val="FFF5F5"/>
          </a:solidFill>
          <a:ln w="12700">
            <a:solidFill>
              <a:srgbClr val="F5C6C6"/>
            </a:solidFill>
            <a:prstDash val="solid"/>
          </a:ln>
        </p:spPr>
      </p:sp>
      <p:sp>
        <p:nvSpPr>
          <p:cNvPr id="30" name="Text 28"/>
          <p:cNvSpPr/>
          <p:nvPr/>
        </p:nvSpPr>
        <p:spPr>
          <a:xfrm>
            <a:off x="731520" y="8321040"/>
            <a:ext cx="8046720" cy="438912"/>
          </a:xfrm>
          <a:prstGeom prst="rect">
            <a:avLst/>
          </a:prstGeom>
          <a:noFill/>
          <a:ln/>
        </p:spPr>
        <p:txBody>
          <a:bodyPr wrap="square" rtlCol="0" anchor="ctr"/>
          <a:lstStyle/>
          <a:p>
            <a:r>
              <a:rPr lang="en-US" sz="1700" dirty="0">
                <a:solidFill>
                  <a:srgbClr val="7B241C"/>
                </a:solidFill>
                <a:latin typeface="Calibri" pitchFamily="34" charset="0"/>
                <a:ea typeface="Calibri" pitchFamily="34" charset="-122"/>
                <a:cs typeface="Calibri" pitchFamily="34" charset="-120"/>
              </a:rPr>
              <a:t>✕  No real-time alerting thresholds</a:t>
            </a:r>
            <a:endParaRPr lang="en-US" sz="1700" dirty="0"/>
          </a:p>
        </p:txBody>
      </p:sp>
      <p:sp>
        <p:nvSpPr>
          <p:cNvPr id="31" name="Shape 29"/>
          <p:cNvSpPr/>
          <p:nvPr/>
        </p:nvSpPr>
        <p:spPr>
          <a:xfrm>
            <a:off x="548640" y="8887968"/>
            <a:ext cx="8412480" cy="548640"/>
          </a:xfrm>
          <a:prstGeom prst="rect">
            <a:avLst/>
          </a:prstGeom>
          <a:solidFill>
            <a:srgbClr val="FFF5F5"/>
          </a:solidFill>
          <a:ln w="12700">
            <a:solidFill>
              <a:srgbClr val="F5C6C6"/>
            </a:solidFill>
            <a:prstDash val="solid"/>
          </a:ln>
        </p:spPr>
      </p:sp>
      <p:sp>
        <p:nvSpPr>
          <p:cNvPr id="32" name="Text 30"/>
          <p:cNvSpPr/>
          <p:nvPr/>
        </p:nvSpPr>
        <p:spPr>
          <a:xfrm>
            <a:off x="731520" y="8942832"/>
            <a:ext cx="8046720" cy="438912"/>
          </a:xfrm>
          <a:prstGeom prst="rect">
            <a:avLst/>
          </a:prstGeom>
          <a:noFill/>
          <a:ln/>
        </p:spPr>
        <p:txBody>
          <a:bodyPr wrap="square" rtlCol="0" anchor="ctr"/>
          <a:lstStyle/>
          <a:p>
            <a:r>
              <a:rPr lang="en-US" sz="1700" dirty="0">
                <a:solidFill>
                  <a:srgbClr val="7B241C"/>
                </a:solidFill>
                <a:latin typeface="Calibri" pitchFamily="34" charset="0"/>
                <a:ea typeface="Calibri" pitchFamily="34" charset="-122"/>
                <a:cs typeface="Calibri" pitchFamily="34" charset="-120"/>
              </a:rPr>
              <a:t>✕  Insufficient log retention period</a:t>
            </a:r>
            <a:endParaRPr lang="en-US" sz="1700" dirty="0"/>
          </a:p>
        </p:txBody>
      </p:sp>
      <p:sp>
        <p:nvSpPr>
          <p:cNvPr id="33" name="Shape 31"/>
          <p:cNvSpPr/>
          <p:nvPr/>
        </p:nvSpPr>
        <p:spPr>
          <a:xfrm>
            <a:off x="548640" y="9509760"/>
            <a:ext cx="8412480" cy="548640"/>
          </a:xfrm>
          <a:prstGeom prst="rect">
            <a:avLst/>
          </a:prstGeom>
          <a:solidFill>
            <a:srgbClr val="FFF5F5"/>
          </a:solidFill>
          <a:ln w="12700">
            <a:solidFill>
              <a:srgbClr val="F5C6C6"/>
            </a:solidFill>
            <a:prstDash val="solid"/>
          </a:ln>
        </p:spPr>
      </p:sp>
      <p:sp>
        <p:nvSpPr>
          <p:cNvPr id="34" name="Text 32"/>
          <p:cNvSpPr/>
          <p:nvPr/>
        </p:nvSpPr>
        <p:spPr>
          <a:xfrm>
            <a:off x="731520" y="9564624"/>
            <a:ext cx="8046720" cy="438912"/>
          </a:xfrm>
          <a:prstGeom prst="rect">
            <a:avLst/>
          </a:prstGeom>
          <a:noFill/>
          <a:ln/>
        </p:spPr>
        <p:txBody>
          <a:bodyPr wrap="square" rtlCol="0" anchor="ctr"/>
          <a:lstStyle/>
          <a:p>
            <a:r>
              <a:rPr lang="en-US" sz="1700" dirty="0">
                <a:solidFill>
                  <a:srgbClr val="7B241C"/>
                </a:solidFill>
                <a:latin typeface="Calibri" pitchFamily="34" charset="0"/>
                <a:ea typeface="Calibri" pitchFamily="34" charset="-122"/>
                <a:cs typeface="Calibri" pitchFamily="34" charset="-120"/>
              </a:rPr>
              <a:t>✕  Logs not actively monitored or analyzed</a:t>
            </a:r>
            <a:endParaRPr lang="en-US" sz="1700" dirty="0"/>
          </a:p>
        </p:txBody>
      </p:sp>
      <p:sp>
        <p:nvSpPr>
          <p:cNvPr id="35" name="Shape 33"/>
          <p:cNvSpPr/>
          <p:nvPr/>
        </p:nvSpPr>
        <p:spPr>
          <a:xfrm>
            <a:off x="9509760" y="6400800"/>
            <a:ext cx="8412480" cy="548640"/>
          </a:xfrm>
          <a:prstGeom prst="rect">
            <a:avLst/>
          </a:prstGeom>
          <a:solidFill>
            <a:srgbClr val="EAFAF1"/>
          </a:solidFill>
          <a:ln w="12700">
            <a:solidFill>
              <a:srgbClr val="A9DFBF"/>
            </a:solidFill>
            <a:prstDash val="solid"/>
          </a:ln>
        </p:spPr>
      </p:sp>
      <p:sp>
        <p:nvSpPr>
          <p:cNvPr id="36" name="Text 34"/>
          <p:cNvSpPr/>
          <p:nvPr/>
        </p:nvSpPr>
        <p:spPr>
          <a:xfrm>
            <a:off x="9692640" y="6455664"/>
            <a:ext cx="8046720" cy="438912"/>
          </a:xfrm>
          <a:prstGeom prst="rect">
            <a:avLst/>
          </a:prstGeom>
          <a:noFill/>
          <a:ln/>
        </p:spPr>
        <p:txBody>
          <a:bodyPr wrap="square" rtlCol="0" anchor="ctr"/>
          <a:lstStyle/>
          <a:p>
            <a:r>
              <a:rPr lang="en-US" sz="1700" dirty="0">
                <a:solidFill>
                  <a:srgbClr val="1E8449"/>
                </a:solidFill>
                <a:latin typeface="Calibri" pitchFamily="34" charset="0"/>
                <a:ea typeface="Calibri" pitchFamily="34" charset="-122"/>
                <a:cs typeface="Calibri" pitchFamily="34" charset="-120"/>
              </a:rPr>
              <a:t>✓  Log all critical events with user ID, IP, timestamp</a:t>
            </a:r>
            <a:endParaRPr lang="en-US" sz="1700" dirty="0"/>
          </a:p>
        </p:txBody>
      </p:sp>
      <p:sp>
        <p:nvSpPr>
          <p:cNvPr id="37" name="Shape 35"/>
          <p:cNvSpPr/>
          <p:nvPr/>
        </p:nvSpPr>
        <p:spPr>
          <a:xfrm>
            <a:off x="9509760" y="7022592"/>
            <a:ext cx="8412480" cy="548640"/>
          </a:xfrm>
          <a:prstGeom prst="rect">
            <a:avLst/>
          </a:prstGeom>
          <a:solidFill>
            <a:srgbClr val="EAFAF1"/>
          </a:solidFill>
          <a:ln w="12700">
            <a:solidFill>
              <a:srgbClr val="A9DFBF"/>
            </a:solidFill>
            <a:prstDash val="solid"/>
          </a:ln>
        </p:spPr>
      </p:sp>
      <p:sp>
        <p:nvSpPr>
          <p:cNvPr id="38" name="Text 36"/>
          <p:cNvSpPr/>
          <p:nvPr/>
        </p:nvSpPr>
        <p:spPr>
          <a:xfrm>
            <a:off x="9692640" y="7077456"/>
            <a:ext cx="8046720" cy="438912"/>
          </a:xfrm>
          <a:prstGeom prst="rect">
            <a:avLst/>
          </a:prstGeom>
          <a:noFill/>
          <a:ln/>
        </p:spPr>
        <p:txBody>
          <a:bodyPr wrap="square" rtlCol="0" anchor="ctr"/>
          <a:lstStyle/>
          <a:p>
            <a:r>
              <a:rPr lang="en-US" sz="1700" dirty="0">
                <a:solidFill>
                  <a:srgbClr val="1E8449"/>
                </a:solidFill>
                <a:latin typeface="Calibri" pitchFamily="34" charset="0"/>
                <a:ea typeface="Calibri" pitchFamily="34" charset="-122"/>
                <a:cs typeface="Calibri" pitchFamily="34" charset="-120"/>
              </a:rPr>
              <a:t>✓  Structured, standardized log formats</a:t>
            </a:r>
            <a:endParaRPr lang="en-US" sz="1700" dirty="0"/>
          </a:p>
        </p:txBody>
      </p:sp>
      <p:sp>
        <p:nvSpPr>
          <p:cNvPr id="39" name="Shape 37"/>
          <p:cNvSpPr/>
          <p:nvPr/>
        </p:nvSpPr>
        <p:spPr>
          <a:xfrm>
            <a:off x="9509760" y="7644384"/>
            <a:ext cx="8412480" cy="548640"/>
          </a:xfrm>
          <a:prstGeom prst="rect">
            <a:avLst/>
          </a:prstGeom>
          <a:solidFill>
            <a:srgbClr val="EAFAF1"/>
          </a:solidFill>
          <a:ln w="12700">
            <a:solidFill>
              <a:srgbClr val="A9DFBF"/>
            </a:solidFill>
            <a:prstDash val="solid"/>
          </a:ln>
        </p:spPr>
      </p:sp>
      <p:sp>
        <p:nvSpPr>
          <p:cNvPr id="40" name="Text 38"/>
          <p:cNvSpPr/>
          <p:nvPr/>
        </p:nvSpPr>
        <p:spPr>
          <a:xfrm>
            <a:off x="9692640" y="7699248"/>
            <a:ext cx="8046720" cy="438912"/>
          </a:xfrm>
          <a:prstGeom prst="rect">
            <a:avLst/>
          </a:prstGeom>
          <a:noFill/>
          <a:ln/>
        </p:spPr>
        <p:txBody>
          <a:bodyPr wrap="square" rtlCol="0" anchor="ctr"/>
          <a:lstStyle/>
          <a:p>
            <a:r>
              <a:rPr lang="en-US" sz="1700" dirty="0">
                <a:solidFill>
                  <a:srgbClr val="1E8449"/>
                </a:solidFill>
                <a:latin typeface="Calibri" pitchFamily="34" charset="0"/>
                <a:ea typeface="Calibri" pitchFamily="34" charset="-122"/>
                <a:cs typeface="Calibri" pitchFamily="34" charset="-120"/>
              </a:rPr>
              <a:t>✓  Centralize logs in SIEM (Splunk, ELK, QRadar)</a:t>
            </a:r>
            <a:endParaRPr lang="en-US" sz="1700" dirty="0"/>
          </a:p>
        </p:txBody>
      </p:sp>
      <p:sp>
        <p:nvSpPr>
          <p:cNvPr id="41" name="Shape 39"/>
          <p:cNvSpPr/>
          <p:nvPr/>
        </p:nvSpPr>
        <p:spPr>
          <a:xfrm>
            <a:off x="9509760" y="8266176"/>
            <a:ext cx="8412480" cy="548640"/>
          </a:xfrm>
          <a:prstGeom prst="rect">
            <a:avLst/>
          </a:prstGeom>
          <a:solidFill>
            <a:srgbClr val="EAFAF1"/>
          </a:solidFill>
          <a:ln w="12700">
            <a:solidFill>
              <a:srgbClr val="A9DFBF"/>
            </a:solidFill>
            <a:prstDash val="solid"/>
          </a:ln>
        </p:spPr>
      </p:sp>
      <p:sp>
        <p:nvSpPr>
          <p:cNvPr id="42" name="Text 40"/>
          <p:cNvSpPr/>
          <p:nvPr/>
        </p:nvSpPr>
        <p:spPr>
          <a:xfrm>
            <a:off x="9692640" y="8321040"/>
            <a:ext cx="8046720" cy="438912"/>
          </a:xfrm>
          <a:prstGeom prst="rect">
            <a:avLst/>
          </a:prstGeom>
          <a:noFill/>
          <a:ln/>
        </p:spPr>
        <p:txBody>
          <a:bodyPr wrap="square" rtlCol="0" anchor="ctr"/>
          <a:lstStyle/>
          <a:p>
            <a:r>
              <a:rPr lang="en-US" sz="1700" dirty="0">
                <a:solidFill>
                  <a:srgbClr val="1E8449"/>
                </a:solidFill>
                <a:latin typeface="Calibri" pitchFamily="34" charset="0"/>
                <a:ea typeface="Calibri" pitchFamily="34" charset="-122"/>
                <a:cs typeface="Calibri" pitchFamily="34" charset="-120"/>
              </a:rPr>
              <a:t>✓  Real-time alerts for anomalies &amp; thresholds</a:t>
            </a:r>
            <a:endParaRPr lang="en-US" sz="1700" dirty="0"/>
          </a:p>
        </p:txBody>
      </p:sp>
      <p:sp>
        <p:nvSpPr>
          <p:cNvPr id="43" name="Shape 41"/>
          <p:cNvSpPr/>
          <p:nvPr/>
        </p:nvSpPr>
        <p:spPr>
          <a:xfrm>
            <a:off x="9509760" y="8887968"/>
            <a:ext cx="8412480" cy="548640"/>
          </a:xfrm>
          <a:prstGeom prst="rect">
            <a:avLst/>
          </a:prstGeom>
          <a:solidFill>
            <a:srgbClr val="EAFAF1"/>
          </a:solidFill>
          <a:ln w="12700">
            <a:solidFill>
              <a:srgbClr val="A9DFBF"/>
            </a:solidFill>
            <a:prstDash val="solid"/>
          </a:ln>
        </p:spPr>
      </p:sp>
      <p:sp>
        <p:nvSpPr>
          <p:cNvPr id="44" name="Text 42"/>
          <p:cNvSpPr/>
          <p:nvPr/>
        </p:nvSpPr>
        <p:spPr>
          <a:xfrm>
            <a:off x="9692640" y="8942832"/>
            <a:ext cx="8046720" cy="438912"/>
          </a:xfrm>
          <a:prstGeom prst="rect">
            <a:avLst/>
          </a:prstGeom>
          <a:noFill/>
          <a:ln/>
        </p:spPr>
        <p:txBody>
          <a:bodyPr wrap="square" rtlCol="0" anchor="ctr"/>
          <a:lstStyle/>
          <a:p>
            <a:r>
              <a:rPr lang="en-US" sz="1700" dirty="0">
                <a:solidFill>
                  <a:srgbClr val="1E8449"/>
                </a:solidFill>
                <a:latin typeface="Calibri" pitchFamily="34" charset="0"/>
                <a:ea typeface="Calibri" pitchFamily="34" charset="-122"/>
                <a:cs typeface="Calibri" pitchFamily="34" charset="-120"/>
              </a:rPr>
              <a:t>✓  Secure off-site retention for forensic support</a:t>
            </a:r>
            <a:endParaRPr lang="en-US" sz="1700" dirty="0"/>
          </a:p>
        </p:txBody>
      </p:sp>
      <p:sp>
        <p:nvSpPr>
          <p:cNvPr id="45" name="Shape 43"/>
          <p:cNvSpPr/>
          <p:nvPr/>
        </p:nvSpPr>
        <p:spPr>
          <a:xfrm>
            <a:off x="9509760" y="9509760"/>
            <a:ext cx="8412480" cy="548640"/>
          </a:xfrm>
          <a:prstGeom prst="rect">
            <a:avLst/>
          </a:prstGeom>
          <a:solidFill>
            <a:srgbClr val="EAFAF1"/>
          </a:solidFill>
          <a:ln w="12700">
            <a:solidFill>
              <a:srgbClr val="A9DFBF"/>
            </a:solidFill>
            <a:prstDash val="solid"/>
          </a:ln>
        </p:spPr>
      </p:sp>
      <p:sp>
        <p:nvSpPr>
          <p:cNvPr id="46" name="Text 44"/>
          <p:cNvSpPr/>
          <p:nvPr/>
        </p:nvSpPr>
        <p:spPr>
          <a:xfrm>
            <a:off x="9692640" y="9564624"/>
            <a:ext cx="8046720" cy="438912"/>
          </a:xfrm>
          <a:prstGeom prst="rect">
            <a:avLst/>
          </a:prstGeom>
          <a:noFill/>
          <a:ln/>
        </p:spPr>
        <p:txBody>
          <a:bodyPr wrap="square" rtlCol="0" anchor="ctr"/>
          <a:lstStyle/>
          <a:p>
            <a:r>
              <a:rPr lang="en-US" sz="1700" dirty="0">
                <a:solidFill>
                  <a:srgbClr val="1E8449"/>
                </a:solidFill>
                <a:latin typeface="Calibri" pitchFamily="34" charset="0"/>
                <a:ea typeface="Calibri" pitchFamily="34" charset="-122"/>
                <a:cs typeface="Calibri" pitchFamily="34" charset="-120"/>
              </a:rPr>
              <a:t>✓  Dedicated security team for monitoring &amp; response</a:t>
            </a:r>
            <a:endParaRPr lang="en-US" sz="1700" dirty="0"/>
          </a:p>
        </p:txBody>
      </p:sp>
      <p:sp>
        <p:nvSpPr>
          <p:cNvPr id="47" name="Shape 45"/>
          <p:cNvSpPr/>
          <p:nvPr/>
        </p:nvSpPr>
        <p:spPr>
          <a:xfrm>
            <a:off x="0" y="9875520"/>
            <a:ext cx="18288000" cy="411480"/>
          </a:xfrm>
          <a:prstGeom prst="rect">
            <a:avLst/>
          </a:prstGeom>
          <a:solidFill>
            <a:srgbClr val="004D5B"/>
          </a:solidFill>
          <a:ln w="12700">
            <a:solidFill>
              <a:srgbClr val="004D5B"/>
            </a:solidFill>
            <a:prstDash val="solid"/>
          </a:ln>
        </p:spPr>
      </p:sp>
      <p:sp>
        <p:nvSpPr>
          <p:cNvPr id="48" name="Text 46"/>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50" name="Picture 49">
            <a:extLst>
              <a:ext uri="{FF2B5EF4-FFF2-40B4-BE49-F238E27FC236}">
                <a16:creationId xmlns:a16="http://schemas.microsoft.com/office/drawing/2014/main" id="{57C3DE46-0303-9B4F-AC13-6750EAD28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44600" y="56388"/>
            <a:ext cx="4282440" cy="162763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737360"/>
          </a:xfrm>
          <a:prstGeom prst="rect">
            <a:avLst/>
          </a:prstGeom>
          <a:solidFill>
            <a:srgbClr val="004D5B"/>
          </a:solidFill>
          <a:ln w="12700">
            <a:solidFill>
              <a:srgbClr val="004D5B"/>
            </a:solidFill>
            <a:prstDash val="solid"/>
          </a:ln>
        </p:spPr>
      </p:sp>
      <p:sp>
        <p:nvSpPr>
          <p:cNvPr id="3" name="Text 1"/>
          <p:cNvSpPr/>
          <p:nvPr/>
        </p:nvSpPr>
        <p:spPr>
          <a:xfrm>
            <a:off x="-121920" y="163830"/>
            <a:ext cx="17007840" cy="1005840"/>
          </a:xfrm>
          <a:prstGeom prst="rect">
            <a:avLst/>
          </a:prstGeom>
          <a:noFill/>
          <a:ln/>
        </p:spPr>
        <p:txBody>
          <a:bodyPr wrap="square" rtlCol="0" anchor="ctr"/>
          <a:lstStyle/>
          <a:p>
            <a:r>
              <a:rPr lang="en-US" sz="3800" b="1" dirty="0">
                <a:solidFill>
                  <a:srgbClr val="FFFFFF"/>
                </a:solidFill>
                <a:latin typeface="Arial Black" pitchFamily="34" charset="0"/>
                <a:ea typeface="Arial Black" pitchFamily="34" charset="-122"/>
                <a:cs typeface="Arial Black" pitchFamily="34" charset="-120"/>
              </a:rPr>
              <a:t>🌐  A10:2021 — Server-Side Request Forgery (SSRF)  🆕</a:t>
            </a:r>
            <a:endParaRPr lang="en-US" sz="3800" dirty="0"/>
          </a:p>
        </p:txBody>
      </p:sp>
      <p:sp>
        <p:nvSpPr>
          <p:cNvPr id="4" name="Text 2"/>
          <p:cNvSpPr/>
          <p:nvPr/>
        </p:nvSpPr>
        <p:spPr>
          <a:xfrm>
            <a:off x="548640" y="1097280"/>
            <a:ext cx="17007840" cy="548640"/>
          </a:xfrm>
          <a:prstGeom prst="rect">
            <a:avLst/>
          </a:prstGeom>
          <a:noFill/>
          <a:ln/>
        </p:spPr>
        <p:txBody>
          <a:bodyPr wrap="square" rtlCol="0" anchor="ctr"/>
          <a:lstStyle/>
          <a:p>
            <a:r>
              <a:rPr lang="en-US" sz="2000" dirty="0">
                <a:solidFill>
                  <a:srgbClr val="00B4C8"/>
                </a:solidFill>
                <a:latin typeface="Calibri" pitchFamily="34" charset="0"/>
                <a:ea typeface="Calibri" pitchFamily="34" charset="-122"/>
                <a:cs typeface="Calibri" pitchFamily="34" charset="-120"/>
              </a:rPr>
              <a:t>New in 2021 | Added via community survey | Low incidence but above-average exploit &amp; impact potential</a:t>
            </a:r>
            <a:endParaRPr lang="en-US" sz="2000" dirty="0"/>
          </a:p>
        </p:txBody>
      </p:sp>
      <p:sp>
        <p:nvSpPr>
          <p:cNvPr id="5" name="Shape 3"/>
          <p:cNvSpPr/>
          <p:nvPr/>
        </p:nvSpPr>
        <p:spPr>
          <a:xfrm>
            <a:off x="0" y="1737360"/>
            <a:ext cx="18288000" cy="73152"/>
          </a:xfrm>
          <a:prstGeom prst="rect">
            <a:avLst/>
          </a:prstGeom>
          <a:solidFill>
            <a:srgbClr val="1ABC9C"/>
          </a:solidFill>
          <a:ln w="12700">
            <a:solidFill>
              <a:srgbClr val="1ABC9C"/>
            </a:solidFill>
            <a:prstDash val="solid"/>
          </a:ln>
        </p:spPr>
      </p:sp>
      <p:sp>
        <p:nvSpPr>
          <p:cNvPr id="6" name="Shape 4"/>
          <p:cNvSpPr/>
          <p:nvPr/>
        </p:nvSpPr>
        <p:spPr>
          <a:xfrm>
            <a:off x="548640" y="2011680"/>
            <a:ext cx="17190720" cy="1371600"/>
          </a:xfrm>
          <a:prstGeom prst="rect">
            <a:avLst/>
          </a:prstGeom>
          <a:solidFill>
            <a:srgbClr val="E8FAF5"/>
          </a:solidFill>
          <a:ln w="12700">
            <a:solidFill>
              <a:srgbClr val="1ABC9C"/>
            </a:solidFill>
            <a:prstDash val="solid"/>
          </a:ln>
          <a:effectLst>
            <a:outerShdw blurRad="76200" dist="25400" dir="8100000" algn="bl" rotWithShape="0">
              <a:srgbClr val="000000">
                <a:alpha val="10000"/>
              </a:srgbClr>
            </a:outerShdw>
          </a:effectLst>
        </p:spPr>
      </p:sp>
      <p:sp>
        <p:nvSpPr>
          <p:cNvPr id="7" name="Shape 5"/>
          <p:cNvSpPr/>
          <p:nvPr/>
        </p:nvSpPr>
        <p:spPr>
          <a:xfrm>
            <a:off x="548640" y="2011680"/>
            <a:ext cx="128016" cy="1371600"/>
          </a:xfrm>
          <a:prstGeom prst="rect">
            <a:avLst/>
          </a:prstGeom>
          <a:solidFill>
            <a:srgbClr val="1ABC9C"/>
          </a:solidFill>
          <a:ln w="12700">
            <a:solidFill>
              <a:srgbClr val="1ABC9C"/>
            </a:solidFill>
            <a:prstDash val="solid"/>
          </a:ln>
        </p:spPr>
      </p:sp>
      <p:sp>
        <p:nvSpPr>
          <p:cNvPr id="8" name="Text 6"/>
          <p:cNvSpPr/>
          <p:nvPr/>
        </p:nvSpPr>
        <p:spPr>
          <a:xfrm>
            <a:off x="822960" y="2084832"/>
            <a:ext cx="16642080" cy="1225296"/>
          </a:xfrm>
          <a:prstGeom prst="rect">
            <a:avLst/>
          </a:prstGeom>
          <a:noFill/>
          <a:ln/>
        </p:spPr>
        <p:txBody>
          <a:bodyPr wrap="square" rtlCol="0" anchor="ctr"/>
          <a:lstStyle/>
          <a:p>
            <a:r>
              <a:rPr lang="en-US" sz="2100" dirty="0">
                <a:solidFill>
                  <a:srgbClr val="2C3E50"/>
                </a:solidFill>
                <a:latin typeface="Calibri" pitchFamily="34" charset="0"/>
                <a:ea typeface="Calibri" pitchFamily="34" charset="-122"/>
                <a:cs typeface="Calibri" pitchFamily="34" charset="-120"/>
              </a:rPr>
              <a:t>SSRF occurs when an attacker tricks a vulnerable server into making HTTP requests to an internal or external resource on behalf of the attacker. The application fetches a remote resource based on user-supplied input WITHOUT validating or sanitizing it. Attackers can reach internal systems, cloud metadata APIs, and admin interfaces.</a:t>
            </a:r>
            <a:endParaRPr lang="en-US" sz="2100" dirty="0"/>
          </a:p>
        </p:txBody>
      </p:sp>
      <p:sp>
        <p:nvSpPr>
          <p:cNvPr id="9" name="Text 7"/>
          <p:cNvSpPr/>
          <p:nvPr/>
        </p:nvSpPr>
        <p:spPr>
          <a:xfrm>
            <a:off x="548640" y="3566160"/>
            <a:ext cx="9144000" cy="548640"/>
          </a:xfrm>
          <a:prstGeom prst="rect">
            <a:avLst/>
          </a:prstGeom>
          <a:noFill/>
          <a:ln/>
        </p:spPr>
        <p:txBody>
          <a:bodyPr wrap="square" rtlCol="0" anchor="ctr"/>
          <a:lstStyle/>
          <a:p>
            <a:r>
              <a:rPr lang="en-US" sz="2400" b="1" dirty="0">
                <a:solidFill>
                  <a:srgbClr val="004D5B"/>
                </a:solidFill>
                <a:latin typeface="Arial" pitchFamily="34" charset="0"/>
                <a:ea typeface="Arial" pitchFamily="34" charset="-122"/>
                <a:cs typeface="Arial" pitchFamily="34" charset="-120"/>
              </a:rPr>
              <a:t>🔍  How SSRF Works</a:t>
            </a:r>
            <a:endParaRPr lang="en-US" sz="2400" dirty="0"/>
          </a:p>
        </p:txBody>
      </p:sp>
      <p:sp>
        <p:nvSpPr>
          <p:cNvPr id="10" name="Shape 8"/>
          <p:cNvSpPr/>
          <p:nvPr/>
        </p:nvSpPr>
        <p:spPr>
          <a:xfrm>
            <a:off x="457200" y="4297680"/>
            <a:ext cx="2286000" cy="1554480"/>
          </a:xfrm>
          <a:prstGeom prst="rect">
            <a:avLst/>
          </a:prstGeom>
          <a:solidFill>
            <a:srgbClr val="C0392B"/>
          </a:solidFill>
          <a:ln w="12700">
            <a:solidFill>
              <a:srgbClr val="C0392B"/>
            </a:solidFill>
            <a:prstDash val="solid"/>
          </a:ln>
        </p:spPr>
      </p:sp>
      <p:sp>
        <p:nvSpPr>
          <p:cNvPr id="11" name="Text 9"/>
          <p:cNvSpPr/>
          <p:nvPr/>
        </p:nvSpPr>
        <p:spPr>
          <a:xfrm>
            <a:off x="457200" y="4297680"/>
            <a:ext cx="2286000" cy="1554480"/>
          </a:xfrm>
          <a:prstGeom prst="rect">
            <a:avLst/>
          </a:prstGeom>
          <a:noFill/>
          <a:ln/>
        </p:spPr>
        <p:txBody>
          <a:bodyPr wrap="square" rtlCol="0" anchor="ctr"/>
          <a:lstStyle/>
          <a:p>
            <a:pPr algn="ctr"/>
            <a:r>
              <a:rPr lang="en-US" sz="2000" dirty="0">
                <a:solidFill>
                  <a:srgbClr val="FFFFFF"/>
                </a:solidFill>
                <a:latin typeface="Calibri" pitchFamily="34" charset="0"/>
                <a:ea typeface="Calibri" pitchFamily="34" charset="-122"/>
                <a:cs typeface="Calibri" pitchFamily="34" charset="-120"/>
              </a:rPr>
              <a:t>😈</a:t>
            </a:r>
            <a:endParaRPr lang="en-US" sz="2000" dirty="0"/>
          </a:p>
          <a:p>
            <a:pPr algn="ctr"/>
            <a:r>
              <a:rPr lang="en-US" sz="2000" dirty="0">
                <a:solidFill>
                  <a:srgbClr val="FFFFFF"/>
                </a:solidFill>
                <a:latin typeface="Calibri" pitchFamily="34" charset="0"/>
                <a:ea typeface="Calibri" pitchFamily="34" charset="-122"/>
                <a:cs typeface="Calibri" pitchFamily="34" charset="-120"/>
              </a:rPr>
              <a:t>Attacker</a:t>
            </a:r>
            <a:endParaRPr lang="en-US" sz="2000" dirty="0"/>
          </a:p>
        </p:txBody>
      </p:sp>
      <p:sp>
        <p:nvSpPr>
          <p:cNvPr id="12" name="Shape 10"/>
          <p:cNvSpPr/>
          <p:nvPr/>
        </p:nvSpPr>
        <p:spPr>
          <a:xfrm>
            <a:off x="2779776" y="5010912"/>
            <a:ext cx="1828800" cy="128016"/>
          </a:xfrm>
          <a:prstGeom prst="rect">
            <a:avLst/>
          </a:prstGeom>
          <a:solidFill>
            <a:srgbClr val="E67E22"/>
          </a:solidFill>
          <a:ln w="12700">
            <a:solidFill>
              <a:srgbClr val="E67E22"/>
            </a:solidFill>
            <a:prstDash val="solid"/>
          </a:ln>
        </p:spPr>
      </p:sp>
      <p:sp>
        <p:nvSpPr>
          <p:cNvPr id="13" name="Shape 11"/>
          <p:cNvSpPr/>
          <p:nvPr/>
        </p:nvSpPr>
        <p:spPr>
          <a:xfrm>
            <a:off x="4498848" y="4846320"/>
            <a:ext cx="256032" cy="402336"/>
          </a:xfrm>
          <a:prstGeom prst="triangle">
            <a:avLst/>
          </a:prstGeom>
          <a:solidFill>
            <a:srgbClr val="E67E22"/>
          </a:solidFill>
          <a:ln w="12700">
            <a:solidFill>
              <a:srgbClr val="E67E22"/>
            </a:solidFill>
            <a:prstDash val="solid"/>
          </a:ln>
        </p:spPr>
      </p:sp>
      <p:sp>
        <p:nvSpPr>
          <p:cNvPr id="14" name="Text 12"/>
          <p:cNvSpPr/>
          <p:nvPr/>
        </p:nvSpPr>
        <p:spPr>
          <a:xfrm>
            <a:off x="2816352" y="4480560"/>
            <a:ext cx="1737360" cy="457200"/>
          </a:xfrm>
          <a:prstGeom prst="rect">
            <a:avLst/>
          </a:prstGeom>
          <a:noFill/>
          <a:ln/>
        </p:spPr>
        <p:txBody>
          <a:bodyPr wrap="square" rtlCol="0" anchor="ctr"/>
          <a:lstStyle/>
          <a:p>
            <a:pPr algn="ctr"/>
            <a:r>
              <a:rPr lang="en-US" sz="1400" dirty="0">
                <a:solidFill>
                  <a:srgbClr val="E67E22"/>
                </a:solidFill>
                <a:latin typeface="Calibri" pitchFamily="34" charset="0"/>
                <a:ea typeface="Calibri" pitchFamily="34" charset="-122"/>
                <a:cs typeface="Calibri" pitchFamily="34" charset="-120"/>
              </a:rPr>
              <a:t>Malicious URL</a:t>
            </a:r>
            <a:endParaRPr lang="en-US" sz="1400" dirty="0"/>
          </a:p>
        </p:txBody>
      </p:sp>
      <p:sp>
        <p:nvSpPr>
          <p:cNvPr id="15" name="Shape 13"/>
          <p:cNvSpPr/>
          <p:nvPr/>
        </p:nvSpPr>
        <p:spPr>
          <a:xfrm>
            <a:off x="4791456" y="4297680"/>
            <a:ext cx="2468880" cy="1554480"/>
          </a:xfrm>
          <a:prstGeom prst="rect">
            <a:avLst/>
          </a:prstGeom>
          <a:solidFill>
            <a:srgbClr val="005F73"/>
          </a:solidFill>
          <a:ln w="12700">
            <a:solidFill>
              <a:srgbClr val="005F73"/>
            </a:solidFill>
            <a:prstDash val="solid"/>
          </a:ln>
        </p:spPr>
      </p:sp>
      <p:sp>
        <p:nvSpPr>
          <p:cNvPr id="16" name="Text 14"/>
          <p:cNvSpPr/>
          <p:nvPr/>
        </p:nvSpPr>
        <p:spPr>
          <a:xfrm>
            <a:off x="4791456" y="4297680"/>
            <a:ext cx="2468880" cy="1554480"/>
          </a:xfrm>
          <a:prstGeom prst="rect">
            <a:avLst/>
          </a:prstGeom>
          <a:noFill/>
          <a:ln/>
        </p:spPr>
        <p:txBody>
          <a:bodyPr wrap="square" rtlCol="0" anchor="ctr"/>
          <a:lstStyle/>
          <a:p>
            <a:pPr algn="ctr"/>
            <a:r>
              <a:rPr lang="en-US" dirty="0">
                <a:solidFill>
                  <a:srgbClr val="FFFFFF"/>
                </a:solidFill>
                <a:latin typeface="Calibri" pitchFamily="34" charset="0"/>
                <a:ea typeface="Calibri" pitchFamily="34" charset="-122"/>
                <a:cs typeface="Calibri" pitchFamily="34" charset="-120"/>
              </a:rPr>
              <a:t>🌐</a:t>
            </a:r>
            <a:endParaRPr lang="en-US" dirty="0"/>
          </a:p>
          <a:p>
            <a:pPr algn="ctr"/>
            <a:r>
              <a:rPr lang="en-US" dirty="0">
                <a:solidFill>
                  <a:srgbClr val="FFFFFF"/>
                </a:solidFill>
                <a:latin typeface="Calibri" pitchFamily="34" charset="0"/>
                <a:ea typeface="Calibri" pitchFamily="34" charset="-122"/>
                <a:cs typeface="Calibri" pitchFamily="34" charset="-120"/>
              </a:rPr>
              <a:t>Web Server</a:t>
            </a:r>
            <a:endParaRPr lang="en-US" dirty="0"/>
          </a:p>
          <a:p>
            <a:pPr algn="ctr"/>
            <a:r>
              <a:rPr lang="en-US" dirty="0">
                <a:solidFill>
                  <a:srgbClr val="FFFFFF"/>
                </a:solidFill>
                <a:latin typeface="Calibri" pitchFamily="34" charset="0"/>
                <a:ea typeface="Calibri" pitchFamily="34" charset="-122"/>
                <a:cs typeface="Calibri" pitchFamily="34" charset="-120"/>
              </a:rPr>
              <a:t>(Victim)</a:t>
            </a:r>
            <a:endParaRPr lang="en-US" dirty="0"/>
          </a:p>
        </p:txBody>
      </p:sp>
      <p:sp>
        <p:nvSpPr>
          <p:cNvPr id="17" name="Shape 15"/>
          <p:cNvSpPr/>
          <p:nvPr/>
        </p:nvSpPr>
        <p:spPr>
          <a:xfrm>
            <a:off x="7315200" y="4608576"/>
            <a:ext cx="1828800" cy="128016"/>
          </a:xfrm>
          <a:prstGeom prst="rect">
            <a:avLst/>
          </a:prstGeom>
          <a:solidFill>
            <a:srgbClr val="C0392B"/>
          </a:solidFill>
          <a:ln w="12700">
            <a:solidFill>
              <a:srgbClr val="C0392B"/>
            </a:solidFill>
            <a:prstDash val="solid"/>
          </a:ln>
        </p:spPr>
      </p:sp>
      <p:sp>
        <p:nvSpPr>
          <p:cNvPr id="18" name="Shape 16"/>
          <p:cNvSpPr/>
          <p:nvPr/>
        </p:nvSpPr>
        <p:spPr>
          <a:xfrm>
            <a:off x="9034272" y="4462272"/>
            <a:ext cx="256032" cy="402336"/>
          </a:xfrm>
          <a:prstGeom prst="triangle">
            <a:avLst/>
          </a:prstGeom>
          <a:solidFill>
            <a:srgbClr val="C0392B"/>
          </a:solidFill>
          <a:ln w="12700">
            <a:solidFill>
              <a:srgbClr val="C0392B"/>
            </a:solidFill>
            <a:prstDash val="solid"/>
          </a:ln>
        </p:spPr>
      </p:sp>
      <p:sp>
        <p:nvSpPr>
          <p:cNvPr id="19" name="Text 17"/>
          <p:cNvSpPr/>
          <p:nvPr/>
        </p:nvSpPr>
        <p:spPr>
          <a:xfrm>
            <a:off x="7351776" y="4297680"/>
            <a:ext cx="1737360" cy="585216"/>
          </a:xfrm>
          <a:prstGeom prst="rect">
            <a:avLst/>
          </a:prstGeom>
          <a:noFill/>
          <a:ln/>
        </p:spPr>
        <p:txBody>
          <a:bodyPr wrap="square" rtlCol="0" anchor="ctr"/>
          <a:lstStyle/>
          <a:p>
            <a:pPr algn="ctr"/>
            <a:r>
              <a:rPr lang="en-US" sz="1400" dirty="0">
                <a:solidFill>
                  <a:srgbClr val="C0392B"/>
                </a:solidFill>
                <a:latin typeface="Calibri" pitchFamily="34" charset="0"/>
                <a:ea typeface="Calibri" pitchFamily="34" charset="-122"/>
                <a:cs typeface="Calibri" pitchFamily="34" charset="-120"/>
              </a:rPr>
              <a:t>Forged</a:t>
            </a:r>
            <a:endParaRPr lang="en-US" sz="1400" dirty="0"/>
          </a:p>
          <a:p>
            <a:pPr algn="ctr"/>
            <a:r>
              <a:rPr lang="en-US" sz="1400" dirty="0">
                <a:solidFill>
                  <a:srgbClr val="C0392B"/>
                </a:solidFill>
                <a:latin typeface="Calibri" pitchFamily="34" charset="0"/>
                <a:ea typeface="Calibri" pitchFamily="34" charset="-122"/>
                <a:cs typeface="Calibri" pitchFamily="34" charset="-120"/>
              </a:rPr>
              <a:t>Request</a:t>
            </a:r>
            <a:endParaRPr lang="en-US" sz="1400" dirty="0"/>
          </a:p>
        </p:txBody>
      </p:sp>
      <p:sp>
        <p:nvSpPr>
          <p:cNvPr id="20" name="Shape 18"/>
          <p:cNvSpPr/>
          <p:nvPr/>
        </p:nvSpPr>
        <p:spPr>
          <a:xfrm>
            <a:off x="9326880" y="3657600"/>
            <a:ext cx="3108960" cy="1060704"/>
          </a:xfrm>
          <a:prstGeom prst="rect">
            <a:avLst/>
          </a:prstGeom>
          <a:solidFill>
            <a:srgbClr val="C0392B"/>
          </a:solidFill>
          <a:ln w="12700">
            <a:solidFill>
              <a:srgbClr val="C0392B"/>
            </a:solidFill>
            <a:prstDash val="solid"/>
          </a:ln>
        </p:spPr>
      </p:sp>
      <p:sp>
        <p:nvSpPr>
          <p:cNvPr id="21" name="Text 19"/>
          <p:cNvSpPr/>
          <p:nvPr/>
        </p:nvSpPr>
        <p:spPr>
          <a:xfrm>
            <a:off x="9326880" y="3657600"/>
            <a:ext cx="3108960" cy="1060704"/>
          </a:xfrm>
          <a:prstGeom prst="rect">
            <a:avLst/>
          </a:prstGeom>
          <a:noFill/>
          <a:ln/>
        </p:spPr>
        <p:txBody>
          <a:bodyPr wrap="square" rtlCol="0" anchor="ctr"/>
          <a:lstStyle/>
          <a:p>
            <a:pPr algn="ctr"/>
            <a:r>
              <a:rPr lang="en-US" sz="1600" dirty="0">
                <a:solidFill>
                  <a:srgbClr val="FFFFFF"/>
                </a:solidFill>
                <a:latin typeface="Calibri" pitchFamily="34" charset="0"/>
                <a:ea typeface="Calibri" pitchFamily="34" charset="-122"/>
                <a:cs typeface="Calibri" pitchFamily="34" charset="-120"/>
              </a:rPr>
              <a:t>🗄️  Internal DB</a:t>
            </a:r>
            <a:endParaRPr lang="en-US" sz="1600" dirty="0"/>
          </a:p>
          <a:p>
            <a:pPr algn="ctr"/>
            <a:r>
              <a:rPr lang="en-US" sz="1600" dirty="0">
                <a:solidFill>
                  <a:srgbClr val="FFFFFF"/>
                </a:solidFill>
                <a:latin typeface="Calibri" pitchFamily="34" charset="0"/>
                <a:ea typeface="Calibri" pitchFamily="34" charset="-122"/>
                <a:cs typeface="Calibri" pitchFamily="34" charset="-120"/>
              </a:rPr>
              <a:t>127.0.0.1:3306</a:t>
            </a:r>
            <a:endParaRPr lang="en-US" sz="1600" dirty="0"/>
          </a:p>
        </p:txBody>
      </p:sp>
      <p:sp>
        <p:nvSpPr>
          <p:cNvPr id="22" name="Shape 20"/>
          <p:cNvSpPr/>
          <p:nvPr/>
        </p:nvSpPr>
        <p:spPr>
          <a:xfrm>
            <a:off x="9326880" y="4901184"/>
            <a:ext cx="3108960" cy="1060704"/>
          </a:xfrm>
          <a:prstGeom prst="rect">
            <a:avLst/>
          </a:prstGeom>
          <a:solidFill>
            <a:srgbClr val="8E44AD"/>
          </a:solidFill>
          <a:ln w="12700">
            <a:solidFill>
              <a:srgbClr val="8E44AD"/>
            </a:solidFill>
            <a:prstDash val="solid"/>
          </a:ln>
        </p:spPr>
      </p:sp>
      <p:sp>
        <p:nvSpPr>
          <p:cNvPr id="23" name="Text 21"/>
          <p:cNvSpPr/>
          <p:nvPr/>
        </p:nvSpPr>
        <p:spPr>
          <a:xfrm>
            <a:off x="9326880" y="4901184"/>
            <a:ext cx="3108960" cy="1060704"/>
          </a:xfrm>
          <a:prstGeom prst="rect">
            <a:avLst/>
          </a:prstGeom>
          <a:noFill/>
          <a:ln/>
        </p:spPr>
        <p:txBody>
          <a:bodyPr wrap="square" rtlCol="0" anchor="ctr"/>
          <a:lstStyle/>
          <a:p>
            <a:pPr algn="ctr"/>
            <a:r>
              <a:rPr lang="en-US" sz="1600" dirty="0">
                <a:solidFill>
                  <a:srgbClr val="FFFFFF"/>
                </a:solidFill>
                <a:latin typeface="Calibri" pitchFamily="34" charset="0"/>
                <a:ea typeface="Calibri" pitchFamily="34" charset="-122"/>
                <a:cs typeface="Calibri" pitchFamily="34" charset="-120"/>
              </a:rPr>
              <a:t>☁️  Cloud Metadata</a:t>
            </a:r>
            <a:endParaRPr lang="en-US" sz="1600" dirty="0"/>
          </a:p>
          <a:p>
            <a:pPr algn="ctr"/>
            <a:r>
              <a:rPr lang="en-US" sz="1600" dirty="0">
                <a:solidFill>
                  <a:srgbClr val="FFFFFF"/>
                </a:solidFill>
                <a:latin typeface="Calibri" pitchFamily="34" charset="0"/>
                <a:ea typeface="Calibri" pitchFamily="34" charset="-122"/>
                <a:cs typeface="Calibri" pitchFamily="34" charset="-120"/>
              </a:rPr>
              <a:t>169.254.169.254</a:t>
            </a:r>
            <a:endParaRPr lang="en-US" sz="1600" dirty="0"/>
          </a:p>
        </p:txBody>
      </p:sp>
      <p:sp>
        <p:nvSpPr>
          <p:cNvPr id="24" name="Shape 22"/>
          <p:cNvSpPr/>
          <p:nvPr/>
        </p:nvSpPr>
        <p:spPr>
          <a:xfrm>
            <a:off x="9326880" y="5981700"/>
            <a:ext cx="3108960" cy="1060704"/>
          </a:xfrm>
          <a:prstGeom prst="rect">
            <a:avLst/>
          </a:prstGeom>
          <a:solidFill>
            <a:srgbClr val="E67E22"/>
          </a:solidFill>
          <a:ln w="12700">
            <a:solidFill>
              <a:srgbClr val="E67E22"/>
            </a:solidFill>
            <a:prstDash val="solid"/>
          </a:ln>
        </p:spPr>
      </p:sp>
      <p:sp>
        <p:nvSpPr>
          <p:cNvPr id="25" name="Text 23"/>
          <p:cNvSpPr/>
          <p:nvPr/>
        </p:nvSpPr>
        <p:spPr>
          <a:xfrm>
            <a:off x="9326880" y="5905500"/>
            <a:ext cx="3108960" cy="1060704"/>
          </a:xfrm>
          <a:prstGeom prst="rect">
            <a:avLst/>
          </a:prstGeom>
          <a:noFill/>
          <a:ln/>
        </p:spPr>
        <p:txBody>
          <a:bodyPr wrap="square" rtlCol="0" anchor="ctr"/>
          <a:lstStyle/>
          <a:p>
            <a:pPr algn="ctr"/>
            <a:r>
              <a:rPr lang="en-US" sz="1600" dirty="0">
                <a:solidFill>
                  <a:srgbClr val="FFFFFF"/>
                </a:solidFill>
                <a:latin typeface="Calibri" pitchFamily="34" charset="0"/>
                <a:ea typeface="Calibri" pitchFamily="34" charset="-122"/>
                <a:cs typeface="Calibri" pitchFamily="34" charset="-120"/>
              </a:rPr>
              <a:t>⚙️  Admin Panel</a:t>
            </a:r>
            <a:endParaRPr lang="en-US" sz="1600" dirty="0"/>
          </a:p>
          <a:p>
            <a:pPr algn="ctr"/>
            <a:r>
              <a:rPr lang="en-US" sz="1600" dirty="0">
                <a:solidFill>
                  <a:srgbClr val="FFFFFF"/>
                </a:solidFill>
                <a:latin typeface="Calibri" pitchFamily="34" charset="0"/>
                <a:ea typeface="Calibri" pitchFamily="34" charset="-122"/>
                <a:cs typeface="Calibri" pitchFamily="34" charset="-120"/>
              </a:rPr>
              <a:t>10.0.0.1:8080</a:t>
            </a:r>
            <a:endParaRPr lang="en-US" sz="1600" dirty="0"/>
          </a:p>
        </p:txBody>
      </p:sp>
      <p:sp>
        <p:nvSpPr>
          <p:cNvPr id="26" name="Shape 24"/>
          <p:cNvSpPr/>
          <p:nvPr/>
        </p:nvSpPr>
        <p:spPr>
          <a:xfrm>
            <a:off x="12801600" y="3657600"/>
            <a:ext cx="5120640" cy="3384804"/>
          </a:xfrm>
          <a:prstGeom prst="rect">
            <a:avLst/>
          </a:prstGeom>
          <a:solidFill>
            <a:srgbClr val="004D5B"/>
          </a:solidFill>
          <a:ln w="12700">
            <a:solidFill>
              <a:srgbClr val="004D5B"/>
            </a:solidFill>
            <a:prstDash val="solid"/>
          </a:ln>
          <a:effectLst>
            <a:outerShdw blurRad="76200" dist="25400" dir="8100000" algn="bl" rotWithShape="0">
              <a:srgbClr val="000000">
                <a:alpha val="10000"/>
              </a:srgbClr>
            </a:outerShdw>
          </a:effectLst>
        </p:spPr>
      </p:sp>
      <p:sp>
        <p:nvSpPr>
          <p:cNvPr id="27" name="Shape 25"/>
          <p:cNvSpPr/>
          <p:nvPr/>
        </p:nvSpPr>
        <p:spPr>
          <a:xfrm>
            <a:off x="12801600" y="3657600"/>
            <a:ext cx="5120640" cy="640080"/>
          </a:xfrm>
          <a:prstGeom prst="rect">
            <a:avLst/>
          </a:prstGeom>
          <a:solidFill>
            <a:srgbClr val="C0392B"/>
          </a:solidFill>
          <a:ln w="12700">
            <a:solidFill>
              <a:srgbClr val="C0392B"/>
            </a:solidFill>
            <a:prstDash val="solid"/>
          </a:ln>
        </p:spPr>
      </p:sp>
      <p:sp>
        <p:nvSpPr>
          <p:cNvPr id="28" name="Text 26"/>
          <p:cNvSpPr/>
          <p:nvPr/>
        </p:nvSpPr>
        <p:spPr>
          <a:xfrm>
            <a:off x="12947904" y="3694176"/>
            <a:ext cx="4846320" cy="566928"/>
          </a:xfrm>
          <a:prstGeom prst="rect">
            <a:avLst/>
          </a:prstGeom>
          <a:noFill/>
          <a:ln/>
        </p:spPr>
        <p:txBody>
          <a:bodyPr wrap="square" rtlCol="0" anchor="ctr"/>
          <a:lstStyle/>
          <a:p>
            <a:r>
              <a:rPr lang="en-US" b="1" dirty="0">
                <a:solidFill>
                  <a:srgbClr val="FFFFFF"/>
                </a:solidFill>
                <a:latin typeface="Arial" pitchFamily="34" charset="0"/>
                <a:ea typeface="Arial" pitchFamily="34" charset="-122"/>
                <a:cs typeface="Arial" pitchFamily="34" charset="-120"/>
              </a:rPr>
              <a:t>⚡  2025 Global SSRF Campaign</a:t>
            </a:r>
            <a:endParaRPr lang="en-US" dirty="0"/>
          </a:p>
        </p:txBody>
      </p:sp>
      <p:sp>
        <p:nvSpPr>
          <p:cNvPr id="29" name="Text 27"/>
          <p:cNvSpPr/>
          <p:nvPr/>
        </p:nvSpPr>
        <p:spPr>
          <a:xfrm>
            <a:off x="12947904" y="4352544"/>
            <a:ext cx="4828032" cy="2743200"/>
          </a:xfrm>
          <a:prstGeom prst="rect">
            <a:avLst/>
          </a:prstGeom>
          <a:noFill/>
          <a:ln/>
        </p:spPr>
        <p:txBody>
          <a:bodyPr wrap="square" rtlCol="0" anchor="ctr"/>
          <a:lstStyle/>
          <a:p>
            <a:r>
              <a:rPr lang="en-US" sz="2200" dirty="0">
                <a:solidFill>
                  <a:srgbClr val="DDEEFF"/>
                </a:solidFill>
                <a:latin typeface="Calibri" pitchFamily="34" charset="0"/>
                <a:ea typeface="Calibri" pitchFamily="34" charset="-122"/>
                <a:cs typeface="Calibri" pitchFamily="34" charset="-120"/>
              </a:rPr>
              <a:t>• March 9–13, 2025 coordinated attacks</a:t>
            </a:r>
            <a:endParaRPr lang="en-US" sz="2200" dirty="0"/>
          </a:p>
          <a:p>
            <a:r>
              <a:rPr lang="en-US" sz="2200" dirty="0">
                <a:solidFill>
                  <a:srgbClr val="DDEEFF"/>
                </a:solidFill>
                <a:latin typeface="Calibri" pitchFamily="34" charset="0"/>
                <a:ea typeface="Calibri" pitchFamily="34" charset="-122"/>
                <a:cs typeface="Calibri" pitchFamily="34" charset="-120"/>
              </a:rPr>
              <a:t>• 400 unique IPs exploiting simultaneously</a:t>
            </a:r>
            <a:endParaRPr lang="en-US" sz="2200" dirty="0"/>
          </a:p>
          <a:p>
            <a:r>
              <a:rPr lang="en-US" sz="2200" dirty="0">
                <a:solidFill>
                  <a:srgbClr val="DDEEFF"/>
                </a:solidFill>
                <a:latin typeface="Calibri" pitchFamily="34" charset="0"/>
                <a:ea typeface="Calibri" pitchFamily="34" charset="-122"/>
                <a:cs typeface="Calibri" pitchFamily="34" charset="-120"/>
              </a:rPr>
              <a:t>• Targeted: Zimbra, GitLab, VMware, Ivanti</a:t>
            </a:r>
            <a:endParaRPr lang="en-US" sz="2200" dirty="0"/>
          </a:p>
          <a:p>
            <a:r>
              <a:rPr lang="en-US" sz="2200" dirty="0">
                <a:solidFill>
                  <a:srgbClr val="DDEEFF"/>
                </a:solidFill>
                <a:latin typeface="Calibri" pitchFamily="34" charset="0"/>
                <a:ea typeface="Calibri" pitchFamily="34" charset="-122"/>
                <a:cs typeface="Calibri" pitchFamily="34" charset="-120"/>
              </a:rPr>
              <a:t>• Countries: USA, Germany, India, Japan</a:t>
            </a:r>
            <a:endParaRPr lang="en-US" sz="2200" dirty="0"/>
          </a:p>
          <a:p>
            <a:r>
              <a:rPr lang="en-US" sz="2200" dirty="0">
                <a:solidFill>
                  <a:srgbClr val="DDEEFF"/>
                </a:solidFill>
                <a:latin typeface="Calibri" pitchFamily="34" charset="0"/>
                <a:ea typeface="Calibri" pitchFamily="34" charset="-122"/>
                <a:cs typeface="Calibri" pitchFamily="34" charset="-120"/>
              </a:rPr>
              <a:t>• Attack chain: Recon → SSRF → Pivot</a:t>
            </a:r>
            <a:endParaRPr lang="en-US" sz="2200" dirty="0"/>
          </a:p>
        </p:txBody>
      </p:sp>
      <p:sp>
        <p:nvSpPr>
          <p:cNvPr id="30" name="Text 28"/>
          <p:cNvSpPr/>
          <p:nvPr/>
        </p:nvSpPr>
        <p:spPr>
          <a:xfrm>
            <a:off x="596606" y="7022592"/>
            <a:ext cx="7315200" cy="512064"/>
          </a:xfrm>
          <a:prstGeom prst="rect">
            <a:avLst/>
          </a:prstGeom>
          <a:noFill/>
          <a:ln/>
        </p:spPr>
        <p:txBody>
          <a:bodyPr wrap="square" rtlCol="0" anchor="ctr"/>
          <a:lstStyle/>
          <a:p>
            <a:r>
              <a:rPr lang="en-US" sz="2200" b="1" dirty="0">
                <a:solidFill>
                  <a:srgbClr val="004D5B"/>
                </a:solidFill>
                <a:latin typeface="Arial" pitchFamily="34" charset="0"/>
                <a:ea typeface="Arial" pitchFamily="34" charset="-122"/>
                <a:cs typeface="Arial" pitchFamily="34" charset="-120"/>
              </a:rPr>
              <a:t>Common Causes</a:t>
            </a:r>
            <a:endParaRPr lang="en-US" sz="2200" dirty="0"/>
          </a:p>
        </p:txBody>
      </p:sp>
      <p:sp>
        <p:nvSpPr>
          <p:cNvPr id="31" name="Shape 29"/>
          <p:cNvSpPr/>
          <p:nvPr/>
        </p:nvSpPr>
        <p:spPr>
          <a:xfrm>
            <a:off x="548640" y="7534656"/>
            <a:ext cx="8321040" cy="475488"/>
          </a:xfrm>
          <a:prstGeom prst="rect">
            <a:avLst/>
          </a:prstGeom>
          <a:solidFill>
            <a:srgbClr val="FFF5F5"/>
          </a:solidFill>
          <a:ln w="12700">
            <a:solidFill>
              <a:srgbClr val="F5C6C6"/>
            </a:solidFill>
            <a:prstDash val="solid"/>
          </a:ln>
        </p:spPr>
      </p:sp>
      <p:sp>
        <p:nvSpPr>
          <p:cNvPr id="32" name="Text 30"/>
          <p:cNvSpPr/>
          <p:nvPr/>
        </p:nvSpPr>
        <p:spPr>
          <a:xfrm>
            <a:off x="731520" y="7567382"/>
            <a:ext cx="7955280" cy="365760"/>
          </a:xfrm>
          <a:prstGeom prst="rect">
            <a:avLst/>
          </a:prstGeom>
          <a:noFill/>
          <a:ln/>
        </p:spPr>
        <p:txBody>
          <a:bodyPr wrap="square" rtlCol="0" anchor="ctr"/>
          <a:lstStyle/>
          <a:p>
            <a:r>
              <a:rPr lang="en-US" sz="1700" dirty="0">
                <a:solidFill>
                  <a:srgbClr val="7B241C"/>
                </a:solidFill>
                <a:latin typeface="Calibri" pitchFamily="34" charset="0"/>
                <a:ea typeface="Calibri" pitchFamily="34" charset="-122"/>
                <a:cs typeface="Calibri" pitchFamily="34" charset="-120"/>
              </a:rPr>
              <a:t>▶  No input validation on user-supplied URLs</a:t>
            </a:r>
            <a:endParaRPr lang="en-US" sz="1700" dirty="0"/>
          </a:p>
        </p:txBody>
      </p:sp>
      <p:sp>
        <p:nvSpPr>
          <p:cNvPr id="33" name="Shape 31"/>
          <p:cNvSpPr/>
          <p:nvPr/>
        </p:nvSpPr>
        <p:spPr>
          <a:xfrm>
            <a:off x="580724" y="8083296"/>
            <a:ext cx="8321040" cy="475488"/>
          </a:xfrm>
          <a:prstGeom prst="rect">
            <a:avLst/>
          </a:prstGeom>
          <a:solidFill>
            <a:srgbClr val="FFF5F5"/>
          </a:solidFill>
          <a:ln w="12700">
            <a:solidFill>
              <a:srgbClr val="F5C6C6"/>
            </a:solidFill>
            <a:prstDash val="solid"/>
          </a:ln>
        </p:spPr>
      </p:sp>
      <p:sp>
        <p:nvSpPr>
          <p:cNvPr id="34" name="Text 32"/>
          <p:cNvSpPr/>
          <p:nvPr/>
        </p:nvSpPr>
        <p:spPr>
          <a:xfrm>
            <a:off x="734889" y="8210349"/>
            <a:ext cx="7955280" cy="365760"/>
          </a:xfrm>
          <a:prstGeom prst="rect">
            <a:avLst/>
          </a:prstGeom>
          <a:noFill/>
          <a:ln/>
        </p:spPr>
        <p:txBody>
          <a:bodyPr wrap="square" rtlCol="0" anchor="ctr"/>
          <a:lstStyle/>
          <a:p>
            <a:r>
              <a:rPr lang="en-US" sz="1700" dirty="0">
                <a:solidFill>
                  <a:srgbClr val="7B241C"/>
                </a:solidFill>
                <a:latin typeface="Calibri" pitchFamily="34" charset="0"/>
                <a:ea typeface="Calibri" pitchFamily="34" charset="-122"/>
                <a:cs typeface="Calibri" pitchFamily="34" charset="-120"/>
              </a:rPr>
              <a:t>▶  No restrictions on which hosts the server can reach</a:t>
            </a:r>
            <a:endParaRPr lang="en-US" sz="1700" dirty="0"/>
          </a:p>
        </p:txBody>
      </p:sp>
      <p:sp>
        <p:nvSpPr>
          <p:cNvPr id="35" name="Shape 33"/>
          <p:cNvSpPr/>
          <p:nvPr/>
        </p:nvSpPr>
        <p:spPr>
          <a:xfrm>
            <a:off x="576553" y="8631936"/>
            <a:ext cx="8321040" cy="475488"/>
          </a:xfrm>
          <a:prstGeom prst="rect">
            <a:avLst/>
          </a:prstGeom>
          <a:solidFill>
            <a:srgbClr val="FFF5F5"/>
          </a:solidFill>
          <a:ln w="12700">
            <a:solidFill>
              <a:srgbClr val="F5C6C6"/>
            </a:solidFill>
            <a:prstDash val="solid"/>
          </a:ln>
        </p:spPr>
      </p:sp>
      <p:sp>
        <p:nvSpPr>
          <p:cNvPr id="36" name="Text 34"/>
          <p:cNvSpPr/>
          <p:nvPr/>
        </p:nvSpPr>
        <p:spPr>
          <a:xfrm>
            <a:off x="708740" y="8758989"/>
            <a:ext cx="7955280" cy="365760"/>
          </a:xfrm>
          <a:prstGeom prst="rect">
            <a:avLst/>
          </a:prstGeom>
          <a:noFill/>
          <a:ln/>
        </p:spPr>
        <p:txBody>
          <a:bodyPr wrap="square" rtlCol="0" anchor="ctr"/>
          <a:lstStyle/>
          <a:p>
            <a:r>
              <a:rPr lang="en-US" sz="1700" dirty="0">
                <a:solidFill>
                  <a:srgbClr val="7B241C"/>
                </a:solidFill>
                <a:latin typeface="Calibri" pitchFamily="34" charset="0"/>
                <a:ea typeface="Calibri" pitchFamily="34" charset="-122"/>
                <a:cs typeface="Calibri" pitchFamily="34" charset="-120"/>
              </a:rPr>
              <a:t>▶  No network segmentation between app &amp; internal services</a:t>
            </a:r>
            <a:endParaRPr lang="en-US" sz="1700" dirty="0"/>
          </a:p>
        </p:txBody>
      </p:sp>
      <p:sp>
        <p:nvSpPr>
          <p:cNvPr id="37" name="Shape 35"/>
          <p:cNvSpPr/>
          <p:nvPr/>
        </p:nvSpPr>
        <p:spPr>
          <a:xfrm>
            <a:off x="594360" y="9208008"/>
            <a:ext cx="8321040" cy="475488"/>
          </a:xfrm>
          <a:prstGeom prst="rect">
            <a:avLst/>
          </a:prstGeom>
          <a:solidFill>
            <a:srgbClr val="FFF5F5"/>
          </a:solidFill>
          <a:ln w="12700">
            <a:solidFill>
              <a:srgbClr val="F5C6C6"/>
            </a:solidFill>
            <a:prstDash val="solid"/>
          </a:ln>
        </p:spPr>
      </p:sp>
      <p:sp>
        <p:nvSpPr>
          <p:cNvPr id="38" name="Text 36"/>
          <p:cNvSpPr/>
          <p:nvPr/>
        </p:nvSpPr>
        <p:spPr>
          <a:xfrm>
            <a:off x="777240" y="9329768"/>
            <a:ext cx="7955280" cy="365760"/>
          </a:xfrm>
          <a:prstGeom prst="rect">
            <a:avLst/>
          </a:prstGeom>
          <a:noFill/>
          <a:ln/>
        </p:spPr>
        <p:txBody>
          <a:bodyPr wrap="square" rtlCol="0" anchor="ctr"/>
          <a:lstStyle/>
          <a:p>
            <a:r>
              <a:rPr lang="en-US" sz="1700" dirty="0">
                <a:solidFill>
                  <a:srgbClr val="7B241C"/>
                </a:solidFill>
                <a:latin typeface="Calibri" pitchFamily="34" charset="0"/>
                <a:ea typeface="Calibri" pitchFamily="34" charset="-122"/>
                <a:cs typeface="Calibri" pitchFamily="34" charset="-120"/>
              </a:rPr>
              <a:t>▶  Trust in internal services without access controls</a:t>
            </a:r>
            <a:endParaRPr lang="en-US" sz="1700" dirty="0"/>
          </a:p>
        </p:txBody>
      </p:sp>
      <p:sp>
        <p:nvSpPr>
          <p:cNvPr id="39" name="Text 37"/>
          <p:cNvSpPr/>
          <p:nvPr/>
        </p:nvSpPr>
        <p:spPr>
          <a:xfrm>
            <a:off x="9326880" y="7124700"/>
            <a:ext cx="8595360" cy="512064"/>
          </a:xfrm>
          <a:prstGeom prst="rect">
            <a:avLst/>
          </a:prstGeom>
          <a:noFill/>
          <a:ln/>
        </p:spPr>
        <p:txBody>
          <a:bodyPr wrap="square" rtlCol="0" anchor="ctr"/>
          <a:lstStyle/>
          <a:p>
            <a:r>
              <a:rPr lang="en-US" sz="2200" b="1" dirty="0">
                <a:solidFill>
                  <a:srgbClr val="27AE60"/>
                </a:solidFill>
                <a:latin typeface="Arial" pitchFamily="34" charset="0"/>
                <a:ea typeface="Arial" pitchFamily="34" charset="-122"/>
                <a:cs typeface="Arial" pitchFamily="34" charset="-120"/>
              </a:rPr>
              <a:t>Prevention</a:t>
            </a:r>
            <a:endParaRPr lang="en-US" sz="2200" dirty="0"/>
          </a:p>
        </p:txBody>
      </p:sp>
      <p:sp>
        <p:nvSpPr>
          <p:cNvPr id="40" name="Shape 38"/>
          <p:cNvSpPr/>
          <p:nvPr/>
        </p:nvSpPr>
        <p:spPr>
          <a:xfrm>
            <a:off x="9296400" y="7485888"/>
            <a:ext cx="8412480" cy="475488"/>
          </a:xfrm>
          <a:prstGeom prst="rect">
            <a:avLst/>
          </a:prstGeom>
          <a:solidFill>
            <a:srgbClr val="EAFAF1"/>
          </a:solidFill>
          <a:ln w="12700">
            <a:solidFill>
              <a:srgbClr val="A9DFBF"/>
            </a:solidFill>
            <a:prstDash val="solid"/>
          </a:ln>
        </p:spPr>
      </p:sp>
      <p:sp>
        <p:nvSpPr>
          <p:cNvPr id="41" name="Text 39"/>
          <p:cNvSpPr/>
          <p:nvPr/>
        </p:nvSpPr>
        <p:spPr>
          <a:xfrm>
            <a:off x="9509760" y="7589520"/>
            <a:ext cx="8046720" cy="365760"/>
          </a:xfrm>
          <a:prstGeom prst="rect">
            <a:avLst/>
          </a:prstGeom>
          <a:noFill/>
          <a:ln/>
        </p:spPr>
        <p:txBody>
          <a:bodyPr wrap="square" rtlCol="0" anchor="ctr"/>
          <a:lstStyle/>
          <a:p>
            <a:r>
              <a:rPr lang="en-US" sz="1700" dirty="0">
                <a:solidFill>
                  <a:srgbClr val="1E8449"/>
                </a:solidFill>
                <a:latin typeface="Calibri" pitchFamily="34" charset="0"/>
                <a:ea typeface="Calibri" pitchFamily="34" charset="-122"/>
                <a:cs typeface="Calibri" pitchFamily="34" charset="-120"/>
              </a:rPr>
              <a:t>✓  Whitelist allowed URLs/hosts only</a:t>
            </a:r>
            <a:endParaRPr lang="en-US" sz="1700" dirty="0"/>
          </a:p>
        </p:txBody>
      </p:sp>
      <p:sp>
        <p:nvSpPr>
          <p:cNvPr id="42" name="Shape 40"/>
          <p:cNvSpPr/>
          <p:nvPr/>
        </p:nvSpPr>
        <p:spPr>
          <a:xfrm>
            <a:off x="9290304" y="8011026"/>
            <a:ext cx="8412480" cy="475488"/>
          </a:xfrm>
          <a:prstGeom prst="rect">
            <a:avLst/>
          </a:prstGeom>
          <a:solidFill>
            <a:srgbClr val="EAFAF1"/>
          </a:solidFill>
          <a:ln w="12700">
            <a:solidFill>
              <a:srgbClr val="A9DFBF"/>
            </a:solidFill>
            <a:prstDash val="solid"/>
          </a:ln>
        </p:spPr>
      </p:sp>
      <p:sp>
        <p:nvSpPr>
          <p:cNvPr id="43" name="Text 41"/>
          <p:cNvSpPr/>
          <p:nvPr/>
        </p:nvSpPr>
        <p:spPr>
          <a:xfrm>
            <a:off x="9509760" y="8138160"/>
            <a:ext cx="8046720" cy="365760"/>
          </a:xfrm>
          <a:prstGeom prst="rect">
            <a:avLst/>
          </a:prstGeom>
          <a:noFill/>
          <a:ln/>
        </p:spPr>
        <p:txBody>
          <a:bodyPr wrap="square" rtlCol="0" anchor="ctr"/>
          <a:lstStyle/>
          <a:p>
            <a:r>
              <a:rPr lang="en-US" sz="1700" dirty="0">
                <a:solidFill>
                  <a:srgbClr val="1E8449"/>
                </a:solidFill>
                <a:latin typeface="Calibri" pitchFamily="34" charset="0"/>
                <a:ea typeface="Calibri" pitchFamily="34" charset="-122"/>
                <a:cs typeface="Calibri" pitchFamily="34" charset="-120"/>
              </a:rPr>
              <a:t>✓  Block all internal IPs (127.0.0.1, 10.x.x.x, 169.254.x.x)</a:t>
            </a:r>
            <a:endParaRPr lang="en-US" sz="1700" dirty="0"/>
          </a:p>
        </p:txBody>
      </p:sp>
      <p:sp>
        <p:nvSpPr>
          <p:cNvPr id="44" name="Shape 42"/>
          <p:cNvSpPr/>
          <p:nvPr/>
        </p:nvSpPr>
        <p:spPr>
          <a:xfrm>
            <a:off x="9296400" y="8511661"/>
            <a:ext cx="8412480" cy="475488"/>
          </a:xfrm>
          <a:prstGeom prst="rect">
            <a:avLst/>
          </a:prstGeom>
          <a:solidFill>
            <a:srgbClr val="EAFAF1"/>
          </a:solidFill>
          <a:ln w="12700">
            <a:solidFill>
              <a:srgbClr val="A9DFBF"/>
            </a:solidFill>
            <a:prstDash val="solid"/>
          </a:ln>
        </p:spPr>
      </p:sp>
      <p:sp>
        <p:nvSpPr>
          <p:cNvPr id="45" name="Text 43"/>
          <p:cNvSpPr/>
          <p:nvPr/>
        </p:nvSpPr>
        <p:spPr>
          <a:xfrm>
            <a:off x="9509760" y="8613648"/>
            <a:ext cx="8046720" cy="365760"/>
          </a:xfrm>
          <a:prstGeom prst="rect">
            <a:avLst/>
          </a:prstGeom>
          <a:noFill/>
          <a:ln/>
        </p:spPr>
        <p:txBody>
          <a:bodyPr wrap="square" rtlCol="0" anchor="ctr"/>
          <a:lstStyle/>
          <a:p>
            <a:r>
              <a:rPr lang="en-US" sz="1700" dirty="0">
                <a:solidFill>
                  <a:srgbClr val="1E8449"/>
                </a:solidFill>
                <a:latin typeface="Calibri" pitchFamily="34" charset="0"/>
                <a:ea typeface="Calibri" pitchFamily="34" charset="-122"/>
                <a:cs typeface="Calibri" pitchFamily="34" charset="-120"/>
              </a:rPr>
              <a:t>✓  Enforce IMDSv2 for cloud metadata protection</a:t>
            </a:r>
            <a:endParaRPr lang="en-US" sz="1700" dirty="0"/>
          </a:p>
        </p:txBody>
      </p:sp>
      <p:sp>
        <p:nvSpPr>
          <p:cNvPr id="46" name="Shape 44"/>
          <p:cNvSpPr/>
          <p:nvPr/>
        </p:nvSpPr>
        <p:spPr>
          <a:xfrm>
            <a:off x="9296400" y="8966013"/>
            <a:ext cx="8412480" cy="475488"/>
          </a:xfrm>
          <a:prstGeom prst="rect">
            <a:avLst/>
          </a:prstGeom>
          <a:solidFill>
            <a:srgbClr val="EAFAF1"/>
          </a:solidFill>
          <a:ln w="12700">
            <a:solidFill>
              <a:srgbClr val="A9DFBF"/>
            </a:solidFill>
            <a:prstDash val="solid"/>
          </a:ln>
        </p:spPr>
      </p:sp>
      <p:sp>
        <p:nvSpPr>
          <p:cNvPr id="47" name="Text 45"/>
          <p:cNvSpPr/>
          <p:nvPr/>
        </p:nvSpPr>
        <p:spPr>
          <a:xfrm>
            <a:off x="9532540" y="9042013"/>
            <a:ext cx="8046720" cy="365760"/>
          </a:xfrm>
          <a:prstGeom prst="rect">
            <a:avLst/>
          </a:prstGeom>
          <a:noFill/>
          <a:ln/>
        </p:spPr>
        <p:txBody>
          <a:bodyPr wrap="square" rtlCol="0" anchor="ctr"/>
          <a:lstStyle/>
          <a:p>
            <a:r>
              <a:rPr lang="en-US" sz="1700" dirty="0">
                <a:solidFill>
                  <a:srgbClr val="1E8449"/>
                </a:solidFill>
                <a:latin typeface="Calibri" pitchFamily="34" charset="0"/>
                <a:ea typeface="Calibri" pitchFamily="34" charset="-122"/>
                <a:cs typeface="Calibri" pitchFamily="34" charset="-120"/>
              </a:rPr>
              <a:t>✓  Network segmentation: isolate internal services</a:t>
            </a:r>
            <a:endParaRPr lang="en-US" sz="1700" dirty="0"/>
          </a:p>
        </p:txBody>
      </p:sp>
      <p:sp>
        <p:nvSpPr>
          <p:cNvPr id="48" name="Shape 46"/>
          <p:cNvSpPr/>
          <p:nvPr/>
        </p:nvSpPr>
        <p:spPr>
          <a:xfrm>
            <a:off x="0" y="9875520"/>
            <a:ext cx="18288000" cy="411480"/>
          </a:xfrm>
          <a:prstGeom prst="rect">
            <a:avLst/>
          </a:prstGeom>
          <a:solidFill>
            <a:srgbClr val="004D5B"/>
          </a:solidFill>
          <a:ln w="12700">
            <a:solidFill>
              <a:srgbClr val="004D5B"/>
            </a:solidFill>
            <a:prstDash val="solid"/>
          </a:ln>
        </p:spPr>
      </p:sp>
      <p:sp>
        <p:nvSpPr>
          <p:cNvPr id="49" name="Text 47"/>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51" name="Picture 50">
            <a:extLst>
              <a:ext uri="{FF2B5EF4-FFF2-40B4-BE49-F238E27FC236}">
                <a16:creationId xmlns:a16="http://schemas.microsoft.com/office/drawing/2014/main" id="{B45B5A61-D352-1C81-A49D-B7A831F59B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92016" y="56388"/>
            <a:ext cx="4435024" cy="162763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828800"/>
          </a:xfrm>
          <a:prstGeom prst="rect">
            <a:avLst/>
          </a:prstGeom>
          <a:solidFill>
            <a:srgbClr val="004D5B"/>
          </a:solidFill>
          <a:ln w="12700">
            <a:solidFill>
              <a:srgbClr val="004D5B"/>
            </a:solidFill>
            <a:prstDash val="solid"/>
          </a:ln>
        </p:spPr>
      </p:sp>
      <p:sp>
        <p:nvSpPr>
          <p:cNvPr id="3" name="Text 1"/>
          <p:cNvSpPr/>
          <p:nvPr/>
        </p:nvSpPr>
        <p:spPr>
          <a:xfrm>
            <a:off x="0" y="91440"/>
            <a:ext cx="15544800" cy="1097280"/>
          </a:xfrm>
          <a:prstGeom prst="rect">
            <a:avLst/>
          </a:prstGeom>
          <a:noFill/>
          <a:ln/>
        </p:spPr>
        <p:txBody>
          <a:bodyPr wrap="square" rtlCol="0" anchor="ctr"/>
          <a:lstStyle/>
          <a:p>
            <a:r>
              <a:rPr lang="en-US" sz="4800" b="1" dirty="0">
                <a:solidFill>
                  <a:srgbClr val="FFFFFF"/>
                </a:solidFill>
                <a:latin typeface="Arial Black" pitchFamily="34" charset="0"/>
                <a:ea typeface="Arial Black" pitchFamily="34" charset="-122"/>
                <a:cs typeface="Arial Black" pitchFamily="34" charset="-120"/>
              </a:rPr>
              <a:t>OWASP Top 10: Quick Reference</a:t>
            </a:r>
            <a:endParaRPr lang="en-US" sz="4800" dirty="0"/>
          </a:p>
        </p:txBody>
      </p:sp>
      <p:sp>
        <p:nvSpPr>
          <p:cNvPr id="4" name="Text 2"/>
          <p:cNvSpPr/>
          <p:nvPr/>
        </p:nvSpPr>
        <p:spPr>
          <a:xfrm>
            <a:off x="548640" y="1133856"/>
            <a:ext cx="15544800" cy="585216"/>
          </a:xfrm>
          <a:prstGeom prst="rect">
            <a:avLst/>
          </a:prstGeom>
          <a:noFill/>
          <a:ln/>
        </p:spPr>
        <p:txBody>
          <a:bodyPr wrap="square" rtlCol="0" anchor="ctr"/>
          <a:lstStyle/>
          <a:p>
            <a:r>
              <a:rPr lang="en-US" sz="2200" dirty="0">
                <a:solidFill>
                  <a:srgbClr val="00B4C8"/>
                </a:solidFill>
                <a:latin typeface="Calibri" pitchFamily="34" charset="0"/>
                <a:ea typeface="Calibri" pitchFamily="34" charset="-122"/>
                <a:cs typeface="Calibri" pitchFamily="34" charset="-120"/>
              </a:rPr>
              <a:t>At-a-Glance Overview for Developers &amp; Security Teams</a:t>
            </a:r>
            <a:endParaRPr lang="en-US" sz="2200" dirty="0"/>
          </a:p>
        </p:txBody>
      </p:sp>
      <p:sp>
        <p:nvSpPr>
          <p:cNvPr id="5" name="Shape 3"/>
          <p:cNvSpPr/>
          <p:nvPr/>
        </p:nvSpPr>
        <p:spPr>
          <a:xfrm>
            <a:off x="0" y="1828800"/>
            <a:ext cx="18288000" cy="73152"/>
          </a:xfrm>
          <a:prstGeom prst="rect">
            <a:avLst/>
          </a:prstGeom>
          <a:solidFill>
            <a:srgbClr val="00B4C8"/>
          </a:solidFill>
          <a:ln w="12700">
            <a:solidFill>
              <a:srgbClr val="00B4C8"/>
            </a:solidFill>
            <a:prstDash val="solid"/>
          </a:ln>
        </p:spPr>
      </p:sp>
      <p:sp>
        <p:nvSpPr>
          <p:cNvPr id="6" name="Shape 4"/>
          <p:cNvSpPr/>
          <p:nvPr/>
        </p:nvSpPr>
        <p:spPr>
          <a:xfrm>
            <a:off x="365760" y="2048256"/>
            <a:ext cx="1828800" cy="694944"/>
          </a:xfrm>
          <a:prstGeom prst="rect">
            <a:avLst/>
          </a:prstGeom>
          <a:solidFill>
            <a:srgbClr val="004D5B"/>
          </a:solidFill>
          <a:ln w="12700">
            <a:solidFill>
              <a:srgbClr val="004D5B"/>
            </a:solidFill>
            <a:prstDash val="solid"/>
          </a:ln>
        </p:spPr>
      </p:sp>
      <p:sp>
        <p:nvSpPr>
          <p:cNvPr id="7" name="Text 5"/>
          <p:cNvSpPr/>
          <p:nvPr/>
        </p:nvSpPr>
        <p:spPr>
          <a:xfrm>
            <a:off x="457200" y="2048256"/>
            <a:ext cx="1645920" cy="694944"/>
          </a:xfrm>
          <a:prstGeom prst="rect">
            <a:avLst/>
          </a:prstGeom>
          <a:noFill/>
          <a:ln/>
        </p:spPr>
        <p:txBody>
          <a:bodyPr wrap="square" rtlCol="0" anchor="ctr"/>
          <a:lstStyle/>
          <a:p>
            <a:r>
              <a:rPr lang="en-US" sz="2000" b="1" dirty="0">
                <a:solidFill>
                  <a:srgbClr val="FFFFFF"/>
                </a:solidFill>
                <a:latin typeface="Arial Black" pitchFamily="34" charset="0"/>
                <a:ea typeface="Arial Black" pitchFamily="34" charset="-122"/>
                <a:cs typeface="Arial Black" pitchFamily="34" charset="-120"/>
              </a:rPr>
              <a:t>Code</a:t>
            </a:r>
            <a:endParaRPr lang="en-US" sz="2000" dirty="0"/>
          </a:p>
        </p:txBody>
      </p:sp>
      <p:sp>
        <p:nvSpPr>
          <p:cNvPr id="8" name="Shape 6"/>
          <p:cNvSpPr/>
          <p:nvPr/>
        </p:nvSpPr>
        <p:spPr>
          <a:xfrm>
            <a:off x="2231136" y="2048256"/>
            <a:ext cx="5120640" cy="694944"/>
          </a:xfrm>
          <a:prstGeom prst="rect">
            <a:avLst/>
          </a:prstGeom>
          <a:solidFill>
            <a:srgbClr val="004D5B"/>
          </a:solidFill>
          <a:ln w="12700">
            <a:solidFill>
              <a:srgbClr val="004D5B"/>
            </a:solidFill>
            <a:prstDash val="solid"/>
          </a:ln>
        </p:spPr>
      </p:sp>
      <p:sp>
        <p:nvSpPr>
          <p:cNvPr id="9" name="Text 7"/>
          <p:cNvSpPr/>
          <p:nvPr/>
        </p:nvSpPr>
        <p:spPr>
          <a:xfrm>
            <a:off x="2322576" y="2048256"/>
            <a:ext cx="4937760" cy="694944"/>
          </a:xfrm>
          <a:prstGeom prst="rect">
            <a:avLst/>
          </a:prstGeom>
          <a:noFill/>
          <a:ln/>
        </p:spPr>
        <p:txBody>
          <a:bodyPr wrap="square" rtlCol="0" anchor="ctr"/>
          <a:lstStyle/>
          <a:p>
            <a:r>
              <a:rPr lang="en-US" sz="2000" b="1" dirty="0">
                <a:solidFill>
                  <a:srgbClr val="FFFFFF"/>
                </a:solidFill>
                <a:latin typeface="Arial Black" pitchFamily="34" charset="0"/>
                <a:ea typeface="Arial Black" pitchFamily="34" charset="-122"/>
                <a:cs typeface="Arial Black" pitchFamily="34" charset="-120"/>
              </a:rPr>
              <a:t>Vulnerability</a:t>
            </a:r>
            <a:endParaRPr lang="en-US" sz="2000" dirty="0"/>
          </a:p>
        </p:txBody>
      </p:sp>
      <p:sp>
        <p:nvSpPr>
          <p:cNvPr id="10" name="Shape 8"/>
          <p:cNvSpPr/>
          <p:nvPr/>
        </p:nvSpPr>
        <p:spPr>
          <a:xfrm>
            <a:off x="7388352" y="2048256"/>
            <a:ext cx="4846320" cy="694944"/>
          </a:xfrm>
          <a:prstGeom prst="rect">
            <a:avLst/>
          </a:prstGeom>
          <a:solidFill>
            <a:srgbClr val="004D5B"/>
          </a:solidFill>
          <a:ln w="12700">
            <a:solidFill>
              <a:srgbClr val="004D5B"/>
            </a:solidFill>
            <a:prstDash val="solid"/>
          </a:ln>
        </p:spPr>
      </p:sp>
      <p:sp>
        <p:nvSpPr>
          <p:cNvPr id="11" name="Text 9"/>
          <p:cNvSpPr/>
          <p:nvPr/>
        </p:nvSpPr>
        <p:spPr>
          <a:xfrm>
            <a:off x="7479792" y="2048256"/>
            <a:ext cx="4663440" cy="694944"/>
          </a:xfrm>
          <a:prstGeom prst="rect">
            <a:avLst/>
          </a:prstGeom>
          <a:noFill/>
          <a:ln/>
        </p:spPr>
        <p:txBody>
          <a:bodyPr wrap="square" rtlCol="0" anchor="ctr"/>
          <a:lstStyle/>
          <a:p>
            <a:r>
              <a:rPr lang="en-US" sz="2000" b="1" dirty="0">
                <a:solidFill>
                  <a:srgbClr val="FFFFFF"/>
                </a:solidFill>
                <a:latin typeface="Arial Black" pitchFamily="34" charset="0"/>
                <a:ea typeface="Arial Black" pitchFamily="34" charset="-122"/>
                <a:cs typeface="Arial Black" pitchFamily="34" charset="-120"/>
              </a:rPr>
              <a:t>Risk</a:t>
            </a:r>
            <a:endParaRPr lang="en-US" sz="2000" dirty="0"/>
          </a:p>
        </p:txBody>
      </p:sp>
      <p:sp>
        <p:nvSpPr>
          <p:cNvPr id="12" name="Shape 10"/>
          <p:cNvSpPr/>
          <p:nvPr/>
        </p:nvSpPr>
        <p:spPr>
          <a:xfrm>
            <a:off x="12271248" y="2048256"/>
            <a:ext cx="5760720" cy="694944"/>
          </a:xfrm>
          <a:prstGeom prst="rect">
            <a:avLst/>
          </a:prstGeom>
          <a:solidFill>
            <a:srgbClr val="004D5B"/>
          </a:solidFill>
          <a:ln w="12700">
            <a:solidFill>
              <a:srgbClr val="004D5B"/>
            </a:solidFill>
            <a:prstDash val="solid"/>
          </a:ln>
        </p:spPr>
      </p:sp>
      <p:sp>
        <p:nvSpPr>
          <p:cNvPr id="13" name="Text 11"/>
          <p:cNvSpPr/>
          <p:nvPr/>
        </p:nvSpPr>
        <p:spPr>
          <a:xfrm>
            <a:off x="12362688" y="2048256"/>
            <a:ext cx="5577840" cy="694944"/>
          </a:xfrm>
          <a:prstGeom prst="rect">
            <a:avLst/>
          </a:prstGeom>
          <a:noFill/>
          <a:ln/>
        </p:spPr>
        <p:txBody>
          <a:bodyPr wrap="square" rtlCol="0" anchor="ctr"/>
          <a:lstStyle/>
          <a:p>
            <a:r>
              <a:rPr lang="en-US" sz="2000" b="1" dirty="0">
                <a:solidFill>
                  <a:srgbClr val="FFFFFF"/>
                </a:solidFill>
                <a:latin typeface="Arial Black" pitchFamily="34" charset="0"/>
                <a:ea typeface="Arial Black" pitchFamily="34" charset="-122"/>
                <a:cs typeface="Arial Black" pitchFamily="34" charset="-120"/>
              </a:rPr>
              <a:t>Prevention</a:t>
            </a:r>
            <a:endParaRPr lang="en-US" sz="2000" dirty="0"/>
          </a:p>
        </p:txBody>
      </p:sp>
      <p:sp>
        <p:nvSpPr>
          <p:cNvPr id="14" name="Shape 12"/>
          <p:cNvSpPr/>
          <p:nvPr/>
        </p:nvSpPr>
        <p:spPr>
          <a:xfrm>
            <a:off x="365760" y="2779776"/>
            <a:ext cx="1828800" cy="658368"/>
          </a:xfrm>
          <a:prstGeom prst="rect">
            <a:avLst/>
          </a:prstGeom>
          <a:solidFill>
            <a:srgbClr val="C0392B"/>
          </a:solidFill>
          <a:ln w="12700">
            <a:solidFill>
              <a:srgbClr val="D0E0E3"/>
            </a:solidFill>
            <a:prstDash val="solid"/>
          </a:ln>
        </p:spPr>
      </p:sp>
      <p:sp>
        <p:nvSpPr>
          <p:cNvPr id="15" name="Text 13"/>
          <p:cNvSpPr/>
          <p:nvPr/>
        </p:nvSpPr>
        <p:spPr>
          <a:xfrm>
            <a:off x="457200" y="2816352"/>
            <a:ext cx="1645920" cy="585216"/>
          </a:xfrm>
          <a:prstGeom prst="rect">
            <a:avLst/>
          </a:prstGeom>
          <a:noFill/>
          <a:ln/>
        </p:spPr>
        <p:txBody>
          <a:bodyPr wrap="square" rtlCol="0" anchor="ctr"/>
          <a:lstStyle/>
          <a:p>
            <a:r>
              <a:rPr lang="en-US" sz="1600" b="1" dirty="0">
                <a:solidFill>
                  <a:srgbClr val="FFFFFF"/>
                </a:solidFill>
                <a:latin typeface="Arial Black" pitchFamily="34" charset="0"/>
                <a:ea typeface="Arial Black" pitchFamily="34" charset="-122"/>
                <a:cs typeface="Arial Black" pitchFamily="34" charset="-120"/>
              </a:rPr>
              <a:t>A01:2021</a:t>
            </a:r>
            <a:endParaRPr lang="en-US" sz="1600" dirty="0"/>
          </a:p>
        </p:txBody>
      </p:sp>
      <p:sp>
        <p:nvSpPr>
          <p:cNvPr id="16" name="Shape 14"/>
          <p:cNvSpPr/>
          <p:nvPr/>
        </p:nvSpPr>
        <p:spPr>
          <a:xfrm>
            <a:off x="2231136" y="2779776"/>
            <a:ext cx="5120640" cy="658368"/>
          </a:xfrm>
          <a:prstGeom prst="rect">
            <a:avLst/>
          </a:prstGeom>
          <a:solidFill>
            <a:srgbClr val="FFFFFF"/>
          </a:solidFill>
          <a:ln w="12700">
            <a:solidFill>
              <a:srgbClr val="D0E0E3"/>
            </a:solidFill>
            <a:prstDash val="solid"/>
          </a:ln>
        </p:spPr>
      </p:sp>
      <p:sp>
        <p:nvSpPr>
          <p:cNvPr id="17" name="Text 15"/>
          <p:cNvSpPr/>
          <p:nvPr/>
        </p:nvSpPr>
        <p:spPr>
          <a:xfrm>
            <a:off x="2322576" y="2816352"/>
            <a:ext cx="493776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Broken Access Control</a:t>
            </a:r>
            <a:endParaRPr lang="en-US" sz="1700" dirty="0"/>
          </a:p>
        </p:txBody>
      </p:sp>
      <p:sp>
        <p:nvSpPr>
          <p:cNvPr id="18" name="Shape 16"/>
          <p:cNvSpPr/>
          <p:nvPr/>
        </p:nvSpPr>
        <p:spPr>
          <a:xfrm>
            <a:off x="7388352" y="2779776"/>
            <a:ext cx="4846320" cy="658368"/>
          </a:xfrm>
          <a:prstGeom prst="rect">
            <a:avLst/>
          </a:prstGeom>
          <a:solidFill>
            <a:srgbClr val="FFFFFF"/>
          </a:solidFill>
          <a:ln w="12700">
            <a:solidFill>
              <a:srgbClr val="D0E0E3"/>
            </a:solidFill>
            <a:prstDash val="solid"/>
          </a:ln>
        </p:spPr>
      </p:sp>
      <p:sp>
        <p:nvSpPr>
          <p:cNvPr id="19" name="Text 17"/>
          <p:cNvSpPr/>
          <p:nvPr/>
        </p:nvSpPr>
        <p:spPr>
          <a:xfrm>
            <a:off x="7479792" y="2816352"/>
            <a:ext cx="46634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Unauthorized data access</a:t>
            </a:r>
            <a:endParaRPr lang="en-US" sz="1700" dirty="0"/>
          </a:p>
        </p:txBody>
      </p:sp>
      <p:sp>
        <p:nvSpPr>
          <p:cNvPr id="20" name="Shape 18"/>
          <p:cNvSpPr/>
          <p:nvPr/>
        </p:nvSpPr>
        <p:spPr>
          <a:xfrm>
            <a:off x="12271248" y="2779776"/>
            <a:ext cx="5760720" cy="658368"/>
          </a:xfrm>
          <a:prstGeom prst="rect">
            <a:avLst/>
          </a:prstGeom>
          <a:solidFill>
            <a:srgbClr val="FFFFFF"/>
          </a:solidFill>
          <a:ln w="12700">
            <a:solidFill>
              <a:srgbClr val="D0E0E3"/>
            </a:solidFill>
            <a:prstDash val="solid"/>
          </a:ln>
        </p:spPr>
      </p:sp>
      <p:sp>
        <p:nvSpPr>
          <p:cNvPr id="21" name="Text 19"/>
          <p:cNvSpPr/>
          <p:nvPr/>
        </p:nvSpPr>
        <p:spPr>
          <a:xfrm>
            <a:off x="12362688" y="2816352"/>
            <a:ext cx="55778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RBAC, server-side checks</a:t>
            </a:r>
            <a:endParaRPr lang="en-US" sz="1700" dirty="0"/>
          </a:p>
        </p:txBody>
      </p:sp>
      <p:sp>
        <p:nvSpPr>
          <p:cNvPr id="22" name="Shape 20"/>
          <p:cNvSpPr/>
          <p:nvPr/>
        </p:nvSpPr>
        <p:spPr>
          <a:xfrm>
            <a:off x="365760" y="3474720"/>
            <a:ext cx="1828800" cy="658368"/>
          </a:xfrm>
          <a:prstGeom prst="rect">
            <a:avLst/>
          </a:prstGeom>
          <a:solidFill>
            <a:srgbClr val="8E44AD"/>
          </a:solidFill>
          <a:ln w="12700">
            <a:solidFill>
              <a:srgbClr val="D0E0E3"/>
            </a:solidFill>
            <a:prstDash val="solid"/>
          </a:ln>
        </p:spPr>
      </p:sp>
      <p:sp>
        <p:nvSpPr>
          <p:cNvPr id="23" name="Text 21"/>
          <p:cNvSpPr/>
          <p:nvPr/>
        </p:nvSpPr>
        <p:spPr>
          <a:xfrm>
            <a:off x="457200" y="3511296"/>
            <a:ext cx="1645920" cy="585216"/>
          </a:xfrm>
          <a:prstGeom prst="rect">
            <a:avLst/>
          </a:prstGeom>
          <a:noFill/>
          <a:ln/>
        </p:spPr>
        <p:txBody>
          <a:bodyPr wrap="square" rtlCol="0" anchor="ctr"/>
          <a:lstStyle/>
          <a:p>
            <a:r>
              <a:rPr lang="en-US" sz="1600" b="1" dirty="0">
                <a:solidFill>
                  <a:srgbClr val="FFFFFF"/>
                </a:solidFill>
                <a:latin typeface="Arial Black" pitchFamily="34" charset="0"/>
                <a:ea typeface="Arial Black" pitchFamily="34" charset="-122"/>
                <a:cs typeface="Arial Black" pitchFamily="34" charset="-120"/>
              </a:rPr>
              <a:t>A02:2021</a:t>
            </a:r>
            <a:endParaRPr lang="en-US" sz="1600" dirty="0"/>
          </a:p>
        </p:txBody>
      </p:sp>
      <p:sp>
        <p:nvSpPr>
          <p:cNvPr id="24" name="Shape 22"/>
          <p:cNvSpPr/>
          <p:nvPr/>
        </p:nvSpPr>
        <p:spPr>
          <a:xfrm>
            <a:off x="2231136" y="3474720"/>
            <a:ext cx="5120640" cy="658368"/>
          </a:xfrm>
          <a:prstGeom prst="rect">
            <a:avLst/>
          </a:prstGeom>
          <a:solidFill>
            <a:srgbClr val="F0F7FA"/>
          </a:solidFill>
          <a:ln w="12700">
            <a:solidFill>
              <a:srgbClr val="D0E0E3"/>
            </a:solidFill>
            <a:prstDash val="solid"/>
          </a:ln>
        </p:spPr>
      </p:sp>
      <p:sp>
        <p:nvSpPr>
          <p:cNvPr id="25" name="Text 23"/>
          <p:cNvSpPr/>
          <p:nvPr/>
        </p:nvSpPr>
        <p:spPr>
          <a:xfrm>
            <a:off x="2322576" y="3511296"/>
            <a:ext cx="493776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Cryptographic Failures</a:t>
            </a:r>
            <a:endParaRPr lang="en-US" sz="1700" dirty="0"/>
          </a:p>
        </p:txBody>
      </p:sp>
      <p:sp>
        <p:nvSpPr>
          <p:cNvPr id="26" name="Shape 24"/>
          <p:cNvSpPr/>
          <p:nvPr/>
        </p:nvSpPr>
        <p:spPr>
          <a:xfrm>
            <a:off x="7388352" y="3474720"/>
            <a:ext cx="4846320" cy="658368"/>
          </a:xfrm>
          <a:prstGeom prst="rect">
            <a:avLst/>
          </a:prstGeom>
          <a:solidFill>
            <a:srgbClr val="F0F7FA"/>
          </a:solidFill>
          <a:ln w="12700">
            <a:solidFill>
              <a:srgbClr val="D0E0E3"/>
            </a:solidFill>
            <a:prstDash val="solid"/>
          </a:ln>
        </p:spPr>
      </p:sp>
      <p:sp>
        <p:nvSpPr>
          <p:cNvPr id="27" name="Text 25"/>
          <p:cNvSpPr/>
          <p:nvPr/>
        </p:nvSpPr>
        <p:spPr>
          <a:xfrm>
            <a:off x="7479792" y="3511296"/>
            <a:ext cx="46634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Data exposed in transit/rest</a:t>
            </a:r>
            <a:endParaRPr lang="en-US" sz="1700" dirty="0"/>
          </a:p>
        </p:txBody>
      </p:sp>
      <p:sp>
        <p:nvSpPr>
          <p:cNvPr id="28" name="Shape 26"/>
          <p:cNvSpPr/>
          <p:nvPr/>
        </p:nvSpPr>
        <p:spPr>
          <a:xfrm>
            <a:off x="12271248" y="3474720"/>
            <a:ext cx="5760720" cy="658368"/>
          </a:xfrm>
          <a:prstGeom prst="rect">
            <a:avLst/>
          </a:prstGeom>
          <a:solidFill>
            <a:srgbClr val="F0F7FA"/>
          </a:solidFill>
          <a:ln w="12700">
            <a:solidFill>
              <a:srgbClr val="D0E0E3"/>
            </a:solidFill>
            <a:prstDash val="solid"/>
          </a:ln>
        </p:spPr>
      </p:sp>
      <p:sp>
        <p:nvSpPr>
          <p:cNvPr id="29" name="Text 27"/>
          <p:cNvSpPr/>
          <p:nvPr/>
        </p:nvSpPr>
        <p:spPr>
          <a:xfrm>
            <a:off x="12362688" y="3511296"/>
            <a:ext cx="55778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TLS 1.2+, AES-256, bcrypt</a:t>
            </a:r>
            <a:endParaRPr lang="en-US" sz="1700" dirty="0"/>
          </a:p>
        </p:txBody>
      </p:sp>
      <p:sp>
        <p:nvSpPr>
          <p:cNvPr id="30" name="Shape 28"/>
          <p:cNvSpPr/>
          <p:nvPr/>
        </p:nvSpPr>
        <p:spPr>
          <a:xfrm>
            <a:off x="365760" y="4169664"/>
            <a:ext cx="1828800" cy="658368"/>
          </a:xfrm>
          <a:prstGeom prst="rect">
            <a:avLst/>
          </a:prstGeom>
          <a:solidFill>
            <a:srgbClr val="E67E22"/>
          </a:solidFill>
          <a:ln w="12700">
            <a:solidFill>
              <a:srgbClr val="D0E0E3"/>
            </a:solidFill>
            <a:prstDash val="solid"/>
          </a:ln>
        </p:spPr>
      </p:sp>
      <p:sp>
        <p:nvSpPr>
          <p:cNvPr id="31" name="Text 29"/>
          <p:cNvSpPr/>
          <p:nvPr/>
        </p:nvSpPr>
        <p:spPr>
          <a:xfrm>
            <a:off x="457200" y="4206240"/>
            <a:ext cx="1645920" cy="585216"/>
          </a:xfrm>
          <a:prstGeom prst="rect">
            <a:avLst/>
          </a:prstGeom>
          <a:noFill/>
          <a:ln/>
        </p:spPr>
        <p:txBody>
          <a:bodyPr wrap="square" rtlCol="0" anchor="ctr"/>
          <a:lstStyle/>
          <a:p>
            <a:r>
              <a:rPr lang="en-US" sz="1600" b="1" dirty="0">
                <a:solidFill>
                  <a:srgbClr val="FFFFFF"/>
                </a:solidFill>
                <a:latin typeface="Arial Black" pitchFamily="34" charset="0"/>
                <a:ea typeface="Arial Black" pitchFamily="34" charset="-122"/>
                <a:cs typeface="Arial Black" pitchFamily="34" charset="-120"/>
              </a:rPr>
              <a:t>A03:2021</a:t>
            </a:r>
            <a:endParaRPr lang="en-US" sz="1600" dirty="0"/>
          </a:p>
        </p:txBody>
      </p:sp>
      <p:sp>
        <p:nvSpPr>
          <p:cNvPr id="32" name="Shape 30"/>
          <p:cNvSpPr/>
          <p:nvPr/>
        </p:nvSpPr>
        <p:spPr>
          <a:xfrm>
            <a:off x="2231136" y="4169664"/>
            <a:ext cx="5120640" cy="658368"/>
          </a:xfrm>
          <a:prstGeom prst="rect">
            <a:avLst/>
          </a:prstGeom>
          <a:solidFill>
            <a:srgbClr val="FFFFFF"/>
          </a:solidFill>
          <a:ln w="12700">
            <a:solidFill>
              <a:srgbClr val="D0E0E3"/>
            </a:solidFill>
            <a:prstDash val="solid"/>
          </a:ln>
        </p:spPr>
      </p:sp>
      <p:sp>
        <p:nvSpPr>
          <p:cNvPr id="33" name="Text 31"/>
          <p:cNvSpPr/>
          <p:nvPr/>
        </p:nvSpPr>
        <p:spPr>
          <a:xfrm>
            <a:off x="2322576" y="4206240"/>
            <a:ext cx="493776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Injection</a:t>
            </a:r>
            <a:endParaRPr lang="en-US" sz="1700" dirty="0"/>
          </a:p>
        </p:txBody>
      </p:sp>
      <p:sp>
        <p:nvSpPr>
          <p:cNvPr id="34" name="Shape 32"/>
          <p:cNvSpPr/>
          <p:nvPr/>
        </p:nvSpPr>
        <p:spPr>
          <a:xfrm>
            <a:off x="7388352" y="4169664"/>
            <a:ext cx="4846320" cy="658368"/>
          </a:xfrm>
          <a:prstGeom prst="rect">
            <a:avLst/>
          </a:prstGeom>
          <a:solidFill>
            <a:srgbClr val="FFFFFF"/>
          </a:solidFill>
          <a:ln w="12700">
            <a:solidFill>
              <a:srgbClr val="D0E0E3"/>
            </a:solidFill>
            <a:prstDash val="solid"/>
          </a:ln>
        </p:spPr>
      </p:sp>
      <p:sp>
        <p:nvSpPr>
          <p:cNvPr id="35" name="Text 33"/>
          <p:cNvSpPr/>
          <p:nvPr/>
        </p:nvSpPr>
        <p:spPr>
          <a:xfrm>
            <a:off x="7479792" y="4206240"/>
            <a:ext cx="46634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Malicious code execution</a:t>
            </a:r>
            <a:endParaRPr lang="en-US" sz="1700" dirty="0"/>
          </a:p>
        </p:txBody>
      </p:sp>
      <p:sp>
        <p:nvSpPr>
          <p:cNvPr id="36" name="Shape 34"/>
          <p:cNvSpPr/>
          <p:nvPr/>
        </p:nvSpPr>
        <p:spPr>
          <a:xfrm>
            <a:off x="12271248" y="4169664"/>
            <a:ext cx="5760720" cy="658368"/>
          </a:xfrm>
          <a:prstGeom prst="rect">
            <a:avLst/>
          </a:prstGeom>
          <a:solidFill>
            <a:srgbClr val="FFFFFF"/>
          </a:solidFill>
          <a:ln w="12700">
            <a:solidFill>
              <a:srgbClr val="D0E0E3"/>
            </a:solidFill>
            <a:prstDash val="solid"/>
          </a:ln>
        </p:spPr>
      </p:sp>
      <p:sp>
        <p:nvSpPr>
          <p:cNvPr id="37" name="Text 35"/>
          <p:cNvSpPr/>
          <p:nvPr/>
        </p:nvSpPr>
        <p:spPr>
          <a:xfrm>
            <a:off x="12362688" y="4206240"/>
            <a:ext cx="55778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Parameterized queries, input validation</a:t>
            </a:r>
            <a:endParaRPr lang="en-US" sz="1700" dirty="0"/>
          </a:p>
        </p:txBody>
      </p:sp>
      <p:sp>
        <p:nvSpPr>
          <p:cNvPr id="38" name="Shape 36"/>
          <p:cNvSpPr/>
          <p:nvPr/>
        </p:nvSpPr>
        <p:spPr>
          <a:xfrm>
            <a:off x="365760" y="4864608"/>
            <a:ext cx="1828800" cy="658368"/>
          </a:xfrm>
          <a:prstGeom prst="rect">
            <a:avLst/>
          </a:prstGeom>
          <a:solidFill>
            <a:srgbClr val="2980B9"/>
          </a:solidFill>
          <a:ln w="12700">
            <a:solidFill>
              <a:srgbClr val="D0E0E3"/>
            </a:solidFill>
            <a:prstDash val="solid"/>
          </a:ln>
        </p:spPr>
      </p:sp>
      <p:sp>
        <p:nvSpPr>
          <p:cNvPr id="39" name="Text 37"/>
          <p:cNvSpPr/>
          <p:nvPr/>
        </p:nvSpPr>
        <p:spPr>
          <a:xfrm>
            <a:off x="457200" y="4901184"/>
            <a:ext cx="1645920" cy="585216"/>
          </a:xfrm>
          <a:prstGeom prst="rect">
            <a:avLst/>
          </a:prstGeom>
          <a:noFill/>
          <a:ln/>
        </p:spPr>
        <p:txBody>
          <a:bodyPr wrap="square" rtlCol="0" anchor="ctr"/>
          <a:lstStyle/>
          <a:p>
            <a:r>
              <a:rPr lang="en-US" sz="1600" b="1" dirty="0">
                <a:solidFill>
                  <a:srgbClr val="FFFFFF"/>
                </a:solidFill>
                <a:latin typeface="Arial Black" pitchFamily="34" charset="0"/>
                <a:ea typeface="Arial Black" pitchFamily="34" charset="-122"/>
                <a:cs typeface="Arial Black" pitchFamily="34" charset="-120"/>
              </a:rPr>
              <a:t>A04:2021</a:t>
            </a:r>
            <a:endParaRPr lang="en-US" sz="1600" dirty="0"/>
          </a:p>
        </p:txBody>
      </p:sp>
      <p:sp>
        <p:nvSpPr>
          <p:cNvPr id="40" name="Shape 38"/>
          <p:cNvSpPr/>
          <p:nvPr/>
        </p:nvSpPr>
        <p:spPr>
          <a:xfrm>
            <a:off x="2231136" y="4864608"/>
            <a:ext cx="5120640" cy="658368"/>
          </a:xfrm>
          <a:prstGeom prst="rect">
            <a:avLst/>
          </a:prstGeom>
          <a:solidFill>
            <a:srgbClr val="F0F7FA"/>
          </a:solidFill>
          <a:ln w="12700">
            <a:solidFill>
              <a:srgbClr val="D0E0E3"/>
            </a:solidFill>
            <a:prstDash val="solid"/>
          </a:ln>
        </p:spPr>
      </p:sp>
      <p:sp>
        <p:nvSpPr>
          <p:cNvPr id="41" name="Text 39"/>
          <p:cNvSpPr/>
          <p:nvPr/>
        </p:nvSpPr>
        <p:spPr>
          <a:xfrm>
            <a:off x="2322576" y="4901184"/>
            <a:ext cx="493776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Insecure Design</a:t>
            </a:r>
            <a:endParaRPr lang="en-US" sz="1700" dirty="0"/>
          </a:p>
        </p:txBody>
      </p:sp>
      <p:sp>
        <p:nvSpPr>
          <p:cNvPr id="42" name="Shape 40"/>
          <p:cNvSpPr/>
          <p:nvPr/>
        </p:nvSpPr>
        <p:spPr>
          <a:xfrm>
            <a:off x="7388352" y="4864608"/>
            <a:ext cx="4846320" cy="658368"/>
          </a:xfrm>
          <a:prstGeom prst="rect">
            <a:avLst/>
          </a:prstGeom>
          <a:solidFill>
            <a:srgbClr val="F0F7FA"/>
          </a:solidFill>
          <a:ln w="12700">
            <a:solidFill>
              <a:srgbClr val="D0E0E3"/>
            </a:solidFill>
            <a:prstDash val="solid"/>
          </a:ln>
        </p:spPr>
      </p:sp>
      <p:sp>
        <p:nvSpPr>
          <p:cNvPr id="43" name="Text 41"/>
          <p:cNvSpPr/>
          <p:nvPr/>
        </p:nvSpPr>
        <p:spPr>
          <a:xfrm>
            <a:off x="7479792" y="4901184"/>
            <a:ext cx="46634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Flawed architecture/logic</a:t>
            </a:r>
            <a:endParaRPr lang="en-US" sz="1700" dirty="0"/>
          </a:p>
        </p:txBody>
      </p:sp>
      <p:sp>
        <p:nvSpPr>
          <p:cNvPr id="44" name="Shape 42"/>
          <p:cNvSpPr/>
          <p:nvPr/>
        </p:nvSpPr>
        <p:spPr>
          <a:xfrm>
            <a:off x="12271248" y="4864608"/>
            <a:ext cx="5760720" cy="658368"/>
          </a:xfrm>
          <a:prstGeom prst="rect">
            <a:avLst/>
          </a:prstGeom>
          <a:solidFill>
            <a:srgbClr val="F0F7FA"/>
          </a:solidFill>
          <a:ln w="12700">
            <a:solidFill>
              <a:srgbClr val="D0E0E3"/>
            </a:solidFill>
            <a:prstDash val="solid"/>
          </a:ln>
        </p:spPr>
      </p:sp>
      <p:sp>
        <p:nvSpPr>
          <p:cNvPr id="45" name="Text 43"/>
          <p:cNvSpPr/>
          <p:nvPr/>
        </p:nvSpPr>
        <p:spPr>
          <a:xfrm>
            <a:off x="12362688" y="4901184"/>
            <a:ext cx="55778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Threat modeling, secure SDLC</a:t>
            </a:r>
            <a:endParaRPr lang="en-US" sz="1700" dirty="0"/>
          </a:p>
        </p:txBody>
      </p:sp>
      <p:sp>
        <p:nvSpPr>
          <p:cNvPr id="46" name="Shape 44"/>
          <p:cNvSpPr/>
          <p:nvPr/>
        </p:nvSpPr>
        <p:spPr>
          <a:xfrm>
            <a:off x="365760" y="5559552"/>
            <a:ext cx="1828800" cy="658368"/>
          </a:xfrm>
          <a:prstGeom prst="rect">
            <a:avLst/>
          </a:prstGeom>
          <a:solidFill>
            <a:srgbClr val="D35400"/>
          </a:solidFill>
          <a:ln w="12700">
            <a:solidFill>
              <a:srgbClr val="D0E0E3"/>
            </a:solidFill>
            <a:prstDash val="solid"/>
          </a:ln>
        </p:spPr>
      </p:sp>
      <p:sp>
        <p:nvSpPr>
          <p:cNvPr id="47" name="Text 45"/>
          <p:cNvSpPr/>
          <p:nvPr/>
        </p:nvSpPr>
        <p:spPr>
          <a:xfrm>
            <a:off x="457200" y="5596128"/>
            <a:ext cx="1645920" cy="585216"/>
          </a:xfrm>
          <a:prstGeom prst="rect">
            <a:avLst/>
          </a:prstGeom>
          <a:noFill/>
          <a:ln/>
        </p:spPr>
        <p:txBody>
          <a:bodyPr wrap="square" rtlCol="0" anchor="ctr"/>
          <a:lstStyle/>
          <a:p>
            <a:r>
              <a:rPr lang="en-US" sz="1600" b="1" dirty="0">
                <a:solidFill>
                  <a:srgbClr val="FFFFFF"/>
                </a:solidFill>
                <a:latin typeface="Arial Black" pitchFamily="34" charset="0"/>
                <a:ea typeface="Arial Black" pitchFamily="34" charset="-122"/>
                <a:cs typeface="Arial Black" pitchFamily="34" charset="-120"/>
              </a:rPr>
              <a:t>A05:2021</a:t>
            </a:r>
            <a:endParaRPr lang="en-US" sz="1600" dirty="0"/>
          </a:p>
        </p:txBody>
      </p:sp>
      <p:sp>
        <p:nvSpPr>
          <p:cNvPr id="48" name="Shape 46"/>
          <p:cNvSpPr/>
          <p:nvPr/>
        </p:nvSpPr>
        <p:spPr>
          <a:xfrm>
            <a:off x="2231136" y="5559552"/>
            <a:ext cx="5120640" cy="658368"/>
          </a:xfrm>
          <a:prstGeom prst="rect">
            <a:avLst/>
          </a:prstGeom>
          <a:solidFill>
            <a:srgbClr val="FFFFFF"/>
          </a:solidFill>
          <a:ln w="12700">
            <a:solidFill>
              <a:srgbClr val="D0E0E3"/>
            </a:solidFill>
            <a:prstDash val="solid"/>
          </a:ln>
        </p:spPr>
      </p:sp>
      <p:sp>
        <p:nvSpPr>
          <p:cNvPr id="49" name="Text 47"/>
          <p:cNvSpPr/>
          <p:nvPr/>
        </p:nvSpPr>
        <p:spPr>
          <a:xfrm>
            <a:off x="2322576" y="5596128"/>
            <a:ext cx="493776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Security Misconfiguration</a:t>
            </a:r>
            <a:endParaRPr lang="en-US" sz="1700" dirty="0"/>
          </a:p>
        </p:txBody>
      </p:sp>
      <p:sp>
        <p:nvSpPr>
          <p:cNvPr id="50" name="Shape 48"/>
          <p:cNvSpPr/>
          <p:nvPr/>
        </p:nvSpPr>
        <p:spPr>
          <a:xfrm>
            <a:off x="7388352" y="5559552"/>
            <a:ext cx="4846320" cy="658368"/>
          </a:xfrm>
          <a:prstGeom prst="rect">
            <a:avLst/>
          </a:prstGeom>
          <a:solidFill>
            <a:srgbClr val="FFFFFF"/>
          </a:solidFill>
          <a:ln w="12700">
            <a:solidFill>
              <a:srgbClr val="D0E0E3"/>
            </a:solidFill>
            <a:prstDash val="solid"/>
          </a:ln>
        </p:spPr>
      </p:sp>
      <p:sp>
        <p:nvSpPr>
          <p:cNvPr id="51" name="Text 49"/>
          <p:cNvSpPr/>
          <p:nvPr/>
        </p:nvSpPr>
        <p:spPr>
          <a:xfrm>
            <a:off x="7479792" y="5596128"/>
            <a:ext cx="46634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Default/weak configurations</a:t>
            </a:r>
            <a:endParaRPr lang="en-US" sz="1700" dirty="0"/>
          </a:p>
        </p:txBody>
      </p:sp>
      <p:sp>
        <p:nvSpPr>
          <p:cNvPr id="52" name="Shape 50"/>
          <p:cNvSpPr/>
          <p:nvPr/>
        </p:nvSpPr>
        <p:spPr>
          <a:xfrm>
            <a:off x="12271248" y="5559552"/>
            <a:ext cx="5760720" cy="658368"/>
          </a:xfrm>
          <a:prstGeom prst="rect">
            <a:avLst/>
          </a:prstGeom>
          <a:solidFill>
            <a:srgbClr val="FFFFFF"/>
          </a:solidFill>
          <a:ln w="12700">
            <a:solidFill>
              <a:srgbClr val="D0E0E3"/>
            </a:solidFill>
            <a:prstDash val="solid"/>
          </a:ln>
        </p:spPr>
      </p:sp>
      <p:sp>
        <p:nvSpPr>
          <p:cNvPr id="53" name="Text 51"/>
          <p:cNvSpPr/>
          <p:nvPr/>
        </p:nvSpPr>
        <p:spPr>
          <a:xfrm>
            <a:off x="12362688" y="5596128"/>
            <a:ext cx="55778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Hardening, patching, no defaults</a:t>
            </a:r>
            <a:endParaRPr lang="en-US" sz="1700" dirty="0"/>
          </a:p>
        </p:txBody>
      </p:sp>
      <p:sp>
        <p:nvSpPr>
          <p:cNvPr id="54" name="Shape 52"/>
          <p:cNvSpPr/>
          <p:nvPr/>
        </p:nvSpPr>
        <p:spPr>
          <a:xfrm>
            <a:off x="365760" y="6254496"/>
            <a:ext cx="1828800" cy="658368"/>
          </a:xfrm>
          <a:prstGeom prst="rect">
            <a:avLst/>
          </a:prstGeom>
          <a:solidFill>
            <a:srgbClr val="C0392B"/>
          </a:solidFill>
          <a:ln w="12700">
            <a:solidFill>
              <a:srgbClr val="D0E0E3"/>
            </a:solidFill>
            <a:prstDash val="solid"/>
          </a:ln>
        </p:spPr>
      </p:sp>
      <p:sp>
        <p:nvSpPr>
          <p:cNvPr id="55" name="Text 53"/>
          <p:cNvSpPr/>
          <p:nvPr/>
        </p:nvSpPr>
        <p:spPr>
          <a:xfrm>
            <a:off x="457200" y="6291072"/>
            <a:ext cx="1645920" cy="585216"/>
          </a:xfrm>
          <a:prstGeom prst="rect">
            <a:avLst/>
          </a:prstGeom>
          <a:noFill/>
          <a:ln/>
        </p:spPr>
        <p:txBody>
          <a:bodyPr wrap="square" rtlCol="0" anchor="ctr"/>
          <a:lstStyle/>
          <a:p>
            <a:r>
              <a:rPr lang="en-US" sz="1600" b="1" dirty="0">
                <a:solidFill>
                  <a:srgbClr val="FFFFFF"/>
                </a:solidFill>
                <a:latin typeface="Arial Black" pitchFamily="34" charset="0"/>
                <a:ea typeface="Arial Black" pitchFamily="34" charset="-122"/>
                <a:cs typeface="Arial Black" pitchFamily="34" charset="-120"/>
              </a:rPr>
              <a:t>A06:2021</a:t>
            </a:r>
            <a:endParaRPr lang="en-US" sz="1600" dirty="0"/>
          </a:p>
        </p:txBody>
      </p:sp>
      <p:sp>
        <p:nvSpPr>
          <p:cNvPr id="56" name="Shape 54"/>
          <p:cNvSpPr/>
          <p:nvPr/>
        </p:nvSpPr>
        <p:spPr>
          <a:xfrm>
            <a:off x="2231136" y="6254496"/>
            <a:ext cx="5120640" cy="658368"/>
          </a:xfrm>
          <a:prstGeom prst="rect">
            <a:avLst/>
          </a:prstGeom>
          <a:solidFill>
            <a:srgbClr val="F0F7FA"/>
          </a:solidFill>
          <a:ln w="12700">
            <a:solidFill>
              <a:srgbClr val="D0E0E3"/>
            </a:solidFill>
            <a:prstDash val="solid"/>
          </a:ln>
        </p:spPr>
      </p:sp>
      <p:sp>
        <p:nvSpPr>
          <p:cNvPr id="57" name="Text 55"/>
          <p:cNvSpPr/>
          <p:nvPr/>
        </p:nvSpPr>
        <p:spPr>
          <a:xfrm>
            <a:off x="2322576" y="6291072"/>
            <a:ext cx="493776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Vulnerable Components</a:t>
            </a:r>
            <a:endParaRPr lang="en-US" sz="1700" dirty="0"/>
          </a:p>
        </p:txBody>
      </p:sp>
      <p:sp>
        <p:nvSpPr>
          <p:cNvPr id="58" name="Shape 56"/>
          <p:cNvSpPr/>
          <p:nvPr/>
        </p:nvSpPr>
        <p:spPr>
          <a:xfrm>
            <a:off x="7388352" y="6254496"/>
            <a:ext cx="4846320" cy="658368"/>
          </a:xfrm>
          <a:prstGeom prst="rect">
            <a:avLst/>
          </a:prstGeom>
          <a:solidFill>
            <a:srgbClr val="F0F7FA"/>
          </a:solidFill>
          <a:ln w="12700">
            <a:solidFill>
              <a:srgbClr val="D0E0E3"/>
            </a:solidFill>
            <a:prstDash val="solid"/>
          </a:ln>
        </p:spPr>
      </p:sp>
      <p:sp>
        <p:nvSpPr>
          <p:cNvPr id="59" name="Text 57"/>
          <p:cNvSpPr/>
          <p:nvPr/>
        </p:nvSpPr>
        <p:spPr>
          <a:xfrm>
            <a:off x="7479792" y="6291072"/>
            <a:ext cx="46634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Outdated/unpatched libraries</a:t>
            </a:r>
            <a:endParaRPr lang="en-US" sz="1700" dirty="0"/>
          </a:p>
        </p:txBody>
      </p:sp>
      <p:sp>
        <p:nvSpPr>
          <p:cNvPr id="60" name="Shape 58"/>
          <p:cNvSpPr/>
          <p:nvPr/>
        </p:nvSpPr>
        <p:spPr>
          <a:xfrm>
            <a:off x="12271248" y="6254496"/>
            <a:ext cx="5760720" cy="658368"/>
          </a:xfrm>
          <a:prstGeom prst="rect">
            <a:avLst/>
          </a:prstGeom>
          <a:solidFill>
            <a:srgbClr val="F0F7FA"/>
          </a:solidFill>
          <a:ln w="12700">
            <a:solidFill>
              <a:srgbClr val="D0E0E3"/>
            </a:solidFill>
            <a:prstDash val="solid"/>
          </a:ln>
        </p:spPr>
      </p:sp>
      <p:sp>
        <p:nvSpPr>
          <p:cNvPr id="61" name="Text 59"/>
          <p:cNvSpPr/>
          <p:nvPr/>
        </p:nvSpPr>
        <p:spPr>
          <a:xfrm>
            <a:off x="12362688" y="6291072"/>
            <a:ext cx="55778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Patch management, SBOM, WAF</a:t>
            </a:r>
            <a:endParaRPr lang="en-US" sz="1700" dirty="0"/>
          </a:p>
        </p:txBody>
      </p:sp>
      <p:sp>
        <p:nvSpPr>
          <p:cNvPr id="62" name="Shape 60"/>
          <p:cNvSpPr/>
          <p:nvPr/>
        </p:nvSpPr>
        <p:spPr>
          <a:xfrm>
            <a:off x="365760" y="6949440"/>
            <a:ext cx="1828800" cy="658368"/>
          </a:xfrm>
          <a:prstGeom prst="rect">
            <a:avLst/>
          </a:prstGeom>
          <a:solidFill>
            <a:srgbClr val="8E44AD"/>
          </a:solidFill>
          <a:ln w="12700">
            <a:solidFill>
              <a:srgbClr val="D0E0E3"/>
            </a:solidFill>
            <a:prstDash val="solid"/>
          </a:ln>
        </p:spPr>
      </p:sp>
      <p:sp>
        <p:nvSpPr>
          <p:cNvPr id="63" name="Text 61"/>
          <p:cNvSpPr/>
          <p:nvPr/>
        </p:nvSpPr>
        <p:spPr>
          <a:xfrm>
            <a:off x="457200" y="6986016"/>
            <a:ext cx="1645920" cy="585216"/>
          </a:xfrm>
          <a:prstGeom prst="rect">
            <a:avLst/>
          </a:prstGeom>
          <a:noFill/>
          <a:ln/>
        </p:spPr>
        <p:txBody>
          <a:bodyPr wrap="square" rtlCol="0" anchor="ctr"/>
          <a:lstStyle/>
          <a:p>
            <a:r>
              <a:rPr lang="en-US" sz="1600" b="1" dirty="0">
                <a:solidFill>
                  <a:srgbClr val="FFFFFF"/>
                </a:solidFill>
                <a:latin typeface="Arial Black" pitchFamily="34" charset="0"/>
                <a:ea typeface="Arial Black" pitchFamily="34" charset="-122"/>
                <a:cs typeface="Arial Black" pitchFamily="34" charset="-120"/>
              </a:rPr>
              <a:t>A07:2021</a:t>
            </a:r>
            <a:endParaRPr lang="en-US" sz="1600" dirty="0"/>
          </a:p>
        </p:txBody>
      </p:sp>
      <p:sp>
        <p:nvSpPr>
          <p:cNvPr id="64" name="Shape 62"/>
          <p:cNvSpPr/>
          <p:nvPr/>
        </p:nvSpPr>
        <p:spPr>
          <a:xfrm>
            <a:off x="2231136" y="6949440"/>
            <a:ext cx="5120640" cy="658368"/>
          </a:xfrm>
          <a:prstGeom prst="rect">
            <a:avLst/>
          </a:prstGeom>
          <a:solidFill>
            <a:srgbClr val="FFFFFF"/>
          </a:solidFill>
          <a:ln w="12700">
            <a:solidFill>
              <a:srgbClr val="D0E0E3"/>
            </a:solidFill>
            <a:prstDash val="solid"/>
          </a:ln>
        </p:spPr>
      </p:sp>
      <p:sp>
        <p:nvSpPr>
          <p:cNvPr id="65" name="Text 63"/>
          <p:cNvSpPr/>
          <p:nvPr/>
        </p:nvSpPr>
        <p:spPr>
          <a:xfrm>
            <a:off x="2322576" y="6986016"/>
            <a:ext cx="493776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Auth Failures</a:t>
            </a:r>
            <a:endParaRPr lang="en-US" sz="1700" dirty="0"/>
          </a:p>
        </p:txBody>
      </p:sp>
      <p:sp>
        <p:nvSpPr>
          <p:cNvPr id="66" name="Shape 64"/>
          <p:cNvSpPr/>
          <p:nvPr/>
        </p:nvSpPr>
        <p:spPr>
          <a:xfrm>
            <a:off x="7388352" y="6949440"/>
            <a:ext cx="4846320" cy="658368"/>
          </a:xfrm>
          <a:prstGeom prst="rect">
            <a:avLst/>
          </a:prstGeom>
          <a:solidFill>
            <a:srgbClr val="FFFFFF"/>
          </a:solidFill>
          <a:ln w="12700">
            <a:solidFill>
              <a:srgbClr val="D0E0E3"/>
            </a:solidFill>
            <a:prstDash val="solid"/>
          </a:ln>
        </p:spPr>
      </p:sp>
      <p:sp>
        <p:nvSpPr>
          <p:cNvPr id="67" name="Text 65"/>
          <p:cNvSpPr/>
          <p:nvPr/>
        </p:nvSpPr>
        <p:spPr>
          <a:xfrm>
            <a:off x="7479792" y="6986016"/>
            <a:ext cx="46634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Weak login, no MFA</a:t>
            </a:r>
            <a:endParaRPr lang="en-US" sz="1700" dirty="0"/>
          </a:p>
        </p:txBody>
      </p:sp>
      <p:sp>
        <p:nvSpPr>
          <p:cNvPr id="68" name="Shape 66"/>
          <p:cNvSpPr/>
          <p:nvPr/>
        </p:nvSpPr>
        <p:spPr>
          <a:xfrm>
            <a:off x="12271248" y="6949440"/>
            <a:ext cx="5760720" cy="658368"/>
          </a:xfrm>
          <a:prstGeom prst="rect">
            <a:avLst/>
          </a:prstGeom>
          <a:solidFill>
            <a:srgbClr val="FFFFFF"/>
          </a:solidFill>
          <a:ln w="12700">
            <a:solidFill>
              <a:srgbClr val="D0E0E3"/>
            </a:solidFill>
            <a:prstDash val="solid"/>
          </a:ln>
        </p:spPr>
      </p:sp>
      <p:sp>
        <p:nvSpPr>
          <p:cNvPr id="69" name="Text 67"/>
          <p:cNvSpPr/>
          <p:nvPr/>
        </p:nvSpPr>
        <p:spPr>
          <a:xfrm>
            <a:off x="12362688" y="6986016"/>
            <a:ext cx="55778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Strong passwords, MFA, session mgmt</a:t>
            </a:r>
            <a:endParaRPr lang="en-US" sz="1700" dirty="0"/>
          </a:p>
        </p:txBody>
      </p:sp>
      <p:sp>
        <p:nvSpPr>
          <p:cNvPr id="70" name="Shape 68"/>
          <p:cNvSpPr/>
          <p:nvPr/>
        </p:nvSpPr>
        <p:spPr>
          <a:xfrm>
            <a:off x="365760" y="7644384"/>
            <a:ext cx="1828800" cy="658368"/>
          </a:xfrm>
          <a:prstGeom prst="rect">
            <a:avLst/>
          </a:prstGeom>
          <a:solidFill>
            <a:srgbClr val="27AE60"/>
          </a:solidFill>
          <a:ln w="12700">
            <a:solidFill>
              <a:srgbClr val="D0E0E3"/>
            </a:solidFill>
            <a:prstDash val="solid"/>
          </a:ln>
        </p:spPr>
      </p:sp>
      <p:sp>
        <p:nvSpPr>
          <p:cNvPr id="71" name="Text 69"/>
          <p:cNvSpPr/>
          <p:nvPr/>
        </p:nvSpPr>
        <p:spPr>
          <a:xfrm>
            <a:off x="457200" y="7680960"/>
            <a:ext cx="1645920" cy="585216"/>
          </a:xfrm>
          <a:prstGeom prst="rect">
            <a:avLst/>
          </a:prstGeom>
          <a:noFill/>
          <a:ln/>
        </p:spPr>
        <p:txBody>
          <a:bodyPr wrap="square" rtlCol="0" anchor="ctr"/>
          <a:lstStyle/>
          <a:p>
            <a:r>
              <a:rPr lang="en-US" sz="1600" b="1" dirty="0">
                <a:solidFill>
                  <a:srgbClr val="FFFFFF"/>
                </a:solidFill>
                <a:latin typeface="Arial Black" pitchFamily="34" charset="0"/>
                <a:ea typeface="Arial Black" pitchFamily="34" charset="-122"/>
                <a:cs typeface="Arial Black" pitchFamily="34" charset="-120"/>
              </a:rPr>
              <a:t>A08:2021</a:t>
            </a:r>
            <a:endParaRPr lang="en-US" sz="1600" dirty="0"/>
          </a:p>
        </p:txBody>
      </p:sp>
      <p:sp>
        <p:nvSpPr>
          <p:cNvPr id="72" name="Shape 70"/>
          <p:cNvSpPr/>
          <p:nvPr/>
        </p:nvSpPr>
        <p:spPr>
          <a:xfrm>
            <a:off x="2231136" y="7644384"/>
            <a:ext cx="5120640" cy="658368"/>
          </a:xfrm>
          <a:prstGeom prst="rect">
            <a:avLst/>
          </a:prstGeom>
          <a:solidFill>
            <a:srgbClr val="F0F7FA"/>
          </a:solidFill>
          <a:ln w="12700">
            <a:solidFill>
              <a:srgbClr val="D0E0E3"/>
            </a:solidFill>
            <a:prstDash val="solid"/>
          </a:ln>
        </p:spPr>
      </p:sp>
      <p:sp>
        <p:nvSpPr>
          <p:cNvPr id="73" name="Text 71"/>
          <p:cNvSpPr/>
          <p:nvPr/>
        </p:nvSpPr>
        <p:spPr>
          <a:xfrm>
            <a:off x="2322576" y="7680960"/>
            <a:ext cx="493776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Data Integrity Failures</a:t>
            </a:r>
            <a:endParaRPr lang="en-US" sz="1700" dirty="0"/>
          </a:p>
        </p:txBody>
      </p:sp>
      <p:sp>
        <p:nvSpPr>
          <p:cNvPr id="74" name="Shape 72"/>
          <p:cNvSpPr/>
          <p:nvPr/>
        </p:nvSpPr>
        <p:spPr>
          <a:xfrm>
            <a:off x="7388352" y="7644384"/>
            <a:ext cx="4846320" cy="658368"/>
          </a:xfrm>
          <a:prstGeom prst="rect">
            <a:avLst/>
          </a:prstGeom>
          <a:solidFill>
            <a:srgbClr val="F0F7FA"/>
          </a:solidFill>
          <a:ln w="12700">
            <a:solidFill>
              <a:srgbClr val="D0E0E3"/>
            </a:solidFill>
            <a:prstDash val="solid"/>
          </a:ln>
        </p:spPr>
      </p:sp>
      <p:sp>
        <p:nvSpPr>
          <p:cNvPr id="75" name="Text 73"/>
          <p:cNvSpPr/>
          <p:nvPr/>
        </p:nvSpPr>
        <p:spPr>
          <a:xfrm>
            <a:off x="7479792" y="7680960"/>
            <a:ext cx="46634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Tampered updates/code</a:t>
            </a:r>
            <a:endParaRPr lang="en-US" sz="1700" dirty="0"/>
          </a:p>
        </p:txBody>
      </p:sp>
      <p:sp>
        <p:nvSpPr>
          <p:cNvPr id="76" name="Shape 74"/>
          <p:cNvSpPr/>
          <p:nvPr/>
        </p:nvSpPr>
        <p:spPr>
          <a:xfrm>
            <a:off x="12271248" y="7644384"/>
            <a:ext cx="5760720" cy="658368"/>
          </a:xfrm>
          <a:prstGeom prst="rect">
            <a:avLst/>
          </a:prstGeom>
          <a:solidFill>
            <a:srgbClr val="F0F7FA"/>
          </a:solidFill>
          <a:ln w="12700">
            <a:solidFill>
              <a:srgbClr val="D0E0E3"/>
            </a:solidFill>
            <a:prstDash val="solid"/>
          </a:ln>
        </p:spPr>
      </p:sp>
      <p:sp>
        <p:nvSpPr>
          <p:cNvPr id="77" name="Text 75"/>
          <p:cNvSpPr/>
          <p:nvPr/>
        </p:nvSpPr>
        <p:spPr>
          <a:xfrm>
            <a:off x="12362688" y="7680960"/>
            <a:ext cx="55778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Digital signatures, secure CI/CD</a:t>
            </a:r>
            <a:endParaRPr lang="en-US" sz="1700" dirty="0"/>
          </a:p>
        </p:txBody>
      </p:sp>
      <p:sp>
        <p:nvSpPr>
          <p:cNvPr id="78" name="Shape 76"/>
          <p:cNvSpPr/>
          <p:nvPr/>
        </p:nvSpPr>
        <p:spPr>
          <a:xfrm>
            <a:off x="365760" y="8339328"/>
            <a:ext cx="1828800" cy="658368"/>
          </a:xfrm>
          <a:prstGeom prst="rect">
            <a:avLst/>
          </a:prstGeom>
          <a:solidFill>
            <a:srgbClr val="E67E22"/>
          </a:solidFill>
          <a:ln w="12700">
            <a:solidFill>
              <a:srgbClr val="D0E0E3"/>
            </a:solidFill>
            <a:prstDash val="solid"/>
          </a:ln>
        </p:spPr>
      </p:sp>
      <p:sp>
        <p:nvSpPr>
          <p:cNvPr id="79" name="Text 77"/>
          <p:cNvSpPr/>
          <p:nvPr/>
        </p:nvSpPr>
        <p:spPr>
          <a:xfrm>
            <a:off x="457200" y="8375904"/>
            <a:ext cx="1645920" cy="585216"/>
          </a:xfrm>
          <a:prstGeom prst="rect">
            <a:avLst/>
          </a:prstGeom>
          <a:noFill/>
          <a:ln/>
        </p:spPr>
        <p:txBody>
          <a:bodyPr wrap="square" rtlCol="0" anchor="ctr"/>
          <a:lstStyle/>
          <a:p>
            <a:r>
              <a:rPr lang="en-US" sz="1600" b="1" dirty="0">
                <a:solidFill>
                  <a:srgbClr val="FFFFFF"/>
                </a:solidFill>
                <a:latin typeface="Arial Black" pitchFamily="34" charset="0"/>
                <a:ea typeface="Arial Black" pitchFamily="34" charset="-122"/>
                <a:cs typeface="Arial Black" pitchFamily="34" charset="-120"/>
              </a:rPr>
              <a:t>A09:2021</a:t>
            </a:r>
            <a:endParaRPr lang="en-US" sz="1600" dirty="0"/>
          </a:p>
        </p:txBody>
      </p:sp>
      <p:sp>
        <p:nvSpPr>
          <p:cNvPr id="80" name="Shape 78"/>
          <p:cNvSpPr/>
          <p:nvPr/>
        </p:nvSpPr>
        <p:spPr>
          <a:xfrm>
            <a:off x="2231136" y="8339328"/>
            <a:ext cx="5120640" cy="658368"/>
          </a:xfrm>
          <a:prstGeom prst="rect">
            <a:avLst/>
          </a:prstGeom>
          <a:solidFill>
            <a:srgbClr val="FFFFFF"/>
          </a:solidFill>
          <a:ln w="12700">
            <a:solidFill>
              <a:srgbClr val="D0E0E3"/>
            </a:solidFill>
            <a:prstDash val="solid"/>
          </a:ln>
        </p:spPr>
      </p:sp>
      <p:sp>
        <p:nvSpPr>
          <p:cNvPr id="81" name="Text 79"/>
          <p:cNvSpPr/>
          <p:nvPr/>
        </p:nvSpPr>
        <p:spPr>
          <a:xfrm>
            <a:off x="2322576" y="8375904"/>
            <a:ext cx="493776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Logging Failures</a:t>
            </a:r>
            <a:endParaRPr lang="en-US" sz="1700" dirty="0"/>
          </a:p>
        </p:txBody>
      </p:sp>
      <p:sp>
        <p:nvSpPr>
          <p:cNvPr id="82" name="Shape 80"/>
          <p:cNvSpPr/>
          <p:nvPr/>
        </p:nvSpPr>
        <p:spPr>
          <a:xfrm>
            <a:off x="7388352" y="8339328"/>
            <a:ext cx="4846320" cy="658368"/>
          </a:xfrm>
          <a:prstGeom prst="rect">
            <a:avLst/>
          </a:prstGeom>
          <a:solidFill>
            <a:srgbClr val="FFFFFF"/>
          </a:solidFill>
          <a:ln w="12700">
            <a:solidFill>
              <a:srgbClr val="D0E0E3"/>
            </a:solidFill>
            <a:prstDash val="solid"/>
          </a:ln>
        </p:spPr>
      </p:sp>
      <p:sp>
        <p:nvSpPr>
          <p:cNvPr id="83" name="Text 81"/>
          <p:cNvSpPr/>
          <p:nvPr/>
        </p:nvSpPr>
        <p:spPr>
          <a:xfrm>
            <a:off x="7479792" y="8375904"/>
            <a:ext cx="46634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Breaches go undetected</a:t>
            </a:r>
            <a:endParaRPr lang="en-US" sz="1700" dirty="0"/>
          </a:p>
        </p:txBody>
      </p:sp>
      <p:sp>
        <p:nvSpPr>
          <p:cNvPr id="84" name="Shape 82"/>
          <p:cNvSpPr/>
          <p:nvPr/>
        </p:nvSpPr>
        <p:spPr>
          <a:xfrm>
            <a:off x="12271248" y="8339328"/>
            <a:ext cx="5760720" cy="658368"/>
          </a:xfrm>
          <a:prstGeom prst="rect">
            <a:avLst/>
          </a:prstGeom>
          <a:solidFill>
            <a:srgbClr val="FFFFFF"/>
          </a:solidFill>
          <a:ln w="12700">
            <a:solidFill>
              <a:srgbClr val="D0E0E3"/>
            </a:solidFill>
            <a:prstDash val="solid"/>
          </a:ln>
        </p:spPr>
      </p:sp>
      <p:sp>
        <p:nvSpPr>
          <p:cNvPr id="85" name="Text 83"/>
          <p:cNvSpPr/>
          <p:nvPr/>
        </p:nvSpPr>
        <p:spPr>
          <a:xfrm>
            <a:off x="12362688" y="8375904"/>
            <a:ext cx="55778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SIEM, centralized logging, alerts</a:t>
            </a:r>
            <a:endParaRPr lang="en-US" sz="1700" dirty="0"/>
          </a:p>
        </p:txBody>
      </p:sp>
      <p:sp>
        <p:nvSpPr>
          <p:cNvPr id="86" name="Shape 84"/>
          <p:cNvSpPr/>
          <p:nvPr/>
        </p:nvSpPr>
        <p:spPr>
          <a:xfrm>
            <a:off x="365760" y="9034272"/>
            <a:ext cx="1828800" cy="658368"/>
          </a:xfrm>
          <a:prstGeom prst="rect">
            <a:avLst/>
          </a:prstGeom>
          <a:solidFill>
            <a:srgbClr val="1ABC9C"/>
          </a:solidFill>
          <a:ln w="12700">
            <a:solidFill>
              <a:srgbClr val="D0E0E3"/>
            </a:solidFill>
            <a:prstDash val="solid"/>
          </a:ln>
        </p:spPr>
      </p:sp>
      <p:sp>
        <p:nvSpPr>
          <p:cNvPr id="87" name="Text 85"/>
          <p:cNvSpPr/>
          <p:nvPr/>
        </p:nvSpPr>
        <p:spPr>
          <a:xfrm>
            <a:off x="457200" y="9070848"/>
            <a:ext cx="1645920" cy="585216"/>
          </a:xfrm>
          <a:prstGeom prst="rect">
            <a:avLst/>
          </a:prstGeom>
          <a:noFill/>
          <a:ln/>
        </p:spPr>
        <p:txBody>
          <a:bodyPr wrap="square" rtlCol="0" anchor="ctr"/>
          <a:lstStyle/>
          <a:p>
            <a:r>
              <a:rPr lang="en-US" sz="1600" b="1" dirty="0">
                <a:solidFill>
                  <a:srgbClr val="FFFFFF"/>
                </a:solidFill>
                <a:latin typeface="Arial Black" pitchFamily="34" charset="0"/>
                <a:ea typeface="Arial Black" pitchFamily="34" charset="-122"/>
                <a:cs typeface="Arial Black" pitchFamily="34" charset="-120"/>
              </a:rPr>
              <a:t>A10:2021</a:t>
            </a:r>
            <a:endParaRPr lang="en-US" sz="1600" dirty="0"/>
          </a:p>
        </p:txBody>
      </p:sp>
      <p:sp>
        <p:nvSpPr>
          <p:cNvPr id="88" name="Shape 86"/>
          <p:cNvSpPr/>
          <p:nvPr/>
        </p:nvSpPr>
        <p:spPr>
          <a:xfrm>
            <a:off x="2231136" y="9034272"/>
            <a:ext cx="5120640" cy="658368"/>
          </a:xfrm>
          <a:prstGeom prst="rect">
            <a:avLst/>
          </a:prstGeom>
          <a:solidFill>
            <a:srgbClr val="F0F7FA"/>
          </a:solidFill>
          <a:ln w="12700">
            <a:solidFill>
              <a:srgbClr val="D0E0E3"/>
            </a:solidFill>
            <a:prstDash val="solid"/>
          </a:ln>
        </p:spPr>
      </p:sp>
      <p:sp>
        <p:nvSpPr>
          <p:cNvPr id="89" name="Text 87"/>
          <p:cNvSpPr/>
          <p:nvPr/>
        </p:nvSpPr>
        <p:spPr>
          <a:xfrm>
            <a:off x="2322576" y="9070848"/>
            <a:ext cx="493776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 SSRF</a:t>
            </a:r>
            <a:endParaRPr lang="en-US" sz="1700" dirty="0"/>
          </a:p>
        </p:txBody>
      </p:sp>
      <p:sp>
        <p:nvSpPr>
          <p:cNvPr id="90" name="Shape 88"/>
          <p:cNvSpPr/>
          <p:nvPr/>
        </p:nvSpPr>
        <p:spPr>
          <a:xfrm>
            <a:off x="7388352" y="9034272"/>
            <a:ext cx="4846320" cy="658368"/>
          </a:xfrm>
          <a:prstGeom prst="rect">
            <a:avLst/>
          </a:prstGeom>
          <a:solidFill>
            <a:srgbClr val="F0F7FA"/>
          </a:solidFill>
          <a:ln w="12700">
            <a:solidFill>
              <a:srgbClr val="D0E0E3"/>
            </a:solidFill>
            <a:prstDash val="solid"/>
          </a:ln>
        </p:spPr>
      </p:sp>
      <p:sp>
        <p:nvSpPr>
          <p:cNvPr id="91" name="Text 89"/>
          <p:cNvSpPr/>
          <p:nvPr/>
        </p:nvSpPr>
        <p:spPr>
          <a:xfrm>
            <a:off x="7479792" y="9070848"/>
            <a:ext cx="46634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Server makes forged requests</a:t>
            </a:r>
            <a:endParaRPr lang="en-US" sz="1700" dirty="0"/>
          </a:p>
        </p:txBody>
      </p:sp>
      <p:sp>
        <p:nvSpPr>
          <p:cNvPr id="92" name="Shape 90"/>
          <p:cNvSpPr/>
          <p:nvPr/>
        </p:nvSpPr>
        <p:spPr>
          <a:xfrm>
            <a:off x="12271248" y="9034272"/>
            <a:ext cx="5760720" cy="658368"/>
          </a:xfrm>
          <a:prstGeom prst="rect">
            <a:avLst/>
          </a:prstGeom>
          <a:solidFill>
            <a:srgbClr val="F0F7FA"/>
          </a:solidFill>
          <a:ln w="12700">
            <a:solidFill>
              <a:srgbClr val="D0E0E3"/>
            </a:solidFill>
            <a:prstDash val="solid"/>
          </a:ln>
        </p:spPr>
      </p:sp>
      <p:sp>
        <p:nvSpPr>
          <p:cNvPr id="93" name="Text 91"/>
          <p:cNvSpPr/>
          <p:nvPr/>
        </p:nvSpPr>
        <p:spPr>
          <a:xfrm>
            <a:off x="12362688" y="9070848"/>
            <a:ext cx="5577840" cy="585216"/>
          </a:xfrm>
          <a:prstGeom prst="rect">
            <a:avLst/>
          </a:prstGeom>
          <a:noFill/>
          <a:ln/>
        </p:spPr>
        <p:txBody>
          <a:bodyPr wrap="square" rtlCol="0" anchor="ctr"/>
          <a:lstStyle/>
          <a:p>
            <a:r>
              <a:rPr lang="en-US" sz="1700" dirty="0">
                <a:solidFill>
                  <a:srgbClr val="2C3E50"/>
                </a:solidFill>
                <a:latin typeface="Calibri" pitchFamily="34" charset="0"/>
                <a:ea typeface="Calibri" pitchFamily="34" charset="-122"/>
                <a:cs typeface="Calibri" pitchFamily="34" charset="-120"/>
              </a:rPr>
              <a:t>URL whitelist, network segmentation</a:t>
            </a:r>
            <a:endParaRPr lang="en-US" sz="1700" dirty="0"/>
          </a:p>
        </p:txBody>
      </p:sp>
      <p:sp>
        <p:nvSpPr>
          <p:cNvPr id="94" name="Shape 92"/>
          <p:cNvSpPr/>
          <p:nvPr/>
        </p:nvSpPr>
        <p:spPr>
          <a:xfrm>
            <a:off x="0" y="9875520"/>
            <a:ext cx="18288000" cy="411480"/>
          </a:xfrm>
          <a:prstGeom prst="rect">
            <a:avLst/>
          </a:prstGeom>
          <a:solidFill>
            <a:srgbClr val="004D5B"/>
          </a:solidFill>
          <a:ln w="12700">
            <a:solidFill>
              <a:srgbClr val="004D5B"/>
            </a:solidFill>
            <a:prstDash val="solid"/>
          </a:ln>
        </p:spPr>
      </p:sp>
      <p:sp>
        <p:nvSpPr>
          <p:cNvPr id="95" name="Text 93"/>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96" name="Picture 95">
            <a:extLst>
              <a:ext uri="{FF2B5EF4-FFF2-40B4-BE49-F238E27FC236}">
                <a16:creationId xmlns:a16="http://schemas.microsoft.com/office/drawing/2014/main" id="{00420F35-7FAD-B43F-CA6C-19DD9C7B1D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92016" y="56388"/>
            <a:ext cx="4435024" cy="162763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828800"/>
          </a:xfrm>
          <a:prstGeom prst="rect">
            <a:avLst/>
          </a:prstGeom>
          <a:solidFill>
            <a:srgbClr val="004D5B"/>
          </a:solidFill>
          <a:ln w="12700">
            <a:solidFill>
              <a:srgbClr val="004D5B"/>
            </a:solidFill>
            <a:prstDash val="solid"/>
          </a:ln>
        </p:spPr>
      </p:sp>
      <p:sp>
        <p:nvSpPr>
          <p:cNvPr id="3" name="Text 1"/>
          <p:cNvSpPr/>
          <p:nvPr/>
        </p:nvSpPr>
        <p:spPr>
          <a:xfrm>
            <a:off x="548640" y="91440"/>
            <a:ext cx="15544800" cy="1097280"/>
          </a:xfrm>
          <a:prstGeom prst="rect">
            <a:avLst/>
          </a:prstGeom>
          <a:noFill/>
          <a:ln/>
        </p:spPr>
        <p:txBody>
          <a:bodyPr wrap="square" rtlCol="0" anchor="ctr"/>
          <a:lstStyle/>
          <a:p>
            <a:r>
              <a:rPr lang="en-US" sz="4800" b="1" dirty="0">
                <a:solidFill>
                  <a:srgbClr val="FFFFFF"/>
                </a:solidFill>
                <a:latin typeface="Arial Black" pitchFamily="34" charset="0"/>
                <a:ea typeface="Arial Black" pitchFamily="34" charset="-122"/>
                <a:cs typeface="Arial Black" pitchFamily="34" charset="-120"/>
              </a:rPr>
              <a:t>OWASP in Application Security</a:t>
            </a:r>
            <a:endParaRPr lang="en-US" sz="4800" dirty="0"/>
          </a:p>
        </p:txBody>
      </p:sp>
      <p:sp>
        <p:nvSpPr>
          <p:cNvPr id="4" name="Text 2"/>
          <p:cNvSpPr/>
          <p:nvPr/>
        </p:nvSpPr>
        <p:spPr>
          <a:xfrm>
            <a:off x="548640" y="1133856"/>
            <a:ext cx="15544800" cy="585216"/>
          </a:xfrm>
          <a:prstGeom prst="rect">
            <a:avLst/>
          </a:prstGeom>
          <a:noFill/>
          <a:ln/>
        </p:spPr>
        <p:txBody>
          <a:bodyPr wrap="square" rtlCol="0" anchor="ctr"/>
          <a:lstStyle/>
          <a:p>
            <a:r>
              <a:rPr lang="en-US" sz="2200" dirty="0">
                <a:solidFill>
                  <a:srgbClr val="00B4C8"/>
                </a:solidFill>
                <a:latin typeface="Calibri" pitchFamily="34" charset="0"/>
                <a:ea typeface="Calibri" pitchFamily="34" charset="-122"/>
                <a:cs typeface="Calibri" pitchFamily="34" charset="-120"/>
              </a:rPr>
              <a:t>Why OWASP Matters for Developers, Security Teams &amp; Organizations</a:t>
            </a:r>
            <a:endParaRPr lang="en-US" sz="2200" dirty="0"/>
          </a:p>
        </p:txBody>
      </p:sp>
      <p:sp>
        <p:nvSpPr>
          <p:cNvPr id="5" name="Shape 3"/>
          <p:cNvSpPr/>
          <p:nvPr/>
        </p:nvSpPr>
        <p:spPr>
          <a:xfrm>
            <a:off x="0" y="1828800"/>
            <a:ext cx="18288000" cy="73152"/>
          </a:xfrm>
          <a:prstGeom prst="rect">
            <a:avLst/>
          </a:prstGeom>
          <a:solidFill>
            <a:srgbClr val="00B4C8"/>
          </a:solidFill>
          <a:ln w="12700">
            <a:solidFill>
              <a:srgbClr val="00B4C8"/>
            </a:solidFill>
            <a:prstDash val="solid"/>
          </a:ln>
        </p:spPr>
      </p:sp>
      <p:sp>
        <p:nvSpPr>
          <p:cNvPr id="6" name="Shape 4"/>
          <p:cNvSpPr/>
          <p:nvPr/>
        </p:nvSpPr>
        <p:spPr>
          <a:xfrm>
            <a:off x="548640" y="2048256"/>
            <a:ext cx="17190720" cy="1426464"/>
          </a:xfrm>
          <a:prstGeom prst="rect">
            <a:avLst/>
          </a:prstGeom>
          <a:solidFill>
            <a:srgbClr val="004D5B"/>
          </a:solidFill>
          <a:ln w="12700">
            <a:solidFill>
              <a:srgbClr val="004D5B"/>
            </a:solidFill>
            <a:prstDash val="solid"/>
          </a:ln>
          <a:effectLst>
            <a:outerShdw blurRad="101600" dist="38100" dir="8100000" algn="bl" rotWithShape="0">
              <a:srgbClr val="000000">
                <a:alpha val="12000"/>
              </a:srgbClr>
            </a:outerShdw>
          </a:effectLst>
        </p:spPr>
      </p:sp>
      <p:sp>
        <p:nvSpPr>
          <p:cNvPr id="7" name="Text 5"/>
          <p:cNvSpPr/>
          <p:nvPr/>
        </p:nvSpPr>
        <p:spPr>
          <a:xfrm>
            <a:off x="914400" y="2157984"/>
            <a:ext cx="16459200" cy="1207008"/>
          </a:xfrm>
          <a:prstGeom prst="rect">
            <a:avLst/>
          </a:prstGeom>
          <a:noFill/>
          <a:ln/>
        </p:spPr>
        <p:txBody>
          <a:bodyPr wrap="square" rtlCol="0" anchor="ctr"/>
          <a:lstStyle/>
          <a:p>
            <a:pPr algn="ctr"/>
            <a:r>
              <a:rPr lang="en-US" sz="2200" i="1" dirty="0">
                <a:solidFill>
                  <a:srgbClr val="FFFFFF"/>
                </a:solidFill>
                <a:latin typeface="Georgia" pitchFamily="34" charset="0"/>
                <a:ea typeface="Georgia" pitchFamily="34" charset="-122"/>
                <a:cs typeface="Georgia" pitchFamily="34" charset="-120"/>
              </a:rPr>
              <a:t>"Using the OWASP Top 10 is perhaps the most effective first step in changing the software development culture to produce more secure code."</a:t>
            </a:r>
            <a:endParaRPr lang="en-US" sz="2200" dirty="0"/>
          </a:p>
        </p:txBody>
      </p:sp>
      <p:sp>
        <p:nvSpPr>
          <p:cNvPr id="8" name="Shape 6"/>
          <p:cNvSpPr/>
          <p:nvPr/>
        </p:nvSpPr>
        <p:spPr>
          <a:xfrm>
            <a:off x="548640" y="3657600"/>
            <a:ext cx="8595360" cy="2121408"/>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9" name="Shape 7"/>
          <p:cNvSpPr/>
          <p:nvPr/>
        </p:nvSpPr>
        <p:spPr>
          <a:xfrm>
            <a:off x="548640" y="3657600"/>
            <a:ext cx="8595360" cy="109728"/>
          </a:xfrm>
          <a:prstGeom prst="rect">
            <a:avLst/>
          </a:prstGeom>
          <a:solidFill>
            <a:srgbClr val="2980B9"/>
          </a:solidFill>
          <a:ln w="12700">
            <a:solidFill>
              <a:srgbClr val="2980B9"/>
            </a:solidFill>
            <a:prstDash val="solid"/>
          </a:ln>
        </p:spPr>
      </p:sp>
      <p:sp>
        <p:nvSpPr>
          <p:cNvPr id="10" name="Shape 8"/>
          <p:cNvSpPr/>
          <p:nvPr/>
        </p:nvSpPr>
        <p:spPr>
          <a:xfrm>
            <a:off x="768096" y="3877056"/>
            <a:ext cx="877824" cy="877824"/>
          </a:xfrm>
          <a:prstGeom prst="ellipse">
            <a:avLst/>
          </a:prstGeom>
          <a:solidFill>
            <a:srgbClr val="2980B9"/>
          </a:solidFill>
          <a:ln w="12700">
            <a:solidFill>
              <a:srgbClr val="2980B9"/>
            </a:solidFill>
            <a:prstDash val="solid"/>
          </a:ln>
        </p:spPr>
      </p:sp>
      <p:sp>
        <p:nvSpPr>
          <p:cNvPr id="11" name="Text 9"/>
          <p:cNvSpPr/>
          <p:nvPr/>
        </p:nvSpPr>
        <p:spPr>
          <a:xfrm>
            <a:off x="768096" y="3877056"/>
            <a:ext cx="877824" cy="877824"/>
          </a:xfrm>
          <a:prstGeom prst="rect">
            <a:avLst/>
          </a:prstGeom>
          <a:noFill/>
          <a:ln/>
        </p:spPr>
        <p:txBody>
          <a:bodyPr wrap="square" rtlCol="0" anchor="ctr"/>
          <a:lstStyle/>
          <a:p>
            <a:pPr algn="ctr"/>
            <a:r>
              <a:rPr lang="en-US" sz="3200" dirty="0">
                <a:solidFill>
                  <a:srgbClr val="000000"/>
                </a:solidFill>
              </a:rPr>
              <a:t>📖</a:t>
            </a:r>
            <a:endParaRPr lang="en-US" sz="3200" dirty="0"/>
          </a:p>
        </p:txBody>
      </p:sp>
      <p:sp>
        <p:nvSpPr>
          <p:cNvPr id="12" name="Text 10"/>
          <p:cNvSpPr/>
          <p:nvPr/>
        </p:nvSpPr>
        <p:spPr>
          <a:xfrm>
            <a:off x="1773936" y="3913632"/>
            <a:ext cx="7132320" cy="658368"/>
          </a:xfrm>
          <a:prstGeom prst="rect">
            <a:avLst/>
          </a:prstGeom>
          <a:noFill/>
          <a:ln/>
        </p:spPr>
        <p:txBody>
          <a:bodyPr wrap="square" rtlCol="0" anchor="ctr"/>
          <a:lstStyle/>
          <a:p>
            <a:r>
              <a:rPr lang="en-US" sz="2200" b="1" dirty="0">
                <a:solidFill>
                  <a:srgbClr val="2980B9"/>
                </a:solidFill>
                <a:latin typeface="Arial" pitchFamily="34" charset="0"/>
                <a:ea typeface="Arial" pitchFamily="34" charset="-122"/>
                <a:cs typeface="Arial" pitchFamily="34" charset="-120"/>
              </a:rPr>
              <a:t>Global Standard</a:t>
            </a:r>
            <a:endParaRPr lang="en-US" sz="2200" dirty="0"/>
          </a:p>
        </p:txBody>
      </p:sp>
      <p:sp>
        <p:nvSpPr>
          <p:cNvPr id="13" name="Text 11"/>
          <p:cNvSpPr/>
          <p:nvPr/>
        </p:nvSpPr>
        <p:spPr>
          <a:xfrm>
            <a:off x="768096" y="4846320"/>
            <a:ext cx="8193024" cy="822960"/>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Trusted by developers, security teams &amp; regulatory bodies (PCI-DSS, FTC). Defines common security terminology &amp; threat categories.</a:t>
            </a:r>
            <a:endParaRPr lang="en-US" dirty="0"/>
          </a:p>
        </p:txBody>
      </p:sp>
      <p:sp>
        <p:nvSpPr>
          <p:cNvPr id="14" name="Shape 12"/>
          <p:cNvSpPr/>
          <p:nvPr/>
        </p:nvSpPr>
        <p:spPr>
          <a:xfrm>
            <a:off x="548640" y="5998464"/>
            <a:ext cx="8595360" cy="2121408"/>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15" name="Shape 13"/>
          <p:cNvSpPr/>
          <p:nvPr/>
        </p:nvSpPr>
        <p:spPr>
          <a:xfrm>
            <a:off x="548640" y="5998464"/>
            <a:ext cx="8595360" cy="109728"/>
          </a:xfrm>
          <a:prstGeom prst="rect">
            <a:avLst/>
          </a:prstGeom>
          <a:solidFill>
            <a:srgbClr val="005F73"/>
          </a:solidFill>
          <a:ln w="12700">
            <a:solidFill>
              <a:srgbClr val="005F73"/>
            </a:solidFill>
            <a:prstDash val="solid"/>
          </a:ln>
        </p:spPr>
      </p:sp>
      <p:sp>
        <p:nvSpPr>
          <p:cNvPr id="16" name="Shape 14"/>
          <p:cNvSpPr/>
          <p:nvPr/>
        </p:nvSpPr>
        <p:spPr>
          <a:xfrm>
            <a:off x="768096" y="6217920"/>
            <a:ext cx="877824" cy="877824"/>
          </a:xfrm>
          <a:prstGeom prst="ellipse">
            <a:avLst/>
          </a:prstGeom>
          <a:solidFill>
            <a:srgbClr val="005F73"/>
          </a:solidFill>
          <a:ln w="12700">
            <a:solidFill>
              <a:srgbClr val="005F73"/>
            </a:solidFill>
            <a:prstDash val="solid"/>
          </a:ln>
        </p:spPr>
      </p:sp>
      <p:sp>
        <p:nvSpPr>
          <p:cNvPr id="17" name="Text 15"/>
          <p:cNvSpPr/>
          <p:nvPr/>
        </p:nvSpPr>
        <p:spPr>
          <a:xfrm>
            <a:off x="768096" y="6217920"/>
            <a:ext cx="877824" cy="877824"/>
          </a:xfrm>
          <a:prstGeom prst="rect">
            <a:avLst/>
          </a:prstGeom>
          <a:noFill/>
          <a:ln/>
        </p:spPr>
        <p:txBody>
          <a:bodyPr wrap="square" rtlCol="0" anchor="ctr"/>
          <a:lstStyle/>
          <a:p>
            <a:pPr algn="ctr"/>
            <a:r>
              <a:rPr lang="en-US" sz="3200" dirty="0">
                <a:solidFill>
                  <a:srgbClr val="000000"/>
                </a:solidFill>
              </a:rPr>
              <a:t>🌍</a:t>
            </a:r>
            <a:endParaRPr lang="en-US" sz="3200" dirty="0"/>
          </a:p>
        </p:txBody>
      </p:sp>
      <p:sp>
        <p:nvSpPr>
          <p:cNvPr id="18" name="Text 16"/>
          <p:cNvSpPr/>
          <p:nvPr/>
        </p:nvSpPr>
        <p:spPr>
          <a:xfrm>
            <a:off x="1773936" y="6254496"/>
            <a:ext cx="7132320" cy="658368"/>
          </a:xfrm>
          <a:prstGeom prst="rect">
            <a:avLst/>
          </a:prstGeom>
          <a:noFill/>
          <a:ln/>
        </p:spPr>
        <p:txBody>
          <a:bodyPr wrap="square" rtlCol="0" anchor="ctr"/>
          <a:lstStyle/>
          <a:p>
            <a:r>
              <a:rPr lang="en-US" sz="2200" b="1" dirty="0">
                <a:solidFill>
                  <a:srgbClr val="005F73"/>
                </a:solidFill>
                <a:latin typeface="Arial" pitchFamily="34" charset="0"/>
                <a:ea typeface="Arial" pitchFamily="34" charset="-122"/>
                <a:cs typeface="Arial" pitchFamily="34" charset="-120"/>
              </a:rPr>
              <a:t>Real-World Data</a:t>
            </a:r>
            <a:endParaRPr lang="en-US" sz="2200" dirty="0"/>
          </a:p>
        </p:txBody>
      </p:sp>
      <p:sp>
        <p:nvSpPr>
          <p:cNvPr id="19" name="Text 17"/>
          <p:cNvSpPr/>
          <p:nvPr/>
        </p:nvSpPr>
        <p:spPr>
          <a:xfrm>
            <a:off x="768096" y="7187184"/>
            <a:ext cx="8193024" cy="822960"/>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Derived from global security expert contributions, real vulnerability data, CVE/CVSS analysis, and industry surveys.</a:t>
            </a:r>
            <a:endParaRPr lang="en-US" dirty="0"/>
          </a:p>
        </p:txBody>
      </p:sp>
      <p:sp>
        <p:nvSpPr>
          <p:cNvPr id="20" name="Shape 18"/>
          <p:cNvSpPr/>
          <p:nvPr/>
        </p:nvSpPr>
        <p:spPr>
          <a:xfrm>
            <a:off x="9692640" y="3657600"/>
            <a:ext cx="8595360" cy="2121408"/>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1" name="Shape 19"/>
          <p:cNvSpPr/>
          <p:nvPr/>
        </p:nvSpPr>
        <p:spPr>
          <a:xfrm>
            <a:off x="9692640" y="3657600"/>
            <a:ext cx="8595360" cy="109728"/>
          </a:xfrm>
          <a:prstGeom prst="rect">
            <a:avLst/>
          </a:prstGeom>
          <a:solidFill>
            <a:srgbClr val="8E44AD"/>
          </a:solidFill>
          <a:ln w="12700">
            <a:solidFill>
              <a:srgbClr val="8E44AD"/>
            </a:solidFill>
            <a:prstDash val="solid"/>
          </a:ln>
        </p:spPr>
      </p:sp>
      <p:sp>
        <p:nvSpPr>
          <p:cNvPr id="22" name="Shape 20"/>
          <p:cNvSpPr/>
          <p:nvPr/>
        </p:nvSpPr>
        <p:spPr>
          <a:xfrm>
            <a:off x="9912096" y="3877056"/>
            <a:ext cx="877824" cy="877824"/>
          </a:xfrm>
          <a:prstGeom prst="ellipse">
            <a:avLst/>
          </a:prstGeom>
          <a:solidFill>
            <a:srgbClr val="8E44AD"/>
          </a:solidFill>
          <a:ln w="12700">
            <a:solidFill>
              <a:srgbClr val="8E44AD"/>
            </a:solidFill>
            <a:prstDash val="solid"/>
          </a:ln>
        </p:spPr>
      </p:sp>
      <p:sp>
        <p:nvSpPr>
          <p:cNvPr id="23" name="Text 21"/>
          <p:cNvSpPr/>
          <p:nvPr/>
        </p:nvSpPr>
        <p:spPr>
          <a:xfrm>
            <a:off x="9912096" y="3877056"/>
            <a:ext cx="877824" cy="877824"/>
          </a:xfrm>
          <a:prstGeom prst="rect">
            <a:avLst/>
          </a:prstGeom>
          <a:noFill/>
          <a:ln/>
        </p:spPr>
        <p:txBody>
          <a:bodyPr wrap="square" rtlCol="0" anchor="ctr"/>
          <a:lstStyle/>
          <a:p>
            <a:pPr algn="ctr"/>
            <a:r>
              <a:rPr lang="en-US" sz="3200" dirty="0">
                <a:solidFill>
                  <a:srgbClr val="000000"/>
                </a:solidFill>
              </a:rPr>
              <a:t>⚡</a:t>
            </a:r>
            <a:endParaRPr lang="en-US" sz="3200" dirty="0"/>
          </a:p>
        </p:txBody>
      </p:sp>
      <p:sp>
        <p:nvSpPr>
          <p:cNvPr id="24" name="Text 22"/>
          <p:cNvSpPr/>
          <p:nvPr/>
        </p:nvSpPr>
        <p:spPr>
          <a:xfrm>
            <a:off x="10917936" y="3913632"/>
            <a:ext cx="7132320" cy="658368"/>
          </a:xfrm>
          <a:prstGeom prst="rect">
            <a:avLst/>
          </a:prstGeom>
          <a:noFill/>
          <a:ln/>
        </p:spPr>
        <p:txBody>
          <a:bodyPr wrap="square" rtlCol="0" anchor="ctr"/>
          <a:lstStyle/>
          <a:p>
            <a:r>
              <a:rPr lang="en-US" sz="2200" b="1" dirty="0">
                <a:solidFill>
                  <a:srgbClr val="8E44AD"/>
                </a:solidFill>
                <a:latin typeface="Arial" pitchFamily="34" charset="0"/>
                <a:ea typeface="Arial" pitchFamily="34" charset="-122"/>
                <a:cs typeface="Arial" pitchFamily="34" charset="-120"/>
              </a:rPr>
              <a:t>Awareness &amp; Education</a:t>
            </a:r>
            <a:endParaRPr lang="en-US" sz="2200" dirty="0"/>
          </a:p>
        </p:txBody>
      </p:sp>
      <p:sp>
        <p:nvSpPr>
          <p:cNvPr id="25" name="Text 23"/>
          <p:cNvSpPr/>
          <p:nvPr/>
        </p:nvSpPr>
        <p:spPr>
          <a:xfrm>
            <a:off x="9912096" y="4846320"/>
            <a:ext cx="8193024" cy="822960"/>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Serves as awareness document for developers, managers &amp; organizations. Helps prioritize security risks.</a:t>
            </a:r>
            <a:endParaRPr lang="en-US" dirty="0"/>
          </a:p>
        </p:txBody>
      </p:sp>
      <p:sp>
        <p:nvSpPr>
          <p:cNvPr id="26" name="Shape 24"/>
          <p:cNvSpPr/>
          <p:nvPr/>
        </p:nvSpPr>
        <p:spPr>
          <a:xfrm>
            <a:off x="9692640" y="5998464"/>
            <a:ext cx="8595360" cy="2121408"/>
          </a:xfrm>
          <a:prstGeom prst="rect">
            <a:avLst/>
          </a:prstGeom>
          <a:solidFill>
            <a:srgbClr val="FFFFFF"/>
          </a:solidFill>
          <a:ln w="12700">
            <a:solidFill>
              <a:srgbClr val="D5EAED"/>
            </a:solidFill>
            <a:prstDash val="solid"/>
          </a:ln>
          <a:effectLst>
            <a:outerShdw blurRad="76200" dist="25400" dir="8100000" algn="bl" rotWithShape="0">
              <a:srgbClr val="000000">
                <a:alpha val="10000"/>
              </a:srgbClr>
            </a:outerShdw>
          </a:effectLst>
        </p:spPr>
      </p:sp>
      <p:sp>
        <p:nvSpPr>
          <p:cNvPr id="27" name="Shape 25"/>
          <p:cNvSpPr/>
          <p:nvPr/>
        </p:nvSpPr>
        <p:spPr>
          <a:xfrm>
            <a:off x="9692640" y="5998464"/>
            <a:ext cx="8595360" cy="109728"/>
          </a:xfrm>
          <a:prstGeom prst="rect">
            <a:avLst/>
          </a:prstGeom>
          <a:solidFill>
            <a:srgbClr val="27AE60"/>
          </a:solidFill>
          <a:ln w="12700">
            <a:solidFill>
              <a:srgbClr val="27AE60"/>
            </a:solidFill>
            <a:prstDash val="solid"/>
          </a:ln>
        </p:spPr>
      </p:sp>
      <p:sp>
        <p:nvSpPr>
          <p:cNvPr id="28" name="Shape 26"/>
          <p:cNvSpPr/>
          <p:nvPr/>
        </p:nvSpPr>
        <p:spPr>
          <a:xfrm>
            <a:off x="9912096" y="6217920"/>
            <a:ext cx="877824" cy="877824"/>
          </a:xfrm>
          <a:prstGeom prst="ellipse">
            <a:avLst/>
          </a:prstGeom>
          <a:solidFill>
            <a:srgbClr val="27AE60"/>
          </a:solidFill>
          <a:ln w="12700">
            <a:solidFill>
              <a:srgbClr val="27AE60"/>
            </a:solidFill>
            <a:prstDash val="solid"/>
          </a:ln>
        </p:spPr>
      </p:sp>
      <p:sp>
        <p:nvSpPr>
          <p:cNvPr id="29" name="Text 27"/>
          <p:cNvSpPr/>
          <p:nvPr/>
        </p:nvSpPr>
        <p:spPr>
          <a:xfrm>
            <a:off x="9912096" y="6217920"/>
            <a:ext cx="877824" cy="877824"/>
          </a:xfrm>
          <a:prstGeom prst="rect">
            <a:avLst/>
          </a:prstGeom>
          <a:noFill/>
          <a:ln/>
        </p:spPr>
        <p:txBody>
          <a:bodyPr wrap="square" rtlCol="0" anchor="ctr"/>
          <a:lstStyle/>
          <a:p>
            <a:pPr algn="ctr"/>
            <a:r>
              <a:rPr lang="en-US" sz="3200" dirty="0">
                <a:solidFill>
                  <a:srgbClr val="000000"/>
                </a:solidFill>
              </a:rPr>
              <a:t>🔧</a:t>
            </a:r>
            <a:endParaRPr lang="en-US" sz="3200" dirty="0"/>
          </a:p>
        </p:txBody>
      </p:sp>
      <p:sp>
        <p:nvSpPr>
          <p:cNvPr id="30" name="Text 28"/>
          <p:cNvSpPr/>
          <p:nvPr/>
        </p:nvSpPr>
        <p:spPr>
          <a:xfrm>
            <a:off x="10917936" y="6254496"/>
            <a:ext cx="7132320" cy="658368"/>
          </a:xfrm>
          <a:prstGeom prst="rect">
            <a:avLst/>
          </a:prstGeom>
          <a:noFill/>
          <a:ln/>
        </p:spPr>
        <p:txBody>
          <a:bodyPr wrap="square" rtlCol="0" anchor="ctr"/>
          <a:lstStyle/>
          <a:p>
            <a:r>
              <a:rPr lang="en-US" sz="2200" b="1" dirty="0">
                <a:solidFill>
                  <a:srgbClr val="27AE60"/>
                </a:solidFill>
                <a:latin typeface="Arial" pitchFamily="34" charset="0"/>
                <a:ea typeface="Arial" pitchFamily="34" charset="-122"/>
                <a:cs typeface="Arial" pitchFamily="34" charset="-120"/>
              </a:rPr>
              <a:t>Free &amp; Open Resources</a:t>
            </a:r>
            <a:endParaRPr lang="en-US" sz="2200" dirty="0"/>
          </a:p>
        </p:txBody>
      </p:sp>
      <p:sp>
        <p:nvSpPr>
          <p:cNvPr id="31" name="Text 29"/>
          <p:cNvSpPr/>
          <p:nvPr/>
        </p:nvSpPr>
        <p:spPr>
          <a:xfrm>
            <a:off x="9912096" y="7187184"/>
            <a:ext cx="8193024" cy="822960"/>
          </a:xfrm>
          <a:prstGeom prst="rect">
            <a:avLst/>
          </a:prstGeom>
          <a:noFill/>
          <a:ln/>
        </p:spPr>
        <p:txBody>
          <a:bodyPr wrap="square" rtlCol="0" anchor="t"/>
          <a:lstStyle/>
          <a:p>
            <a:r>
              <a:rPr lang="en-US" dirty="0">
                <a:solidFill>
                  <a:srgbClr val="2C3E50"/>
                </a:solidFill>
                <a:latin typeface="Calibri" pitchFamily="34" charset="0"/>
                <a:ea typeface="Calibri" pitchFamily="34" charset="-122"/>
                <a:cs typeface="Calibri" pitchFamily="34" charset="-120"/>
              </a:rPr>
              <a:t>Freely available tools (ZAP Proxy, ASVS, Testing Guide), documentation, and community collaboration.</a:t>
            </a:r>
            <a:endParaRPr lang="en-US" dirty="0"/>
          </a:p>
        </p:txBody>
      </p:sp>
      <p:sp>
        <p:nvSpPr>
          <p:cNvPr id="32" name="Text 30"/>
          <p:cNvSpPr/>
          <p:nvPr/>
        </p:nvSpPr>
        <p:spPr>
          <a:xfrm>
            <a:off x="548640" y="8412480"/>
            <a:ext cx="16459200" cy="548640"/>
          </a:xfrm>
          <a:prstGeom prst="rect">
            <a:avLst/>
          </a:prstGeom>
          <a:noFill/>
          <a:ln/>
        </p:spPr>
        <p:txBody>
          <a:bodyPr wrap="square" rtlCol="0" anchor="ctr"/>
          <a:lstStyle/>
          <a:p>
            <a:r>
              <a:rPr lang="en-US" sz="2400" b="1" dirty="0">
                <a:solidFill>
                  <a:srgbClr val="004D5B"/>
                </a:solidFill>
                <a:latin typeface="Arial" pitchFamily="34" charset="0"/>
                <a:ea typeface="Arial" pitchFamily="34" charset="-122"/>
                <a:cs typeface="Arial" pitchFamily="34" charset="-120"/>
              </a:rPr>
              <a:t>OWASP Tools for Each SDLC Phase</a:t>
            </a:r>
            <a:endParaRPr lang="en-US" sz="2400" dirty="0"/>
          </a:p>
        </p:txBody>
      </p:sp>
      <p:sp>
        <p:nvSpPr>
          <p:cNvPr id="33" name="Shape 31"/>
          <p:cNvSpPr/>
          <p:nvPr/>
        </p:nvSpPr>
        <p:spPr>
          <a:xfrm>
            <a:off x="365760" y="9070848"/>
            <a:ext cx="3200400" cy="768096"/>
          </a:xfrm>
          <a:prstGeom prst="rect">
            <a:avLst/>
          </a:prstGeom>
          <a:solidFill>
            <a:srgbClr val="2980B9"/>
          </a:solidFill>
          <a:ln w="12700">
            <a:solidFill>
              <a:srgbClr val="2980B9"/>
            </a:solidFill>
            <a:prstDash val="solid"/>
          </a:ln>
        </p:spPr>
      </p:sp>
      <p:sp>
        <p:nvSpPr>
          <p:cNvPr id="34" name="Text 32"/>
          <p:cNvSpPr/>
          <p:nvPr/>
        </p:nvSpPr>
        <p:spPr>
          <a:xfrm>
            <a:off x="365760" y="9070848"/>
            <a:ext cx="3200400" cy="365760"/>
          </a:xfrm>
          <a:prstGeom prst="rect">
            <a:avLst/>
          </a:prstGeom>
          <a:noFill/>
          <a:ln/>
        </p:spPr>
        <p:txBody>
          <a:bodyPr wrap="square" rtlCol="0" anchor="ctr"/>
          <a:lstStyle/>
          <a:p>
            <a:pPr algn="ctr"/>
            <a:r>
              <a:rPr lang="en-US" sz="1600" b="1" dirty="0">
                <a:solidFill>
                  <a:srgbClr val="FFFFFF"/>
                </a:solidFill>
                <a:latin typeface="Arial" pitchFamily="34" charset="0"/>
                <a:ea typeface="Arial" pitchFamily="34" charset="-122"/>
                <a:cs typeface="Arial" pitchFamily="34" charset="-120"/>
              </a:rPr>
              <a:t>Requirements</a:t>
            </a:r>
            <a:endParaRPr lang="en-US" sz="1600" dirty="0"/>
          </a:p>
        </p:txBody>
      </p:sp>
      <p:sp>
        <p:nvSpPr>
          <p:cNvPr id="35" name="Text 33"/>
          <p:cNvSpPr/>
          <p:nvPr/>
        </p:nvSpPr>
        <p:spPr>
          <a:xfrm>
            <a:off x="365760" y="9400032"/>
            <a:ext cx="3200400" cy="365760"/>
          </a:xfrm>
          <a:prstGeom prst="rect">
            <a:avLst/>
          </a:prstGeom>
          <a:noFill/>
          <a:ln/>
        </p:spPr>
        <p:txBody>
          <a:bodyPr wrap="square" rtlCol="0" anchor="ctr"/>
          <a:lstStyle/>
          <a:p>
            <a:pPr algn="ctr"/>
            <a:r>
              <a:rPr lang="en-US" sz="1500" dirty="0">
                <a:solidFill>
                  <a:srgbClr val="FFFFFF"/>
                </a:solidFill>
                <a:latin typeface="Calibri" pitchFamily="34" charset="0"/>
                <a:ea typeface="Calibri" pitchFamily="34" charset="-122"/>
                <a:cs typeface="Calibri" pitchFamily="34" charset="-120"/>
              </a:rPr>
              <a:t>OWASP ASVS</a:t>
            </a:r>
            <a:endParaRPr lang="en-US" sz="1500" dirty="0"/>
          </a:p>
        </p:txBody>
      </p:sp>
      <p:sp>
        <p:nvSpPr>
          <p:cNvPr id="36" name="Shape 34"/>
          <p:cNvSpPr/>
          <p:nvPr/>
        </p:nvSpPr>
        <p:spPr>
          <a:xfrm>
            <a:off x="3621024" y="9272016"/>
            <a:ext cx="182880" cy="329184"/>
          </a:xfrm>
          <a:prstGeom prst="triangle">
            <a:avLst/>
          </a:prstGeom>
          <a:solidFill>
            <a:srgbClr val="00B4C8"/>
          </a:solidFill>
          <a:ln w="12700">
            <a:solidFill>
              <a:srgbClr val="00B4C8"/>
            </a:solidFill>
            <a:prstDash val="solid"/>
          </a:ln>
        </p:spPr>
      </p:sp>
      <p:sp>
        <p:nvSpPr>
          <p:cNvPr id="37" name="Shape 35"/>
          <p:cNvSpPr/>
          <p:nvPr/>
        </p:nvSpPr>
        <p:spPr>
          <a:xfrm>
            <a:off x="3895344" y="9070848"/>
            <a:ext cx="3200400" cy="768096"/>
          </a:xfrm>
          <a:prstGeom prst="rect">
            <a:avLst/>
          </a:prstGeom>
          <a:solidFill>
            <a:srgbClr val="8E44AD"/>
          </a:solidFill>
          <a:ln w="12700">
            <a:solidFill>
              <a:srgbClr val="8E44AD"/>
            </a:solidFill>
            <a:prstDash val="solid"/>
          </a:ln>
        </p:spPr>
      </p:sp>
      <p:sp>
        <p:nvSpPr>
          <p:cNvPr id="38" name="Text 36"/>
          <p:cNvSpPr/>
          <p:nvPr/>
        </p:nvSpPr>
        <p:spPr>
          <a:xfrm>
            <a:off x="3895344" y="9070848"/>
            <a:ext cx="3200400" cy="365760"/>
          </a:xfrm>
          <a:prstGeom prst="rect">
            <a:avLst/>
          </a:prstGeom>
          <a:noFill/>
          <a:ln/>
        </p:spPr>
        <p:txBody>
          <a:bodyPr wrap="square" rtlCol="0" anchor="ctr"/>
          <a:lstStyle/>
          <a:p>
            <a:pPr algn="ctr"/>
            <a:r>
              <a:rPr lang="en-US" sz="1600" b="1" dirty="0">
                <a:solidFill>
                  <a:srgbClr val="FFFFFF"/>
                </a:solidFill>
                <a:latin typeface="Arial" pitchFamily="34" charset="0"/>
                <a:ea typeface="Arial" pitchFamily="34" charset="-122"/>
                <a:cs typeface="Arial" pitchFamily="34" charset="-120"/>
              </a:rPr>
              <a:t>Design</a:t>
            </a:r>
            <a:endParaRPr lang="en-US" sz="1600" dirty="0"/>
          </a:p>
        </p:txBody>
      </p:sp>
      <p:sp>
        <p:nvSpPr>
          <p:cNvPr id="39" name="Text 37"/>
          <p:cNvSpPr/>
          <p:nvPr/>
        </p:nvSpPr>
        <p:spPr>
          <a:xfrm>
            <a:off x="3895344" y="9400032"/>
            <a:ext cx="3200400" cy="365760"/>
          </a:xfrm>
          <a:prstGeom prst="rect">
            <a:avLst/>
          </a:prstGeom>
          <a:noFill/>
          <a:ln/>
        </p:spPr>
        <p:txBody>
          <a:bodyPr wrap="square" rtlCol="0" anchor="ctr"/>
          <a:lstStyle/>
          <a:p>
            <a:pPr algn="ctr"/>
            <a:r>
              <a:rPr lang="en-US" sz="1500" dirty="0">
                <a:solidFill>
                  <a:srgbClr val="FFFFFF"/>
                </a:solidFill>
                <a:latin typeface="Calibri" pitchFamily="34" charset="0"/>
                <a:ea typeface="Calibri" pitchFamily="34" charset="-122"/>
                <a:cs typeface="Calibri" pitchFamily="34" charset="-120"/>
              </a:rPr>
              <a:t>Threat Modeling</a:t>
            </a:r>
            <a:endParaRPr lang="en-US" sz="1500" dirty="0"/>
          </a:p>
        </p:txBody>
      </p:sp>
      <p:sp>
        <p:nvSpPr>
          <p:cNvPr id="40" name="Shape 38"/>
          <p:cNvSpPr/>
          <p:nvPr/>
        </p:nvSpPr>
        <p:spPr>
          <a:xfrm>
            <a:off x="7150608" y="9272016"/>
            <a:ext cx="182880" cy="329184"/>
          </a:xfrm>
          <a:prstGeom prst="triangle">
            <a:avLst/>
          </a:prstGeom>
          <a:solidFill>
            <a:srgbClr val="00B4C8"/>
          </a:solidFill>
          <a:ln w="12700">
            <a:solidFill>
              <a:srgbClr val="00B4C8"/>
            </a:solidFill>
            <a:prstDash val="solid"/>
          </a:ln>
        </p:spPr>
      </p:sp>
      <p:sp>
        <p:nvSpPr>
          <p:cNvPr id="41" name="Shape 39"/>
          <p:cNvSpPr/>
          <p:nvPr/>
        </p:nvSpPr>
        <p:spPr>
          <a:xfrm>
            <a:off x="7424928" y="9070848"/>
            <a:ext cx="3200400" cy="768096"/>
          </a:xfrm>
          <a:prstGeom prst="rect">
            <a:avLst/>
          </a:prstGeom>
          <a:solidFill>
            <a:srgbClr val="005F73"/>
          </a:solidFill>
          <a:ln w="12700">
            <a:solidFill>
              <a:srgbClr val="005F73"/>
            </a:solidFill>
            <a:prstDash val="solid"/>
          </a:ln>
        </p:spPr>
      </p:sp>
      <p:sp>
        <p:nvSpPr>
          <p:cNvPr id="42" name="Text 40"/>
          <p:cNvSpPr/>
          <p:nvPr/>
        </p:nvSpPr>
        <p:spPr>
          <a:xfrm>
            <a:off x="7424928" y="9070848"/>
            <a:ext cx="3200400" cy="365760"/>
          </a:xfrm>
          <a:prstGeom prst="rect">
            <a:avLst/>
          </a:prstGeom>
          <a:noFill/>
          <a:ln/>
        </p:spPr>
        <p:txBody>
          <a:bodyPr wrap="square" rtlCol="0" anchor="ctr"/>
          <a:lstStyle/>
          <a:p>
            <a:pPr algn="ctr"/>
            <a:r>
              <a:rPr lang="en-US" sz="1600" b="1" dirty="0">
                <a:solidFill>
                  <a:srgbClr val="FFFFFF"/>
                </a:solidFill>
                <a:latin typeface="Arial" pitchFamily="34" charset="0"/>
                <a:ea typeface="Arial" pitchFamily="34" charset="-122"/>
                <a:cs typeface="Arial" pitchFamily="34" charset="-120"/>
              </a:rPr>
              <a:t>Development</a:t>
            </a:r>
            <a:endParaRPr lang="en-US" sz="1600" dirty="0"/>
          </a:p>
        </p:txBody>
      </p:sp>
      <p:sp>
        <p:nvSpPr>
          <p:cNvPr id="43" name="Text 41"/>
          <p:cNvSpPr/>
          <p:nvPr/>
        </p:nvSpPr>
        <p:spPr>
          <a:xfrm>
            <a:off x="7424928" y="9400032"/>
            <a:ext cx="3200400" cy="365760"/>
          </a:xfrm>
          <a:prstGeom prst="rect">
            <a:avLst/>
          </a:prstGeom>
          <a:noFill/>
          <a:ln/>
        </p:spPr>
        <p:txBody>
          <a:bodyPr wrap="square" rtlCol="0" anchor="ctr"/>
          <a:lstStyle/>
          <a:p>
            <a:pPr algn="ctr"/>
            <a:r>
              <a:rPr lang="en-US" sz="1500" dirty="0">
                <a:solidFill>
                  <a:srgbClr val="FFFFFF"/>
                </a:solidFill>
                <a:latin typeface="Calibri" pitchFamily="34" charset="0"/>
                <a:ea typeface="Calibri" pitchFamily="34" charset="-122"/>
                <a:cs typeface="Calibri" pitchFamily="34" charset="-120"/>
              </a:rPr>
              <a:t>Secure Coding Guide</a:t>
            </a:r>
            <a:endParaRPr lang="en-US" sz="1500" dirty="0"/>
          </a:p>
        </p:txBody>
      </p:sp>
      <p:sp>
        <p:nvSpPr>
          <p:cNvPr id="44" name="Shape 42"/>
          <p:cNvSpPr/>
          <p:nvPr/>
        </p:nvSpPr>
        <p:spPr>
          <a:xfrm>
            <a:off x="10680192" y="9272016"/>
            <a:ext cx="182880" cy="329184"/>
          </a:xfrm>
          <a:prstGeom prst="triangle">
            <a:avLst/>
          </a:prstGeom>
          <a:solidFill>
            <a:srgbClr val="00B4C8"/>
          </a:solidFill>
          <a:ln w="12700">
            <a:solidFill>
              <a:srgbClr val="00B4C8"/>
            </a:solidFill>
            <a:prstDash val="solid"/>
          </a:ln>
        </p:spPr>
      </p:sp>
      <p:sp>
        <p:nvSpPr>
          <p:cNvPr id="45" name="Shape 43"/>
          <p:cNvSpPr/>
          <p:nvPr/>
        </p:nvSpPr>
        <p:spPr>
          <a:xfrm>
            <a:off x="10954512" y="9070848"/>
            <a:ext cx="3200400" cy="768096"/>
          </a:xfrm>
          <a:prstGeom prst="rect">
            <a:avLst/>
          </a:prstGeom>
          <a:solidFill>
            <a:srgbClr val="27AE60"/>
          </a:solidFill>
          <a:ln w="12700">
            <a:solidFill>
              <a:srgbClr val="27AE60"/>
            </a:solidFill>
            <a:prstDash val="solid"/>
          </a:ln>
        </p:spPr>
      </p:sp>
      <p:sp>
        <p:nvSpPr>
          <p:cNvPr id="46" name="Text 44"/>
          <p:cNvSpPr/>
          <p:nvPr/>
        </p:nvSpPr>
        <p:spPr>
          <a:xfrm>
            <a:off x="10954512" y="9070848"/>
            <a:ext cx="3200400" cy="365760"/>
          </a:xfrm>
          <a:prstGeom prst="rect">
            <a:avLst/>
          </a:prstGeom>
          <a:noFill/>
          <a:ln/>
        </p:spPr>
        <p:txBody>
          <a:bodyPr wrap="square" rtlCol="0" anchor="ctr"/>
          <a:lstStyle/>
          <a:p>
            <a:pPr algn="ctr"/>
            <a:r>
              <a:rPr lang="en-US" sz="1600" b="1" dirty="0">
                <a:solidFill>
                  <a:srgbClr val="FFFFFF"/>
                </a:solidFill>
                <a:latin typeface="Arial" pitchFamily="34" charset="0"/>
                <a:ea typeface="Arial" pitchFamily="34" charset="-122"/>
                <a:cs typeface="Arial" pitchFamily="34" charset="-120"/>
              </a:rPr>
              <a:t>Testing</a:t>
            </a:r>
            <a:endParaRPr lang="en-US" sz="1600" dirty="0"/>
          </a:p>
        </p:txBody>
      </p:sp>
      <p:sp>
        <p:nvSpPr>
          <p:cNvPr id="47" name="Text 45"/>
          <p:cNvSpPr/>
          <p:nvPr/>
        </p:nvSpPr>
        <p:spPr>
          <a:xfrm>
            <a:off x="10954512" y="9400032"/>
            <a:ext cx="3200400" cy="365760"/>
          </a:xfrm>
          <a:prstGeom prst="rect">
            <a:avLst/>
          </a:prstGeom>
          <a:noFill/>
          <a:ln/>
        </p:spPr>
        <p:txBody>
          <a:bodyPr wrap="square" rtlCol="0" anchor="ctr"/>
          <a:lstStyle/>
          <a:p>
            <a:pPr algn="ctr"/>
            <a:r>
              <a:rPr lang="en-US" sz="1500" dirty="0">
                <a:solidFill>
                  <a:srgbClr val="FFFFFF"/>
                </a:solidFill>
                <a:latin typeface="Calibri" pitchFamily="34" charset="0"/>
                <a:ea typeface="Calibri" pitchFamily="34" charset="-122"/>
                <a:cs typeface="Calibri" pitchFamily="34" charset="-120"/>
              </a:rPr>
              <a:t>ZAP Proxy + Testing Guide</a:t>
            </a:r>
            <a:endParaRPr lang="en-US" sz="1500" dirty="0"/>
          </a:p>
        </p:txBody>
      </p:sp>
      <p:sp>
        <p:nvSpPr>
          <p:cNvPr id="48" name="Shape 46"/>
          <p:cNvSpPr/>
          <p:nvPr/>
        </p:nvSpPr>
        <p:spPr>
          <a:xfrm>
            <a:off x="14209776" y="9272016"/>
            <a:ext cx="182880" cy="329184"/>
          </a:xfrm>
          <a:prstGeom prst="triangle">
            <a:avLst/>
          </a:prstGeom>
          <a:solidFill>
            <a:srgbClr val="00B4C8"/>
          </a:solidFill>
          <a:ln w="12700">
            <a:solidFill>
              <a:srgbClr val="00B4C8"/>
            </a:solidFill>
            <a:prstDash val="solid"/>
          </a:ln>
        </p:spPr>
      </p:sp>
      <p:sp>
        <p:nvSpPr>
          <p:cNvPr id="49" name="Shape 47"/>
          <p:cNvSpPr/>
          <p:nvPr/>
        </p:nvSpPr>
        <p:spPr>
          <a:xfrm>
            <a:off x="14484096" y="9070848"/>
            <a:ext cx="3200400" cy="768096"/>
          </a:xfrm>
          <a:prstGeom prst="rect">
            <a:avLst/>
          </a:prstGeom>
          <a:solidFill>
            <a:srgbClr val="E67E22"/>
          </a:solidFill>
          <a:ln w="12700">
            <a:solidFill>
              <a:srgbClr val="E67E22"/>
            </a:solidFill>
            <a:prstDash val="solid"/>
          </a:ln>
        </p:spPr>
      </p:sp>
      <p:sp>
        <p:nvSpPr>
          <p:cNvPr id="50" name="Text 48"/>
          <p:cNvSpPr/>
          <p:nvPr/>
        </p:nvSpPr>
        <p:spPr>
          <a:xfrm>
            <a:off x="14484096" y="9070848"/>
            <a:ext cx="3200400" cy="365760"/>
          </a:xfrm>
          <a:prstGeom prst="rect">
            <a:avLst/>
          </a:prstGeom>
          <a:noFill/>
          <a:ln/>
        </p:spPr>
        <p:txBody>
          <a:bodyPr wrap="square" rtlCol="0" anchor="ctr"/>
          <a:lstStyle/>
          <a:p>
            <a:pPr algn="ctr"/>
            <a:r>
              <a:rPr lang="en-US" sz="1600" b="1" dirty="0">
                <a:solidFill>
                  <a:srgbClr val="FFFFFF"/>
                </a:solidFill>
                <a:latin typeface="Arial" pitchFamily="34" charset="0"/>
                <a:ea typeface="Arial" pitchFamily="34" charset="-122"/>
                <a:cs typeface="Arial" pitchFamily="34" charset="-120"/>
              </a:rPr>
              <a:t>Deployment</a:t>
            </a:r>
            <a:endParaRPr lang="en-US" sz="1600" dirty="0"/>
          </a:p>
        </p:txBody>
      </p:sp>
      <p:sp>
        <p:nvSpPr>
          <p:cNvPr id="51" name="Text 49"/>
          <p:cNvSpPr/>
          <p:nvPr/>
        </p:nvSpPr>
        <p:spPr>
          <a:xfrm>
            <a:off x="14484096" y="9400032"/>
            <a:ext cx="3200400" cy="365760"/>
          </a:xfrm>
          <a:prstGeom prst="rect">
            <a:avLst/>
          </a:prstGeom>
          <a:noFill/>
          <a:ln/>
        </p:spPr>
        <p:txBody>
          <a:bodyPr wrap="square" rtlCol="0" anchor="ctr"/>
          <a:lstStyle/>
          <a:p>
            <a:pPr algn="ctr"/>
            <a:r>
              <a:rPr lang="en-US" sz="1500" dirty="0">
                <a:solidFill>
                  <a:srgbClr val="FFFFFF"/>
                </a:solidFill>
                <a:latin typeface="Calibri" pitchFamily="34" charset="0"/>
                <a:ea typeface="Calibri" pitchFamily="34" charset="-122"/>
                <a:cs typeface="Calibri" pitchFamily="34" charset="-120"/>
              </a:rPr>
              <a:t>Security Config Guide</a:t>
            </a:r>
            <a:endParaRPr lang="en-US" sz="1500" dirty="0"/>
          </a:p>
        </p:txBody>
      </p:sp>
      <p:sp>
        <p:nvSpPr>
          <p:cNvPr id="52" name="Shape 50"/>
          <p:cNvSpPr/>
          <p:nvPr/>
        </p:nvSpPr>
        <p:spPr>
          <a:xfrm>
            <a:off x="0" y="9875520"/>
            <a:ext cx="18288000" cy="411480"/>
          </a:xfrm>
          <a:prstGeom prst="rect">
            <a:avLst/>
          </a:prstGeom>
          <a:solidFill>
            <a:srgbClr val="004D5B"/>
          </a:solidFill>
          <a:ln w="12700">
            <a:solidFill>
              <a:srgbClr val="004D5B"/>
            </a:solidFill>
            <a:prstDash val="solid"/>
          </a:ln>
        </p:spPr>
      </p:sp>
      <p:sp>
        <p:nvSpPr>
          <p:cNvPr id="53" name="Text 51"/>
          <p:cNvSpPr/>
          <p:nvPr/>
        </p:nvSpPr>
        <p:spPr>
          <a:xfrm>
            <a:off x="365760" y="9875520"/>
            <a:ext cx="14264640" cy="411480"/>
          </a:xfrm>
          <a:prstGeom prst="rect">
            <a:avLst/>
          </a:prstGeom>
          <a:noFill/>
          <a:ln/>
        </p:spPr>
        <p:txBody>
          <a:bodyPr wrap="square" rtlCol="0" anchor="ctr"/>
          <a:lstStyle/>
          <a:p>
            <a:r>
              <a:rPr lang="en-US" sz="1600" dirty="0">
                <a:solidFill>
                  <a:srgbClr val="00B4C8"/>
                </a:solidFill>
                <a:latin typeface="Calibri" pitchFamily="34" charset="0"/>
                <a:ea typeface="Calibri" pitchFamily="34" charset="-122"/>
                <a:cs typeface="Calibri" pitchFamily="34" charset="-120"/>
              </a:rPr>
              <a:t>Alangh Academy — Cybersecurity Training | OWASP Top 10</a:t>
            </a:r>
            <a:endParaRPr lang="en-US" sz="1600" dirty="0"/>
          </a:p>
        </p:txBody>
      </p:sp>
      <p:pic>
        <p:nvPicPr>
          <p:cNvPr id="55" name="Picture 54">
            <a:extLst>
              <a:ext uri="{FF2B5EF4-FFF2-40B4-BE49-F238E27FC236}">
                <a16:creationId xmlns:a16="http://schemas.microsoft.com/office/drawing/2014/main" id="{273F1AA5-C51F-0B8E-D232-9233EEB563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92016" y="56388"/>
            <a:ext cx="4435024" cy="162763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058400" cy="10287000"/>
          </a:xfrm>
          <a:prstGeom prst="rect">
            <a:avLst/>
          </a:prstGeom>
          <a:solidFill>
            <a:srgbClr val="005F73"/>
          </a:solidFill>
          <a:ln w="12700">
            <a:solidFill>
              <a:srgbClr val="005F73"/>
            </a:solidFill>
            <a:prstDash val="solid"/>
          </a:ln>
        </p:spPr>
      </p:sp>
      <p:sp>
        <p:nvSpPr>
          <p:cNvPr id="3" name="Shape 1"/>
          <p:cNvSpPr/>
          <p:nvPr/>
        </p:nvSpPr>
        <p:spPr>
          <a:xfrm>
            <a:off x="10058400" y="0"/>
            <a:ext cx="146304" cy="10287000"/>
          </a:xfrm>
          <a:prstGeom prst="rect">
            <a:avLst/>
          </a:prstGeom>
          <a:solidFill>
            <a:srgbClr val="00B4C8"/>
          </a:solidFill>
          <a:ln w="12700">
            <a:solidFill>
              <a:srgbClr val="00B4C8"/>
            </a:solidFill>
            <a:prstDash val="solid"/>
          </a:ln>
        </p:spPr>
      </p:sp>
      <p:sp>
        <p:nvSpPr>
          <p:cNvPr id="5" name="Text 2"/>
          <p:cNvSpPr/>
          <p:nvPr/>
        </p:nvSpPr>
        <p:spPr>
          <a:xfrm>
            <a:off x="731520" y="3840480"/>
            <a:ext cx="9144000" cy="822960"/>
          </a:xfrm>
          <a:prstGeom prst="rect">
            <a:avLst/>
          </a:prstGeom>
          <a:noFill/>
          <a:ln/>
        </p:spPr>
        <p:txBody>
          <a:bodyPr wrap="square" rtlCol="0" anchor="ctr"/>
          <a:lstStyle/>
          <a:p>
            <a:r>
              <a:rPr lang="en-US" sz="4000" b="1" dirty="0">
                <a:solidFill>
                  <a:srgbClr val="00B4C8"/>
                </a:solidFill>
                <a:latin typeface="Arial Black" pitchFamily="34" charset="0"/>
                <a:ea typeface="Arial Black" pitchFamily="34" charset="-122"/>
                <a:cs typeface="Arial Black" pitchFamily="34" charset="-120"/>
              </a:rPr>
              <a:t>Chapter 7 Complete!</a:t>
            </a:r>
            <a:endParaRPr lang="en-US" sz="4000" dirty="0"/>
          </a:p>
        </p:txBody>
      </p:sp>
      <p:sp>
        <p:nvSpPr>
          <p:cNvPr id="6" name="Text 3"/>
          <p:cNvSpPr/>
          <p:nvPr/>
        </p:nvSpPr>
        <p:spPr>
          <a:xfrm>
            <a:off x="731520" y="4754880"/>
            <a:ext cx="9144000" cy="1499616"/>
          </a:xfrm>
          <a:prstGeom prst="rect">
            <a:avLst/>
          </a:prstGeom>
          <a:noFill/>
          <a:ln/>
        </p:spPr>
        <p:txBody>
          <a:bodyPr wrap="square" rtlCol="0" anchor="ctr"/>
          <a:lstStyle/>
          <a:p>
            <a:r>
              <a:rPr lang="en-US" sz="5600" b="1" dirty="0">
                <a:solidFill>
                  <a:srgbClr val="FFFFFF"/>
                </a:solidFill>
                <a:latin typeface="Arial Black" pitchFamily="34" charset="0"/>
                <a:ea typeface="Arial Black" pitchFamily="34" charset="-122"/>
                <a:cs typeface="Arial Black" pitchFamily="34" charset="-120"/>
              </a:rPr>
              <a:t>OWASP Top 10</a:t>
            </a:r>
            <a:endParaRPr lang="en-US" sz="5600" dirty="0"/>
          </a:p>
          <a:p>
            <a:r>
              <a:rPr lang="en-US" sz="5600" b="1" dirty="0">
                <a:solidFill>
                  <a:srgbClr val="FFFFFF"/>
                </a:solidFill>
                <a:latin typeface="Arial Black" pitchFamily="34" charset="0"/>
                <a:ea typeface="Arial Black" pitchFamily="34" charset="-122"/>
                <a:cs typeface="Arial Black" pitchFamily="34" charset="-120"/>
              </a:rPr>
              <a:t>Key Takeaways</a:t>
            </a:r>
            <a:endParaRPr lang="en-US" sz="5600" dirty="0"/>
          </a:p>
        </p:txBody>
      </p:sp>
      <p:sp>
        <p:nvSpPr>
          <p:cNvPr id="7" name="Shape 4"/>
          <p:cNvSpPr/>
          <p:nvPr/>
        </p:nvSpPr>
        <p:spPr>
          <a:xfrm>
            <a:off x="822960" y="6492240"/>
            <a:ext cx="475488" cy="475488"/>
          </a:xfrm>
          <a:prstGeom prst="ellipse">
            <a:avLst/>
          </a:prstGeom>
          <a:solidFill>
            <a:srgbClr val="00B4C8"/>
          </a:solidFill>
          <a:ln w="12700">
            <a:solidFill>
              <a:srgbClr val="00B4C8"/>
            </a:solidFill>
            <a:prstDash val="solid"/>
          </a:ln>
        </p:spPr>
      </p:sp>
      <p:sp>
        <p:nvSpPr>
          <p:cNvPr id="8" name="Text 5"/>
          <p:cNvSpPr/>
          <p:nvPr/>
        </p:nvSpPr>
        <p:spPr>
          <a:xfrm>
            <a:off x="822960" y="6492240"/>
            <a:ext cx="475488" cy="475488"/>
          </a:xfrm>
          <a:prstGeom prst="rect">
            <a:avLst/>
          </a:prstGeom>
          <a:noFill/>
          <a:ln/>
        </p:spPr>
        <p:txBody>
          <a:bodyPr wrap="square" rtlCol="0" anchor="ctr"/>
          <a:lstStyle/>
          <a:p>
            <a:pPr algn="ctr"/>
            <a:r>
              <a:rPr lang="en-US" sz="1600" b="1" dirty="0">
                <a:solidFill>
                  <a:srgbClr val="004D5B"/>
                </a:solidFill>
              </a:rPr>
              <a:t>1</a:t>
            </a:r>
            <a:endParaRPr lang="en-US" sz="1600" dirty="0"/>
          </a:p>
        </p:txBody>
      </p:sp>
      <p:sp>
        <p:nvSpPr>
          <p:cNvPr id="9" name="Text 6"/>
          <p:cNvSpPr/>
          <p:nvPr/>
        </p:nvSpPr>
        <p:spPr>
          <a:xfrm>
            <a:off x="1408176" y="6492240"/>
            <a:ext cx="8321040" cy="548640"/>
          </a:xfrm>
          <a:prstGeom prst="rect">
            <a:avLst/>
          </a:prstGeom>
          <a:noFill/>
          <a:ln/>
        </p:spPr>
        <p:txBody>
          <a:bodyPr wrap="square" rtlCol="0" anchor="ctr"/>
          <a:lstStyle/>
          <a:p>
            <a:r>
              <a:rPr lang="en-US" sz="2100" dirty="0">
                <a:solidFill>
                  <a:srgbClr val="FFFFFF"/>
                </a:solidFill>
                <a:latin typeface="Calibri" pitchFamily="34" charset="0"/>
                <a:ea typeface="Calibri" pitchFamily="34" charset="-122"/>
                <a:cs typeface="Calibri" pitchFamily="34" charset="-120"/>
              </a:rPr>
              <a:t>OWASP Top 10 = global standard for web app security</a:t>
            </a:r>
            <a:endParaRPr lang="en-US" sz="2100" dirty="0"/>
          </a:p>
        </p:txBody>
      </p:sp>
      <p:sp>
        <p:nvSpPr>
          <p:cNvPr id="10" name="Shape 7"/>
          <p:cNvSpPr/>
          <p:nvPr/>
        </p:nvSpPr>
        <p:spPr>
          <a:xfrm>
            <a:off x="822960" y="7187184"/>
            <a:ext cx="475488" cy="475488"/>
          </a:xfrm>
          <a:prstGeom prst="ellipse">
            <a:avLst/>
          </a:prstGeom>
          <a:solidFill>
            <a:srgbClr val="00B4C8"/>
          </a:solidFill>
          <a:ln w="12700">
            <a:solidFill>
              <a:srgbClr val="00B4C8"/>
            </a:solidFill>
            <a:prstDash val="solid"/>
          </a:ln>
        </p:spPr>
      </p:sp>
      <p:sp>
        <p:nvSpPr>
          <p:cNvPr id="11" name="Text 8"/>
          <p:cNvSpPr/>
          <p:nvPr/>
        </p:nvSpPr>
        <p:spPr>
          <a:xfrm>
            <a:off x="822960" y="7187184"/>
            <a:ext cx="475488" cy="475488"/>
          </a:xfrm>
          <a:prstGeom prst="rect">
            <a:avLst/>
          </a:prstGeom>
          <a:noFill/>
          <a:ln/>
        </p:spPr>
        <p:txBody>
          <a:bodyPr wrap="square" rtlCol="0" anchor="ctr"/>
          <a:lstStyle/>
          <a:p>
            <a:pPr algn="ctr"/>
            <a:r>
              <a:rPr lang="en-US" sz="1600" b="1" dirty="0">
                <a:solidFill>
                  <a:srgbClr val="004D5B"/>
                </a:solidFill>
              </a:rPr>
              <a:t>2</a:t>
            </a:r>
            <a:endParaRPr lang="en-US" sz="1600" dirty="0"/>
          </a:p>
        </p:txBody>
      </p:sp>
      <p:sp>
        <p:nvSpPr>
          <p:cNvPr id="12" name="Text 9"/>
          <p:cNvSpPr/>
          <p:nvPr/>
        </p:nvSpPr>
        <p:spPr>
          <a:xfrm>
            <a:off x="1408176" y="7187184"/>
            <a:ext cx="8321040" cy="548640"/>
          </a:xfrm>
          <a:prstGeom prst="rect">
            <a:avLst/>
          </a:prstGeom>
          <a:noFill/>
          <a:ln/>
        </p:spPr>
        <p:txBody>
          <a:bodyPr wrap="square" rtlCol="0" anchor="ctr"/>
          <a:lstStyle/>
          <a:p>
            <a:r>
              <a:rPr lang="en-US" sz="2100" dirty="0">
                <a:solidFill>
                  <a:srgbClr val="FFFFFF"/>
                </a:solidFill>
                <a:latin typeface="Calibri" pitchFamily="34" charset="0"/>
                <a:ea typeface="Calibri" pitchFamily="34" charset="-122"/>
                <a:cs typeface="Calibri" pitchFamily="34" charset="-120"/>
              </a:rPr>
              <a:t>Broken Access Control is the #1 risk in 2021</a:t>
            </a:r>
            <a:endParaRPr lang="en-US" sz="2100" dirty="0"/>
          </a:p>
        </p:txBody>
      </p:sp>
      <p:sp>
        <p:nvSpPr>
          <p:cNvPr id="13" name="Shape 10"/>
          <p:cNvSpPr/>
          <p:nvPr/>
        </p:nvSpPr>
        <p:spPr>
          <a:xfrm>
            <a:off x="822960" y="7882128"/>
            <a:ext cx="475488" cy="475488"/>
          </a:xfrm>
          <a:prstGeom prst="ellipse">
            <a:avLst/>
          </a:prstGeom>
          <a:solidFill>
            <a:srgbClr val="00B4C8"/>
          </a:solidFill>
          <a:ln w="12700">
            <a:solidFill>
              <a:srgbClr val="00B4C8"/>
            </a:solidFill>
            <a:prstDash val="solid"/>
          </a:ln>
        </p:spPr>
      </p:sp>
      <p:sp>
        <p:nvSpPr>
          <p:cNvPr id="14" name="Text 11"/>
          <p:cNvSpPr/>
          <p:nvPr/>
        </p:nvSpPr>
        <p:spPr>
          <a:xfrm>
            <a:off x="822960" y="7882128"/>
            <a:ext cx="475488" cy="475488"/>
          </a:xfrm>
          <a:prstGeom prst="rect">
            <a:avLst/>
          </a:prstGeom>
          <a:noFill/>
          <a:ln/>
        </p:spPr>
        <p:txBody>
          <a:bodyPr wrap="square" rtlCol="0" anchor="ctr"/>
          <a:lstStyle/>
          <a:p>
            <a:pPr algn="ctr"/>
            <a:r>
              <a:rPr lang="en-US" sz="1600" b="1" dirty="0">
                <a:solidFill>
                  <a:srgbClr val="004D5B"/>
                </a:solidFill>
              </a:rPr>
              <a:t>3</a:t>
            </a:r>
            <a:endParaRPr lang="en-US" sz="1600" dirty="0"/>
          </a:p>
        </p:txBody>
      </p:sp>
      <p:sp>
        <p:nvSpPr>
          <p:cNvPr id="15" name="Text 12"/>
          <p:cNvSpPr/>
          <p:nvPr/>
        </p:nvSpPr>
        <p:spPr>
          <a:xfrm>
            <a:off x="1408176" y="7882128"/>
            <a:ext cx="8321040" cy="548640"/>
          </a:xfrm>
          <a:prstGeom prst="rect">
            <a:avLst/>
          </a:prstGeom>
          <a:noFill/>
          <a:ln/>
        </p:spPr>
        <p:txBody>
          <a:bodyPr wrap="square" rtlCol="0" anchor="ctr"/>
          <a:lstStyle/>
          <a:p>
            <a:r>
              <a:rPr lang="en-US" sz="2100" dirty="0">
                <a:solidFill>
                  <a:srgbClr val="FFFFFF"/>
                </a:solidFill>
                <a:latin typeface="Calibri" pitchFamily="34" charset="0"/>
                <a:ea typeface="Calibri" pitchFamily="34" charset="-122"/>
                <a:cs typeface="Calibri" pitchFamily="34" charset="-120"/>
              </a:rPr>
              <a:t>3 NEW categories added in 2021 edition</a:t>
            </a:r>
            <a:endParaRPr lang="en-US" sz="2100" dirty="0"/>
          </a:p>
        </p:txBody>
      </p:sp>
      <p:sp>
        <p:nvSpPr>
          <p:cNvPr id="16" name="Shape 13"/>
          <p:cNvSpPr/>
          <p:nvPr/>
        </p:nvSpPr>
        <p:spPr>
          <a:xfrm>
            <a:off x="822960" y="8577072"/>
            <a:ext cx="475488" cy="475488"/>
          </a:xfrm>
          <a:prstGeom prst="ellipse">
            <a:avLst/>
          </a:prstGeom>
          <a:solidFill>
            <a:srgbClr val="00B4C8"/>
          </a:solidFill>
          <a:ln w="12700">
            <a:solidFill>
              <a:srgbClr val="00B4C8"/>
            </a:solidFill>
            <a:prstDash val="solid"/>
          </a:ln>
        </p:spPr>
      </p:sp>
      <p:sp>
        <p:nvSpPr>
          <p:cNvPr id="17" name="Text 14"/>
          <p:cNvSpPr/>
          <p:nvPr/>
        </p:nvSpPr>
        <p:spPr>
          <a:xfrm>
            <a:off x="822960" y="8577072"/>
            <a:ext cx="475488" cy="475488"/>
          </a:xfrm>
          <a:prstGeom prst="rect">
            <a:avLst/>
          </a:prstGeom>
          <a:noFill/>
          <a:ln/>
        </p:spPr>
        <p:txBody>
          <a:bodyPr wrap="square" rtlCol="0" anchor="ctr"/>
          <a:lstStyle/>
          <a:p>
            <a:pPr algn="ctr"/>
            <a:r>
              <a:rPr lang="en-US" sz="1600" b="1" dirty="0">
                <a:solidFill>
                  <a:srgbClr val="004D5B"/>
                </a:solidFill>
              </a:rPr>
              <a:t>4</a:t>
            </a:r>
            <a:endParaRPr lang="en-US" sz="1600" dirty="0"/>
          </a:p>
        </p:txBody>
      </p:sp>
      <p:sp>
        <p:nvSpPr>
          <p:cNvPr id="18" name="Text 15"/>
          <p:cNvSpPr/>
          <p:nvPr/>
        </p:nvSpPr>
        <p:spPr>
          <a:xfrm>
            <a:off x="1408176" y="8577072"/>
            <a:ext cx="8321040" cy="548640"/>
          </a:xfrm>
          <a:prstGeom prst="rect">
            <a:avLst/>
          </a:prstGeom>
          <a:noFill/>
          <a:ln/>
        </p:spPr>
        <p:txBody>
          <a:bodyPr wrap="square" rtlCol="0" anchor="ctr"/>
          <a:lstStyle/>
          <a:p>
            <a:r>
              <a:rPr lang="en-US" sz="2100" dirty="0">
                <a:solidFill>
                  <a:srgbClr val="FFFFFF"/>
                </a:solidFill>
                <a:latin typeface="Calibri" pitchFamily="34" charset="0"/>
                <a:ea typeface="Calibri" pitchFamily="34" charset="-122"/>
                <a:cs typeface="Calibri" pitchFamily="34" charset="-120"/>
              </a:rPr>
              <a:t>Prevention starts at design, not just coding</a:t>
            </a:r>
            <a:endParaRPr lang="en-US" sz="2100" dirty="0"/>
          </a:p>
        </p:txBody>
      </p:sp>
      <p:sp>
        <p:nvSpPr>
          <p:cNvPr id="19" name="Shape 16"/>
          <p:cNvSpPr/>
          <p:nvPr/>
        </p:nvSpPr>
        <p:spPr>
          <a:xfrm>
            <a:off x="822960" y="9272016"/>
            <a:ext cx="475488" cy="475488"/>
          </a:xfrm>
          <a:prstGeom prst="ellipse">
            <a:avLst/>
          </a:prstGeom>
          <a:solidFill>
            <a:srgbClr val="00B4C8"/>
          </a:solidFill>
          <a:ln w="12700">
            <a:solidFill>
              <a:srgbClr val="00B4C8"/>
            </a:solidFill>
            <a:prstDash val="solid"/>
          </a:ln>
        </p:spPr>
      </p:sp>
      <p:sp>
        <p:nvSpPr>
          <p:cNvPr id="20" name="Text 17"/>
          <p:cNvSpPr/>
          <p:nvPr/>
        </p:nvSpPr>
        <p:spPr>
          <a:xfrm>
            <a:off x="822960" y="9272016"/>
            <a:ext cx="475488" cy="475488"/>
          </a:xfrm>
          <a:prstGeom prst="rect">
            <a:avLst/>
          </a:prstGeom>
          <a:noFill/>
          <a:ln/>
        </p:spPr>
        <p:txBody>
          <a:bodyPr wrap="square" rtlCol="0" anchor="ctr"/>
          <a:lstStyle/>
          <a:p>
            <a:pPr algn="ctr"/>
            <a:r>
              <a:rPr lang="en-US" sz="1600" b="1" dirty="0">
                <a:solidFill>
                  <a:srgbClr val="004D5B"/>
                </a:solidFill>
              </a:rPr>
              <a:t>5</a:t>
            </a:r>
            <a:endParaRPr lang="en-US" sz="1600" dirty="0"/>
          </a:p>
        </p:txBody>
      </p:sp>
      <p:sp>
        <p:nvSpPr>
          <p:cNvPr id="21" name="Text 18"/>
          <p:cNvSpPr/>
          <p:nvPr/>
        </p:nvSpPr>
        <p:spPr>
          <a:xfrm>
            <a:off x="1408176" y="9272016"/>
            <a:ext cx="8321040" cy="548640"/>
          </a:xfrm>
          <a:prstGeom prst="rect">
            <a:avLst/>
          </a:prstGeom>
          <a:noFill/>
          <a:ln/>
        </p:spPr>
        <p:txBody>
          <a:bodyPr wrap="square" rtlCol="0" anchor="ctr"/>
          <a:lstStyle/>
          <a:p>
            <a:r>
              <a:rPr lang="en-US" sz="2100" dirty="0">
                <a:solidFill>
                  <a:srgbClr val="FFFFFF"/>
                </a:solidFill>
                <a:latin typeface="Calibri" pitchFamily="34" charset="0"/>
                <a:ea typeface="Calibri" pitchFamily="34" charset="-122"/>
                <a:cs typeface="Calibri" pitchFamily="34" charset="-120"/>
              </a:rPr>
              <a:t>Logging &amp; monitoring are your last line of defense</a:t>
            </a:r>
            <a:endParaRPr lang="en-US" sz="2100" dirty="0"/>
          </a:p>
        </p:txBody>
      </p:sp>
      <p:sp>
        <p:nvSpPr>
          <p:cNvPr id="22" name="Text 19"/>
          <p:cNvSpPr/>
          <p:nvPr/>
        </p:nvSpPr>
        <p:spPr>
          <a:xfrm>
            <a:off x="10515600" y="1476756"/>
            <a:ext cx="3044767" cy="694944"/>
          </a:xfrm>
          <a:prstGeom prst="rect">
            <a:avLst/>
          </a:prstGeom>
          <a:noFill/>
          <a:ln/>
        </p:spPr>
        <p:txBody>
          <a:bodyPr wrap="square" rtlCol="0" anchor="ctr"/>
          <a:lstStyle/>
          <a:p>
            <a:r>
              <a:rPr lang="en-US" sz="3600" u="sng" dirty="0">
                <a:solidFill>
                  <a:srgbClr val="00B4C8"/>
                </a:solidFill>
                <a:latin typeface="Arial Black" pitchFamily="34" charset="0"/>
                <a:ea typeface="Arial Black" pitchFamily="34" charset="-122"/>
                <a:cs typeface="Arial Black" pitchFamily="34" charset="-120"/>
              </a:rPr>
              <a:t>Remember:</a:t>
            </a:r>
            <a:endParaRPr lang="en-US" sz="3600" u="sng" dirty="0"/>
          </a:p>
        </p:txBody>
      </p:sp>
      <p:sp>
        <p:nvSpPr>
          <p:cNvPr id="23" name="Text 20"/>
          <p:cNvSpPr/>
          <p:nvPr/>
        </p:nvSpPr>
        <p:spPr>
          <a:xfrm>
            <a:off x="10515600" y="2029968"/>
            <a:ext cx="7315200" cy="2651760"/>
          </a:xfrm>
          <a:prstGeom prst="rect">
            <a:avLst/>
          </a:prstGeom>
          <a:noFill/>
          <a:ln/>
        </p:spPr>
        <p:txBody>
          <a:bodyPr wrap="square" rtlCol="0" anchor="ctr"/>
          <a:lstStyle/>
          <a:p>
            <a:pPr algn="ctr"/>
            <a:r>
              <a:rPr lang="en-US" sz="4000" b="1" dirty="0">
                <a:solidFill>
                  <a:schemeClr val="accent5">
                    <a:lumMod val="60000"/>
                    <a:lumOff val="40000"/>
                  </a:schemeClr>
                </a:solidFill>
                <a:latin typeface="Arial Black" pitchFamily="34" charset="0"/>
                <a:ea typeface="Arial Black" pitchFamily="34" charset="-122"/>
                <a:cs typeface="Arial Black" pitchFamily="34" charset="-120"/>
              </a:rPr>
              <a:t>Security is not a</a:t>
            </a:r>
            <a:endParaRPr lang="en-US" sz="4000" dirty="0">
              <a:solidFill>
                <a:schemeClr val="accent5">
                  <a:lumMod val="60000"/>
                  <a:lumOff val="40000"/>
                </a:schemeClr>
              </a:solidFill>
            </a:endParaRPr>
          </a:p>
          <a:p>
            <a:pPr algn="ctr"/>
            <a:r>
              <a:rPr lang="en-US" sz="4000" b="1" dirty="0">
                <a:solidFill>
                  <a:schemeClr val="accent5">
                    <a:lumMod val="60000"/>
                    <a:lumOff val="40000"/>
                  </a:schemeClr>
                </a:solidFill>
                <a:latin typeface="Arial Black" pitchFamily="34" charset="0"/>
                <a:ea typeface="Arial Black" pitchFamily="34" charset="-122"/>
                <a:cs typeface="Arial Black" pitchFamily="34" charset="-120"/>
              </a:rPr>
              <a:t>one-time activity.</a:t>
            </a:r>
            <a:endParaRPr lang="en-US" sz="4000" dirty="0">
              <a:solidFill>
                <a:schemeClr val="accent5">
                  <a:lumMod val="60000"/>
                  <a:lumOff val="40000"/>
                </a:schemeClr>
              </a:solidFill>
            </a:endParaRPr>
          </a:p>
          <a:p>
            <a:pPr algn="ctr"/>
            <a:r>
              <a:rPr lang="en-US" sz="4000" b="1" dirty="0">
                <a:solidFill>
                  <a:schemeClr val="accent5">
                    <a:lumMod val="60000"/>
                    <a:lumOff val="40000"/>
                  </a:schemeClr>
                </a:solidFill>
                <a:latin typeface="Arial Black" pitchFamily="34" charset="0"/>
                <a:ea typeface="Arial Black" pitchFamily="34" charset="-122"/>
                <a:cs typeface="Arial Black" pitchFamily="34" charset="-120"/>
              </a:rPr>
              <a:t>It's a continuous</a:t>
            </a:r>
            <a:endParaRPr lang="en-US" sz="4000" dirty="0">
              <a:solidFill>
                <a:schemeClr val="accent5">
                  <a:lumMod val="60000"/>
                  <a:lumOff val="40000"/>
                </a:schemeClr>
              </a:solidFill>
            </a:endParaRPr>
          </a:p>
          <a:p>
            <a:pPr algn="ctr"/>
            <a:r>
              <a:rPr lang="en-US" sz="4000" b="1" dirty="0">
                <a:solidFill>
                  <a:schemeClr val="accent5">
                    <a:lumMod val="60000"/>
                    <a:lumOff val="40000"/>
                  </a:schemeClr>
                </a:solidFill>
                <a:latin typeface="Arial Black" pitchFamily="34" charset="0"/>
                <a:ea typeface="Arial Black" pitchFamily="34" charset="-122"/>
                <a:cs typeface="Arial Black" pitchFamily="34" charset="-120"/>
              </a:rPr>
              <a:t>process.</a:t>
            </a:r>
            <a:endParaRPr lang="en-US" sz="4000" dirty="0">
              <a:solidFill>
                <a:schemeClr val="accent5">
                  <a:lumMod val="60000"/>
                  <a:lumOff val="40000"/>
                </a:schemeClr>
              </a:solidFill>
            </a:endParaRPr>
          </a:p>
        </p:txBody>
      </p:sp>
      <p:sp>
        <p:nvSpPr>
          <p:cNvPr id="24" name="Shape 21"/>
          <p:cNvSpPr/>
          <p:nvPr/>
        </p:nvSpPr>
        <p:spPr>
          <a:xfrm>
            <a:off x="10460736" y="4663440"/>
            <a:ext cx="7315200" cy="1389888"/>
          </a:xfrm>
          <a:prstGeom prst="rect">
            <a:avLst/>
          </a:prstGeom>
          <a:solidFill>
            <a:srgbClr val="003845"/>
          </a:solidFill>
          <a:ln w="12700">
            <a:solidFill>
              <a:srgbClr val="00B4C8"/>
            </a:solidFill>
            <a:prstDash val="solid"/>
          </a:ln>
        </p:spPr>
      </p:sp>
      <p:sp>
        <p:nvSpPr>
          <p:cNvPr id="25" name="Shape 22"/>
          <p:cNvSpPr/>
          <p:nvPr/>
        </p:nvSpPr>
        <p:spPr>
          <a:xfrm>
            <a:off x="10460736" y="4663440"/>
            <a:ext cx="1243584" cy="1389888"/>
          </a:xfrm>
          <a:prstGeom prst="rect">
            <a:avLst/>
          </a:prstGeom>
          <a:solidFill>
            <a:srgbClr val="028090"/>
          </a:solidFill>
          <a:ln w="12700">
            <a:solidFill>
              <a:srgbClr val="028090"/>
            </a:solidFill>
            <a:prstDash val="solid"/>
          </a:ln>
        </p:spPr>
      </p:sp>
      <p:sp>
        <p:nvSpPr>
          <p:cNvPr id="26" name="Text 23"/>
          <p:cNvSpPr/>
          <p:nvPr/>
        </p:nvSpPr>
        <p:spPr>
          <a:xfrm>
            <a:off x="10460736" y="4663440"/>
            <a:ext cx="1243584" cy="1389888"/>
          </a:xfrm>
          <a:prstGeom prst="rect">
            <a:avLst/>
          </a:prstGeom>
          <a:noFill/>
          <a:ln/>
        </p:spPr>
        <p:txBody>
          <a:bodyPr wrap="square" rtlCol="0" anchor="ctr"/>
          <a:lstStyle/>
          <a:p>
            <a:pPr algn="ctr"/>
            <a:r>
              <a:rPr lang="en-US" sz="1600" b="1" dirty="0">
                <a:solidFill>
                  <a:srgbClr val="FFFFFF"/>
                </a:solidFill>
                <a:latin typeface="Arial Black" pitchFamily="34" charset="0"/>
                <a:ea typeface="Arial Black" pitchFamily="34" charset="-122"/>
                <a:cs typeface="Arial Black" pitchFamily="34" charset="-120"/>
              </a:rPr>
              <a:t>LEARN</a:t>
            </a:r>
            <a:endParaRPr lang="en-US" sz="1600" dirty="0"/>
          </a:p>
        </p:txBody>
      </p:sp>
      <p:sp>
        <p:nvSpPr>
          <p:cNvPr id="27" name="Text 24"/>
          <p:cNvSpPr/>
          <p:nvPr/>
        </p:nvSpPr>
        <p:spPr>
          <a:xfrm>
            <a:off x="11814048" y="4754880"/>
            <a:ext cx="5815584" cy="1207008"/>
          </a:xfrm>
          <a:prstGeom prst="rect">
            <a:avLst/>
          </a:prstGeom>
          <a:noFill/>
          <a:ln/>
        </p:spPr>
        <p:txBody>
          <a:bodyPr wrap="square" rtlCol="0" anchor="ctr"/>
          <a:lstStyle/>
          <a:p>
            <a:r>
              <a:rPr lang="en-US" sz="2100" dirty="0">
                <a:solidFill>
                  <a:srgbClr val="FFFFFF"/>
                </a:solidFill>
                <a:latin typeface="Calibri" pitchFamily="34" charset="0"/>
                <a:ea typeface="Calibri" pitchFamily="34" charset="-122"/>
                <a:cs typeface="Calibri" pitchFamily="34" charset="-120"/>
              </a:rPr>
              <a:t>Learn &amp; apply OWASP guidelines in every project</a:t>
            </a:r>
            <a:endParaRPr lang="en-US" sz="2100" dirty="0"/>
          </a:p>
        </p:txBody>
      </p:sp>
      <p:sp>
        <p:nvSpPr>
          <p:cNvPr id="28" name="Shape 25"/>
          <p:cNvSpPr/>
          <p:nvPr/>
        </p:nvSpPr>
        <p:spPr>
          <a:xfrm>
            <a:off x="10460736" y="6272784"/>
            <a:ext cx="7315200" cy="1389888"/>
          </a:xfrm>
          <a:prstGeom prst="rect">
            <a:avLst/>
          </a:prstGeom>
          <a:solidFill>
            <a:srgbClr val="003845"/>
          </a:solidFill>
          <a:ln w="12700">
            <a:solidFill>
              <a:srgbClr val="00B4C8"/>
            </a:solidFill>
            <a:prstDash val="solid"/>
          </a:ln>
        </p:spPr>
      </p:sp>
      <p:sp>
        <p:nvSpPr>
          <p:cNvPr id="29" name="Shape 26"/>
          <p:cNvSpPr/>
          <p:nvPr/>
        </p:nvSpPr>
        <p:spPr>
          <a:xfrm>
            <a:off x="10460736" y="6272784"/>
            <a:ext cx="1243584" cy="1389888"/>
          </a:xfrm>
          <a:prstGeom prst="rect">
            <a:avLst/>
          </a:prstGeom>
          <a:solidFill>
            <a:srgbClr val="C0392B"/>
          </a:solidFill>
          <a:ln w="12700">
            <a:solidFill>
              <a:srgbClr val="C0392B"/>
            </a:solidFill>
            <a:prstDash val="solid"/>
          </a:ln>
        </p:spPr>
      </p:sp>
      <p:sp>
        <p:nvSpPr>
          <p:cNvPr id="30" name="Text 27"/>
          <p:cNvSpPr/>
          <p:nvPr/>
        </p:nvSpPr>
        <p:spPr>
          <a:xfrm>
            <a:off x="10460736" y="6272784"/>
            <a:ext cx="1243584" cy="1389888"/>
          </a:xfrm>
          <a:prstGeom prst="rect">
            <a:avLst/>
          </a:prstGeom>
          <a:noFill/>
          <a:ln/>
        </p:spPr>
        <p:txBody>
          <a:bodyPr wrap="square" rtlCol="0" anchor="ctr"/>
          <a:lstStyle/>
          <a:p>
            <a:pPr algn="ctr"/>
            <a:r>
              <a:rPr lang="en-US" sz="1600" b="1" dirty="0">
                <a:solidFill>
                  <a:srgbClr val="FFFFFF"/>
                </a:solidFill>
                <a:latin typeface="Arial Black" pitchFamily="34" charset="0"/>
                <a:ea typeface="Arial Black" pitchFamily="34" charset="-122"/>
                <a:cs typeface="Arial Black" pitchFamily="34" charset="-120"/>
              </a:rPr>
              <a:t>TEST</a:t>
            </a:r>
            <a:endParaRPr lang="en-US" sz="1600" dirty="0"/>
          </a:p>
        </p:txBody>
      </p:sp>
      <p:sp>
        <p:nvSpPr>
          <p:cNvPr id="31" name="Text 28"/>
          <p:cNvSpPr/>
          <p:nvPr/>
        </p:nvSpPr>
        <p:spPr>
          <a:xfrm>
            <a:off x="11814048" y="6364224"/>
            <a:ext cx="5815584" cy="1207008"/>
          </a:xfrm>
          <a:prstGeom prst="rect">
            <a:avLst/>
          </a:prstGeom>
          <a:noFill/>
          <a:ln/>
        </p:spPr>
        <p:txBody>
          <a:bodyPr wrap="square" rtlCol="0" anchor="ctr"/>
          <a:lstStyle/>
          <a:p>
            <a:r>
              <a:rPr lang="en-US" sz="2100" dirty="0">
                <a:solidFill>
                  <a:srgbClr val="FFFFFF"/>
                </a:solidFill>
                <a:latin typeface="Calibri" pitchFamily="34" charset="0"/>
                <a:ea typeface="Calibri" pitchFamily="34" charset="-122"/>
                <a:cs typeface="Calibri" pitchFamily="34" charset="-120"/>
              </a:rPr>
              <a:t>Integrate security testing into your SDLC</a:t>
            </a:r>
            <a:endParaRPr lang="en-US" sz="2100" dirty="0"/>
          </a:p>
        </p:txBody>
      </p:sp>
      <p:sp>
        <p:nvSpPr>
          <p:cNvPr id="32" name="Shape 29"/>
          <p:cNvSpPr/>
          <p:nvPr/>
        </p:nvSpPr>
        <p:spPr>
          <a:xfrm>
            <a:off x="10460736" y="7882128"/>
            <a:ext cx="7315200" cy="1389888"/>
          </a:xfrm>
          <a:prstGeom prst="rect">
            <a:avLst/>
          </a:prstGeom>
          <a:solidFill>
            <a:srgbClr val="003845"/>
          </a:solidFill>
          <a:ln w="12700">
            <a:solidFill>
              <a:srgbClr val="00B4C8"/>
            </a:solidFill>
            <a:prstDash val="solid"/>
          </a:ln>
        </p:spPr>
      </p:sp>
      <p:sp>
        <p:nvSpPr>
          <p:cNvPr id="33" name="Shape 30"/>
          <p:cNvSpPr/>
          <p:nvPr/>
        </p:nvSpPr>
        <p:spPr>
          <a:xfrm>
            <a:off x="10460736" y="7882128"/>
            <a:ext cx="1243584" cy="1389888"/>
          </a:xfrm>
          <a:prstGeom prst="rect">
            <a:avLst/>
          </a:prstGeom>
          <a:solidFill>
            <a:srgbClr val="E67E22"/>
          </a:solidFill>
          <a:ln w="12700">
            <a:solidFill>
              <a:srgbClr val="E67E22"/>
            </a:solidFill>
            <a:prstDash val="solid"/>
          </a:ln>
        </p:spPr>
      </p:sp>
      <p:sp>
        <p:nvSpPr>
          <p:cNvPr id="34" name="Text 31"/>
          <p:cNvSpPr/>
          <p:nvPr/>
        </p:nvSpPr>
        <p:spPr>
          <a:xfrm>
            <a:off x="10460736" y="7882128"/>
            <a:ext cx="1243584" cy="1389888"/>
          </a:xfrm>
          <a:prstGeom prst="rect">
            <a:avLst/>
          </a:prstGeom>
          <a:noFill/>
          <a:ln/>
        </p:spPr>
        <p:txBody>
          <a:bodyPr wrap="square" rtlCol="0" anchor="ctr"/>
          <a:lstStyle/>
          <a:p>
            <a:pPr algn="ctr"/>
            <a:r>
              <a:rPr lang="en-US" sz="1600" b="1" dirty="0">
                <a:solidFill>
                  <a:srgbClr val="FFFFFF"/>
                </a:solidFill>
                <a:latin typeface="Arial Black" pitchFamily="34" charset="0"/>
                <a:ea typeface="Arial Black" pitchFamily="34" charset="-122"/>
                <a:cs typeface="Arial Black" pitchFamily="34" charset="-120"/>
              </a:rPr>
              <a:t>WATCH</a:t>
            </a:r>
            <a:endParaRPr lang="en-US" sz="1600" dirty="0"/>
          </a:p>
        </p:txBody>
      </p:sp>
      <p:sp>
        <p:nvSpPr>
          <p:cNvPr id="35" name="Text 32"/>
          <p:cNvSpPr/>
          <p:nvPr/>
        </p:nvSpPr>
        <p:spPr>
          <a:xfrm>
            <a:off x="11814048" y="7973568"/>
            <a:ext cx="5815584" cy="1207008"/>
          </a:xfrm>
          <a:prstGeom prst="rect">
            <a:avLst/>
          </a:prstGeom>
          <a:noFill/>
          <a:ln/>
        </p:spPr>
        <p:txBody>
          <a:bodyPr wrap="square" rtlCol="0" anchor="ctr"/>
          <a:lstStyle/>
          <a:p>
            <a:r>
              <a:rPr lang="en-US" sz="2100" dirty="0">
                <a:solidFill>
                  <a:srgbClr val="FFFFFF"/>
                </a:solidFill>
                <a:latin typeface="Calibri" pitchFamily="34" charset="0"/>
                <a:ea typeface="Calibri" pitchFamily="34" charset="-122"/>
                <a:cs typeface="Calibri" pitchFamily="34" charset="-120"/>
              </a:rPr>
              <a:t>Monitor, log, and respond to incidents proactively</a:t>
            </a:r>
            <a:endParaRPr lang="en-US" sz="2100" dirty="0"/>
          </a:p>
        </p:txBody>
      </p:sp>
      <p:sp>
        <p:nvSpPr>
          <p:cNvPr id="36" name="Text 33"/>
          <p:cNvSpPr/>
          <p:nvPr/>
        </p:nvSpPr>
        <p:spPr>
          <a:xfrm>
            <a:off x="10460736" y="9418320"/>
            <a:ext cx="7315200" cy="658368"/>
          </a:xfrm>
          <a:prstGeom prst="rect">
            <a:avLst/>
          </a:prstGeom>
          <a:noFill/>
          <a:ln/>
        </p:spPr>
        <p:txBody>
          <a:bodyPr wrap="square" rtlCol="0" anchor="ctr"/>
          <a:lstStyle/>
          <a:p>
            <a:pPr algn="ctr"/>
            <a:r>
              <a:rPr lang="en-US" sz="2000" i="1" dirty="0">
                <a:solidFill>
                  <a:srgbClr val="00B4C8"/>
                </a:solidFill>
                <a:latin typeface="Georgia" pitchFamily="34" charset="0"/>
                <a:ea typeface="Georgia" pitchFamily="34" charset="-122"/>
                <a:cs typeface="Georgia" pitchFamily="34" charset="-120"/>
              </a:rPr>
              <a:t>"Security is everyone's responsibility."</a:t>
            </a:r>
            <a:endParaRPr lang="en-US" sz="2000" dirty="0"/>
          </a:p>
        </p:txBody>
      </p:sp>
      <p:pic>
        <p:nvPicPr>
          <p:cNvPr id="37" name="Picture 36">
            <a:extLst>
              <a:ext uri="{FF2B5EF4-FFF2-40B4-BE49-F238E27FC236}">
                <a16:creationId xmlns:a16="http://schemas.microsoft.com/office/drawing/2014/main" id="{3BD6C856-EA2B-4CF9-9A83-714E7BEE7471}"/>
              </a:ext>
            </a:extLst>
          </p:cNvPr>
          <p:cNvPicPr>
            <a:picLocks noChangeAspect="1"/>
          </p:cNvPicPr>
          <p:nvPr/>
        </p:nvPicPr>
        <p:blipFill>
          <a:blip r:embed="rId3"/>
          <a:srcRect l="3800" t="11972" r="4036" b="11516"/>
          <a:stretch>
            <a:fillRect/>
          </a:stretch>
        </p:blipFill>
        <p:spPr>
          <a:xfrm>
            <a:off x="-1" y="5517"/>
            <a:ext cx="10058400" cy="3834963"/>
          </a:xfrm>
          <a:prstGeom prst="rect">
            <a:avLst/>
          </a:prstGeom>
        </p:spPr>
      </p:pic>
      <p:pic>
        <p:nvPicPr>
          <p:cNvPr id="38" name="Picture 37">
            <a:extLst>
              <a:ext uri="{FF2B5EF4-FFF2-40B4-BE49-F238E27FC236}">
                <a16:creationId xmlns:a16="http://schemas.microsoft.com/office/drawing/2014/main" id="{AC06FEA7-027B-6501-7809-DDE3FB141F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852976" y="-38100"/>
            <a:ext cx="4435024" cy="16276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4632</TotalTime>
  <Words>10084</Words>
  <Application>Microsoft Office PowerPoint</Application>
  <PresentationFormat>Custom</PresentationFormat>
  <Paragraphs>913</Paragraphs>
  <Slides>24</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Aptos</vt:lpstr>
      <vt:lpstr>Arial</vt:lpstr>
      <vt:lpstr>Arial Black</vt:lpstr>
      <vt:lpstr>Calibri</vt:lpstr>
      <vt:lpstr>Consolas</vt:lpstr>
      <vt:lpstr>Georgia</vt:lpstr>
      <vt:lpstr>Microsoft Sans Serif</vt:lpstr>
      <vt:lpstr>Segoe UI Emoji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Alangh Infosec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OWASP TOP 10-Basic Module</dc:title>
  <dc:creator>Hashokmi Pheirim</dc:creator>
  <cp:lastModifiedBy>Hashokmi Pheirim</cp:lastModifiedBy>
  <cp:revision>305</cp:revision>
  <dcterms:created xsi:type="dcterms:W3CDTF">2024-03-01T10:22:45Z</dcterms:created>
  <dcterms:modified xsi:type="dcterms:W3CDTF">2026-03-27T13:20:58Z</dcterms:modified>
  <cp:version>1.0</cp:version>
</cp:coreProperties>
</file>