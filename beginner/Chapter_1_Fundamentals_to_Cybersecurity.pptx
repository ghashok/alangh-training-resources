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4125" autoAdjust="0"/>
  </p:normalViewPr>
  <p:slideViewPr>
    <p:cSldViewPr snapToGrid="0" snapToObjects="1">
      <p:cViewPr varScale="1">
        <p:scale>
          <a:sx n="67" d="100"/>
          <a:sy n="67" d="100"/>
        </p:scale>
        <p:origin x="150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6476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Calibri"/>
              <a:buNone/>
            </a:pPr>
            <a:r>
              <a:rPr lang="en-US" dirty="0"/>
              <a:t>The </a:t>
            </a:r>
            <a:r>
              <a:rPr lang="en-US" b="1" dirty="0"/>
              <a:t>fundamentals of cybersecurity</a:t>
            </a:r>
            <a:r>
              <a:rPr lang="en-US" dirty="0"/>
              <a:t> are the essential principles, practices, and technologies used to protect systems, networks, and data from various cyber threats and attacks. These fundamentals form the foundation of any secure IT environment.</a:t>
            </a:r>
          </a:p>
          <a:p>
            <a:pPr marL="0" marR="0" lvl="0" indent="0" algn="l" rtl="0">
              <a:lnSpc>
                <a:spcPct val="100000"/>
              </a:lnSpc>
              <a:spcBef>
                <a:spcPts val="0"/>
              </a:spcBef>
              <a:spcAft>
                <a:spcPts val="0"/>
              </a:spcAft>
              <a:buClr>
                <a:schemeClr val="dk1"/>
              </a:buClr>
              <a:buSzPts val="1200"/>
              <a:buFont typeface="Calibri"/>
              <a:buNone/>
            </a:pPr>
            <a:endParaRPr lang="en-US" dirty="0"/>
          </a:p>
          <a:p>
            <a:pPr marL="0" marR="0" lvl="0" indent="0" algn="l" rtl="0">
              <a:lnSpc>
                <a:spcPct val="100000"/>
              </a:lnSpc>
              <a:spcBef>
                <a:spcPts val="0"/>
              </a:spcBef>
              <a:spcAft>
                <a:spcPts val="0"/>
              </a:spcAft>
              <a:buClr>
                <a:schemeClr val="dk1"/>
              </a:buClr>
              <a:buSzPts val="1200"/>
              <a:buFont typeface="Calibri"/>
              <a:buNone/>
            </a:pPr>
            <a:r>
              <a:rPr lang="en-US" dirty="0"/>
              <a:t>In this chapter the basic fundamentals principles are covered which is the foundation in a Cybersecurity world.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5916"/>
              </a:lnSpc>
              <a:spcBef>
                <a:spcPts val="0"/>
              </a:spcBef>
              <a:spcAft>
                <a:spcPts val="0"/>
              </a:spcAft>
              <a:buClr>
                <a:srgbClr val="464646"/>
              </a:buClr>
              <a:buSzPts val="1200"/>
              <a:buFont typeface="Inter"/>
              <a:buNone/>
            </a:pPr>
            <a:r>
              <a:rPr lang="en-US" b="1" i="0" dirty="0">
                <a:solidFill>
                  <a:srgbClr val="464646"/>
                </a:solidFill>
                <a:latin typeface="Inter"/>
                <a:ea typeface="Inter"/>
                <a:cs typeface="Inter"/>
                <a:sym typeface="Inter"/>
              </a:rPr>
              <a:t>Cybersecurity</a:t>
            </a:r>
            <a:r>
              <a:rPr lang="en-US" b="0" i="0" dirty="0">
                <a:solidFill>
                  <a:srgbClr val="464646"/>
                </a:solidFill>
                <a:latin typeface="Inter"/>
                <a:ea typeface="Inter"/>
                <a:cs typeface="Inter"/>
                <a:sym typeface="Inter"/>
              </a:rPr>
              <a:t> is the practice of </a:t>
            </a:r>
            <a:r>
              <a:rPr lang="en-US" b="1" i="0" dirty="0">
                <a:solidFill>
                  <a:srgbClr val="464646"/>
                </a:solidFill>
                <a:latin typeface="Inter"/>
                <a:ea typeface="Inter"/>
                <a:cs typeface="Inter"/>
                <a:sym typeface="Inter"/>
              </a:rPr>
              <a:t>protecting computer networks, devices</a:t>
            </a:r>
            <a:r>
              <a:rPr lang="en-US" b="0" i="0" dirty="0">
                <a:solidFill>
                  <a:srgbClr val="464646"/>
                </a:solidFill>
                <a:latin typeface="Inter"/>
                <a:ea typeface="Inter"/>
                <a:cs typeface="Inter"/>
                <a:sym typeface="Inter"/>
              </a:rPr>
              <a:t>, and </a:t>
            </a:r>
            <a:r>
              <a:rPr lang="en-US" b="1" i="0" dirty="0">
                <a:solidFill>
                  <a:srgbClr val="464646"/>
                </a:solidFill>
                <a:latin typeface="Inter"/>
                <a:ea typeface="Inter"/>
                <a:cs typeface="Inter"/>
                <a:sym typeface="Inter"/>
              </a:rPr>
              <a:t>information</a:t>
            </a:r>
            <a:r>
              <a:rPr lang="en-US" b="0" i="0" dirty="0">
                <a:solidFill>
                  <a:srgbClr val="464646"/>
                </a:solidFill>
                <a:latin typeface="Inter"/>
                <a:ea typeface="Inter"/>
                <a:cs typeface="Inter"/>
                <a:sym typeface="Inter"/>
              </a:rPr>
              <a:t> from </a:t>
            </a:r>
            <a:r>
              <a:rPr lang="en-US" b="1" i="0" dirty="0">
                <a:solidFill>
                  <a:srgbClr val="464646"/>
                </a:solidFill>
                <a:latin typeface="Inter"/>
                <a:ea typeface="Inter"/>
                <a:cs typeface="Inter"/>
                <a:sym typeface="Inter"/>
              </a:rPr>
              <a:t>damage, loss or unauthorized access</a:t>
            </a:r>
            <a:r>
              <a:rPr lang="en-US" b="0" i="0" dirty="0">
                <a:solidFill>
                  <a:srgbClr val="464646"/>
                </a:solidFill>
                <a:latin typeface="Inter"/>
                <a:ea typeface="Inter"/>
                <a:cs typeface="Inter"/>
                <a:sym typeface="Inter"/>
              </a:rPr>
              <a:t>. It is important to note that </a:t>
            </a:r>
            <a:r>
              <a:rPr lang="en-US" b="1" i="0" dirty="0">
                <a:solidFill>
                  <a:srgbClr val="464646"/>
                </a:solidFill>
                <a:latin typeface="Inter"/>
                <a:ea typeface="Inter"/>
                <a:cs typeface="Inter"/>
                <a:sym typeface="Inter"/>
              </a:rPr>
              <a:t>cybersecurity protects </a:t>
            </a:r>
            <a:r>
              <a:rPr lang="en-US" b="1" i="1" dirty="0">
                <a:solidFill>
                  <a:srgbClr val="464646"/>
                </a:solidFill>
                <a:latin typeface="Inter"/>
                <a:ea typeface="Inter"/>
                <a:cs typeface="Inter"/>
                <a:sym typeface="Inter"/>
              </a:rPr>
              <a:t>digital</a:t>
            </a:r>
            <a:r>
              <a:rPr lang="en-US" b="1" i="0" dirty="0">
                <a:solidFill>
                  <a:srgbClr val="464646"/>
                </a:solidFill>
                <a:latin typeface="Inter"/>
                <a:ea typeface="Inter"/>
                <a:cs typeface="Inter"/>
                <a:sym typeface="Inter"/>
              </a:rPr>
              <a:t> information </a:t>
            </a:r>
            <a:r>
              <a:rPr lang="en-US" b="0" i="0" dirty="0">
                <a:solidFill>
                  <a:srgbClr val="464646"/>
                </a:solidFill>
                <a:latin typeface="Inter"/>
                <a:ea typeface="Inter"/>
                <a:cs typeface="Inter"/>
                <a:sym typeface="Inter"/>
              </a:rPr>
              <a:t>from cyberthreats. The protection of information means the </a:t>
            </a:r>
            <a:r>
              <a:rPr lang="en-US" b="1" i="0" dirty="0">
                <a:solidFill>
                  <a:srgbClr val="464646"/>
                </a:solidFill>
                <a:latin typeface="Inter"/>
                <a:ea typeface="Inter"/>
                <a:cs typeface="Inter"/>
                <a:sym typeface="Inter"/>
              </a:rPr>
              <a:t>preservation of confidentiality, integrity, </a:t>
            </a:r>
            <a:r>
              <a:rPr lang="en-US" b="0" i="0" dirty="0">
                <a:solidFill>
                  <a:srgbClr val="464646"/>
                </a:solidFill>
                <a:latin typeface="Inter"/>
                <a:ea typeface="Inter"/>
                <a:cs typeface="Inter"/>
                <a:sym typeface="Inter"/>
              </a:rPr>
              <a:t>and</a:t>
            </a:r>
            <a:r>
              <a:rPr lang="en-US" b="1" i="0" dirty="0">
                <a:solidFill>
                  <a:srgbClr val="464646"/>
                </a:solidFill>
                <a:latin typeface="Inter"/>
                <a:ea typeface="Inter"/>
                <a:cs typeface="Inter"/>
                <a:sym typeface="Inter"/>
              </a:rPr>
              <a:t> availability </a:t>
            </a:r>
            <a:r>
              <a:rPr lang="en-US" b="0" i="0" dirty="0">
                <a:solidFill>
                  <a:srgbClr val="464646"/>
                </a:solidFill>
                <a:latin typeface="Inter"/>
                <a:ea typeface="Inter"/>
                <a:cs typeface="Inter"/>
                <a:sym typeface="Inter"/>
              </a:rPr>
              <a:t>of information in the cyberspace.</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Cybersecurity professionals act to </a:t>
            </a:r>
            <a:r>
              <a:rPr lang="en-US" b="1" i="0" dirty="0">
                <a:solidFill>
                  <a:srgbClr val="464646"/>
                </a:solidFill>
                <a:latin typeface="Inter"/>
                <a:ea typeface="Inter"/>
                <a:cs typeface="Inter"/>
                <a:sym typeface="Inter"/>
              </a:rPr>
              <a:t>protect servers, endpoints, databases, </a:t>
            </a:r>
            <a:r>
              <a:rPr lang="en-US" b="0" i="0" dirty="0">
                <a:solidFill>
                  <a:srgbClr val="464646"/>
                </a:solidFill>
                <a:latin typeface="Inter"/>
                <a:ea typeface="Inter"/>
                <a:cs typeface="Inter"/>
                <a:sym typeface="Inter"/>
              </a:rPr>
              <a:t>and</a:t>
            </a:r>
            <a:r>
              <a:rPr lang="en-US" b="1" i="0" dirty="0">
                <a:solidFill>
                  <a:srgbClr val="464646"/>
                </a:solidFill>
                <a:latin typeface="Inter"/>
                <a:ea typeface="Inter"/>
                <a:cs typeface="Inter"/>
                <a:sym typeface="Inter"/>
              </a:rPr>
              <a:t> networks </a:t>
            </a:r>
            <a:r>
              <a:rPr lang="en-US" b="0" i="0" dirty="0">
                <a:solidFill>
                  <a:srgbClr val="464646"/>
                </a:solidFill>
                <a:latin typeface="Inter"/>
                <a:ea typeface="Inter"/>
                <a:cs typeface="Inter"/>
                <a:sym typeface="Inter"/>
              </a:rPr>
              <a:t>by finding security gaps and misconfigurations that create vulnerabilities.</a:t>
            </a:r>
            <a:endParaRPr lang="en-US" b="0" i="0" dirty="0">
              <a:solidFill>
                <a:srgbClr val="FFFFFF"/>
              </a:solidFill>
              <a:latin typeface="Inter"/>
              <a:ea typeface="Inter"/>
              <a:cs typeface="Inter"/>
              <a:sym typeface="Inter"/>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b="1" dirty="0"/>
              <a:t>Learning Objectives:</a:t>
            </a:r>
            <a:endParaRPr lang="en-US" dirty="0"/>
          </a:p>
          <a:p>
            <a:pPr marL="0" lvl="0" indent="0" algn="l" rtl="0">
              <a:spcBef>
                <a:spcPts val="0"/>
              </a:spcBef>
              <a:spcAft>
                <a:spcPts val="0"/>
              </a:spcAft>
              <a:buNone/>
            </a:pPr>
            <a:r>
              <a:rPr lang="en-US" b="1" dirty="0"/>
              <a:t>After completing this lesson, you will be able to achieve the understanding of the below topics:</a:t>
            </a:r>
            <a:endParaRPr lang="en-US" dirty="0"/>
          </a:p>
          <a:p>
            <a:pPr marL="171450" lvl="0" indent="-171450" algn="l" rtl="0">
              <a:spcBef>
                <a:spcPts val="0"/>
              </a:spcBef>
              <a:spcAft>
                <a:spcPts val="0"/>
              </a:spcAft>
              <a:buClr>
                <a:schemeClr val="dk1"/>
              </a:buClr>
              <a:buSzPts val="1200"/>
              <a:buFont typeface="Noto Sans Symbols"/>
              <a:buChar char="⮚"/>
            </a:pPr>
            <a:r>
              <a:rPr lang="en-US" dirty="0"/>
              <a:t>Overview of cybersecurity and its threat landscape covering </a:t>
            </a:r>
            <a:r>
              <a:rPr lang="en-US" b="1" dirty="0"/>
              <a:t>CIA  (Confidentiality, Integrity &amp; Availability</a:t>
            </a:r>
            <a:r>
              <a:rPr lang="en-US" dirty="0"/>
              <a:t>) and the threats globally </a:t>
            </a:r>
          </a:p>
          <a:p>
            <a:pPr marL="171450" lvl="0" indent="-171450" algn="l" rtl="0">
              <a:spcBef>
                <a:spcPts val="0"/>
              </a:spcBef>
              <a:spcAft>
                <a:spcPts val="0"/>
              </a:spcAft>
              <a:buClr>
                <a:schemeClr val="dk1"/>
              </a:buClr>
              <a:buSzPts val="1200"/>
              <a:buFont typeface="Noto Sans Symbols"/>
              <a:buChar char="⮚"/>
            </a:pPr>
            <a:r>
              <a:rPr lang="en-US" dirty="0"/>
              <a:t>Various </a:t>
            </a:r>
            <a:r>
              <a:rPr lang="en-US" b="1" dirty="0"/>
              <a:t>Cybersecurity protection layers </a:t>
            </a:r>
            <a:r>
              <a:rPr lang="en-US" dirty="0"/>
              <a:t>and the best </a:t>
            </a:r>
            <a:r>
              <a:rPr lang="en-US" b="1" dirty="0"/>
              <a:t>Cybersecurity practices </a:t>
            </a:r>
            <a:r>
              <a:rPr lang="en-US" dirty="0"/>
              <a:t>to be implemented</a:t>
            </a:r>
          </a:p>
          <a:p>
            <a:pPr marL="171450" lvl="0" indent="-171450" algn="l" rtl="0">
              <a:spcBef>
                <a:spcPts val="0"/>
              </a:spcBef>
              <a:spcAft>
                <a:spcPts val="0"/>
              </a:spcAft>
              <a:buClr>
                <a:schemeClr val="dk1"/>
              </a:buClr>
              <a:buSzPts val="1200"/>
              <a:buFont typeface="Noto Sans Symbols"/>
              <a:buChar char="⮚"/>
            </a:pPr>
            <a:r>
              <a:rPr lang="en-US" dirty="0"/>
              <a:t>Cybersecurity and co-relation with </a:t>
            </a:r>
            <a:r>
              <a:rPr lang="en-US" b="1" dirty="0"/>
              <a:t>industry standards, compliance </a:t>
            </a:r>
            <a:r>
              <a:rPr lang="en-US" dirty="0"/>
              <a:t>and </a:t>
            </a:r>
            <a:r>
              <a:rPr lang="en-US" b="1" dirty="0"/>
              <a:t>regulatory laws </a:t>
            </a:r>
            <a:r>
              <a:rPr lang="en-US" dirty="0"/>
              <a:t>and the various </a:t>
            </a:r>
            <a:r>
              <a:rPr lang="en-US" b="1" dirty="0"/>
              <a:t>Cybersecurity domains</a:t>
            </a:r>
            <a:endParaRPr lang="en-US" dirty="0"/>
          </a:p>
          <a:p>
            <a:pPr marL="171450" lvl="0" indent="-171450" algn="l" rtl="0">
              <a:spcBef>
                <a:spcPts val="0"/>
              </a:spcBef>
              <a:spcAft>
                <a:spcPts val="0"/>
              </a:spcAft>
              <a:buClr>
                <a:schemeClr val="dk1"/>
              </a:buClr>
              <a:buSzPts val="1200"/>
              <a:buFont typeface="Noto Sans Symbols"/>
              <a:buChar char="⮚"/>
            </a:pPr>
            <a:r>
              <a:rPr lang="en-US" dirty="0"/>
              <a:t>Evolution of cybersecurity, role and Future of </a:t>
            </a:r>
            <a:r>
              <a:rPr lang="en-US" b="1" dirty="0"/>
              <a:t>AI</a:t>
            </a:r>
            <a:r>
              <a:rPr lang="en-US" dirty="0"/>
              <a:t> in  Cybersecurity and current Cybersecurity market</a:t>
            </a:r>
          </a:p>
          <a:p>
            <a:pPr marL="0" lvl="0" indent="0" algn="l" rtl="0">
              <a:spcBef>
                <a:spcPts val="0"/>
              </a:spcBef>
              <a:spcAft>
                <a:spcPts val="0"/>
              </a:spcAft>
              <a:buNone/>
            </a:pP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Cybersecurity can be divided into five categories: critical infrastructure security, application security, network security, cloud security, and the Internet of Things (IoT) security.</a:t>
            </a:r>
            <a:endParaRPr lang="en-US" b="0" i="0" dirty="0">
              <a:solidFill>
                <a:srgbClr val="FFFFFF"/>
              </a:solidFill>
              <a:latin typeface="Inter"/>
              <a:ea typeface="Inter"/>
              <a:cs typeface="Inter"/>
              <a:sym typeface="Inter"/>
            </a:endParaRPr>
          </a:p>
          <a:p>
            <a:pPr marL="0" lvl="0" indent="0" algn="l" rtl="0">
              <a:lnSpc>
                <a:spcPct val="100833"/>
              </a:lnSpc>
              <a:spcBef>
                <a:spcPts val="0"/>
              </a:spcBef>
              <a:spcAft>
                <a:spcPts val="0"/>
              </a:spcAft>
              <a:buNone/>
            </a:pPr>
            <a:r>
              <a:rPr lang="en-US" b="0" i="0" dirty="0">
                <a:solidFill>
                  <a:srgbClr val="464646"/>
                </a:solidFill>
                <a:latin typeface="Inter"/>
                <a:ea typeface="Inter"/>
                <a:cs typeface="Inter"/>
                <a:sym typeface="Inter"/>
              </a:rPr>
              <a:t>Note that other organizations may categorize the types of cybersecurity differently or label them differently. In addition to these five categories there are the people and processes that use technology to defend computer systems, networks, and the information therein.</a:t>
            </a:r>
            <a:endParaRPr lang="en-US" dirty="0"/>
          </a:p>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These different categories reflect the extent that computer technologies have transformed the world.</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From online management of gas pipelines or electrical grids to applications that allow users to buy and sell goods online to collaborating with work colleagues irrespective of geography to renting data storage in the cloud to tracking printer toner and maintenance, all of these technologies have transformed how people live and how they do business.</a:t>
            </a:r>
            <a:endParaRPr lang="en-US" b="0" i="0" dirty="0">
              <a:solidFill>
                <a:srgbClr val="FFFFFF"/>
              </a:solidFill>
              <a:latin typeface="Inter"/>
              <a:ea typeface="Inter"/>
              <a:cs typeface="Inter"/>
              <a:sym typeface="Inter"/>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64646"/>
                </a:solidFill>
                <a:latin typeface="Inter"/>
                <a:ea typeface="Inter"/>
                <a:cs typeface="Inter"/>
                <a:sym typeface="Inter"/>
              </a:rPr>
              <a:t>The digital transformation has realized enormous efficiencies, expanded unheard of conveniences, supplied omnipresent access to information, and exponentially increased productivity, which has grown wealth and improved the quality of life. For example, people living in remote areas of the world can access medical experts using computer technologies. Personal medical information can be collected locally and transferred to medical experts to assist in diagnosis and remedies. Without securing computer networks and the links that connect them, all of these advances are at risk.</a:t>
            </a:r>
            <a:endParaRPr lang="en-US" b="0" i="0" dirty="0">
              <a:solidFill>
                <a:srgbClr val="FFFFFF"/>
              </a:solidFill>
              <a:latin typeface="Inter"/>
              <a:ea typeface="Inter"/>
              <a:cs typeface="Inter"/>
              <a:sym typeface="Inter"/>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64646"/>
                </a:solidFill>
                <a:latin typeface="Inter"/>
                <a:ea typeface="Inter"/>
                <a:cs typeface="Inter"/>
                <a:sym typeface="Inter"/>
              </a:rPr>
              <a:t>Information security, also known as InfoSec, is the practice of protecting information. InfoSec includes the tools and processes used for preventing, detecting, and remediating attacks and threats to sensitive information, both digital and physical. InfoSec also includes documenting the processes, threats, and systems that affect the security of information. The nature of the information is inclusive and broad. It includes information stored electronically on a computer, or information laying on someone’s desk, or stored in a file cabinet. Information that might require protection could also include everything from mission-critical data, to HR policies to legal contracts.</a:t>
            </a:r>
            <a:endParaRPr lang="en-US" b="0" i="0" dirty="0">
              <a:solidFill>
                <a:srgbClr val="FFFFFF"/>
              </a:solidFill>
              <a:latin typeface="Inter"/>
              <a:ea typeface="Inter"/>
              <a:cs typeface="Inter"/>
              <a:sym typeface="Inter"/>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64646"/>
                </a:solidFill>
                <a:latin typeface="Inter"/>
                <a:ea typeface="Inter"/>
                <a:cs typeface="Inter"/>
                <a:sym typeface="Inter"/>
              </a:rPr>
              <a:t>Information systems security is a part of InfoSec. It is defined as the protection of information systems against unauthorized access, modification, destruction, or the denial of access to authorized users. Information systems include the devices, computer networks, and physical locations that store or transmit sensitive information. The form of the information can be digital or physical.</a:t>
            </a:r>
            <a:endParaRPr lang="en-US" b="0" i="0" dirty="0">
              <a:solidFill>
                <a:srgbClr val="FFFFFF"/>
              </a:solidFill>
              <a:latin typeface="Inter"/>
              <a:ea typeface="Inter"/>
              <a:cs typeface="Inter"/>
              <a:sym typeface="Inter"/>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64646"/>
                </a:solidFill>
                <a:latin typeface="Inter"/>
                <a:ea typeface="Inter"/>
                <a:cs typeface="Inter"/>
                <a:sym typeface="Inter"/>
              </a:rPr>
              <a:t>IT security scrutinizes all information within an organization in order to categorize and prioritize its sensitivity. Some information is labelled as unprotected, meaning that no controls are necessary, while some information is labelled as protected, meaning that some level of protection and control is required. Depending on the protected information’s criticality, it could be labelled confidential, secret, or top secret. Each successive protected level requires more rigorous control and safeguards.</a:t>
            </a:r>
            <a:endParaRPr lang="en-US" b="0" i="0" dirty="0">
              <a:solidFill>
                <a:srgbClr val="FFFFFF"/>
              </a:solidFill>
              <a:latin typeface="Inter"/>
              <a:ea typeface="Inter"/>
              <a:cs typeface="Inter"/>
              <a:sym typeface="Inter"/>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There is a triad of principles that constitutes the objectives of information security. These principles are </a:t>
            </a:r>
            <a:r>
              <a:rPr lang="en-US" b="1" i="0" dirty="0">
                <a:solidFill>
                  <a:srgbClr val="464646"/>
                </a:solidFill>
                <a:latin typeface="Inter"/>
                <a:ea typeface="Inter"/>
                <a:cs typeface="Inter"/>
                <a:sym typeface="Inter"/>
              </a:rPr>
              <a:t>confidentiality, integrity, and availability </a:t>
            </a:r>
            <a:r>
              <a:rPr lang="en-US" b="0" i="0" dirty="0">
                <a:solidFill>
                  <a:srgbClr val="464646"/>
                </a:solidFill>
                <a:latin typeface="Inter"/>
                <a:ea typeface="Inter"/>
                <a:cs typeface="Inter"/>
                <a:sym typeface="Inter"/>
              </a:rPr>
              <a:t>which form the letters C-I-A.</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Private information must remain confidential. Accountability of who is trying to access the information and whether or not they are authorized to access it and also have assurance that the information is authentic, in other words has integrity. The information must be protected from an unauthorized change, and if it is altered then it needs to be alerted. </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Last, authorized parties must have access to the information. Technologies, policies, and processes must be in place to ensure reliable availability. Together, these three principles constitute the CIA triad.</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Conversely, Infosec works to prevent the disclosure and alteration of information. In addition, it strives to ensure that authorized parties are not denied information.</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These characteristics, known as the DAD triad (Disclosure, Alteration, and Denial/Destruction), are the opposite of the CIA triad.</a:t>
            </a:r>
            <a:endParaRPr lang="en-US" b="0" i="0" dirty="0">
              <a:solidFill>
                <a:srgbClr val="FFFFFF"/>
              </a:solidFill>
              <a:latin typeface="Inter"/>
              <a:ea typeface="Inter"/>
              <a:cs typeface="Inter"/>
              <a:sym typeface="Inter"/>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5916"/>
              </a:lnSpc>
              <a:spcBef>
                <a:spcPts val="0"/>
              </a:spcBef>
              <a:spcAft>
                <a:spcPts val="0"/>
              </a:spcAft>
              <a:buClr>
                <a:srgbClr val="464646"/>
              </a:buClr>
              <a:buSzPts val="1200"/>
              <a:buFont typeface="Inter"/>
              <a:buNone/>
            </a:pPr>
            <a:r>
              <a:rPr lang="en-US" b="1" i="0" dirty="0">
                <a:solidFill>
                  <a:srgbClr val="464646"/>
                </a:solidFill>
                <a:latin typeface="Inter"/>
                <a:ea typeface="Inter"/>
                <a:cs typeface="Inter"/>
                <a:sym typeface="Inter"/>
              </a:rPr>
              <a:t>Disclosure</a:t>
            </a:r>
            <a:r>
              <a:rPr lang="en-US" b="0" i="0" dirty="0">
                <a:solidFill>
                  <a:srgbClr val="464646"/>
                </a:solidFill>
                <a:latin typeface="Inter"/>
                <a:ea typeface="Inter"/>
                <a:cs typeface="Inter"/>
                <a:sym typeface="Inter"/>
              </a:rPr>
              <a:t> exposes confidential data to unauthorized parties.</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The </a:t>
            </a:r>
            <a:r>
              <a:rPr lang="en-US" b="1" i="0" dirty="0">
                <a:solidFill>
                  <a:srgbClr val="464646"/>
                </a:solidFill>
                <a:latin typeface="Inter"/>
                <a:ea typeface="Inter"/>
                <a:cs typeface="Inter"/>
                <a:sym typeface="Inter"/>
              </a:rPr>
              <a:t>alteration</a:t>
            </a:r>
            <a:r>
              <a:rPr lang="en-US" b="0" i="0" dirty="0">
                <a:solidFill>
                  <a:srgbClr val="464646"/>
                </a:solidFill>
                <a:latin typeface="Inter"/>
                <a:ea typeface="Inter"/>
                <a:cs typeface="Inter"/>
                <a:sym typeface="Inter"/>
              </a:rPr>
              <a:t> of data, or the inability to test for alteration, makes the data untrustworthy. D</a:t>
            </a:r>
            <a:r>
              <a:rPr lang="en-US" dirty="0"/>
              <a:t>ata should remain in its </a:t>
            </a:r>
            <a:r>
              <a:rPr lang="en-US" b="0" dirty="0"/>
              <a:t>original, accurate, and trustworthy state, and any change must be authorized, tracked, and verifiable.</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None/>
            </a:pPr>
            <a:r>
              <a:rPr lang="en-US" b="1" i="0" dirty="0">
                <a:solidFill>
                  <a:srgbClr val="464646"/>
                </a:solidFill>
                <a:latin typeface="Inter"/>
                <a:ea typeface="Inter"/>
                <a:cs typeface="Inter"/>
                <a:sym typeface="Inter"/>
              </a:rPr>
              <a:t>Denial</a:t>
            </a:r>
            <a:r>
              <a:rPr lang="en-US" b="0" i="0" dirty="0">
                <a:solidFill>
                  <a:srgbClr val="464646"/>
                </a:solidFill>
                <a:latin typeface="Inter"/>
                <a:ea typeface="Inter"/>
                <a:cs typeface="Inter"/>
                <a:sym typeface="Inter"/>
              </a:rPr>
              <a:t> of information prevents legitimate and authorized agents from accessing data. An effective security solution, such as a network firewall, will help neutralize the DAD triad.</a:t>
            </a:r>
            <a:endParaRPr lang="en-US" b="0" i="0" dirty="0">
              <a:solidFill>
                <a:srgbClr val="FFFFFF"/>
              </a:solidFill>
              <a:latin typeface="Inter"/>
              <a:ea typeface="Inter"/>
              <a:cs typeface="Inter"/>
              <a:sym typeface="Inter"/>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Calibri"/>
              <a:buNone/>
            </a:pPr>
            <a:r>
              <a:rPr lang="en-US" dirty="0"/>
              <a:t>Considering </a:t>
            </a:r>
            <a:r>
              <a:rPr lang="en-US" b="0" i="0" dirty="0">
                <a:solidFill>
                  <a:srgbClr val="464646"/>
                </a:solidFill>
                <a:latin typeface="Inter"/>
                <a:ea typeface="Inter"/>
                <a:cs typeface="Inter"/>
                <a:sym typeface="Inter"/>
              </a:rPr>
              <a:t>the importance of protecting the cyber infrastructure, which is vital to the continued prosperity and quality of life to much of the world, certain precautions can be taken. </a:t>
            </a:r>
            <a:endParaRPr lang="en-US" dirty="0"/>
          </a:p>
          <a:p>
            <a:pPr marL="0" marR="0" lvl="0" indent="0" algn="l" rtl="0">
              <a:lnSpc>
                <a:spcPct val="100000"/>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It starts with people and education. Numerous studies have identified human error as the leading cause of network and computer breaches. This situation can be addressed by educating people at work and at home to think before clicking and to help them identify phishing attacks and other common attack methods by bad actors.</a:t>
            </a:r>
            <a:endParaRPr lang="en-US" b="0" i="0" dirty="0">
              <a:solidFill>
                <a:srgbClr val="FFFFFF"/>
              </a:solidFill>
              <a:latin typeface="Inter"/>
              <a:ea typeface="Inter"/>
              <a:cs typeface="Inter"/>
              <a:sym typeface="Inter"/>
            </a:endParaRPr>
          </a:p>
          <a:p>
            <a:pPr marL="0" lvl="0" indent="0" algn="l" rtl="0">
              <a:spcBef>
                <a:spcPts val="0"/>
              </a:spcBef>
              <a:spcAft>
                <a:spcPts val="0"/>
              </a:spcAft>
              <a:buNone/>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What is a threat landscape? A </a:t>
            </a:r>
            <a:r>
              <a:rPr lang="en-US" b="1" i="0" dirty="0">
                <a:solidFill>
                  <a:srgbClr val="464646"/>
                </a:solidFill>
                <a:latin typeface="Inter"/>
                <a:ea typeface="Inter"/>
                <a:cs typeface="Inter"/>
                <a:sym typeface="Inter"/>
              </a:rPr>
              <a:t>threat landscape </a:t>
            </a:r>
            <a:r>
              <a:rPr lang="en-US" b="0" i="0" dirty="0">
                <a:solidFill>
                  <a:srgbClr val="464646"/>
                </a:solidFill>
                <a:latin typeface="Inter"/>
                <a:ea typeface="Inter"/>
                <a:cs typeface="Inter"/>
                <a:sym typeface="Inter"/>
              </a:rPr>
              <a:t>is the collection of threats in a given context or domain and includes information about the perpetrators of the threats: the bad actors. In the context of cybersecurity, the threat landscape includes all known and possible threats to computer networks. The introduction of new technologies and methods ensures a dynamic landscape where evolving new threats arise on an ongoing basis.</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This Threat Landscape module provide an essential understanding of the following fundamentals:</a:t>
            </a:r>
            <a:endParaRPr lang="en-US" b="0" i="0" dirty="0">
              <a:solidFill>
                <a:srgbClr val="FFFFFF"/>
              </a:solidFill>
              <a:latin typeface="Inter"/>
              <a:ea typeface="Inter"/>
              <a:cs typeface="Inter"/>
              <a:sym typeface="Inter"/>
            </a:endParaRPr>
          </a:p>
          <a:p>
            <a:pPr marL="171450" lvl="0" indent="-171450" algn="l" rtl="0">
              <a:lnSpc>
                <a:spcPct val="105916"/>
              </a:lnSpc>
              <a:spcBef>
                <a:spcPts val="0"/>
              </a:spcBef>
              <a:spcAft>
                <a:spcPts val="0"/>
              </a:spcAft>
              <a:buClr>
                <a:srgbClr val="464646"/>
              </a:buClr>
              <a:buSzPts val="1200"/>
              <a:buFont typeface="Wingdings" panose="05000000000000000000" pitchFamily="2" charset="2"/>
              <a:buChar char="Ø"/>
            </a:pPr>
            <a:r>
              <a:rPr lang="en-US" b="0" i="0" dirty="0">
                <a:solidFill>
                  <a:srgbClr val="464646"/>
                </a:solidFill>
                <a:latin typeface="Inter"/>
                <a:ea typeface="Inter"/>
                <a:cs typeface="Inter"/>
                <a:sym typeface="Inter"/>
              </a:rPr>
              <a:t>Identify the different types of bad actors and hackers by their motivations and tactics.</a:t>
            </a:r>
            <a:endParaRPr lang="en-US" b="0" i="0" dirty="0">
              <a:solidFill>
                <a:srgbClr val="FFFFFF"/>
              </a:solidFill>
              <a:latin typeface="Inter"/>
              <a:ea typeface="Inter"/>
              <a:cs typeface="Inter"/>
              <a:sym typeface="Inter"/>
            </a:endParaRPr>
          </a:p>
          <a:p>
            <a:pPr marL="171450" lvl="0" indent="-171450" algn="l" rtl="0">
              <a:lnSpc>
                <a:spcPct val="105916"/>
              </a:lnSpc>
              <a:spcBef>
                <a:spcPts val="0"/>
              </a:spcBef>
              <a:spcAft>
                <a:spcPts val="0"/>
              </a:spcAft>
              <a:buClr>
                <a:srgbClr val="464646"/>
              </a:buClr>
              <a:buSzPts val="1200"/>
              <a:buFont typeface="Wingdings" panose="05000000000000000000" pitchFamily="2" charset="2"/>
              <a:buChar char="Ø"/>
            </a:pPr>
            <a:r>
              <a:rPr lang="en-US" b="0" i="0" dirty="0">
                <a:solidFill>
                  <a:srgbClr val="464646"/>
                </a:solidFill>
                <a:latin typeface="Inter"/>
                <a:ea typeface="Inter"/>
                <a:cs typeface="Inter"/>
                <a:sym typeface="Inter"/>
              </a:rPr>
              <a:t>Different types of bad actors are more likely to attack certain verticals or types of businesses. </a:t>
            </a:r>
            <a:endParaRPr lang="en-US" b="0" i="0" dirty="0">
              <a:solidFill>
                <a:srgbClr val="FFFFFF"/>
              </a:solidFill>
              <a:latin typeface="Inter"/>
              <a:ea typeface="Inter"/>
              <a:cs typeface="Inter"/>
              <a:sym typeface="Inter"/>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Calibri"/>
              <a:buNone/>
            </a:pPr>
            <a:r>
              <a:rPr lang="en-US" dirty="0"/>
              <a:t>The key risks and trends of current cyber threat landscape through </a:t>
            </a:r>
            <a:r>
              <a:rPr lang="en-US" b="1" dirty="0"/>
              <a:t>Confidentiality</a:t>
            </a:r>
            <a:r>
              <a:rPr lang="en-US" dirty="0"/>
              <a:t>, </a:t>
            </a:r>
            <a:r>
              <a:rPr lang="en-US" b="1" dirty="0"/>
              <a:t>Integrity</a:t>
            </a:r>
            <a:r>
              <a:rPr lang="en-US" dirty="0"/>
              <a:t>, and </a:t>
            </a:r>
            <a:r>
              <a:rPr lang="en-US" b="1" dirty="0"/>
              <a:t>Availability </a:t>
            </a:r>
            <a:r>
              <a:rPr lang="en-US" b="0" dirty="0"/>
              <a:t>triad are below:</a:t>
            </a:r>
            <a:endParaRPr lang="en-US" dirty="0"/>
          </a:p>
          <a:p>
            <a:pPr marL="0" lvl="0" indent="0" algn="l" rtl="0">
              <a:spcBef>
                <a:spcPts val="0"/>
              </a:spcBef>
              <a:spcAft>
                <a:spcPts val="0"/>
              </a:spcAft>
              <a:buNone/>
            </a:pPr>
            <a:r>
              <a:rPr lang="en-US" b="1" u="sng" dirty="0"/>
              <a:t>Confidentiality:</a:t>
            </a:r>
            <a:endParaRPr lang="en-US" dirty="0"/>
          </a:p>
          <a:p>
            <a:pPr marL="0" lvl="0" indent="0" algn="l" rtl="0">
              <a:spcBef>
                <a:spcPts val="0"/>
              </a:spcBef>
              <a:spcAft>
                <a:spcPts val="0"/>
              </a:spcAft>
              <a:buNone/>
            </a:pPr>
            <a:r>
              <a:rPr lang="en-US" b="1" dirty="0"/>
              <a:t>AI-enabled social engineering &amp; deepfakes</a:t>
            </a:r>
            <a:br>
              <a:rPr lang="en-US" dirty="0"/>
            </a:br>
            <a:r>
              <a:rPr lang="en-US" dirty="0"/>
              <a:t>Attackers use generative AI to craft hyper-realistic phishing, voice scams, and impersonation attacks that can bypass traditional detection </a:t>
            </a:r>
          </a:p>
          <a:p>
            <a:pPr marL="0" lvl="0" indent="0" algn="l" rtl="0">
              <a:spcBef>
                <a:spcPts val="0"/>
              </a:spcBef>
              <a:spcAft>
                <a:spcPts val="0"/>
              </a:spcAft>
              <a:buNone/>
            </a:pPr>
            <a:r>
              <a:rPr lang="en-US" b="1" dirty="0"/>
              <a:t>Nation-state espionage</a:t>
            </a:r>
            <a:br>
              <a:rPr lang="en-US" dirty="0"/>
            </a:br>
            <a:r>
              <a:rPr lang="en-US" dirty="0"/>
              <a:t>State-sponsored groups (e.g., Iran’s IRGC) conduct targeted spear-phishing campaigns to harvest credentials and sensitive information </a:t>
            </a:r>
          </a:p>
          <a:p>
            <a:pPr marL="0" lvl="0" indent="0" algn="l" rtl="0">
              <a:spcBef>
                <a:spcPts val="0"/>
              </a:spcBef>
              <a:spcAft>
                <a:spcPts val="0"/>
              </a:spcAft>
              <a:buNone/>
            </a:pPr>
            <a:r>
              <a:rPr lang="en-US" b="1" dirty="0"/>
              <a:t>Supply-chain compromises</a:t>
            </a:r>
            <a:br>
              <a:rPr lang="en-US" dirty="0"/>
            </a:br>
            <a:r>
              <a:rPr lang="en-US" dirty="0"/>
              <a:t>Breaches in trusted vendors (e.g., Microsoft Exchange, Change Healthcare) enable attackers to indirectly access confidential data</a:t>
            </a:r>
          </a:p>
          <a:p>
            <a:pPr marL="0" lvl="0" indent="0" algn="l" rtl="0">
              <a:spcBef>
                <a:spcPts val="0"/>
              </a:spcBef>
              <a:spcAft>
                <a:spcPts val="0"/>
              </a:spcAft>
              <a:buNone/>
            </a:pPr>
            <a:r>
              <a:rPr lang="en-US" b="1" u="sng" dirty="0"/>
              <a:t>Integrity:</a:t>
            </a:r>
            <a:endParaRPr lang="en-US" dirty="0"/>
          </a:p>
          <a:p>
            <a:pPr marL="0" lvl="0" indent="0" algn="l" rtl="0">
              <a:spcBef>
                <a:spcPts val="0"/>
              </a:spcBef>
              <a:spcAft>
                <a:spcPts val="0"/>
              </a:spcAft>
              <a:buNone/>
            </a:pPr>
            <a:r>
              <a:rPr lang="en-US" b="1" dirty="0"/>
              <a:t>Supply-chain tampering</a:t>
            </a:r>
            <a:br>
              <a:rPr lang="en-US" dirty="0"/>
            </a:br>
            <a:r>
              <a:rPr lang="en-US" dirty="0"/>
              <a:t>Attackers plant malicious code in updates/libraries, undermining system trust (e.g., Salt Typhoon on telco infrastructure).</a:t>
            </a:r>
          </a:p>
          <a:p>
            <a:pPr marL="0" lvl="0" indent="0" algn="l" rtl="0">
              <a:spcBef>
                <a:spcPts val="0"/>
              </a:spcBef>
              <a:spcAft>
                <a:spcPts val="0"/>
              </a:spcAft>
              <a:buNone/>
            </a:pPr>
            <a:r>
              <a:rPr lang="en-US" b="1" dirty="0"/>
              <a:t>Blended cyber-physical threats</a:t>
            </a:r>
            <a:br>
              <a:rPr lang="en-US" dirty="0"/>
            </a:br>
            <a:r>
              <a:rPr lang="en-US" dirty="0"/>
              <a:t>Compromising devices like RFID, smart buildings, or even pagers/walkie-talkies to manipulate physical outcomes.</a:t>
            </a:r>
          </a:p>
          <a:p>
            <a:pPr marL="0" lvl="0" indent="0" algn="l" rtl="0">
              <a:spcBef>
                <a:spcPts val="0"/>
              </a:spcBef>
              <a:spcAft>
                <a:spcPts val="0"/>
              </a:spcAft>
              <a:buNone/>
            </a:pPr>
            <a:r>
              <a:rPr lang="en-US" b="1" dirty="0"/>
              <a:t>Prompt-injection in AI systems</a:t>
            </a:r>
            <a:br>
              <a:rPr lang="en-US" dirty="0"/>
            </a:br>
            <a:r>
              <a:rPr lang="en-US" dirty="0"/>
              <a:t>Malicious inputs can alter model outputs or memory, damaging data and decision integrity in LLMs</a:t>
            </a:r>
          </a:p>
          <a:p>
            <a:pPr marL="0" lvl="0" indent="0" algn="l" rtl="0">
              <a:spcBef>
                <a:spcPts val="0"/>
              </a:spcBef>
              <a:spcAft>
                <a:spcPts val="0"/>
              </a:spcAft>
              <a:buNone/>
            </a:pPr>
            <a:r>
              <a:rPr lang="en-US" b="1" u="sng" dirty="0"/>
              <a:t>Availability:</a:t>
            </a:r>
            <a:endParaRPr lang="en-US" dirty="0"/>
          </a:p>
          <a:p>
            <a:pPr marL="0" lvl="0" indent="0" algn="l" rtl="0">
              <a:spcBef>
                <a:spcPts val="0"/>
              </a:spcBef>
              <a:spcAft>
                <a:spcPts val="0"/>
              </a:spcAft>
              <a:buNone/>
            </a:pPr>
            <a:r>
              <a:rPr lang="en-US" b="1" dirty="0"/>
              <a:t>Ransomware &amp; double extortion</a:t>
            </a:r>
            <a:br>
              <a:rPr lang="en-US" dirty="0"/>
            </a:br>
            <a:r>
              <a:rPr lang="en-US" dirty="0"/>
              <a:t>More aggressive tactics lock data and threaten publication unless ransom is paid.</a:t>
            </a:r>
          </a:p>
          <a:p>
            <a:pPr marL="0" lvl="0" indent="0" algn="l" rtl="0">
              <a:spcBef>
                <a:spcPts val="0"/>
              </a:spcBef>
              <a:spcAft>
                <a:spcPts val="0"/>
              </a:spcAft>
              <a:buNone/>
            </a:pPr>
            <a:r>
              <a:rPr lang="en-US" b="1" dirty="0"/>
              <a:t>AI-automated large-scale attacks</a:t>
            </a:r>
            <a:br>
              <a:rPr lang="en-US" dirty="0"/>
            </a:br>
            <a:r>
              <a:rPr lang="en-US" dirty="0"/>
              <a:t>AI tools enable rapid, distributed attacks like DDoS and polymorphic malware that morph continually.</a:t>
            </a:r>
          </a:p>
          <a:p>
            <a:pPr marL="0" lvl="0" indent="0" algn="l" rtl="0">
              <a:spcBef>
                <a:spcPts val="0"/>
              </a:spcBef>
              <a:spcAft>
                <a:spcPts val="0"/>
              </a:spcAft>
              <a:buNone/>
            </a:pPr>
            <a:r>
              <a:rPr lang="en-US" b="1" dirty="0"/>
              <a:t>Critical infrastructure targeting</a:t>
            </a:r>
            <a:br>
              <a:rPr lang="en-US" dirty="0"/>
            </a:br>
            <a:r>
              <a:rPr lang="en-US" dirty="0"/>
              <a:t>Increasing cyber-warfare threats on sectors like energy, telecom, aviation, and water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What is a cybersecurity threat? A </a:t>
            </a:r>
            <a:r>
              <a:rPr lang="en-US" b="1" i="0" dirty="0">
                <a:solidFill>
                  <a:srgbClr val="464646"/>
                </a:solidFill>
                <a:latin typeface="Inter"/>
                <a:ea typeface="Inter"/>
                <a:cs typeface="Inter"/>
                <a:sym typeface="Inter"/>
              </a:rPr>
              <a:t>cybersecurity threat </a:t>
            </a:r>
            <a:r>
              <a:rPr lang="en-US" b="0" i="0" dirty="0">
                <a:solidFill>
                  <a:srgbClr val="464646"/>
                </a:solidFill>
                <a:latin typeface="Inter"/>
                <a:ea typeface="Inter"/>
                <a:cs typeface="Inter"/>
                <a:sym typeface="Inter"/>
              </a:rPr>
              <a:t>is an action exploiting a vulnerability that results in harm to a network or computer system.</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Bad actors are the instigators of cybersecurity threats. They exploit different attack vectors to achieve their goals. Broadly speaking, an attack vector is a </a:t>
            </a:r>
            <a:r>
              <a:rPr lang="en-US" b="0" i="1" dirty="0">
                <a:solidFill>
                  <a:srgbClr val="464646"/>
                </a:solidFill>
                <a:latin typeface="Inter"/>
                <a:ea typeface="Inter"/>
                <a:cs typeface="Inter"/>
                <a:sym typeface="Inter"/>
              </a:rPr>
              <a:t>method</a:t>
            </a:r>
            <a:r>
              <a:rPr lang="en-US" b="0" i="0" dirty="0">
                <a:solidFill>
                  <a:srgbClr val="464646"/>
                </a:solidFill>
                <a:latin typeface="Inter"/>
                <a:ea typeface="Inter"/>
                <a:cs typeface="Inter"/>
                <a:sym typeface="Inter"/>
              </a:rPr>
              <a:t> used by a bad actor to illegally access or inhibit a network, system, or facility. There are three components that comprise an attack vector: (1) the vulnerability, (2) the mechanism or object that exploits the vulnerability, and (3) the pathway to the vulnerability.</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None/>
            </a:pPr>
            <a:r>
              <a:rPr lang="en-US" b="0" i="0" dirty="0">
                <a:solidFill>
                  <a:srgbClr val="464646"/>
                </a:solidFill>
                <a:latin typeface="Inter"/>
                <a:ea typeface="Inter"/>
                <a:cs typeface="Inter"/>
                <a:sym typeface="Inter"/>
              </a:rPr>
              <a:t>Here are a couple of examples. XYZ receives an email from a colleague asking him to review an attached document. He saves the document to his hard drive and opens it. Unbeknownst to XYZ, the sender was not really his colleague and the document installed malware onto his computer. In this example, the vulnerability is the user, the mechanism is the malware and the socially engineered message that convinced him to download the document, and the pathway is the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In another example, an authorized person is entering a server room, which is a restricted zone. He notices a technician laden with boxes and computer equipment loitering outside. She explains that she needs to upgrade some equipment but forgot her access pass. Although, the authorized person doesn’t recognize her, she sounds convincing and he wants to be helpful, so he opens the door and she passes through. While in the server room she discretely connects a USB device to one of the servers that installs malware. In this example, the vulnerability was the authorized person and an unprotected server. The mechanism was the malware and the situation used to convince the man to allow her access to the server room. The pathway was the door into the server room and the USB device that released the malware.</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None/>
            </a:pPr>
            <a:r>
              <a:rPr lang="en-US" b="0" i="0" dirty="0">
                <a:solidFill>
                  <a:srgbClr val="464646"/>
                </a:solidFill>
                <a:latin typeface="Inter"/>
                <a:ea typeface="Inter"/>
                <a:cs typeface="Inter"/>
                <a:sym typeface="Inter"/>
              </a:rPr>
              <a:t>From these examples, attack vectors can be divided into electronic social engineering, physical social engineering, and technical, which includes vulnerabilities such as computer misconfiguration. The bad actor first needed to access the facility before the user acquired access to the server room, and the server infection was merely the first stage in a chain of events that may include reconnaissance and the exfiltration of data. The preparation of an attack campaign is sometimes referred to as an </a:t>
            </a:r>
            <a:r>
              <a:rPr lang="en-US" b="0" i="1" dirty="0">
                <a:solidFill>
                  <a:srgbClr val="464646"/>
                </a:solidFill>
                <a:latin typeface="Inter"/>
                <a:ea typeface="Inter"/>
                <a:cs typeface="Inter"/>
                <a:sym typeface="Inter"/>
              </a:rPr>
              <a:t>attack path</a:t>
            </a:r>
            <a:r>
              <a:rPr lang="en-US" b="0" i="0" dirty="0">
                <a:solidFill>
                  <a:srgbClr val="464646"/>
                </a:solidFill>
                <a:latin typeface="Inter"/>
                <a:ea typeface="Inter"/>
                <a:cs typeface="Inter"/>
                <a:sym typeface="Inter"/>
              </a:rPr>
              <a:t>. An attack path is the chain of events that occurs when attack vectors are exploited.</a:t>
            </a:r>
            <a:endParaRPr lang="en-US" b="0" i="0" dirty="0">
              <a:solidFill>
                <a:srgbClr val="FFFFFF"/>
              </a:solidFill>
              <a:latin typeface="Inter"/>
              <a:ea typeface="Inter"/>
              <a:cs typeface="Inter"/>
              <a:sym typeface="Inter"/>
            </a:endParaRPr>
          </a:p>
          <a:p>
            <a:pPr marL="0" lvl="0" indent="0" algn="l" rtl="0">
              <a:spcBef>
                <a:spcPts val="0"/>
              </a:spcBef>
              <a:spcAft>
                <a:spcPts val="0"/>
              </a:spcAft>
              <a:buNone/>
            </a:pP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Cybersecurity threats can be divided into four categories: </a:t>
            </a:r>
            <a:r>
              <a:rPr lang="en-US" b="1" i="0" dirty="0">
                <a:solidFill>
                  <a:srgbClr val="464646"/>
                </a:solidFill>
                <a:latin typeface="Inter"/>
                <a:ea typeface="Inter"/>
                <a:cs typeface="Inter"/>
                <a:sym typeface="Inter"/>
              </a:rPr>
              <a:t>social engineering, malicious software </a:t>
            </a:r>
            <a:r>
              <a:rPr lang="en-US" b="0" i="0" dirty="0">
                <a:solidFill>
                  <a:srgbClr val="464646"/>
                </a:solidFill>
                <a:latin typeface="Inter"/>
                <a:ea typeface="Inter"/>
                <a:cs typeface="Inter"/>
                <a:sym typeface="Inter"/>
              </a:rPr>
              <a:t>(known as malware), </a:t>
            </a:r>
            <a:r>
              <a:rPr lang="en-US" b="1" i="0" dirty="0">
                <a:solidFill>
                  <a:srgbClr val="464646"/>
                </a:solidFill>
                <a:latin typeface="Inter"/>
                <a:ea typeface="Inter"/>
                <a:cs typeface="Inter"/>
                <a:sym typeface="Inter"/>
              </a:rPr>
              <a:t>unauthorized access</a:t>
            </a:r>
            <a:r>
              <a:rPr lang="en-US" b="0" i="0" dirty="0">
                <a:solidFill>
                  <a:srgbClr val="464646"/>
                </a:solidFill>
                <a:latin typeface="Inter"/>
                <a:ea typeface="Inter"/>
                <a:cs typeface="Inter"/>
                <a:sym typeface="Inter"/>
              </a:rPr>
              <a:t> to physical places or computer systems, and </a:t>
            </a:r>
            <a:r>
              <a:rPr lang="en-US" b="1" i="0" dirty="0">
                <a:solidFill>
                  <a:srgbClr val="464646"/>
                </a:solidFill>
                <a:latin typeface="Inter"/>
                <a:ea typeface="Inter"/>
                <a:cs typeface="Inter"/>
                <a:sym typeface="Inter"/>
              </a:rPr>
              <a:t>system design failure</a:t>
            </a:r>
            <a:r>
              <a:rPr lang="en-US" b="0" i="0" dirty="0">
                <a:solidFill>
                  <a:srgbClr val="464646"/>
                </a:solidFill>
                <a:latin typeface="Inter"/>
                <a:ea typeface="Inter"/>
                <a:cs typeface="Inter"/>
                <a:sym typeface="Inter"/>
              </a:rPr>
              <a:t>.</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Clr>
                <a:srgbClr val="464646"/>
              </a:buClr>
              <a:buSzPts val="1200"/>
              <a:buFont typeface="Inter"/>
              <a:buNone/>
            </a:pPr>
            <a:r>
              <a:rPr lang="en-US" b="1" i="0" dirty="0">
                <a:solidFill>
                  <a:srgbClr val="464646"/>
                </a:solidFill>
                <a:latin typeface="Inter"/>
                <a:ea typeface="Inter"/>
                <a:cs typeface="Inter"/>
                <a:sym typeface="Inter"/>
              </a:rPr>
              <a:t>Social engineering </a:t>
            </a:r>
            <a:r>
              <a:rPr lang="en-US" b="0" i="0" dirty="0">
                <a:solidFill>
                  <a:srgbClr val="464646"/>
                </a:solidFill>
                <a:latin typeface="Inter"/>
                <a:ea typeface="Inter"/>
                <a:cs typeface="Inter"/>
                <a:sym typeface="Inter"/>
              </a:rPr>
              <a:t>is the act of using psychological manipulation to trick people into taking some action that is contrary to their best interests, such as disclosing confidential information. The ingredients of a successful social engineering attack usually involve gaining the trust of the victim and then compelling them to act.</a:t>
            </a:r>
            <a:endParaRPr lang="en-US" b="0" i="0" dirty="0">
              <a:solidFill>
                <a:srgbClr val="FFFFFF"/>
              </a:solidFill>
              <a:latin typeface="Inter"/>
              <a:ea typeface="Inter"/>
              <a:cs typeface="Inter"/>
              <a:sym typeface="Inter"/>
            </a:endParaRP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64646"/>
                </a:solidFill>
                <a:latin typeface="Inter"/>
                <a:ea typeface="Inter"/>
                <a:cs typeface="Inter"/>
                <a:sym typeface="Inter"/>
              </a:rPr>
              <a:t>Malware is software that is designed to disrupt, damage, or gain unauthorized access to a computer system.</a:t>
            </a:r>
            <a:endParaRPr lang="en-US" b="0" i="0" dirty="0">
              <a:solidFill>
                <a:srgbClr val="FFFFFF"/>
              </a:solidFill>
              <a:latin typeface="Inter"/>
              <a:ea typeface="Inter"/>
              <a:cs typeface="Inter"/>
              <a:sym typeface="Inter"/>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Unauthorized physical access could be a bad actor following an authorized person through a door after they have swiped their badge. This is known as </a:t>
            </a:r>
            <a:r>
              <a:rPr lang="en-US" b="0" i="1" dirty="0">
                <a:solidFill>
                  <a:srgbClr val="464646"/>
                </a:solidFill>
                <a:latin typeface="Inter"/>
                <a:ea typeface="Inter"/>
                <a:cs typeface="Inter"/>
                <a:sym typeface="Inter"/>
              </a:rPr>
              <a:t>tailgating</a:t>
            </a:r>
            <a:r>
              <a:rPr lang="en-US" b="0" i="0" dirty="0">
                <a:solidFill>
                  <a:srgbClr val="464646"/>
                </a:solidFill>
                <a:latin typeface="Inter"/>
                <a:ea typeface="Inter"/>
                <a:cs typeface="Inter"/>
                <a:sym typeface="Inter"/>
              </a:rPr>
              <a:t>. Unauthorized digital access could be a bad actor looking over someone’s shoulder as they type their credentials.</a:t>
            </a:r>
            <a:endParaRPr lang="en-US" b="0" i="0" dirty="0">
              <a:solidFill>
                <a:srgbClr val="FFFFFF"/>
              </a:solidFill>
              <a:latin typeface="Inter"/>
              <a:ea typeface="Inter"/>
              <a:cs typeface="Inter"/>
              <a:sym typeface="Inter"/>
            </a:endParaRP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64646"/>
                </a:solidFill>
                <a:latin typeface="Inter"/>
                <a:ea typeface="Inter"/>
                <a:cs typeface="Inter"/>
                <a:sym typeface="Inter"/>
              </a:rPr>
              <a:t>System design failure is a security flaw in a computer system or application that the bad actor exploits to gain access to a computer system. There are many examples of cyberattacks that fall into one or more of these categories.</a:t>
            </a:r>
            <a:endParaRPr lang="en-US" b="0" i="0" dirty="0">
              <a:solidFill>
                <a:srgbClr val="FFFFFF"/>
              </a:solidFill>
              <a:latin typeface="Inter"/>
              <a:ea typeface="Inter"/>
              <a:cs typeface="Inter"/>
              <a:sym typeface="Inter"/>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64646"/>
                </a:solidFill>
                <a:latin typeface="Inter"/>
                <a:ea typeface="Inter"/>
                <a:cs typeface="Inter"/>
                <a:sym typeface="Inter"/>
              </a:rPr>
              <a:t>What is a bad actor? Bad actors, also known as threat actors, are persons who try to steal, sabotage, or stop user from using computer systems or accessing information that the user is authorized to use and that is stored on or in transit between computing devices. </a:t>
            </a:r>
            <a:endParaRPr lang="en-US" b="0" i="0" dirty="0">
              <a:solidFill>
                <a:srgbClr val="FFFFFF"/>
              </a:solidFill>
              <a:latin typeface="Inter"/>
              <a:ea typeface="Inter"/>
              <a:cs typeface="Inter"/>
              <a:sym typeface="Inter"/>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833"/>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While there are various types of bad actors who have different motivations that help explain their activities. A bad actor could be anyone, located anywhere. It could be someone in a local coffee shop who is setting up a fake Wi-Fi access point to steal data, a disgruntled employee who is leveraging their employee status to gain deeper access to corporate data, someone in another country whose full-time job is to scam people from a call center, or it could be a teenager in the neighborhood who is curious about the freely available programs on the internet that makes distributing malware and ransomware as easy as a few clicks of the mouse.</a:t>
            </a:r>
            <a:endParaRPr lang="en-US" dirty="0"/>
          </a:p>
          <a:p>
            <a:pPr marL="0" lvl="0" indent="0" algn="l" rtl="0">
              <a:lnSpc>
                <a:spcPct val="100833"/>
              </a:lnSpc>
              <a:spcBef>
                <a:spcPts val="0"/>
              </a:spcBef>
              <a:spcAft>
                <a:spcPts val="0"/>
              </a:spcAft>
              <a:buClr>
                <a:schemeClr val="dk1"/>
              </a:buClr>
              <a:buSzPts val="1200"/>
              <a:buFont typeface="Calibri"/>
              <a:buNone/>
            </a:pPr>
            <a:r>
              <a:rPr lang="en-US" dirty="0"/>
              <a:t>The </a:t>
            </a:r>
            <a:r>
              <a:rPr lang="en-US" b="1" dirty="0"/>
              <a:t>most recent notable ransomware example</a:t>
            </a:r>
            <a:r>
              <a:rPr lang="en-US" dirty="0"/>
              <a:t> occurred in </a:t>
            </a:r>
            <a:r>
              <a:rPr lang="en-US" b="1" dirty="0"/>
              <a:t>July 2025</a:t>
            </a:r>
            <a:r>
              <a:rPr lang="en-US" dirty="0"/>
              <a:t>, involving a critical </a:t>
            </a:r>
            <a:r>
              <a:rPr lang="en-US" b="1" dirty="0"/>
              <a:t>zero‑day vulnerability in Microsoft SharePoint servers</a:t>
            </a:r>
            <a:r>
              <a:rPr lang="en-US" dirty="0"/>
              <a:t>, exploited to deploy </a:t>
            </a:r>
            <a:r>
              <a:rPr lang="en-US" b="1" dirty="0"/>
              <a:t>Warlock ransomware</a:t>
            </a:r>
            <a:r>
              <a:rPr lang="en-US" dirty="0"/>
              <a:t>—targeting hundreds of unpatched systems, including government and enterprise networks. More than </a:t>
            </a:r>
            <a:r>
              <a:rPr lang="en-US" b="1" dirty="0"/>
              <a:t>400 servers</a:t>
            </a:r>
            <a:r>
              <a:rPr lang="en-US" dirty="0"/>
              <a:t> were compromised across sectors such as government, education, healthcare, transportation, finance, and technology. The attack Encrypted critical server files and the Warlock ransomware deployed machine‑key persistence, which allowed continued access even after patching of the systems.</a:t>
            </a:r>
          </a:p>
          <a:p>
            <a:pPr marL="0" lvl="0" indent="0" algn="l" rtl="0">
              <a:lnSpc>
                <a:spcPct val="100833"/>
              </a:lnSpc>
              <a:spcBef>
                <a:spcPts val="0"/>
              </a:spcBef>
              <a:spcAft>
                <a:spcPts val="0"/>
              </a:spcAft>
              <a:buClr>
                <a:srgbClr val="FFFFFF"/>
              </a:buClr>
              <a:buSzPts val="1200"/>
              <a:buFont typeface="Inter"/>
              <a:buNone/>
            </a:pPr>
            <a:r>
              <a:rPr lang="en-US" b="0" i="0" dirty="0">
                <a:solidFill>
                  <a:srgbClr val="FFFFFF"/>
                </a:solidFill>
                <a:latin typeface="Inter"/>
                <a:ea typeface="Inter"/>
                <a:cs typeface="Inter"/>
                <a:sym typeface="Inter"/>
              </a:rPr>
              <a:t>As such, Cybersecurity is no longer just an IT problem but an operational and national security issue impacting multiple systems.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b="0" i="0" dirty="0">
                <a:solidFill>
                  <a:srgbClr val="464646"/>
                </a:solidFill>
                <a:latin typeface="Inter"/>
                <a:ea typeface="Inter"/>
                <a:cs typeface="Inter"/>
                <a:sym typeface="Inter"/>
              </a:rPr>
              <a:t>There can be a myriad of motivations for their criminal behavior, and these different motivations not only influence their attack methods but provide insight into their character and beliefs. Bad actors can be grouped into types based on their character, motivations, and the common attack methods that they use. It’s important to note that bad actors are NOT a homogeneous group.</a:t>
            </a:r>
            <a:endParaRPr lang="en-US" dirty="0"/>
          </a:p>
          <a:p>
            <a:pPr marL="0" marR="0" lvl="0" indent="0" algn="l" rtl="0">
              <a:lnSpc>
                <a:spcPct val="100000"/>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The types of bad actors are </a:t>
            </a:r>
            <a:r>
              <a:rPr lang="en-US" b="1" i="0" dirty="0">
                <a:solidFill>
                  <a:srgbClr val="464646"/>
                </a:solidFill>
                <a:latin typeface="Inter"/>
                <a:ea typeface="Inter"/>
                <a:cs typeface="Inter"/>
                <a:sym typeface="Inter"/>
              </a:rPr>
              <a:t>explorer, hacktivist, cyberterrorist, cybercriminal, and cyberwarrior</a:t>
            </a:r>
            <a:r>
              <a:rPr lang="en-US" b="0" i="0" dirty="0">
                <a:solidFill>
                  <a:srgbClr val="464646"/>
                </a:solidFill>
                <a:latin typeface="Inter"/>
                <a:ea typeface="Inter"/>
                <a:cs typeface="Inter"/>
                <a:sym typeface="Inter"/>
              </a:rPr>
              <a:t>.</a:t>
            </a:r>
            <a:endParaRPr lang="en-US" b="0" i="0" dirty="0">
              <a:solidFill>
                <a:srgbClr val="FFFFFF"/>
              </a:solidFill>
              <a:latin typeface="Inter"/>
              <a:ea typeface="Inter"/>
              <a:cs typeface="Inter"/>
              <a:sym typeface="Inter"/>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The explorer is perhaps the least nefarious of all the bad actor types.</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Notoriety is the biggest motivator within this group. The explorer is curious about the kinds of weaknesses that exist on computer networks and strives to find and exploit them. They do not intend to inflict serious damage, but they might change a page on a website to embarrass someone or do something to advertise to the world how clever they are.</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One method used by explorers and other bad actor types is called phishing. Essentially, they trick people into giving up personal information. An example of phishing is an email from a seemingly legitimate source to a broad group of people. The ingredients of a successful phishing attack are, one, to gain the trust of the recipient or at least to appear innocuous, and two, to manufacture an emergency to force the recipient to act. There are variants of phishing that can be deployed as well. Spear phishing also uses email, but the email is directed at a specific person or group. The explorer also might choose to call or text the user, better known as smishing and vishing. While not using email, the same ingredients are required for the scheme to be successful. Phishing and its variants, however, are not exclusive to the explorer, and other bad actor types might use them for their own purposes.</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Clr>
                <a:srgbClr val="464646"/>
              </a:buClr>
              <a:buSzPts val="1200"/>
              <a:buFont typeface="Inter"/>
              <a:buNone/>
            </a:pPr>
            <a:r>
              <a:rPr lang="en-US" b="1" i="0" dirty="0">
                <a:solidFill>
                  <a:srgbClr val="464646"/>
                </a:solidFill>
                <a:latin typeface="Inter"/>
                <a:ea typeface="Inter"/>
                <a:cs typeface="Inter"/>
                <a:sym typeface="Inter"/>
              </a:rPr>
              <a:t>Phishing Example:</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None/>
            </a:pPr>
            <a:r>
              <a:rPr lang="en-US" b="0" i="0" dirty="0">
                <a:solidFill>
                  <a:srgbClr val="464646"/>
                </a:solidFill>
                <a:latin typeface="Inter"/>
                <a:ea typeface="Inter"/>
                <a:cs typeface="Inter"/>
                <a:sym typeface="Inter"/>
              </a:rPr>
              <a:t>A phishing email might state that some business demands the recipient’s immediate attention and a link to the organization’s site is provided for their convenience. The link, however, does not direct their browser to the legitimate site but rather takes them to a look-a-like rogue site. The rogue site provides the login page and the victim dutifully types their username and password. When the victim clicks submit the rogue site returns a message that their password was incorrect. A link is provided to the legitimate login page, the victim tries again, and this time logs in successfully. Because people often type their passwords quickly and sometimes make mistakes, the victim may not be alerted to the fact that something fishy has transpired. But meanwhile, the bad actor has the victim’s username and password and can now log in as them.</a:t>
            </a:r>
            <a:endParaRPr lang="en-US" b="0" i="0" dirty="0">
              <a:solidFill>
                <a:srgbClr val="FFFFFF"/>
              </a:solidFill>
              <a:latin typeface="Inter"/>
              <a:ea typeface="Inter"/>
              <a:cs typeface="Inter"/>
              <a:sym typeface="Inter"/>
            </a:endParaRP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Unlike the self-interested explorer, </a:t>
            </a:r>
            <a:r>
              <a:rPr lang="en-US" b="1" i="0" dirty="0">
                <a:solidFill>
                  <a:srgbClr val="464646"/>
                </a:solidFill>
                <a:latin typeface="Inter"/>
                <a:ea typeface="Inter"/>
                <a:cs typeface="Inter"/>
                <a:sym typeface="Inter"/>
              </a:rPr>
              <a:t>hacktivists</a:t>
            </a:r>
            <a:r>
              <a:rPr lang="en-US" b="0" i="0" dirty="0">
                <a:solidFill>
                  <a:srgbClr val="464646"/>
                </a:solidFill>
                <a:latin typeface="Inter"/>
                <a:ea typeface="Inter"/>
                <a:cs typeface="Inter"/>
                <a:sym typeface="Inter"/>
              </a:rPr>
              <a:t> are fervent believers in an external cause. They are motivated by ideology or are animated by an emotive force. The hacktivists’ idealism drives them to act collectively in common cause against an enemy.</a:t>
            </a:r>
            <a:endParaRPr lang="en-US" b="0" i="0" dirty="0">
              <a:solidFill>
                <a:srgbClr val="FFFFFF"/>
              </a:solidFill>
              <a:latin typeface="Inter"/>
              <a:ea typeface="Inter"/>
              <a:cs typeface="Inter"/>
              <a:sym typeface="Inter"/>
            </a:endParaRPr>
          </a:p>
          <a:p>
            <a:pPr marL="0" lvl="0" indent="0" algn="l" rtl="0">
              <a:lnSpc>
                <a:spcPct val="105916"/>
              </a:lnSpc>
              <a:spcBef>
                <a:spcPts val="0"/>
              </a:spcBef>
              <a:spcAft>
                <a:spcPts val="0"/>
              </a:spcAft>
              <a:buNone/>
            </a:pPr>
            <a:r>
              <a:rPr lang="en-US" b="0" i="0" dirty="0">
                <a:solidFill>
                  <a:srgbClr val="464646"/>
                </a:solidFill>
                <a:latin typeface="Inter"/>
                <a:ea typeface="Inter"/>
                <a:cs typeface="Inter"/>
                <a:sym typeface="Inter"/>
              </a:rPr>
              <a:t>While hacktivists may collectively crusade against a specific corporation, or go after political or social organizations that they feel did something bad, their extremism demands anonymity and online groups, by nature, are fragmented.</a:t>
            </a:r>
          </a:p>
          <a:p>
            <a:pPr marL="0" lvl="0" indent="0" algn="l" rtl="0">
              <a:lnSpc>
                <a:spcPct val="105916"/>
              </a:lnSpc>
              <a:spcBef>
                <a:spcPts val="0"/>
              </a:spcBef>
              <a:spcAft>
                <a:spcPts val="0"/>
              </a:spcAft>
              <a:buNone/>
            </a:pPr>
            <a:endParaRPr lang="en-US" b="0" i="0" dirty="0">
              <a:solidFill>
                <a:srgbClr val="464646"/>
              </a:solidFill>
              <a:latin typeface="Inter"/>
              <a:ea typeface="Inter"/>
              <a:sym typeface="Inter"/>
            </a:endParaRPr>
          </a:p>
          <a:p>
            <a:pPr marL="0" marR="0" lvl="0" indent="0" algn="l" defTabSz="914400" rtl="0" eaLnBrk="1" fontAlgn="auto" latinLnBrk="0" hangingPunct="1">
              <a:lnSpc>
                <a:spcPct val="105916"/>
              </a:lnSpc>
              <a:spcBef>
                <a:spcPts val="0"/>
              </a:spcBef>
              <a:spcAft>
                <a:spcPts val="0"/>
              </a:spcAft>
              <a:buClr>
                <a:srgbClr val="000000"/>
              </a:buClr>
              <a:buSzPts val="1400"/>
              <a:buFont typeface="Arial"/>
              <a:buNone/>
              <a:tabLst/>
              <a:defRPr/>
            </a:pPr>
            <a:r>
              <a:rPr lang="en-US" b="0" i="0" dirty="0">
                <a:solidFill>
                  <a:srgbClr val="464646"/>
                </a:solidFill>
                <a:latin typeface="Inter"/>
                <a:ea typeface="Inter"/>
                <a:cs typeface="Inter"/>
                <a:sym typeface="Inter"/>
              </a:rPr>
              <a:t>A common strategy of hacktivists is to build a botnet in secret. To make a botnet, the hacktivist sets up a command-and-control (C&amp;C) server that is accessible on the internet. This is a central coordination point for all the botnet nodes. Next, they craft malware that, once installed on some unsuspecting computers, waits patiently for instructions from the C&amp;C server. The C&amp;C server instructs thousands of botnet nodes to send messages to the targeted server, which becomes overwhelmed by requests and stops responding. This is called a distributed denial-of-service (DDoS) attack. Hacktivists lack the computer resources to make a successful DDoS attack, so they must gain control of thousands of other people's computers.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64646"/>
                </a:solidFill>
                <a:latin typeface="Inter"/>
                <a:ea typeface="Inter"/>
                <a:cs typeface="Inter"/>
                <a:sym typeface="Inter"/>
              </a:rPr>
              <a:t>The cyberterrorist has more in common with the hacktivist than the explorer. Their motivation is also driven by ideology, but their violence is directed more broadly against a society. While hacktivists are content with punishing their enemies, cyber terrorists strive to intimidate and destabilize a society by destroying or disrupting computer or communication networks. They like to target online infrastructure, such as nuclear power plants, natural gas pipelines, and electrical power grids. This type of online infrastructure is called operational technology.</a:t>
            </a:r>
            <a:endParaRPr lang="en-US" b="0" i="0" dirty="0">
              <a:solidFill>
                <a:srgbClr val="FFFFFF"/>
              </a:solidFill>
              <a:latin typeface="Inter"/>
              <a:ea typeface="Inter"/>
              <a:cs typeface="Inter"/>
              <a:sym typeface="Inter"/>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64646"/>
                </a:solidFill>
                <a:latin typeface="Inter"/>
                <a:ea typeface="Inter"/>
                <a:cs typeface="Inter"/>
                <a:sym typeface="Inter"/>
              </a:rPr>
              <a:t>Like hacktivists, and unless they are sponsored by a nation state, they lack the resources to inflict catastrophic destruction and must beg, borrow, and steal technology to mount effective attacks. Unlike hacktivists, cyberterrorists operate more like a cohesive virtual army. They have structure and direction. They can deploy tactics such as DDoS to attack targets, but a favorite method is spear phishing. Once they have identified a person with extensive network privileges, they target them with a carefully planned social engineering campaign.</a:t>
            </a:r>
          </a:p>
          <a:p>
            <a:pPr marL="0" marR="0" lvl="0" indent="0" algn="l" rtl="0">
              <a:lnSpc>
                <a:spcPct val="100000"/>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The motivation of a cybercriminal is more self-centered: They want money plain and simple. They achieve this goal by a combination of phishing, theft of identities or credit cards, which they use or sell on the black market, or ransomware. Ransomware is a type of malware that blocks access to computer information or systems until a ransom is paid. Sometimes there can be multiple motivations for a group, or two or more bad actor types. An explicit example is of the recent 2025 cyberattack against </a:t>
            </a:r>
            <a:r>
              <a:rPr lang="en-US" sz="1200" b="0" i="0" dirty="0">
                <a:solidFill>
                  <a:schemeClr val="dk1"/>
                </a:solidFill>
                <a:latin typeface="Calibri"/>
                <a:ea typeface="Calibri"/>
                <a:cs typeface="Calibri"/>
                <a:sym typeface="Calibri"/>
              </a:rPr>
              <a:t>National Association for Stock Car Auto Racing (NASCAR), a behemoth in American motorsports</a:t>
            </a:r>
            <a:r>
              <a:rPr lang="en-US" b="0" i="0" dirty="0">
                <a:solidFill>
                  <a:srgbClr val="464646"/>
                </a:solidFill>
                <a:latin typeface="Inter"/>
                <a:ea typeface="Inter"/>
                <a:cs typeface="Inter"/>
                <a:sym typeface="Inter"/>
              </a:rPr>
              <a:t>.</a:t>
            </a:r>
            <a:endParaRPr lang="en-US" dirty="0"/>
          </a:p>
          <a:p>
            <a:pPr marL="0" marR="0" lvl="0" indent="0" algn="l" rtl="0">
              <a:lnSpc>
                <a:spcPct val="100000"/>
              </a:lnSpc>
              <a:spcBef>
                <a:spcPts val="0"/>
              </a:spcBef>
              <a:spcAft>
                <a:spcPts val="0"/>
              </a:spcAft>
              <a:buClr>
                <a:srgbClr val="FFFFFF"/>
              </a:buClr>
              <a:buSzPts val="1200"/>
              <a:buFont typeface="Inter"/>
              <a:buNone/>
            </a:pPr>
            <a:r>
              <a:rPr lang="en-US" b="1" i="0" dirty="0">
                <a:solidFill>
                  <a:srgbClr val="FFFFFF"/>
                </a:solidFill>
                <a:latin typeface="Inter"/>
                <a:ea typeface="Inter"/>
                <a:cs typeface="Inter"/>
                <a:sym typeface="Inter"/>
              </a:rPr>
              <a:t>Case study of the </a:t>
            </a:r>
            <a:r>
              <a:rPr lang="en-US" b="1" dirty="0"/>
              <a:t>Ransomware Attack on NASCAR (2025):</a:t>
            </a:r>
            <a:endParaRPr lang="en-US" dirty="0"/>
          </a:p>
          <a:p>
            <a:pPr marL="0" lvl="0" indent="0" algn="l" rtl="0">
              <a:spcBef>
                <a:spcPts val="0"/>
              </a:spcBef>
              <a:spcAft>
                <a:spcPts val="0"/>
              </a:spcAft>
              <a:buNone/>
            </a:pPr>
            <a:r>
              <a:rPr lang="en-US" b="1" dirty="0"/>
              <a:t>Domain: </a:t>
            </a:r>
            <a:r>
              <a:rPr lang="en-US" dirty="0"/>
              <a:t>Sports &amp; Entertainment</a:t>
            </a:r>
            <a:endParaRPr lang="en-US" b="0" dirty="0"/>
          </a:p>
          <a:p>
            <a:pPr marL="0" lvl="0" indent="0" algn="l" rtl="0">
              <a:spcBef>
                <a:spcPts val="0"/>
              </a:spcBef>
              <a:spcAft>
                <a:spcPts val="0"/>
              </a:spcAft>
              <a:buNone/>
            </a:pPr>
            <a:r>
              <a:rPr lang="en-US" b="1" dirty="0"/>
              <a:t>Type of Attack: </a:t>
            </a:r>
            <a:r>
              <a:rPr lang="en-US" b="0" dirty="0"/>
              <a:t>Ransomware</a:t>
            </a:r>
            <a:endParaRPr lang="en-US" dirty="0"/>
          </a:p>
          <a:p>
            <a:pPr marL="0" lvl="0" indent="0" algn="l" rtl="0">
              <a:spcBef>
                <a:spcPts val="0"/>
              </a:spcBef>
              <a:spcAft>
                <a:spcPts val="0"/>
              </a:spcAft>
              <a:buNone/>
            </a:pPr>
            <a:r>
              <a:rPr lang="en-US" b="1" dirty="0"/>
              <a:t>Geo: </a:t>
            </a:r>
            <a:r>
              <a:rPr lang="en-US" b="0" dirty="0"/>
              <a:t>United States</a:t>
            </a:r>
            <a:endParaRPr lang="en-US" dirty="0"/>
          </a:p>
          <a:p>
            <a:pPr marL="0" marR="0" lvl="0" indent="0" algn="l" rtl="0">
              <a:lnSpc>
                <a:spcPct val="100000"/>
              </a:lnSpc>
              <a:spcBef>
                <a:spcPts val="0"/>
              </a:spcBef>
              <a:spcAft>
                <a:spcPts val="0"/>
              </a:spcAft>
              <a:buClr>
                <a:schemeClr val="dk1"/>
              </a:buClr>
              <a:buSzPts val="1200"/>
              <a:buFont typeface="Calibri"/>
              <a:buNone/>
            </a:pPr>
            <a:r>
              <a:rPr lang="en-US" dirty="0"/>
              <a:t>The National Association for Stock Car Auto Racing (NASCAR), LLC is an American auto racing sanctioning and operating company that is best known for stock car racing. It is considered to be one of the top ranked motorsports organizations in the world and is one of the largest spectator sports leagues in America. NASCAR maintains digital infrastructure for ticketing, media streaming, fan data, and business operations.</a:t>
            </a:r>
          </a:p>
          <a:p>
            <a:pPr marL="0" marR="0" lvl="0" indent="0" algn="l" rtl="0">
              <a:lnSpc>
                <a:spcPct val="100000"/>
              </a:lnSpc>
              <a:spcBef>
                <a:spcPts val="0"/>
              </a:spcBef>
              <a:spcAft>
                <a:spcPts val="0"/>
              </a:spcAft>
              <a:buClr>
                <a:schemeClr val="dk1"/>
              </a:buClr>
              <a:buSzPts val="1200"/>
              <a:buFont typeface="Calibri"/>
              <a:buNone/>
            </a:pPr>
            <a:r>
              <a:rPr lang="en-US" b="1" dirty="0"/>
              <a:t>Incident Overview</a:t>
            </a:r>
            <a:endParaRPr lang="en-US" dirty="0"/>
          </a:p>
          <a:p>
            <a:pPr marL="0" lvl="0" indent="0" algn="l" rtl="0">
              <a:spcBef>
                <a:spcPts val="0"/>
              </a:spcBef>
              <a:spcAft>
                <a:spcPts val="0"/>
              </a:spcAft>
              <a:buNone/>
            </a:pPr>
            <a:r>
              <a:rPr lang="en-US" b="1" dirty="0"/>
              <a:t>Timeline of Attack: </a:t>
            </a:r>
            <a:r>
              <a:rPr lang="en-US" b="0" dirty="0"/>
              <a:t>B</a:t>
            </a:r>
            <a:r>
              <a:rPr lang="en-US" sz="1200" b="0" i="0" dirty="0">
                <a:solidFill>
                  <a:schemeClr val="dk1"/>
                </a:solidFill>
                <a:latin typeface="Calibri"/>
                <a:ea typeface="Calibri"/>
                <a:cs typeface="Calibri"/>
                <a:sym typeface="Calibri"/>
              </a:rPr>
              <a:t>etween March 31 and April 3, 2025</a:t>
            </a:r>
            <a:endParaRPr lang="en-US" dirty="0"/>
          </a:p>
          <a:p>
            <a:pPr marL="0" lvl="0" indent="0" algn="l" rtl="0">
              <a:spcBef>
                <a:spcPts val="0"/>
              </a:spcBef>
              <a:spcAft>
                <a:spcPts val="0"/>
              </a:spcAft>
              <a:buNone/>
            </a:pPr>
            <a:r>
              <a:rPr lang="en-US" b="1" dirty="0"/>
              <a:t>Threat Actor: </a:t>
            </a:r>
            <a:r>
              <a:rPr lang="en-US" dirty="0"/>
              <a:t>Medusa (RaaS - Ransomware-as-a-Service group). </a:t>
            </a:r>
            <a:r>
              <a:rPr lang="en-US" sz="1200" b="0" i="0" dirty="0">
                <a:solidFill>
                  <a:schemeClr val="dk1"/>
                </a:solidFill>
                <a:latin typeface="Calibri"/>
                <a:ea typeface="Calibri"/>
                <a:cs typeface="Calibri"/>
                <a:sym typeface="Calibri"/>
              </a:rPr>
              <a:t>Medusa is an active threat actor with numerous high-profile victims, including Toyota Financial Services (TFS), which was struck in November 2023, Minneapolis Public Schools (MPS), targeted in February 2023, and Philippine Health Insurance Corporation (PhilHealth), which suffered an incident in September 2023.</a:t>
            </a:r>
            <a:endParaRPr lang="en-US" dirty="0"/>
          </a:p>
          <a:p>
            <a:pPr marL="0" lvl="0" indent="0" algn="l" rtl="0">
              <a:spcBef>
                <a:spcPts val="0"/>
              </a:spcBef>
              <a:spcAft>
                <a:spcPts val="0"/>
              </a:spcAft>
              <a:buNone/>
            </a:pPr>
            <a:r>
              <a:rPr lang="en-US" b="1" dirty="0"/>
              <a:t>Attack Vector: </a:t>
            </a:r>
            <a:r>
              <a:rPr lang="en-US" b="0" dirty="0"/>
              <a:t>S</a:t>
            </a:r>
            <a:r>
              <a:rPr lang="en-US" dirty="0"/>
              <a:t>uspected entry vectors include:</a:t>
            </a:r>
          </a:p>
          <a:p>
            <a:pPr marL="171450" lvl="0" indent="-171450" algn="l" rtl="0">
              <a:spcBef>
                <a:spcPts val="0"/>
              </a:spcBef>
              <a:spcAft>
                <a:spcPts val="0"/>
              </a:spcAft>
              <a:buClr>
                <a:schemeClr val="dk1"/>
              </a:buClr>
              <a:buSzPts val="1200"/>
              <a:buFont typeface="Arial"/>
              <a:buChar char="•"/>
            </a:pPr>
            <a:r>
              <a:rPr lang="en-US" b="0" dirty="0"/>
              <a:t>Phishing emails </a:t>
            </a:r>
            <a:r>
              <a:rPr lang="en-US" dirty="0"/>
              <a:t>or compromised employee credentials</a:t>
            </a:r>
          </a:p>
          <a:p>
            <a:pPr marL="171450" lvl="0" indent="-171450" algn="l" rtl="0">
              <a:spcBef>
                <a:spcPts val="0"/>
              </a:spcBef>
              <a:spcAft>
                <a:spcPts val="0"/>
              </a:spcAft>
              <a:buClr>
                <a:schemeClr val="dk1"/>
              </a:buClr>
              <a:buSzPts val="1200"/>
              <a:buFont typeface="Arial"/>
              <a:buChar char="•"/>
            </a:pPr>
            <a:r>
              <a:rPr lang="en-US" dirty="0"/>
              <a:t>Unpatched systems in IT infrastructure</a:t>
            </a:r>
          </a:p>
          <a:p>
            <a:pPr marL="0" lvl="0" indent="0" algn="l" rtl="0">
              <a:spcBef>
                <a:spcPts val="0"/>
              </a:spcBef>
              <a:spcAft>
                <a:spcPts val="0"/>
              </a:spcAft>
              <a:buClr>
                <a:schemeClr val="dk1"/>
              </a:buClr>
              <a:buSzPts val="1200"/>
              <a:buFont typeface="Arial"/>
              <a:buNone/>
            </a:pPr>
            <a:r>
              <a:rPr lang="en-US" b="1" dirty="0"/>
              <a:t>Payload: </a:t>
            </a:r>
            <a:r>
              <a:rPr lang="en-US" dirty="0"/>
              <a:t>Medusa Ransomware</a:t>
            </a:r>
          </a:p>
          <a:p>
            <a:pPr marL="0" lvl="0" indent="0" algn="l" rtl="0">
              <a:spcBef>
                <a:spcPts val="0"/>
              </a:spcBef>
              <a:spcAft>
                <a:spcPts val="0"/>
              </a:spcAft>
              <a:buNone/>
            </a:pPr>
            <a:r>
              <a:rPr lang="en-US" b="1" dirty="0"/>
              <a:t>Impact:</a:t>
            </a:r>
            <a:endParaRPr lang="en-US" dirty="0"/>
          </a:p>
          <a:p>
            <a:pPr marL="171450" lvl="0" indent="-171450" algn="l" rtl="0">
              <a:spcBef>
                <a:spcPts val="0"/>
              </a:spcBef>
              <a:spcAft>
                <a:spcPts val="0"/>
              </a:spcAft>
              <a:buClr>
                <a:schemeClr val="dk1"/>
              </a:buClr>
              <a:buSzPts val="1200"/>
              <a:buFont typeface="Noto Sans Symbols"/>
              <a:buChar char="⮚"/>
            </a:pPr>
            <a:r>
              <a:rPr lang="en-US" b="1" dirty="0"/>
              <a:t>Operational Downtime: </a:t>
            </a:r>
            <a:r>
              <a:rPr lang="en-US" dirty="0"/>
              <a:t>Core business systems were disrupted, but </a:t>
            </a:r>
            <a:r>
              <a:rPr lang="en-US" b="0" dirty="0"/>
              <a:t>racing events and fan services were not impacted</a:t>
            </a:r>
            <a:r>
              <a:rPr lang="en-US" dirty="0"/>
              <a:t>, according to public statements.</a:t>
            </a:r>
          </a:p>
          <a:p>
            <a:pPr marL="171450" lvl="0" indent="-171450" algn="l" rtl="0">
              <a:spcBef>
                <a:spcPts val="0"/>
              </a:spcBef>
              <a:spcAft>
                <a:spcPts val="0"/>
              </a:spcAft>
              <a:buClr>
                <a:schemeClr val="dk1"/>
              </a:buClr>
              <a:buSzPts val="1200"/>
              <a:buFont typeface="Noto Sans Symbols"/>
              <a:buChar char="⮚"/>
            </a:pPr>
            <a:r>
              <a:rPr lang="en-US" b="1" dirty="0"/>
              <a:t>Data Breach: </a:t>
            </a:r>
            <a:r>
              <a:rPr lang="en-US" dirty="0"/>
              <a:t>Highly sensitive information such as employee SSNs and internal documents were confirmed to be exposed.</a:t>
            </a:r>
          </a:p>
          <a:p>
            <a:pPr marL="171450" lvl="0" indent="-171450" algn="l" rtl="0">
              <a:spcBef>
                <a:spcPts val="0"/>
              </a:spcBef>
              <a:spcAft>
                <a:spcPts val="0"/>
              </a:spcAft>
              <a:buClr>
                <a:schemeClr val="dk1"/>
              </a:buClr>
              <a:buSzPts val="1200"/>
              <a:buFont typeface="Noto Sans Symbols"/>
              <a:buChar char="⮚"/>
            </a:pPr>
            <a:r>
              <a:rPr lang="en-US" b="1" dirty="0"/>
              <a:t>Reputation Risk: </a:t>
            </a:r>
            <a:r>
              <a:rPr lang="en-US" dirty="0"/>
              <a:t>NASCAR faced criticism over potential lapses in cybersecurity; trust impact among partners and staff.</a:t>
            </a:r>
          </a:p>
          <a:p>
            <a:pPr marL="171450" lvl="0" indent="-171450" algn="l" rtl="0">
              <a:spcBef>
                <a:spcPts val="0"/>
              </a:spcBef>
              <a:spcAft>
                <a:spcPts val="0"/>
              </a:spcAft>
              <a:buClr>
                <a:schemeClr val="dk1"/>
              </a:buClr>
              <a:buSzPts val="1200"/>
              <a:buFont typeface="Noto Sans Symbols"/>
              <a:buChar char="⮚"/>
            </a:pPr>
            <a:r>
              <a:rPr lang="en-US" b="1" dirty="0"/>
              <a:t>Legal/Compliance: </a:t>
            </a:r>
            <a:r>
              <a:rPr lang="en-US" dirty="0"/>
              <a:t>Penalties under </a:t>
            </a:r>
            <a:r>
              <a:rPr lang="en-US" b="0" dirty="0"/>
              <a:t>U.S. data protection laws </a:t>
            </a:r>
            <a:r>
              <a:rPr lang="en-US" dirty="0"/>
              <a:t>if negligent handling is proven.</a:t>
            </a:r>
            <a:endParaRPr lang="en-US" b="0" dirty="0"/>
          </a:p>
          <a:p>
            <a:pPr marL="0" lvl="0" indent="0" algn="l" rtl="0">
              <a:spcBef>
                <a:spcPts val="0"/>
              </a:spcBef>
              <a:spcAft>
                <a:spcPts val="0"/>
              </a:spcAft>
              <a:buNone/>
            </a:pPr>
            <a:r>
              <a:rPr lang="en-US" b="1" dirty="0"/>
              <a:t>Ransom : </a:t>
            </a:r>
            <a:r>
              <a:rPr lang="en-US" sz="1200" b="0" i="0" dirty="0">
                <a:solidFill>
                  <a:schemeClr val="dk1"/>
                </a:solidFill>
                <a:latin typeface="Calibri"/>
                <a:ea typeface="Calibri"/>
                <a:cs typeface="Calibri"/>
                <a:sym typeface="Calibri"/>
              </a:rPr>
              <a:t>$4 million in ransom</a:t>
            </a:r>
            <a:endParaRPr lang="en-US" dirty="0"/>
          </a:p>
          <a:p>
            <a:pPr marL="0" lvl="0" indent="0" algn="l" rtl="0">
              <a:spcBef>
                <a:spcPts val="0"/>
              </a:spcBef>
              <a:spcAft>
                <a:spcPts val="0"/>
              </a:spcAft>
              <a:buClr>
                <a:srgbClr val="FFFFFF"/>
              </a:buClr>
              <a:buSzPts val="1200"/>
              <a:buFont typeface="Arial"/>
              <a:buNone/>
            </a:pPr>
            <a:r>
              <a:rPr lang="en-US" b="1" i="0" dirty="0">
                <a:solidFill>
                  <a:srgbClr val="FFFFFF"/>
                </a:solidFill>
                <a:latin typeface="Inter"/>
                <a:ea typeface="Inter"/>
                <a:cs typeface="Inter"/>
                <a:sym typeface="Inter"/>
              </a:rPr>
              <a:t>Root Cause Analysis: </a:t>
            </a:r>
            <a:r>
              <a:rPr lang="en-US" dirty="0"/>
              <a:t>Though not publicly disclosed suspected root cause includes </a:t>
            </a:r>
            <a:r>
              <a:rPr lang="en-US" b="0" dirty="0"/>
              <a:t>Phishing emails </a:t>
            </a:r>
            <a:r>
              <a:rPr lang="en-US" dirty="0"/>
              <a:t>or compromised employee credentials and unpatched systems within NASCAR IT infrastructure</a:t>
            </a:r>
          </a:p>
          <a:p>
            <a:pPr marL="0" marR="0" lvl="0" indent="0" algn="l" rtl="0">
              <a:lnSpc>
                <a:spcPct val="100000"/>
              </a:lnSpc>
              <a:spcBef>
                <a:spcPts val="0"/>
              </a:spcBef>
              <a:spcAft>
                <a:spcPts val="0"/>
              </a:spcAft>
              <a:buClr>
                <a:srgbClr val="FFFFFF"/>
              </a:buClr>
              <a:buSzPts val="1200"/>
              <a:buFont typeface="Inter"/>
              <a:buNone/>
            </a:pPr>
            <a:r>
              <a:rPr lang="en-US" b="1" i="0" dirty="0">
                <a:solidFill>
                  <a:srgbClr val="FFFFFF"/>
                </a:solidFill>
                <a:latin typeface="Inter"/>
                <a:ea typeface="Inter"/>
                <a:cs typeface="Inter"/>
                <a:sym typeface="Inter"/>
              </a:rPr>
              <a:t>Lesson Learned:</a:t>
            </a:r>
            <a:r>
              <a:rPr lang="en-US" b="0" i="0" dirty="0">
                <a:solidFill>
                  <a:srgbClr val="FFFFFF"/>
                </a:solidFill>
                <a:latin typeface="Inter"/>
                <a:ea typeface="Inter"/>
                <a:cs typeface="Inter"/>
                <a:sym typeface="Inter"/>
              </a:rPr>
              <a:t> Implement a robust technical control like MFA, network segmentation, endpoint detection &amp; response (EDR) solutions. Ensure regular backup and restoration controls, regular security audits of third-party vendors and cloud systems, incident response and testing and also conduct regular </a:t>
            </a:r>
            <a:r>
              <a:rPr lang="en-US" dirty="0"/>
              <a:t>security awareness training.</a:t>
            </a:r>
            <a:endParaRPr lang="en-US" b="0" i="0" dirty="0">
              <a:solidFill>
                <a:srgbClr val="FFFFFF"/>
              </a:solidFill>
              <a:latin typeface="Inter"/>
              <a:ea typeface="Inter"/>
              <a:cs typeface="Inter"/>
              <a:sym typeface="Inter"/>
            </a:endParaRP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64646"/>
                </a:solidFill>
                <a:latin typeface="Inter"/>
                <a:ea typeface="Inter"/>
                <a:cs typeface="Inter"/>
                <a:sym typeface="Inter"/>
              </a:rPr>
              <a:t>Cyberwarriors are the least self-interested, but are nonetheless the most dangerous because they have the resources of a nation-state at their disposal. Cyberwarriors are motivated by the national interests of their home country. Whether cyberwarriors are good, bad or neutral depends on which nation-state they fight for. Their methods are vast and sometimes secret, and their missions include espionage, extortion, and embarrassment on the one hand, to using targeted cyberweapons to disrupt, damage, or destroy critical infrastructure on the other.</a:t>
            </a:r>
            <a:endParaRPr lang="en-US" b="0" i="0" dirty="0">
              <a:solidFill>
                <a:srgbClr val="FFFFFF"/>
              </a:solidFill>
              <a:latin typeface="Inter"/>
              <a:ea typeface="Inter"/>
              <a:cs typeface="Inter"/>
              <a:sym typeface="Inter"/>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64646"/>
                </a:solidFill>
                <a:latin typeface="Inter"/>
                <a:ea typeface="Inter"/>
                <a:cs typeface="Inter"/>
                <a:sym typeface="Inter"/>
              </a:rPr>
              <a:t>They like to leverage unpatched vulnerabilities in common operating systems and applications. These are known as zero-day exploits-presumably because when the exploit is launched, the vendor has zero days to fix the problem. Cyberwarriors do intensive research on these common operating systems and applications, finding weaknesses, bugs, and other behaviors that they can use to attack the enemy’s computer systems. The weaknesses must remain a secret until they can be used because once they are known the vendor will issue a patch immediately.</a:t>
            </a:r>
            <a:endParaRPr lang="en-US" b="0" i="0" dirty="0">
              <a:solidFill>
                <a:srgbClr val="FFFFFF"/>
              </a:solidFill>
              <a:latin typeface="Inter"/>
              <a:ea typeface="Inter"/>
              <a:cs typeface="Inter"/>
              <a:sym typeface="Inter"/>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Just as there are different types of bad actors, there are different categories of hackers, each identified by a symbolic color. The main categories are: </a:t>
            </a:r>
            <a:r>
              <a:rPr lang="en-US" b="1" i="0" dirty="0">
                <a:solidFill>
                  <a:srgbClr val="464646"/>
                </a:solidFill>
                <a:latin typeface="Inter"/>
                <a:ea typeface="Inter"/>
                <a:cs typeface="Inter"/>
                <a:sym typeface="Inter"/>
              </a:rPr>
              <a:t>white hat, black hat, grey hat, and blue hat</a:t>
            </a:r>
            <a:r>
              <a:rPr lang="en-US" b="0" i="0" dirty="0">
                <a:solidFill>
                  <a:srgbClr val="464646"/>
                </a:solidFill>
                <a:latin typeface="Inter"/>
                <a:ea typeface="Inter"/>
                <a:cs typeface="Inter"/>
                <a:sym typeface="Inter"/>
              </a:rPr>
              <a:t>.</a:t>
            </a:r>
          </a:p>
          <a:p>
            <a:pPr marL="0" lvl="0" indent="0" algn="l" rtl="0">
              <a:lnSpc>
                <a:spcPct val="105916"/>
              </a:lnSpc>
              <a:spcBef>
                <a:spcPts val="0"/>
              </a:spcBef>
              <a:spcAft>
                <a:spcPts val="0"/>
              </a:spcAft>
              <a:buClr>
                <a:srgbClr val="464646"/>
              </a:buClr>
              <a:buSzPts val="1200"/>
              <a:buFont typeface="Inter"/>
              <a:buNone/>
            </a:pPr>
            <a:endParaRPr lang="en-US" b="0" i="0" dirty="0">
              <a:solidFill>
                <a:srgbClr val="FFFFFF"/>
              </a:solidFill>
              <a:latin typeface="Inter"/>
              <a:ea typeface="Inter"/>
              <a:cs typeface="Inter"/>
              <a:sym typeface="Inter"/>
            </a:endParaRPr>
          </a:p>
          <a:p>
            <a:pPr marL="228600" lvl="0" indent="-228600" algn="l" rtl="0">
              <a:lnSpc>
                <a:spcPct val="105916"/>
              </a:lnSpc>
              <a:spcBef>
                <a:spcPts val="0"/>
              </a:spcBef>
              <a:spcAft>
                <a:spcPts val="0"/>
              </a:spcAft>
              <a:buFont typeface="+mj-lt"/>
              <a:buAutoNum type="arabicPeriod"/>
            </a:pPr>
            <a:r>
              <a:rPr lang="en-US" b="0" i="0" dirty="0">
                <a:solidFill>
                  <a:srgbClr val="464646"/>
                </a:solidFill>
                <a:latin typeface="Inter"/>
                <a:ea typeface="Inter"/>
                <a:cs typeface="Inter"/>
                <a:sym typeface="Inter"/>
              </a:rPr>
              <a:t>A white hat is an ethical hacker who, with proper authorization, probes the network to identify vulnerabilities. </a:t>
            </a:r>
          </a:p>
          <a:p>
            <a:pPr marL="228600" lvl="0" indent="-228600" algn="l" rtl="0">
              <a:lnSpc>
                <a:spcPct val="105916"/>
              </a:lnSpc>
              <a:spcBef>
                <a:spcPts val="0"/>
              </a:spcBef>
              <a:spcAft>
                <a:spcPts val="0"/>
              </a:spcAft>
              <a:buFont typeface="+mj-lt"/>
              <a:buAutoNum type="arabicPeriod"/>
            </a:pPr>
            <a:r>
              <a:rPr lang="en-US" b="0" i="0" dirty="0">
                <a:solidFill>
                  <a:srgbClr val="464646"/>
                </a:solidFill>
                <a:latin typeface="Inter"/>
                <a:ea typeface="Inter"/>
                <a:cs typeface="Inter"/>
                <a:sym typeface="Inter"/>
              </a:rPr>
              <a:t>In contrast, a black hat is a hacker who attacks a network for profit or to cause harm. </a:t>
            </a:r>
          </a:p>
          <a:p>
            <a:pPr marL="228600" lvl="0" indent="-228600" algn="l" rtl="0">
              <a:lnSpc>
                <a:spcPct val="105916"/>
              </a:lnSpc>
              <a:spcBef>
                <a:spcPts val="0"/>
              </a:spcBef>
              <a:spcAft>
                <a:spcPts val="0"/>
              </a:spcAft>
              <a:buFont typeface="+mj-lt"/>
              <a:buAutoNum type="arabicPeriod"/>
            </a:pPr>
            <a:r>
              <a:rPr lang="en-US" b="0" i="0" dirty="0">
                <a:solidFill>
                  <a:srgbClr val="464646"/>
                </a:solidFill>
                <a:latin typeface="Inter"/>
                <a:ea typeface="Inter"/>
                <a:cs typeface="Inter"/>
                <a:sym typeface="Inter"/>
              </a:rPr>
              <a:t>A grey hat is a hacker who attacks a network, contradicting lawful and ethical behavior, but who does not have the same malicious intent as a black hat hacker. This category most closely aligns with the explorer bad actor. </a:t>
            </a:r>
          </a:p>
          <a:p>
            <a:pPr marL="228600" lvl="0" indent="-228600" algn="l" rtl="0">
              <a:lnSpc>
                <a:spcPct val="105916"/>
              </a:lnSpc>
              <a:spcBef>
                <a:spcPts val="0"/>
              </a:spcBef>
              <a:spcAft>
                <a:spcPts val="0"/>
              </a:spcAft>
              <a:buFont typeface="+mj-lt"/>
              <a:buAutoNum type="arabicPeriod"/>
            </a:pPr>
            <a:r>
              <a:rPr lang="en-US" b="0" i="0" dirty="0">
                <a:solidFill>
                  <a:srgbClr val="464646"/>
                </a:solidFill>
                <a:latin typeface="Inter"/>
                <a:ea typeface="Inter"/>
                <a:cs typeface="Inter"/>
                <a:sym typeface="Inter"/>
              </a:rPr>
              <a:t>A blue hat hacker is a variant of a white hat. This category of hacker refers to outside computer security consulting firms that are employed for penetration testing of a system prior to its launch and with the intent to detect and close vulnerabilities.</a:t>
            </a:r>
            <a:endParaRPr lang="en-US" b="0" i="0" dirty="0">
              <a:solidFill>
                <a:srgbClr val="FFFFFF"/>
              </a:solidFill>
              <a:latin typeface="Inter"/>
              <a:ea typeface="Inter"/>
              <a:cs typeface="Inter"/>
              <a:sym typeface="Inter"/>
            </a:endParaRP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To better understand and defend against cyberattacks, it is helpful to examine the various frameworks that have been developed to classify and analyze them. These frameworks provide a structure for identifying the different stages of attack, discerning the different tactics used during those stages, analyzing their impact, and developing strategies for prevention and response.</a:t>
            </a:r>
            <a:br>
              <a:rPr lang="en-US" b="0" i="0" dirty="0">
                <a:solidFill>
                  <a:srgbClr val="464646"/>
                </a:solidFill>
                <a:latin typeface="Inter"/>
                <a:ea typeface="Inter"/>
                <a:cs typeface="Inter"/>
                <a:sym typeface="Inter"/>
              </a:rPr>
            </a:br>
            <a:endParaRPr lang="en-US" b="0" i="0" dirty="0">
              <a:solidFill>
                <a:srgbClr val="FFFFFF"/>
              </a:solidFill>
              <a:latin typeface="Inter"/>
              <a:ea typeface="Inter"/>
              <a:cs typeface="Inter"/>
              <a:sym typeface="Inter"/>
            </a:endParaRPr>
          </a:p>
          <a:p>
            <a:pPr marL="0" lvl="0" indent="0" algn="l" rtl="0">
              <a:lnSpc>
                <a:spcPct val="105916"/>
              </a:lnSpc>
              <a:spcBef>
                <a:spcPts val="600"/>
              </a:spcBef>
              <a:spcAft>
                <a:spcPts val="0"/>
              </a:spcAft>
              <a:buClr>
                <a:srgbClr val="464646"/>
              </a:buClr>
              <a:buSzPts val="1200"/>
              <a:buFont typeface="Inter"/>
              <a:buNone/>
            </a:pPr>
            <a:r>
              <a:rPr lang="en-US" b="0" i="0" dirty="0">
                <a:solidFill>
                  <a:srgbClr val="464646"/>
                </a:solidFill>
                <a:latin typeface="Inter"/>
                <a:ea typeface="Inter"/>
                <a:cs typeface="Inter"/>
                <a:sym typeface="Inter"/>
              </a:rPr>
              <a:t>Attack frameworks were developed in response to cyberattacks that were more sophisticated and protracted than in the past. These types of attacks, which can involve extended periods of surveillance and planning before methodically attacking a targeted computer network, are often referred to as advanced persistent threats (APTs). While attack frameworks embody extensive knowledge about attackers’ tactics and techniques, they are more than a knowledge base. </a:t>
            </a:r>
            <a:endParaRPr lang="en-US" b="0" i="0" dirty="0">
              <a:solidFill>
                <a:srgbClr val="FFFFFF"/>
              </a:solidFill>
              <a:latin typeface="Inter"/>
              <a:ea typeface="Inter"/>
              <a:cs typeface="Inter"/>
              <a:sym typeface="Inter"/>
            </a:endParaRPr>
          </a:p>
          <a:p>
            <a:pPr marL="0" lvl="0" indent="0" algn="l" rtl="0">
              <a:lnSpc>
                <a:spcPct val="105916"/>
              </a:lnSpc>
              <a:spcBef>
                <a:spcPts val="600"/>
              </a:spcBef>
              <a:spcAft>
                <a:spcPts val="0"/>
              </a:spcAft>
              <a:buClr>
                <a:schemeClr val="dk1"/>
              </a:buClr>
              <a:buSzPts val="1200"/>
              <a:buFont typeface="Calibri"/>
              <a:buNone/>
            </a:pPr>
            <a:endParaRPr lang="en-US" b="0" i="0" dirty="0">
              <a:solidFill>
                <a:srgbClr val="FFFFFF"/>
              </a:solidFill>
              <a:latin typeface="Inter"/>
              <a:ea typeface="Inter"/>
              <a:cs typeface="Inter"/>
              <a:sym typeface="Inter"/>
            </a:endParaRPr>
          </a:p>
          <a:p>
            <a:pPr marL="0" lvl="0" indent="0" algn="l" rtl="0">
              <a:lnSpc>
                <a:spcPct val="105916"/>
              </a:lnSpc>
              <a:spcBef>
                <a:spcPts val="600"/>
              </a:spcBef>
              <a:spcAft>
                <a:spcPts val="0"/>
              </a:spcAft>
              <a:buNone/>
            </a:pPr>
            <a:r>
              <a:rPr lang="en-US" b="0" i="0" dirty="0">
                <a:solidFill>
                  <a:srgbClr val="464646"/>
                </a:solidFill>
                <a:latin typeface="Inter"/>
                <a:ea typeface="Inter"/>
                <a:cs typeface="Inter"/>
                <a:sym typeface="Inter"/>
              </a:rPr>
              <a:t>Lockheed Martin’s </a:t>
            </a:r>
            <a:r>
              <a:rPr lang="en-US" b="1" i="0" dirty="0">
                <a:solidFill>
                  <a:srgbClr val="464646"/>
                </a:solidFill>
                <a:latin typeface="Inter"/>
                <a:ea typeface="Inter"/>
                <a:cs typeface="Inter"/>
                <a:sym typeface="Inter"/>
              </a:rPr>
              <a:t>Cyber Kill Chain </a:t>
            </a:r>
            <a:r>
              <a:rPr lang="en-US" b="0" i="0" dirty="0">
                <a:solidFill>
                  <a:srgbClr val="464646"/>
                </a:solidFill>
                <a:latin typeface="Inter"/>
                <a:ea typeface="Inter"/>
                <a:cs typeface="Inter"/>
                <a:sym typeface="Inter"/>
              </a:rPr>
              <a:t>and </a:t>
            </a:r>
            <a:r>
              <a:rPr lang="en-US" b="1" i="0" dirty="0">
                <a:solidFill>
                  <a:srgbClr val="464646"/>
                </a:solidFill>
                <a:latin typeface="Inter"/>
                <a:ea typeface="Inter"/>
                <a:cs typeface="Inter"/>
                <a:sym typeface="Inter"/>
              </a:rPr>
              <a:t>MITRE ATT&amp;CK </a:t>
            </a:r>
            <a:r>
              <a:rPr lang="en-US" b="0" i="0" dirty="0">
                <a:solidFill>
                  <a:srgbClr val="464646"/>
                </a:solidFill>
                <a:latin typeface="Inter"/>
                <a:ea typeface="Inter"/>
                <a:cs typeface="Inter"/>
                <a:sym typeface="Inter"/>
              </a:rPr>
              <a:t>are only two of several cyberattack frameworks in the industry. These are likely to be used at least in one of these frameworks during a career in cybersecurity.</a:t>
            </a:r>
            <a:endParaRPr lang="en-US" b="0" i="0" dirty="0">
              <a:solidFill>
                <a:srgbClr val="FFFFFF"/>
              </a:solidFill>
              <a:latin typeface="Inter"/>
              <a:ea typeface="Inter"/>
              <a:cs typeface="Inter"/>
              <a:sym typeface="Inter"/>
            </a:endParaRP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225888"/>
              </a:lnSpc>
              <a:spcBef>
                <a:spcPts val="0"/>
              </a:spcBef>
              <a:spcAft>
                <a:spcPts val="0"/>
              </a:spcAft>
              <a:buClr>
                <a:srgbClr val="000000"/>
              </a:buClr>
              <a:buSzPts val="1800"/>
              <a:buFont typeface="Inter SemiBold"/>
              <a:buNone/>
            </a:pPr>
            <a:r>
              <a:rPr lang="en-US" sz="1800" b="1" i="0" dirty="0">
                <a:solidFill>
                  <a:srgbClr val="000000"/>
                </a:solidFill>
                <a:latin typeface="Inter SemiBold"/>
                <a:ea typeface="Inter SemiBold"/>
                <a:cs typeface="Inter SemiBold"/>
                <a:sym typeface="Inter SemiBold"/>
              </a:rPr>
              <a:t>Cyber Kill Chain</a:t>
            </a:r>
            <a:endParaRPr lang="en-US" b="1" i="0" dirty="0">
              <a:solidFill>
                <a:srgbClr val="585858"/>
              </a:solidFill>
              <a:latin typeface="Inter"/>
              <a:ea typeface="Inter"/>
              <a:cs typeface="Inter"/>
              <a:sym typeface="Inter"/>
            </a:endParaRPr>
          </a:p>
          <a:p>
            <a:pPr marL="0" lvl="0" indent="0" algn="l" rtl="0">
              <a:lnSpc>
                <a:spcPct val="105916"/>
              </a:lnSpc>
              <a:spcBef>
                <a:spcPts val="0"/>
              </a:spcBef>
              <a:spcAft>
                <a:spcPts val="0"/>
              </a:spcAft>
              <a:buNone/>
            </a:pPr>
            <a:r>
              <a:rPr lang="en-US" b="0" i="0" dirty="0">
                <a:solidFill>
                  <a:srgbClr val="464646"/>
                </a:solidFill>
                <a:latin typeface="Inter"/>
                <a:ea typeface="Inter"/>
                <a:cs typeface="Inter"/>
                <a:sym typeface="Inter"/>
              </a:rPr>
              <a:t>One of the most widely used frameworks for analyzing cyberattacks is the Cyber Kill Chain, developed by Lockheed Martin in 2011. The Cyber Kill Chain is a seven-step model that describes the stages of a cyberattack, from the initial reconnaissance and weaponization of the attack method to the final exploitation and exfiltration of data.</a:t>
            </a:r>
            <a:endParaRPr lang="en-US" b="0" i="0" dirty="0">
              <a:solidFill>
                <a:srgbClr val="FFFFFF"/>
              </a:solidFill>
              <a:latin typeface="Inter"/>
              <a:ea typeface="Inter"/>
              <a:cs typeface="Inter"/>
              <a:sym typeface="Inter"/>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5916"/>
              </a:lnSpc>
              <a:spcBef>
                <a:spcPts val="0"/>
              </a:spcBef>
              <a:spcAft>
                <a:spcPts val="0"/>
              </a:spcAft>
              <a:buClr>
                <a:srgbClr val="464646"/>
              </a:buClr>
              <a:buSzPts val="1200"/>
              <a:buFont typeface="Inter"/>
              <a:buNone/>
            </a:pPr>
            <a:r>
              <a:rPr lang="en-US" b="0" i="0" dirty="0">
                <a:solidFill>
                  <a:srgbClr val="464646"/>
                </a:solidFill>
                <a:latin typeface="Inter"/>
                <a:ea typeface="Inter"/>
                <a:cs typeface="Inter"/>
                <a:sym typeface="Inter"/>
              </a:rPr>
              <a:t>In 2013, the MITRE (</a:t>
            </a:r>
            <a:r>
              <a:rPr lang="en-US" sz="1200" b="0" i="0" dirty="0">
                <a:solidFill>
                  <a:schemeClr val="dk1"/>
                </a:solidFill>
                <a:latin typeface="Calibri"/>
                <a:ea typeface="Calibri"/>
                <a:cs typeface="Calibri"/>
                <a:sym typeface="Calibri"/>
              </a:rPr>
              <a:t>name intentionally chosen to be non-descriptive</a:t>
            </a:r>
            <a:r>
              <a:rPr lang="en-US" b="0" i="0" dirty="0">
                <a:solidFill>
                  <a:srgbClr val="464646"/>
                </a:solidFill>
                <a:latin typeface="Inter"/>
                <a:ea typeface="Inter"/>
                <a:cs typeface="Inter"/>
                <a:sym typeface="Inter"/>
              </a:rPr>
              <a:t>) Corporation published the adversarial tactics, techniques, and common knowledge or MITRE ATT&amp;CK guideline. The guideline classified and described cyberattacks and intrusions. So, like the Cyber Kill Chain, it will help to understand the attacker’s methodology, but MITRE is more than that. It is a constantly evolving resource that provides a common language and approach for understanding and mitigating cyberattacks. The matrix is organized into a series of "techniques" that describe specific tactics and methods used by attackers to compromise systems and steal or manipulate information. These techniques are grouped into categories based on the type of attack or activity being performed, such as "Initial Access", "Execution", and "Defense Evasion”.</a:t>
            </a:r>
            <a:endParaRPr lang="en-US" b="0" i="0" dirty="0">
              <a:solidFill>
                <a:srgbClr val="FFFFFF"/>
              </a:solidFill>
              <a:latin typeface="Inter"/>
              <a:ea typeface="Inter"/>
              <a:cs typeface="Inter"/>
              <a:sym typeface="Inter"/>
            </a:endParaRPr>
          </a:p>
          <a:p>
            <a:pPr marL="0" lvl="0" indent="0" algn="l" rtl="0">
              <a:lnSpc>
                <a:spcPct val="105916"/>
              </a:lnSpc>
              <a:spcBef>
                <a:spcPts val="600"/>
              </a:spcBef>
              <a:spcAft>
                <a:spcPts val="0"/>
              </a:spcAft>
              <a:buClr>
                <a:schemeClr val="dk1"/>
              </a:buClr>
              <a:buSzPts val="1200"/>
              <a:buFont typeface="Calibri"/>
              <a:buNone/>
            </a:pPr>
            <a:endParaRPr lang="en-US" b="0" i="0" dirty="0">
              <a:solidFill>
                <a:srgbClr val="FFFFFF"/>
              </a:solidFill>
              <a:latin typeface="Inter"/>
              <a:ea typeface="Inter"/>
              <a:cs typeface="Inter"/>
              <a:sym typeface="Inter"/>
            </a:endParaRPr>
          </a:p>
          <a:p>
            <a:pPr marL="0" lvl="0" indent="0" algn="l" rtl="0">
              <a:lnSpc>
                <a:spcPct val="105916"/>
              </a:lnSpc>
              <a:spcBef>
                <a:spcPts val="600"/>
              </a:spcBef>
              <a:spcAft>
                <a:spcPts val="0"/>
              </a:spcAft>
              <a:buClr>
                <a:srgbClr val="464646"/>
              </a:buClr>
              <a:buSzPts val="1200"/>
              <a:buFont typeface="Inter"/>
              <a:buNone/>
            </a:pPr>
            <a:r>
              <a:rPr lang="en-US" b="0" i="0" dirty="0">
                <a:solidFill>
                  <a:srgbClr val="464646"/>
                </a:solidFill>
                <a:latin typeface="Inter"/>
                <a:ea typeface="Inter"/>
                <a:cs typeface="Inter"/>
                <a:sym typeface="Inter"/>
              </a:rPr>
              <a:t>One of the key benefits of the MITRE ATT&amp;CK matrix is that it provides a common language and framework for discussing and analyzing cyber threats. This allows organizations to communicate and coordinate their efforts to prevent and respond to attacks more effectively. The matrix also helps organizations to identify and prioritize the most critical threats and vulnerabilities by mapping them to the appropriate techniques and categories.</a:t>
            </a:r>
            <a:endParaRPr lang="en-US" b="0" i="0" dirty="0">
              <a:solidFill>
                <a:srgbClr val="FFFFFF"/>
              </a:solidFill>
              <a:latin typeface="Inter"/>
              <a:ea typeface="Inter"/>
              <a:cs typeface="Inter"/>
              <a:sym typeface="Inter"/>
            </a:endParaRPr>
          </a:p>
          <a:p>
            <a:pPr marL="0" lvl="0" indent="0" algn="l" rtl="0">
              <a:lnSpc>
                <a:spcPct val="105916"/>
              </a:lnSpc>
              <a:spcBef>
                <a:spcPts val="600"/>
              </a:spcBef>
              <a:spcAft>
                <a:spcPts val="0"/>
              </a:spcAft>
              <a:buClr>
                <a:schemeClr val="dk1"/>
              </a:buClr>
              <a:buSzPts val="1200"/>
              <a:buFont typeface="Calibri"/>
              <a:buNone/>
            </a:pPr>
            <a:endParaRPr lang="en-US" b="0" i="0" dirty="0">
              <a:solidFill>
                <a:srgbClr val="FFFFFF"/>
              </a:solidFill>
              <a:latin typeface="Inter"/>
              <a:ea typeface="Inter"/>
              <a:cs typeface="Inter"/>
              <a:sym typeface="Inter"/>
            </a:endParaRPr>
          </a:p>
          <a:p>
            <a:pPr marL="0" lvl="0" indent="0" algn="l" rtl="0">
              <a:lnSpc>
                <a:spcPct val="105916"/>
              </a:lnSpc>
              <a:spcBef>
                <a:spcPts val="600"/>
              </a:spcBef>
              <a:spcAft>
                <a:spcPts val="0"/>
              </a:spcAft>
              <a:buNone/>
            </a:pPr>
            <a:r>
              <a:rPr lang="en-US" b="0" i="0" dirty="0">
                <a:solidFill>
                  <a:srgbClr val="464646"/>
                </a:solidFill>
                <a:latin typeface="Inter"/>
                <a:ea typeface="Inter"/>
                <a:cs typeface="Inter"/>
                <a:sym typeface="Inter"/>
              </a:rPr>
              <a:t>The matrix is also a valuable resource for security professionals because it provides a comprehensive overview of the tactics, techniques, and procedures (TTPs) used by attackers. This allows security teams to better understand the methods and motivations of attackers, and to design and implement countermeasures to prevent or mitigate attacks more effectively.</a:t>
            </a:r>
            <a:endParaRPr lang="en-US" b="0" i="0" dirty="0">
              <a:solidFill>
                <a:srgbClr val="FFFFFF"/>
              </a:solidFill>
              <a:latin typeface="Inter"/>
              <a:ea typeface="Inter"/>
              <a:cs typeface="Inter"/>
              <a:sym typeface="Inter"/>
            </a:endParaRP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b="1" dirty="0"/>
              <a:t>For Confidentiality:</a:t>
            </a:r>
            <a:endParaRPr lang="en-US" dirty="0"/>
          </a:p>
          <a:p>
            <a:pPr marL="0" lvl="0" indent="0" algn="l" rtl="0">
              <a:spcBef>
                <a:spcPts val="0"/>
              </a:spcBef>
              <a:spcAft>
                <a:spcPts val="0"/>
              </a:spcAft>
              <a:buNone/>
            </a:pPr>
            <a:r>
              <a:rPr lang="en-US" dirty="0"/>
              <a:t>Deploy </a:t>
            </a:r>
            <a:r>
              <a:rPr lang="en-US" b="1" dirty="0"/>
              <a:t>multi-factor authentication</a:t>
            </a:r>
            <a:r>
              <a:rPr lang="en-US" dirty="0"/>
              <a:t>, </a:t>
            </a:r>
            <a:r>
              <a:rPr lang="en-US" b="1" dirty="0"/>
              <a:t>data encryption</a:t>
            </a:r>
            <a:r>
              <a:rPr lang="en-US" dirty="0"/>
              <a:t>, and AI-powered anomaly detection.</a:t>
            </a:r>
          </a:p>
          <a:p>
            <a:pPr marL="0" lvl="0" indent="0" algn="l" rtl="0">
              <a:spcBef>
                <a:spcPts val="0"/>
              </a:spcBef>
              <a:spcAft>
                <a:spcPts val="0"/>
              </a:spcAft>
              <a:buNone/>
            </a:pPr>
            <a:r>
              <a:rPr lang="en-US" dirty="0"/>
              <a:t>Conduct </a:t>
            </a:r>
            <a:r>
              <a:rPr lang="en-US" b="1" dirty="0"/>
              <a:t>threat intelligence sharing</a:t>
            </a:r>
            <a:r>
              <a:rPr lang="en-US" dirty="0"/>
              <a:t> (e.g., ISACs (Information Sharing and Analysis Center), CISA (Cybersecurity and Infrastructure Security Agency) updates).</a:t>
            </a:r>
          </a:p>
          <a:p>
            <a:pPr marL="0" lvl="0" indent="0" algn="l" rtl="0">
              <a:spcBef>
                <a:spcPts val="0"/>
              </a:spcBef>
              <a:spcAft>
                <a:spcPts val="0"/>
              </a:spcAft>
              <a:buNone/>
            </a:pPr>
            <a:r>
              <a:rPr lang="en-US" b="1" dirty="0"/>
              <a:t>For Integrity:</a:t>
            </a:r>
            <a:endParaRPr lang="en-US" dirty="0"/>
          </a:p>
          <a:p>
            <a:pPr marL="0" lvl="0" indent="0" algn="l" rtl="0">
              <a:spcBef>
                <a:spcPts val="0"/>
              </a:spcBef>
              <a:spcAft>
                <a:spcPts val="0"/>
              </a:spcAft>
              <a:buNone/>
            </a:pPr>
            <a:r>
              <a:rPr lang="en-US" dirty="0"/>
              <a:t>Perform </a:t>
            </a:r>
            <a:r>
              <a:rPr lang="en-US" b="1" dirty="0"/>
              <a:t>stringent vendor audits</a:t>
            </a:r>
            <a:r>
              <a:rPr lang="en-US" dirty="0"/>
              <a:t>, </a:t>
            </a:r>
            <a:r>
              <a:rPr lang="en-US" b="1" dirty="0"/>
              <a:t>software bill-of-materials</a:t>
            </a:r>
            <a:r>
              <a:rPr lang="en-US" dirty="0"/>
              <a:t>, and code-signing checks.</a:t>
            </a:r>
          </a:p>
          <a:p>
            <a:pPr marL="0" lvl="0" indent="0" algn="l" rtl="0">
              <a:spcBef>
                <a:spcPts val="0"/>
              </a:spcBef>
              <a:spcAft>
                <a:spcPts val="0"/>
              </a:spcAft>
              <a:buNone/>
            </a:pPr>
            <a:r>
              <a:rPr lang="en-US" dirty="0"/>
              <a:t>Monitor cyber-physical systems for tampering; apply </a:t>
            </a:r>
            <a:r>
              <a:rPr lang="en-US" b="1" dirty="0"/>
              <a:t>firmware attestation</a:t>
            </a:r>
            <a:r>
              <a:rPr lang="en-US" dirty="0"/>
              <a:t>.</a:t>
            </a:r>
          </a:p>
          <a:p>
            <a:pPr marL="0" lvl="0" indent="0" algn="l" rtl="0">
              <a:spcBef>
                <a:spcPts val="0"/>
              </a:spcBef>
              <a:spcAft>
                <a:spcPts val="0"/>
              </a:spcAft>
              <a:buNone/>
            </a:pPr>
            <a:r>
              <a:rPr lang="en-US" b="1" dirty="0"/>
              <a:t>For Availability:</a:t>
            </a:r>
            <a:endParaRPr lang="en-US" dirty="0"/>
          </a:p>
          <a:p>
            <a:pPr marL="0" lvl="0" indent="0" algn="l" rtl="0">
              <a:spcBef>
                <a:spcPts val="0"/>
              </a:spcBef>
              <a:spcAft>
                <a:spcPts val="0"/>
              </a:spcAft>
              <a:buNone/>
            </a:pPr>
            <a:r>
              <a:rPr lang="en-US" dirty="0"/>
              <a:t>Maintain </a:t>
            </a:r>
            <a:r>
              <a:rPr lang="en-US" b="1" dirty="0"/>
              <a:t>robust backup and recovery</a:t>
            </a:r>
            <a:r>
              <a:rPr lang="en-US" dirty="0"/>
              <a:t> systems; plan for ransomware and extortion scenarios.</a:t>
            </a:r>
          </a:p>
          <a:p>
            <a:pPr marL="0" lvl="0" indent="0" algn="l" rtl="0">
              <a:spcBef>
                <a:spcPts val="0"/>
              </a:spcBef>
              <a:spcAft>
                <a:spcPts val="0"/>
              </a:spcAft>
              <a:buNone/>
            </a:pPr>
            <a:r>
              <a:rPr lang="en-US" dirty="0"/>
              <a:t>Use </a:t>
            </a:r>
            <a:r>
              <a:rPr lang="en-US" b="1" dirty="0"/>
              <a:t>DDoS protection</a:t>
            </a:r>
            <a:r>
              <a:rPr lang="en-US" dirty="0"/>
              <a:t>, </a:t>
            </a:r>
            <a:r>
              <a:rPr lang="en-US" b="1" dirty="0"/>
              <a:t>segmented networks</a:t>
            </a:r>
            <a:r>
              <a:rPr lang="en-US" dirty="0"/>
              <a:t>, and AI-powered response tools.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Calibri"/>
              <a:buNone/>
            </a:pPr>
            <a:r>
              <a:rPr lang="en-US" sz="1200" b="0" i="0" dirty="0">
                <a:solidFill>
                  <a:schemeClr val="dk1"/>
                </a:solidFill>
                <a:latin typeface="Calibri"/>
                <a:ea typeface="Calibri"/>
                <a:cs typeface="Calibri"/>
                <a:sym typeface="Calibri"/>
              </a:rPr>
              <a:t>Cybersecurity best practices include robust access controls, regular software updates, strong password policies, multi-factor authentication, data encryption, and comprehensive incident response plans. These practices, when implemented effectively, significantly reduce the risk of cyberattacks and data breaches.</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Use strong passwords</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Enable 2-factor authentication</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Backup data regularly</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Adopt zero-trust security principles</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Centralize security management</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Conduct regular cybersecurity audits</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Develop an incident response plan</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Encrypt files</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Avoid using public networks</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Be wary of phishing</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Disable remote connectivity</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Employ continuous vulnerability scanning and patching</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Invest in security upgrades</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Keep software up to date</a:t>
            </a:r>
            <a:endParaRPr lang="en-US" dirty="0"/>
          </a:p>
          <a:p>
            <a:pPr marL="228600" marR="0" lvl="0" indent="-228600" algn="l" rtl="0">
              <a:lnSpc>
                <a:spcPct val="100000"/>
              </a:lnSpc>
              <a:spcBef>
                <a:spcPts val="0"/>
              </a:spcBef>
              <a:spcAft>
                <a:spcPts val="0"/>
              </a:spcAft>
              <a:buClr>
                <a:srgbClr val="FFFFFF"/>
              </a:buClr>
              <a:buSzPts val="1200"/>
              <a:buFont typeface="Calibri"/>
              <a:buAutoNum type="arabicPeriod"/>
            </a:pPr>
            <a:r>
              <a:rPr lang="en-US" b="0" i="0" dirty="0">
                <a:solidFill>
                  <a:srgbClr val="FFFFFF"/>
                </a:solidFill>
                <a:latin typeface="Inter"/>
                <a:ea typeface="Inter"/>
                <a:cs typeface="Inter"/>
                <a:sym typeface="Inter"/>
              </a:rPr>
              <a:t>Educate and Train employees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Cybersecurity aligns with the major industry standards, compliance regimes, and regulatory laws by bringing structure, accountability, and enforcing best practices to security programs. Cybersecurity frameworks set the blueprint, regulations enforce action, and certifications verify adherence. Effective alignment reduces risk, controls costs, enhances trust, and builds resilient operations.</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How They Correlate &amp; Align:</a:t>
            </a:r>
            <a:endParaRPr lang="en-US" dirty="0"/>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Structure → Implementation → Proof</a:t>
            </a:r>
            <a:r>
              <a:rPr lang="en-US" dirty="0"/>
              <a:t>: Frameworks like NIST (National Institute of Standards and Technology) / ISO (International Organization for Standardization) outline </a:t>
            </a:r>
            <a:r>
              <a:rPr lang="en-US" b="1" i="1" dirty="0"/>
              <a:t>what</a:t>
            </a:r>
            <a:r>
              <a:rPr lang="en-US" dirty="0"/>
              <a:t> to do, regulations like GDPR (General Data Protection Regulation) / HIPAA (Health Insurance Portability and Accountability Act) / PCI DSS (Payment Card Industry Data Security Standard) specify </a:t>
            </a:r>
            <a:r>
              <a:rPr lang="en-US" b="1" i="1" dirty="0"/>
              <a:t>how</a:t>
            </a:r>
            <a:r>
              <a:rPr lang="en-US" b="1" dirty="0"/>
              <a:t> </a:t>
            </a:r>
            <a:r>
              <a:rPr lang="en-US" dirty="0"/>
              <a:t>and </a:t>
            </a:r>
            <a:r>
              <a:rPr lang="en-US" b="1" i="1" dirty="0"/>
              <a:t>when,</a:t>
            </a:r>
            <a:r>
              <a:rPr lang="en-US" dirty="0"/>
              <a:t> standards like Common Criteria provide </a:t>
            </a:r>
            <a:r>
              <a:rPr lang="en-US" b="1" i="1" dirty="0"/>
              <a:t>proof</a:t>
            </a:r>
            <a:r>
              <a:rPr lang="en-US" dirty="0"/>
              <a:t> through evaluation.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1" u="sng" dirty="0">
                <a:solidFill>
                  <a:schemeClr val="accent1"/>
                </a:solidFill>
                <a:latin typeface="Calibri"/>
                <a:ea typeface="Calibri"/>
                <a:cs typeface="Calibri"/>
                <a:sym typeface="Calibri"/>
              </a:rPr>
              <a:t>International Standards &amp; Frameworks:</a:t>
            </a:r>
            <a:endParaRPr lang="en-US" dirty="0"/>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ISO/IEC 27001 (ISMS)</a:t>
            </a:r>
            <a:endParaRPr lang="en-US" dirty="0"/>
          </a:p>
          <a:p>
            <a:pPr marL="0" lvl="0" indent="0" algn="l" rtl="0">
              <a:spcBef>
                <a:spcPts val="0"/>
              </a:spcBef>
              <a:spcAft>
                <a:spcPts val="0"/>
              </a:spcAft>
              <a:buNone/>
            </a:pPr>
            <a:r>
              <a:rPr lang="en-US" dirty="0"/>
              <a:t>Jointly published by International Organization for Standardization (ISO) and the International Electrotechnical Commission (IEC), provides a formal framework for establishing, operating, monitoring, reviewing, and improving the Information Security Management System (ISMS).</a:t>
            </a:r>
          </a:p>
          <a:p>
            <a:pPr marL="0" lvl="0" indent="0" algn="l" rtl="0">
              <a:spcBef>
                <a:spcPts val="0"/>
              </a:spcBef>
              <a:spcAft>
                <a:spcPts val="0"/>
              </a:spcAft>
              <a:buNone/>
            </a:pPr>
            <a:r>
              <a:rPr lang="en-US" b="1" dirty="0"/>
              <a:t>NIST Cybersecurity Framework (CSF) </a:t>
            </a:r>
          </a:p>
          <a:p>
            <a:pPr marL="0" lvl="0" indent="0" algn="l" rtl="0">
              <a:spcBef>
                <a:spcPts val="0"/>
              </a:spcBef>
              <a:spcAft>
                <a:spcPts val="0"/>
              </a:spcAft>
              <a:buNone/>
            </a:pPr>
            <a:r>
              <a:rPr lang="en-US" dirty="0"/>
              <a:t>A guideline created by the U.S. National Institute of Standards and Technology (NIST) to help organizations understand, manage, and reduce cybersecurity risks. Offers voluntary, risk-based controls across five core functions (Identify, Protect, Detect, Respond, Recover).</a:t>
            </a:r>
          </a:p>
          <a:p>
            <a:pPr marL="0" lvl="0" indent="0" algn="l" rtl="0">
              <a:spcBef>
                <a:spcPts val="0"/>
              </a:spcBef>
              <a:spcAft>
                <a:spcPts val="0"/>
              </a:spcAft>
              <a:buNone/>
            </a:pPr>
            <a:r>
              <a:rPr lang="en-US" b="1" dirty="0"/>
              <a:t>IEC 62443</a:t>
            </a:r>
            <a:endParaRPr lang="en-US" dirty="0"/>
          </a:p>
          <a:p>
            <a:pPr marL="0" lvl="0" indent="0" algn="l" rtl="0">
              <a:spcBef>
                <a:spcPts val="0"/>
              </a:spcBef>
              <a:spcAft>
                <a:spcPts val="0"/>
              </a:spcAft>
              <a:buNone/>
            </a:pPr>
            <a:r>
              <a:rPr lang="en-US" dirty="0"/>
              <a:t>Developed by the International Electrotechnical Commission (IEC). Focused on industrial automation and control systems and operational technology it mandates secure architecture, component management, and supply-chain auditing .</a:t>
            </a:r>
          </a:p>
          <a:p>
            <a:pPr marL="0" lvl="0" indent="0" algn="l" rtl="0">
              <a:spcBef>
                <a:spcPts val="0"/>
              </a:spcBef>
              <a:spcAft>
                <a:spcPts val="0"/>
              </a:spcAft>
              <a:buNone/>
            </a:pPr>
            <a:r>
              <a:rPr lang="en-US" b="1" dirty="0"/>
              <a:t>Common Criteria (ISO/IEC 15408)</a:t>
            </a:r>
            <a:endParaRPr lang="en-US" dirty="0"/>
          </a:p>
          <a:p>
            <a:pPr marL="0" lvl="0" indent="0" algn="l" rtl="0">
              <a:spcBef>
                <a:spcPts val="0"/>
              </a:spcBef>
              <a:spcAft>
                <a:spcPts val="0"/>
              </a:spcAft>
              <a:buNone/>
            </a:pPr>
            <a:r>
              <a:rPr lang="en-US" dirty="0"/>
              <a:t>ISO/IEC 15408, commonly called the Common Criteria (CC), is an international standard for evaluating the security of IT products and systems. A global standard to test and prove that a cybersecurity product is secure and trustworthy by providing a structured and repeatable process to assess, test, and certify that a product (like software, hardware, or a security device) meets specific security requirements.  </a:t>
            </a:r>
          </a:p>
          <a:p>
            <a:pPr marL="0" lvl="0" indent="0" algn="l" rtl="0">
              <a:spcBef>
                <a:spcPts val="0"/>
              </a:spcBef>
              <a:spcAft>
                <a:spcPts val="0"/>
              </a:spcAft>
              <a:buNone/>
            </a:pPr>
            <a:r>
              <a:rPr lang="en-US" b="1" dirty="0"/>
              <a:t>Cyber Essentials (UK)</a:t>
            </a:r>
            <a:endParaRPr lang="en-US" dirty="0"/>
          </a:p>
          <a:p>
            <a:pPr marL="0" lvl="0" indent="0" algn="l" rtl="0">
              <a:spcBef>
                <a:spcPts val="0"/>
              </a:spcBef>
              <a:spcAft>
                <a:spcPts val="0"/>
              </a:spcAft>
              <a:buNone/>
            </a:pPr>
            <a:r>
              <a:rPr lang="en-US" dirty="0"/>
              <a:t>Cyber Essentials is a </a:t>
            </a:r>
            <a:r>
              <a:rPr lang="en-US" b="0" dirty="0"/>
              <a:t>UK government-backed cybersecurity scheme designed to help organizations protect themselves against common cyber threats. A baseline standard that comprises of five technical controls (firewalls, patching, access, malware, config) with a Basic self assessment and a Plus certification levels through an </a:t>
            </a:r>
            <a:r>
              <a:rPr lang="en-US" dirty="0"/>
              <a:t>independent technical audit to verify security controls</a:t>
            </a:r>
            <a:r>
              <a:rPr lang="en-US" b="0" dirty="0"/>
              <a: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1" u="sng" dirty="0">
                <a:solidFill>
                  <a:schemeClr val="accent1"/>
                </a:solidFill>
                <a:latin typeface="Calibri"/>
                <a:ea typeface="Calibri"/>
                <a:cs typeface="Calibri"/>
                <a:sym typeface="Calibri"/>
              </a:rPr>
              <a:t>Regulatory Requirements &amp; Laws: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These often mandate specific security controls, reporting standards, and governance requirements:</a:t>
            </a:r>
          </a:p>
          <a:p>
            <a:pPr marL="0" lvl="0" indent="0" algn="l" rtl="0">
              <a:spcBef>
                <a:spcPts val="0"/>
              </a:spcBef>
              <a:spcAft>
                <a:spcPts val="0"/>
              </a:spcAft>
              <a:buNone/>
            </a:pPr>
            <a:r>
              <a:rPr lang="en-US" b="1" dirty="0"/>
              <a:t>GDPR (EU)</a:t>
            </a:r>
            <a:endParaRPr lang="en-US" dirty="0"/>
          </a:p>
          <a:p>
            <a:pPr marL="0" lvl="0" indent="0" algn="l" rtl="0">
              <a:spcBef>
                <a:spcPts val="0"/>
              </a:spcBef>
              <a:spcAft>
                <a:spcPts val="0"/>
              </a:spcAft>
              <a:buNone/>
            </a:pPr>
            <a:r>
              <a:rPr lang="en-US" dirty="0"/>
              <a:t>Enforces privacy-by-design, breach reporting within 72 hours, DPIAs, and data subject rights. Fines up to €20 M / 4% turnover </a:t>
            </a:r>
          </a:p>
          <a:p>
            <a:pPr marL="0" lvl="0" indent="0" algn="l" rtl="0">
              <a:spcBef>
                <a:spcPts val="0"/>
              </a:spcBef>
              <a:spcAft>
                <a:spcPts val="0"/>
              </a:spcAft>
              <a:buNone/>
            </a:pPr>
            <a:r>
              <a:rPr lang="en-US" b="1" dirty="0"/>
              <a:t>HIPAA (US)</a:t>
            </a:r>
            <a:endParaRPr lang="en-US" dirty="0"/>
          </a:p>
          <a:p>
            <a:pPr marL="0" lvl="0" indent="0" algn="l" rtl="0">
              <a:spcBef>
                <a:spcPts val="0"/>
              </a:spcBef>
              <a:spcAft>
                <a:spcPts val="0"/>
              </a:spcAft>
              <a:buNone/>
            </a:pPr>
            <a:r>
              <a:rPr lang="en-US" dirty="0"/>
              <a:t>Requires administrative, physical, and technical safeguards for PHI; breach notifications and risk assessments are foundational </a:t>
            </a:r>
          </a:p>
          <a:p>
            <a:pPr marL="0" lvl="0" indent="0" algn="l" rtl="0">
              <a:spcBef>
                <a:spcPts val="0"/>
              </a:spcBef>
              <a:spcAft>
                <a:spcPts val="0"/>
              </a:spcAft>
              <a:buNone/>
            </a:pPr>
            <a:r>
              <a:rPr lang="en-US" b="1" dirty="0"/>
              <a:t>PCI-DSS</a:t>
            </a:r>
            <a:endParaRPr lang="en-US" dirty="0"/>
          </a:p>
          <a:p>
            <a:pPr marL="0" lvl="0" indent="0" algn="l" rtl="0">
              <a:spcBef>
                <a:spcPts val="0"/>
              </a:spcBef>
              <a:spcAft>
                <a:spcPts val="0"/>
              </a:spcAft>
              <a:buNone/>
            </a:pPr>
            <a:r>
              <a:rPr lang="en-US" dirty="0"/>
              <a:t>Governs protection of cardholder data using strict encryption, network, and access controls; applies to all payment processors </a:t>
            </a:r>
          </a:p>
          <a:p>
            <a:pPr marL="0" lvl="0" indent="0" algn="l" rtl="0">
              <a:spcBef>
                <a:spcPts val="0"/>
              </a:spcBef>
              <a:spcAft>
                <a:spcPts val="0"/>
              </a:spcAft>
              <a:buNone/>
            </a:pPr>
            <a:r>
              <a:rPr lang="en-US" b="1" dirty="0"/>
              <a:t>SOX (Sarbanes-Oxley, US)</a:t>
            </a:r>
            <a:endParaRPr lang="en-US" dirty="0"/>
          </a:p>
          <a:p>
            <a:pPr marL="0" lvl="0" indent="0" algn="l" rtl="0">
              <a:spcBef>
                <a:spcPts val="0"/>
              </a:spcBef>
              <a:spcAft>
                <a:spcPts val="0"/>
              </a:spcAft>
              <a:buNone/>
            </a:pPr>
            <a:r>
              <a:rPr lang="en-US" dirty="0"/>
              <a:t>Mandates internal controls and secure financial recordkeeping; impacts IT processes, audit trails, and access monitoring </a:t>
            </a:r>
          </a:p>
          <a:p>
            <a:pPr marL="0" lvl="0" indent="0" algn="l" rtl="0">
              <a:spcBef>
                <a:spcPts val="0"/>
              </a:spcBef>
              <a:spcAft>
                <a:spcPts val="0"/>
              </a:spcAft>
              <a:buNone/>
            </a:pPr>
            <a:r>
              <a:rPr lang="en-US" b="1" dirty="0"/>
              <a:t>FISMA (US Federal)</a:t>
            </a:r>
            <a:endParaRPr lang="en-US" dirty="0"/>
          </a:p>
          <a:p>
            <a:pPr marL="0" lvl="0" indent="0" algn="l" rtl="0">
              <a:spcBef>
                <a:spcPts val="0"/>
              </a:spcBef>
              <a:spcAft>
                <a:spcPts val="0"/>
              </a:spcAft>
              <a:buNone/>
            </a:pPr>
            <a:r>
              <a:rPr lang="en-US" dirty="0"/>
              <a:t>Requires federal agencies and their contractors to follow NIST SP 800-53 controls, continuous monitoring, and risk-based governance .</a:t>
            </a:r>
          </a:p>
          <a:p>
            <a:pPr marL="0" lvl="0" indent="0" algn="l" rtl="0">
              <a:spcBef>
                <a:spcPts val="0"/>
              </a:spcBef>
              <a:spcAft>
                <a:spcPts val="0"/>
              </a:spcAft>
              <a:buNone/>
            </a:pPr>
            <a:r>
              <a:rPr lang="en-US" b="1" dirty="0"/>
              <a:t>DORA (EU Financial Resilience Act)</a:t>
            </a:r>
            <a:endParaRPr lang="en-US" dirty="0"/>
          </a:p>
          <a:p>
            <a:pPr marL="0" lvl="0" indent="0" algn="l" rtl="0">
              <a:spcBef>
                <a:spcPts val="0"/>
              </a:spcBef>
              <a:spcAft>
                <a:spcPts val="0"/>
              </a:spcAft>
              <a:buNone/>
            </a:pPr>
            <a:r>
              <a:rPr lang="en-US" dirty="0"/>
              <a:t>Applies to financial institutions, demanding robust ICT risk management, third-party oversight, and operational resilience </a:t>
            </a:r>
          </a:p>
          <a:p>
            <a:pPr marL="0" lvl="0" indent="0" algn="l" rtl="0">
              <a:spcBef>
                <a:spcPts val="0"/>
              </a:spcBef>
              <a:spcAft>
                <a:spcPts val="0"/>
              </a:spcAft>
              <a:buNone/>
            </a:pPr>
            <a:r>
              <a:rPr lang="en-US" b="1" dirty="0"/>
              <a:t>NIS2 Directive (EU)</a:t>
            </a:r>
            <a:endParaRPr lang="en-US" dirty="0"/>
          </a:p>
          <a:p>
            <a:pPr marL="0" lvl="0" indent="0" algn="l" rtl="0">
              <a:spcBef>
                <a:spcPts val="0"/>
              </a:spcBef>
              <a:spcAft>
                <a:spcPts val="0"/>
              </a:spcAft>
              <a:buNone/>
            </a:pPr>
            <a:r>
              <a:rPr lang="en-US" dirty="0"/>
              <a:t>Tightens cybersecurity mandates for critical infrastructure and digital service providers, emphasizing maturity and incident transparency </a:t>
            </a:r>
          </a:p>
          <a:p>
            <a:pPr marL="0" lvl="0" indent="0" algn="l" rtl="0">
              <a:spcBef>
                <a:spcPts val="0"/>
              </a:spcBef>
              <a:spcAft>
                <a:spcPts val="0"/>
              </a:spcAft>
              <a:buNone/>
            </a:pPr>
            <a:r>
              <a:rPr lang="en-US" b="1" dirty="0"/>
              <a:t>Cyber Resilience Act (EU CRA)</a:t>
            </a:r>
            <a:endParaRPr lang="en-US" dirty="0"/>
          </a:p>
          <a:p>
            <a:pPr marL="0" lvl="0" indent="0" algn="l" rtl="0">
              <a:spcBef>
                <a:spcPts val="0"/>
              </a:spcBef>
              <a:spcAft>
                <a:spcPts val="0"/>
              </a:spcAft>
              <a:buNone/>
            </a:pPr>
            <a:r>
              <a:rPr lang="en-US" dirty="0"/>
              <a:t>Enforces cybersecurity obligations on manufacturers of connected products, including vulnerability management and secure development lifecycles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Cybersecurity is typically organized into several </a:t>
            </a:r>
            <a:r>
              <a:rPr lang="en-US" b="0" dirty="0"/>
              <a:t>domains </a:t>
            </a:r>
            <a:r>
              <a:rPr lang="en-US" dirty="0"/>
              <a:t>with each domain representing specific area of security &amp; protection, control, and governance. Let us see the </a:t>
            </a:r>
            <a:r>
              <a:rPr lang="en-US" b="0" dirty="0"/>
              <a:t>major cybersecurity domains which are </a:t>
            </a:r>
            <a:r>
              <a:rPr lang="en-US" dirty="0"/>
              <a:t>commonly recognized across different frameworks like </a:t>
            </a:r>
            <a:r>
              <a:rPr lang="en-US" b="1" dirty="0"/>
              <a:t>NIST, ISO 27001, CIS and CSA.</a:t>
            </a:r>
          </a:p>
          <a:p>
            <a:pPr marL="0" lvl="0" indent="0" algn="l" rtl="0">
              <a:spcBef>
                <a:spcPts val="0"/>
              </a:spcBef>
              <a:spcAft>
                <a:spcPts val="0"/>
              </a:spcAft>
              <a:buNone/>
            </a:pPr>
            <a:endParaRPr lang="en-US" b="1" dirty="0"/>
          </a:p>
          <a:p>
            <a:pPr marL="228600" lvl="0" indent="-228600" algn="l" rtl="0">
              <a:spcBef>
                <a:spcPts val="0"/>
              </a:spcBef>
              <a:spcAft>
                <a:spcPts val="0"/>
              </a:spcAft>
              <a:buFont typeface="+mj-lt"/>
              <a:buAutoNum type="arabicPeriod"/>
            </a:pPr>
            <a:r>
              <a:rPr lang="en-US" b="1" dirty="0"/>
              <a:t>Governance, Risk &amp; Compliance (GRC): </a:t>
            </a:r>
            <a:r>
              <a:rPr lang="en-US" b="0" dirty="0"/>
              <a:t>This domain is a coordinated framework that integrates an organization's governance, risk management, and compliance covering the below points:</a:t>
            </a:r>
          </a:p>
          <a:p>
            <a:pPr marL="742950" marR="0" lvl="1" indent="-285750" algn="l" rtl="0">
              <a:lnSpc>
                <a:spcPct val="100000"/>
              </a:lnSpc>
              <a:spcBef>
                <a:spcPts val="0"/>
              </a:spcBef>
              <a:spcAft>
                <a:spcPts val="0"/>
              </a:spcAft>
              <a:buClr>
                <a:srgbClr val="000000"/>
              </a:buClr>
              <a:buSzPts val="1400"/>
              <a:buFont typeface="+mj-lt"/>
              <a:buAutoNum type="romanLcPeriod"/>
            </a:pPr>
            <a:r>
              <a:rPr lang="en-US" sz="1200" b="0" i="0" u="none" strike="noStrike" cap="none" dirty="0">
                <a:solidFill>
                  <a:schemeClr val="dk1"/>
                </a:solidFill>
                <a:latin typeface="Calibri"/>
                <a:ea typeface="Calibri"/>
                <a:cs typeface="Calibri"/>
                <a:sym typeface="Calibri"/>
              </a:rPr>
              <a:t>Establishing cybersecurity policies, standards, and procedures</a:t>
            </a:r>
          </a:p>
          <a:p>
            <a:pPr marL="742950" lvl="1" indent="-285750" algn="l" rtl="0">
              <a:spcBef>
                <a:spcPts val="0"/>
              </a:spcBef>
              <a:spcAft>
                <a:spcPts val="0"/>
              </a:spcAft>
              <a:buFont typeface="+mj-lt"/>
              <a:buAutoNum type="romanLcPeriod"/>
            </a:pPr>
            <a:r>
              <a:rPr lang="en-US" dirty="0"/>
              <a:t>Risk assessment and mitigation strategies</a:t>
            </a:r>
          </a:p>
          <a:p>
            <a:pPr marL="742950" lvl="1" indent="-285750" algn="l" rtl="0">
              <a:spcBef>
                <a:spcPts val="0"/>
              </a:spcBef>
              <a:spcAft>
                <a:spcPts val="0"/>
              </a:spcAft>
              <a:buFont typeface="+mj-lt"/>
              <a:buAutoNum type="romanLcPeriod"/>
            </a:pPr>
            <a:r>
              <a:rPr lang="en-US" dirty="0"/>
              <a:t>Legal and regulatory compliance (e.g., DPDPA, GDPR, HIPAA)</a:t>
            </a:r>
          </a:p>
          <a:p>
            <a:pPr marL="742950" lvl="1" indent="-285750" algn="l" rtl="0">
              <a:spcBef>
                <a:spcPts val="0"/>
              </a:spcBef>
              <a:spcAft>
                <a:spcPts val="0"/>
              </a:spcAft>
              <a:buFont typeface="+mj-lt"/>
              <a:buAutoNum type="romanLcPeriod"/>
            </a:pPr>
            <a:r>
              <a:rPr lang="en-US" dirty="0"/>
              <a:t>Security governance frameworks (e.g., ISO 27001, NIST CSF)</a:t>
            </a:r>
            <a:endParaRPr lang="en-US" sz="1200" b="0" i="0" u="none" strike="noStrike" cap="none" dirty="0">
              <a:solidFill>
                <a:schemeClr val="dk1"/>
              </a:solidFill>
              <a:latin typeface="Calibri"/>
              <a:ea typeface="Calibri"/>
              <a:cs typeface="Calibri"/>
              <a:sym typeface="Calibri"/>
            </a:endParaRPr>
          </a:p>
          <a:p>
            <a:pPr marL="285750" lvl="0" indent="-285750" algn="l" rtl="0">
              <a:spcBef>
                <a:spcPts val="0"/>
              </a:spcBef>
              <a:spcAft>
                <a:spcPts val="0"/>
              </a:spcAft>
              <a:buFont typeface="+mj-lt"/>
              <a:buAutoNum type="arabicPeriod"/>
            </a:pPr>
            <a:r>
              <a:rPr lang="en-US" sz="1200" b="1" i="0" u="none" strike="noStrike" cap="none" dirty="0">
                <a:solidFill>
                  <a:schemeClr val="dk1"/>
                </a:solidFill>
                <a:latin typeface="Calibri"/>
                <a:ea typeface="Calibri"/>
                <a:cs typeface="Calibri"/>
                <a:sym typeface="Calibri"/>
              </a:rPr>
              <a:t>Identity &amp; Access Management (IAM): </a:t>
            </a:r>
            <a:r>
              <a:rPr lang="en-US" sz="1200" b="0" i="0" u="none" strike="noStrike" cap="none" dirty="0">
                <a:solidFill>
                  <a:schemeClr val="dk1"/>
                </a:solidFill>
                <a:latin typeface="Calibri"/>
                <a:ea typeface="Calibri"/>
                <a:cs typeface="Calibri"/>
                <a:sym typeface="Calibri"/>
              </a:rPr>
              <a:t>This is a cybersecurity framework of policies, processes, and technologies that ensures the right people, machines, and software components have the right access to digital resources at the right times and covers the below scope:</a:t>
            </a:r>
          </a:p>
          <a:p>
            <a:pPr marL="742950" marR="0" lvl="1" indent="-285750" algn="l" rtl="0">
              <a:lnSpc>
                <a:spcPct val="100000"/>
              </a:lnSpc>
              <a:spcBef>
                <a:spcPts val="0"/>
              </a:spcBef>
              <a:spcAft>
                <a:spcPts val="0"/>
              </a:spcAft>
              <a:buClr>
                <a:srgbClr val="000000"/>
              </a:buClr>
              <a:buSzPts val="1400"/>
              <a:buFont typeface="+mj-lt"/>
              <a:buAutoNum type="romanLcPeriod"/>
            </a:pPr>
            <a:r>
              <a:rPr lang="en-US" sz="1200" b="0" i="0" u="none" strike="noStrike" cap="none" dirty="0">
                <a:solidFill>
                  <a:schemeClr val="dk1"/>
                </a:solidFill>
                <a:latin typeface="Calibri"/>
                <a:ea typeface="Calibri"/>
                <a:cs typeface="Calibri"/>
                <a:sym typeface="Calibri"/>
              </a:rPr>
              <a:t>User authentication and authorization</a:t>
            </a:r>
          </a:p>
          <a:p>
            <a:pPr marL="742950" marR="0" lvl="1" indent="-285750" algn="l" rtl="0">
              <a:lnSpc>
                <a:spcPct val="100000"/>
              </a:lnSpc>
              <a:spcBef>
                <a:spcPts val="0"/>
              </a:spcBef>
              <a:spcAft>
                <a:spcPts val="0"/>
              </a:spcAft>
              <a:buClr>
                <a:srgbClr val="000000"/>
              </a:buClr>
              <a:buSzPts val="1400"/>
              <a:buFont typeface="+mj-lt"/>
              <a:buAutoNum type="romanLcPeriod"/>
            </a:pPr>
            <a:r>
              <a:rPr lang="en-US" sz="1200" b="0" i="0" u="none" strike="noStrike" cap="none" dirty="0">
                <a:solidFill>
                  <a:schemeClr val="dk1"/>
                </a:solidFill>
                <a:latin typeface="Calibri"/>
                <a:ea typeface="Calibri"/>
                <a:cs typeface="Calibri"/>
                <a:sym typeface="Calibri"/>
              </a:rPr>
              <a:t>Privileged access management</a:t>
            </a:r>
          </a:p>
          <a:p>
            <a:pPr marL="742950" marR="0" lvl="1" indent="-285750" algn="l" rtl="0">
              <a:lnSpc>
                <a:spcPct val="100000"/>
              </a:lnSpc>
              <a:spcBef>
                <a:spcPts val="0"/>
              </a:spcBef>
              <a:spcAft>
                <a:spcPts val="0"/>
              </a:spcAft>
              <a:buClr>
                <a:srgbClr val="000000"/>
              </a:buClr>
              <a:buSzPts val="1400"/>
              <a:buFont typeface="+mj-lt"/>
              <a:buAutoNum type="romanLcPeriod"/>
            </a:pPr>
            <a:r>
              <a:rPr lang="en-US" sz="1200" b="0" i="0" u="none" strike="noStrike" cap="none" dirty="0">
                <a:solidFill>
                  <a:schemeClr val="dk1"/>
                </a:solidFill>
                <a:latin typeface="Calibri"/>
                <a:ea typeface="Calibri"/>
                <a:cs typeface="Calibri"/>
                <a:sym typeface="Calibri"/>
              </a:rPr>
              <a:t>Multi-factor authentication (MFA)</a:t>
            </a:r>
          </a:p>
          <a:p>
            <a:pPr marL="742950" marR="0" lvl="1" indent="-285750" algn="l" rtl="0">
              <a:lnSpc>
                <a:spcPct val="100000"/>
              </a:lnSpc>
              <a:spcBef>
                <a:spcPts val="0"/>
              </a:spcBef>
              <a:spcAft>
                <a:spcPts val="0"/>
              </a:spcAft>
              <a:buClr>
                <a:srgbClr val="000000"/>
              </a:buClr>
              <a:buSzPts val="1400"/>
              <a:buFont typeface="+mj-lt"/>
              <a:buAutoNum type="romanLcPeriod"/>
            </a:pPr>
            <a:r>
              <a:rPr lang="en-US" sz="1200" b="0" i="0" u="none" strike="noStrike" cap="none" dirty="0">
                <a:solidFill>
                  <a:schemeClr val="dk1"/>
                </a:solidFill>
                <a:latin typeface="Calibri"/>
                <a:ea typeface="Calibri"/>
                <a:cs typeface="Calibri"/>
                <a:sym typeface="Calibri"/>
              </a:rPr>
              <a:t>Role-based and least-privilege access control</a:t>
            </a:r>
          </a:p>
          <a:p>
            <a:pPr marL="285750" marR="0" lvl="0" indent="-285750" algn="l" rtl="0">
              <a:lnSpc>
                <a:spcPct val="100000"/>
              </a:lnSpc>
              <a:spcBef>
                <a:spcPts val="0"/>
              </a:spcBef>
              <a:spcAft>
                <a:spcPts val="0"/>
              </a:spcAft>
              <a:buClr>
                <a:srgbClr val="000000"/>
              </a:buClr>
              <a:buSzPts val="1400"/>
              <a:buFont typeface="+mj-lt"/>
              <a:buAutoNum type="arabicPeriod" startAt="3"/>
            </a:pPr>
            <a:r>
              <a:rPr lang="en-US" sz="1200" b="1" i="0" u="none" strike="noStrike" cap="none" dirty="0">
                <a:solidFill>
                  <a:schemeClr val="dk1"/>
                </a:solidFill>
                <a:latin typeface="Calibri"/>
                <a:ea typeface="Calibri"/>
                <a:cs typeface="Calibri"/>
                <a:sym typeface="Calibri"/>
              </a:rPr>
              <a:t>Data Protection &amp; Privacy:</a:t>
            </a:r>
            <a:r>
              <a:rPr lang="en-US" sz="1200" b="0" i="0" u="none" strike="noStrike" cap="none" dirty="0">
                <a:solidFill>
                  <a:schemeClr val="dk1"/>
                </a:solidFill>
                <a:latin typeface="Calibri"/>
                <a:ea typeface="Calibri"/>
                <a:cs typeface="Calibri"/>
                <a:sym typeface="Calibri"/>
              </a:rPr>
              <a:t> This domain specifically focusses to protect data from unauthorized access, corruption, loss, theft, or destruction and ensure sensitive personal information is handled ethically, legally, and in line with individuals' rights and consent. These includes the below sub domains:</a:t>
            </a:r>
          </a:p>
          <a:p>
            <a:pPr marL="742950" marR="0" lvl="1" indent="-285750" algn="l" rtl="0">
              <a:lnSpc>
                <a:spcPct val="100000"/>
              </a:lnSpc>
              <a:spcBef>
                <a:spcPts val="0"/>
              </a:spcBef>
              <a:spcAft>
                <a:spcPts val="0"/>
              </a:spcAft>
              <a:buClr>
                <a:srgbClr val="000000"/>
              </a:buClr>
              <a:buSzPts val="1400"/>
              <a:buFont typeface="+mj-lt"/>
              <a:buAutoNum type="arabicPeriod" startAt="3"/>
            </a:pPr>
            <a:r>
              <a:rPr lang="en-US" sz="1200" b="0" i="0" u="none" strike="noStrike" cap="none" dirty="0">
                <a:solidFill>
                  <a:schemeClr val="dk1"/>
                </a:solidFill>
                <a:latin typeface="Calibri"/>
                <a:ea typeface="Calibri"/>
                <a:cs typeface="Calibri"/>
                <a:sym typeface="Calibri"/>
              </a:rPr>
              <a:t>Data classification and lifecycle management</a:t>
            </a:r>
          </a:p>
          <a:p>
            <a:pPr marL="742950" marR="0" lvl="1" indent="-285750" algn="l" rtl="0">
              <a:lnSpc>
                <a:spcPct val="100000"/>
              </a:lnSpc>
              <a:spcBef>
                <a:spcPts val="0"/>
              </a:spcBef>
              <a:spcAft>
                <a:spcPts val="0"/>
              </a:spcAft>
              <a:buClr>
                <a:srgbClr val="000000"/>
              </a:buClr>
              <a:buSzPts val="1400"/>
              <a:buFont typeface="+mj-lt"/>
              <a:buAutoNum type="arabicPeriod" startAt="3"/>
            </a:pPr>
            <a:r>
              <a:rPr lang="en-US" sz="1200" b="0" i="0" u="none" strike="noStrike" cap="none" dirty="0">
                <a:solidFill>
                  <a:schemeClr val="dk1"/>
                </a:solidFill>
                <a:latin typeface="Calibri"/>
                <a:ea typeface="Calibri"/>
                <a:cs typeface="Calibri"/>
                <a:sym typeface="Calibri"/>
              </a:rPr>
              <a:t>Encryption (at rest, in transit, in use)</a:t>
            </a:r>
          </a:p>
          <a:p>
            <a:pPr marL="742950" marR="0" lvl="1" indent="-285750" algn="l" rtl="0">
              <a:lnSpc>
                <a:spcPct val="100000"/>
              </a:lnSpc>
              <a:spcBef>
                <a:spcPts val="0"/>
              </a:spcBef>
              <a:spcAft>
                <a:spcPts val="0"/>
              </a:spcAft>
              <a:buClr>
                <a:srgbClr val="000000"/>
              </a:buClr>
              <a:buSzPts val="1400"/>
              <a:buFont typeface="+mj-lt"/>
              <a:buAutoNum type="arabicPeriod" startAt="3"/>
            </a:pPr>
            <a:r>
              <a:rPr lang="en-US" sz="1200" b="0" i="0" u="none" strike="noStrike" cap="none" dirty="0">
                <a:solidFill>
                  <a:schemeClr val="dk1"/>
                </a:solidFill>
                <a:latin typeface="Calibri"/>
                <a:ea typeface="Calibri"/>
                <a:cs typeface="Calibri"/>
                <a:sym typeface="Calibri"/>
              </a:rPr>
              <a:t>Data loss prevention (DLP)</a:t>
            </a:r>
          </a:p>
          <a:p>
            <a:pPr marL="742950" marR="0" lvl="1" indent="-285750" algn="l" rtl="0">
              <a:lnSpc>
                <a:spcPct val="100000"/>
              </a:lnSpc>
              <a:spcBef>
                <a:spcPts val="0"/>
              </a:spcBef>
              <a:spcAft>
                <a:spcPts val="0"/>
              </a:spcAft>
              <a:buClr>
                <a:srgbClr val="000000"/>
              </a:buClr>
              <a:buSzPts val="1400"/>
              <a:buFont typeface="+mj-lt"/>
              <a:buAutoNum type="arabicPeriod" startAt="3"/>
            </a:pPr>
            <a:r>
              <a:rPr lang="en-US" sz="1200" b="0" i="0" u="none" strike="noStrike" cap="none" dirty="0">
                <a:solidFill>
                  <a:schemeClr val="dk1"/>
                </a:solidFill>
                <a:latin typeface="Calibri"/>
                <a:ea typeface="Calibri"/>
                <a:cs typeface="Calibri"/>
                <a:sym typeface="Calibri"/>
              </a:rPr>
              <a:t>Privacy by design and personal data handling</a:t>
            </a:r>
          </a:p>
          <a:p>
            <a:pPr marL="285750" marR="0" lvl="0" indent="-285750" algn="l" rtl="0">
              <a:lnSpc>
                <a:spcPct val="100000"/>
              </a:lnSpc>
              <a:spcBef>
                <a:spcPts val="0"/>
              </a:spcBef>
              <a:spcAft>
                <a:spcPts val="0"/>
              </a:spcAft>
              <a:buClr>
                <a:srgbClr val="000000"/>
              </a:buClr>
              <a:buSzPts val="1400"/>
              <a:buFont typeface="+mj-lt"/>
              <a:buAutoNum type="arabicPeriod" startAt="4"/>
            </a:pPr>
            <a:r>
              <a:rPr lang="en-US" sz="1200" b="1" i="0" u="none" strike="noStrike" cap="none" dirty="0">
                <a:solidFill>
                  <a:schemeClr val="dk1"/>
                </a:solidFill>
                <a:latin typeface="Calibri"/>
                <a:ea typeface="Calibri"/>
                <a:cs typeface="Calibri"/>
                <a:sym typeface="Calibri"/>
              </a:rPr>
              <a:t>Infrastructure Security:</a:t>
            </a:r>
            <a:r>
              <a:rPr lang="en-US" sz="1200" b="0" i="0" u="none" strike="noStrike" cap="none" dirty="0">
                <a:solidFill>
                  <a:schemeClr val="dk1"/>
                </a:solidFill>
                <a:latin typeface="Calibri"/>
                <a:ea typeface="Calibri"/>
                <a:cs typeface="Calibri"/>
                <a:sym typeface="Calibri"/>
              </a:rPr>
              <a:t> In Cybersecurity this domain scopes to protect an organization's physical and digital assets, including hardware, software, networks, and data centers, from both cyber and physical threats and covers the below sub domains:</a:t>
            </a:r>
            <a:endParaRPr lang="en-US" sz="1200" b="1" i="0" u="none" strike="noStrike" cap="none" dirty="0">
              <a:solidFill>
                <a:schemeClr val="dk1"/>
              </a:solidFill>
              <a:latin typeface="Calibri"/>
              <a:ea typeface="Calibri"/>
              <a:cs typeface="Calibri"/>
              <a:sym typeface="Calibri"/>
            </a:endParaRPr>
          </a:p>
          <a:p>
            <a:pPr marL="742950" marR="0" lvl="1" indent="-285750" algn="l" rtl="0">
              <a:lnSpc>
                <a:spcPct val="100000"/>
              </a:lnSpc>
              <a:spcBef>
                <a:spcPts val="0"/>
              </a:spcBef>
              <a:spcAft>
                <a:spcPts val="0"/>
              </a:spcAft>
              <a:buClr>
                <a:srgbClr val="000000"/>
              </a:buClr>
              <a:buSzPts val="1400"/>
              <a:buFont typeface="+mj-lt"/>
              <a:buAutoNum type="arabicPeriod" startAt="4"/>
            </a:pPr>
            <a:r>
              <a:rPr lang="en-US" sz="1200" b="1" i="0" u="none" strike="noStrike" cap="none" dirty="0">
                <a:solidFill>
                  <a:schemeClr val="dk1"/>
                </a:solidFill>
                <a:latin typeface="Calibri"/>
                <a:ea typeface="Calibri"/>
                <a:cs typeface="Calibri"/>
                <a:sym typeface="Calibri"/>
              </a:rPr>
              <a:t>Network Security: </a:t>
            </a:r>
            <a:r>
              <a:rPr lang="en-US" sz="1200" b="0" i="0" u="none" strike="noStrike" cap="none" dirty="0">
                <a:solidFill>
                  <a:schemeClr val="dk1"/>
                </a:solidFill>
                <a:latin typeface="Calibri"/>
                <a:ea typeface="Calibri"/>
                <a:cs typeface="Calibri"/>
                <a:sym typeface="Calibri"/>
              </a:rPr>
              <a:t>Firewalls, IDS/IPS, segmentation</a:t>
            </a:r>
          </a:p>
          <a:p>
            <a:pPr marL="742950" marR="0" lvl="1" indent="-285750" algn="l" rtl="0">
              <a:lnSpc>
                <a:spcPct val="100000"/>
              </a:lnSpc>
              <a:spcBef>
                <a:spcPts val="0"/>
              </a:spcBef>
              <a:spcAft>
                <a:spcPts val="0"/>
              </a:spcAft>
              <a:buClr>
                <a:srgbClr val="000000"/>
              </a:buClr>
              <a:buSzPts val="1400"/>
              <a:buFont typeface="+mj-lt"/>
              <a:buAutoNum type="arabicPeriod" startAt="4"/>
            </a:pPr>
            <a:r>
              <a:rPr lang="en-US" sz="1200" b="1" i="0" u="none" strike="noStrike" cap="none" dirty="0">
                <a:solidFill>
                  <a:schemeClr val="dk1"/>
                </a:solidFill>
                <a:latin typeface="Calibri"/>
                <a:ea typeface="Calibri"/>
                <a:cs typeface="Calibri"/>
                <a:sym typeface="Calibri"/>
              </a:rPr>
              <a:t>Compute &amp; Storage Security: </a:t>
            </a:r>
            <a:r>
              <a:rPr lang="en-US" sz="1200" b="0" i="0" u="none" strike="noStrike" cap="none" dirty="0">
                <a:solidFill>
                  <a:schemeClr val="dk1"/>
                </a:solidFill>
                <a:latin typeface="Calibri"/>
                <a:ea typeface="Calibri"/>
                <a:cs typeface="Calibri"/>
                <a:sym typeface="Calibri"/>
              </a:rPr>
              <a:t>Hardening servers, VMs, and containers</a:t>
            </a:r>
          </a:p>
          <a:p>
            <a:pPr marL="742950" marR="0" lvl="1" indent="-285750" algn="l" rtl="0">
              <a:lnSpc>
                <a:spcPct val="100000"/>
              </a:lnSpc>
              <a:spcBef>
                <a:spcPts val="0"/>
              </a:spcBef>
              <a:spcAft>
                <a:spcPts val="0"/>
              </a:spcAft>
              <a:buClr>
                <a:srgbClr val="000000"/>
              </a:buClr>
              <a:buSzPts val="1400"/>
              <a:buFont typeface="+mj-lt"/>
              <a:buAutoNum type="arabicPeriod" startAt="4"/>
            </a:pPr>
            <a:r>
              <a:rPr lang="en-US" sz="1200" b="1" i="0" u="none" strike="noStrike" cap="none" dirty="0">
                <a:solidFill>
                  <a:schemeClr val="dk1"/>
                </a:solidFill>
                <a:latin typeface="Calibri"/>
                <a:ea typeface="Calibri"/>
                <a:cs typeface="Calibri"/>
                <a:sym typeface="Calibri"/>
              </a:rPr>
              <a:t>Endpoint Protection: </a:t>
            </a:r>
            <a:r>
              <a:rPr lang="en-US" sz="1200" b="0" i="0" u="none" strike="noStrike" cap="none" dirty="0">
                <a:solidFill>
                  <a:schemeClr val="dk1"/>
                </a:solidFill>
                <a:latin typeface="Calibri"/>
                <a:ea typeface="Calibri"/>
                <a:cs typeface="Calibri"/>
                <a:sym typeface="Calibri"/>
              </a:rPr>
              <a:t>Antivirus, EDR, patch management</a:t>
            </a:r>
          </a:p>
          <a:p>
            <a:pPr marL="742950" marR="0" lvl="1" indent="-285750" algn="l" rtl="0">
              <a:lnSpc>
                <a:spcPct val="100000"/>
              </a:lnSpc>
              <a:spcBef>
                <a:spcPts val="0"/>
              </a:spcBef>
              <a:spcAft>
                <a:spcPts val="0"/>
              </a:spcAft>
              <a:buClr>
                <a:srgbClr val="000000"/>
              </a:buClr>
              <a:buSzPts val="1400"/>
              <a:buFont typeface="+mj-lt"/>
              <a:buAutoNum type="arabicPeriod" startAt="4"/>
            </a:pPr>
            <a:r>
              <a:rPr lang="en-US" sz="1200" b="1" i="0" u="none" strike="noStrike" cap="none" dirty="0">
                <a:solidFill>
                  <a:schemeClr val="dk1"/>
                </a:solidFill>
                <a:latin typeface="Calibri"/>
                <a:ea typeface="Calibri"/>
                <a:cs typeface="Calibri"/>
                <a:sym typeface="Calibri"/>
              </a:rPr>
              <a:t>Secure configuration and monitoring</a:t>
            </a:r>
          </a:p>
          <a:p>
            <a:pPr marL="285750" marR="0" lvl="0" indent="-285750" algn="l" rtl="0">
              <a:lnSpc>
                <a:spcPct val="100000"/>
              </a:lnSpc>
              <a:spcBef>
                <a:spcPts val="0"/>
              </a:spcBef>
              <a:spcAft>
                <a:spcPts val="0"/>
              </a:spcAft>
              <a:buClr>
                <a:srgbClr val="000000"/>
              </a:buClr>
              <a:buSzPts val="1400"/>
              <a:buFont typeface="+mj-lt"/>
              <a:buAutoNum type="arabicPeriod" startAt="5"/>
            </a:pPr>
            <a:r>
              <a:rPr lang="en-US" sz="1200" b="1" i="0" u="none" strike="noStrike" cap="none" dirty="0">
                <a:solidFill>
                  <a:schemeClr val="dk1"/>
                </a:solidFill>
                <a:latin typeface="Calibri"/>
                <a:ea typeface="Calibri"/>
                <a:cs typeface="Calibri"/>
                <a:sym typeface="Calibri"/>
              </a:rPr>
              <a:t>Business Continuity &amp; Resilience:</a:t>
            </a:r>
            <a:r>
              <a:rPr lang="en-US" sz="1200" b="0" i="0" u="none" strike="noStrike" cap="none" dirty="0">
                <a:solidFill>
                  <a:schemeClr val="dk1"/>
                </a:solidFill>
                <a:latin typeface="Calibri"/>
                <a:ea typeface="Calibri"/>
                <a:cs typeface="Calibri"/>
                <a:sym typeface="Calibri"/>
              </a:rPr>
              <a:t> This domain focuses on ensuring that an organization can continue its critical operations and recover quickly in the event of a cyber incident, disaster, or system failure and constitutes the below domains:</a:t>
            </a:r>
            <a:endParaRPr lang="en-US" sz="1200" b="1" i="0" u="none" strike="noStrike" cap="none" dirty="0">
              <a:solidFill>
                <a:schemeClr val="dk1"/>
              </a:solidFill>
              <a:latin typeface="Calibri"/>
              <a:ea typeface="Calibri"/>
              <a:cs typeface="Calibri"/>
              <a:sym typeface="Calibri"/>
            </a:endParaRPr>
          </a:p>
          <a:p>
            <a:pPr marL="742950" marR="0" lvl="1" indent="-285750" algn="l" rtl="0">
              <a:lnSpc>
                <a:spcPct val="100000"/>
              </a:lnSpc>
              <a:spcBef>
                <a:spcPts val="0"/>
              </a:spcBef>
              <a:spcAft>
                <a:spcPts val="0"/>
              </a:spcAft>
              <a:buClr>
                <a:srgbClr val="000000"/>
              </a:buClr>
              <a:buSzPts val="1400"/>
              <a:buFont typeface="+mj-lt"/>
              <a:buAutoNum type="arabicPeriod" startAt="5"/>
            </a:pPr>
            <a:r>
              <a:rPr lang="en-US" sz="1200" b="0" i="0" u="none" strike="noStrike" cap="none" dirty="0">
                <a:solidFill>
                  <a:schemeClr val="dk1"/>
                </a:solidFill>
                <a:latin typeface="Calibri"/>
                <a:ea typeface="Calibri"/>
                <a:cs typeface="Calibri"/>
                <a:sym typeface="Calibri"/>
              </a:rPr>
              <a:t>Disaster Recovery (DR) and backup strategies</a:t>
            </a:r>
          </a:p>
          <a:p>
            <a:pPr marL="742950" marR="0" lvl="1" indent="-285750" algn="l" rtl="0">
              <a:lnSpc>
                <a:spcPct val="100000"/>
              </a:lnSpc>
              <a:spcBef>
                <a:spcPts val="0"/>
              </a:spcBef>
              <a:spcAft>
                <a:spcPts val="0"/>
              </a:spcAft>
              <a:buClr>
                <a:srgbClr val="000000"/>
              </a:buClr>
              <a:buSzPts val="1400"/>
              <a:buFont typeface="+mj-lt"/>
              <a:buAutoNum type="arabicPeriod" startAt="5"/>
            </a:pPr>
            <a:r>
              <a:rPr lang="en-US" sz="1200" b="0" i="0" u="none" strike="noStrike" cap="none" dirty="0">
                <a:solidFill>
                  <a:schemeClr val="dk1"/>
                </a:solidFill>
                <a:latin typeface="Calibri"/>
                <a:ea typeface="Calibri"/>
                <a:cs typeface="Calibri"/>
                <a:sym typeface="Calibri"/>
              </a:rPr>
              <a:t>Continuity of critical business functions</a:t>
            </a:r>
          </a:p>
          <a:p>
            <a:pPr marL="742950" marR="0" lvl="1" indent="-285750" algn="l" rtl="0">
              <a:lnSpc>
                <a:spcPct val="100000"/>
              </a:lnSpc>
              <a:spcBef>
                <a:spcPts val="0"/>
              </a:spcBef>
              <a:spcAft>
                <a:spcPts val="0"/>
              </a:spcAft>
              <a:buClr>
                <a:srgbClr val="000000"/>
              </a:buClr>
              <a:buSzPts val="1400"/>
              <a:buFont typeface="+mj-lt"/>
              <a:buAutoNum type="arabicPeriod" startAt="5"/>
            </a:pPr>
            <a:r>
              <a:rPr lang="en-US" sz="1200" b="0" i="0" u="none" strike="noStrike" cap="none" dirty="0">
                <a:solidFill>
                  <a:schemeClr val="dk1"/>
                </a:solidFill>
                <a:latin typeface="Calibri"/>
                <a:ea typeface="Calibri"/>
                <a:cs typeface="Calibri"/>
                <a:sym typeface="Calibri"/>
              </a:rPr>
              <a:t>Crisis management and recovery testing</a:t>
            </a:r>
          </a:p>
          <a:p>
            <a:pPr marL="285750" marR="0" lvl="0" indent="-285750" algn="l" rtl="0">
              <a:lnSpc>
                <a:spcPct val="100000"/>
              </a:lnSpc>
              <a:spcBef>
                <a:spcPts val="0"/>
              </a:spcBef>
              <a:spcAft>
                <a:spcPts val="0"/>
              </a:spcAft>
              <a:buClr>
                <a:srgbClr val="000000"/>
              </a:buClr>
              <a:buSzPts val="1400"/>
              <a:buFont typeface="+mj-lt"/>
              <a:buAutoNum type="arabicPeriod" startAt="6"/>
            </a:pPr>
            <a:r>
              <a:rPr lang="en-US" sz="1200" b="1" i="0" u="none" strike="noStrike" cap="none" dirty="0">
                <a:solidFill>
                  <a:schemeClr val="dk1"/>
                </a:solidFill>
                <a:latin typeface="Calibri"/>
                <a:ea typeface="Calibri"/>
                <a:cs typeface="Calibri"/>
                <a:sym typeface="Calibri"/>
              </a:rPr>
              <a:t>Monitoring, Logging &amp; Incident Response: </a:t>
            </a:r>
            <a:r>
              <a:rPr lang="en-US" sz="1200" b="0" i="0" u="none" strike="noStrike" cap="none" dirty="0">
                <a:solidFill>
                  <a:schemeClr val="dk1"/>
                </a:solidFill>
                <a:latin typeface="Calibri"/>
                <a:ea typeface="Calibri"/>
                <a:cs typeface="Calibri"/>
                <a:sym typeface="Calibri"/>
              </a:rPr>
              <a:t>This domain focuses on detecting, analyzing, and responding to security incidents to minimize their impact on an organization and involves the below sub domains:</a:t>
            </a:r>
            <a:endParaRPr lang="en-US" sz="1200" b="1" i="0" u="none" strike="noStrike" cap="none" dirty="0">
              <a:solidFill>
                <a:schemeClr val="dk1"/>
              </a:solidFill>
              <a:latin typeface="Calibri"/>
              <a:ea typeface="Calibri"/>
              <a:cs typeface="Calibri"/>
              <a:sym typeface="Calibri"/>
            </a:endParaRPr>
          </a:p>
          <a:p>
            <a:pPr marL="742950" marR="0" lvl="1" indent="-285750" algn="l" rtl="0">
              <a:lnSpc>
                <a:spcPct val="100000"/>
              </a:lnSpc>
              <a:spcBef>
                <a:spcPts val="0"/>
              </a:spcBef>
              <a:spcAft>
                <a:spcPts val="0"/>
              </a:spcAft>
              <a:buClr>
                <a:srgbClr val="000000"/>
              </a:buClr>
              <a:buSzPts val="1400"/>
              <a:buFont typeface="+mj-lt"/>
              <a:buAutoNum type="romanLcPeriod"/>
            </a:pPr>
            <a:r>
              <a:rPr lang="en-US" sz="1200" b="0" i="0" u="none" strike="noStrike" cap="none" dirty="0">
                <a:solidFill>
                  <a:schemeClr val="dk1"/>
                </a:solidFill>
                <a:latin typeface="Calibri"/>
                <a:ea typeface="Calibri"/>
                <a:cs typeface="Calibri"/>
                <a:sym typeface="Calibri"/>
              </a:rPr>
              <a:t>Security Information and Event Management (SIEM)</a:t>
            </a:r>
          </a:p>
          <a:p>
            <a:pPr marL="742950" marR="0" lvl="1" indent="-285750" algn="l" rtl="0">
              <a:lnSpc>
                <a:spcPct val="100000"/>
              </a:lnSpc>
              <a:spcBef>
                <a:spcPts val="0"/>
              </a:spcBef>
              <a:spcAft>
                <a:spcPts val="0"/>
              </a:spcAft>
              <a:buClr>
                <a:srgbClr val="000000"/>
              </a:buClr>
              <a:buSzPts val="1400"/>
              <a:buFont typeface="+mj-lt"/>
              <a:buAutoNum type="romanLcPeriod"/>
            </a:pPr>
            <a:r>
              <a:rPr lang="en-US" sz="1200" b="0" i="0" u="none" strike="noStrike" cap="none" dirty="0">
                <a:solidFill>
                  <a:schemeClr val="dk1"/>
                </a:solidFill>
                <a:latin typeface="Calibri"/>
                <a:ea typeface="Calibri"/>
                <a:cs typeface="Calibri"/>
                <a:sym typeface="Calibri"/>
              </a:rPr>
              <a:t>Threat detection and intelligence</a:t>
            </a:r>
          </a:p>
          <a:p>
            <a:pPr marL="742950" marR="0" lvl="1" indent="-285750" algn="l" rtl="0">
              <a:lnSpc>
                <a:spcPct val="100000"/>
              </a:lnSpc>
              <a:spcBef>
                <a:spcPts val="0"/>
              </a:spcBef>
              <a:spcAft>
                <a:spcPts val="0"/>
              </a:spcAft>
              <a:buClr>
                <a:srgbClr val="000000"/>
              </a:buClr>
              <a:buSzPts val="1400"/>
              <a:buFont typeface="+mj-lt"/>
              <a:buAutoNum type="romanLcPeriod"/>
            </a:pPr>
            <a:r>
              <a:rPr lang="en-US" sz="1200" b="0" i="0" u="none" strike="noStrike" cap="none" dirty="0">
                <a:solidFill>
                  <a:schemeClr val="dk1"/>
                </a:solidFill>
                <a:latin typeface="Calibri"/>
                <a:ea typeface="Calibri"/>
                <a:cs typeface="Calibri"/>
                <a:sym typeface="Calibri"/>
              </a:rPr>
              <a:t>Incident response planning and execution</a:t>
            </a:r>
          </a:p>
          <a:p>
            <a:pPr marL="742950" marR="0" lvl="1" indent="-285750" algn="l" rtl="0">
              <a:lnSpc>
                <a:spcPct val="100000"/>
              </a:lnSpc>
              <a:spcBef>
                <a:spcPts val="0"/>
              </a:spcBef>
              <a:spcAft>
                <a:spcPts val="0"/>
              </a:spcAft>
              <a:buClr>
                <a:srgbClr val="000000"/>
              </a:buClr>
              <a:buSzPts val="1400"/>
              <a:buFont typeface="+mj-lt"/>
              <a:buAutoNum type="romanLcPeriod"/>
            </a:pPr>
            <a:r>
              <a:rPr lang="en-US" sz="1200" b="0" i="0" u="none" strike="noStrike" cap="none" dirty="0">
                <a:solidFill>
                  <a:schemeClr val="dk1"/>
                </a:solidFill>
                <a:latin typeface="Calibri"/>
                <a:ea typeface="Calibri"/>
                <a:cs typeface="Calibri"/>
                <a:sym typeface="Calibri"/>
              </a:rPr>
              <a:t>Forensics and root cause analysis</a:t>
            </a:r>
          </a:p>
          <a:p>
            <a:pPr marL="285750" marR="0" lvl="0" indent="-285750" algn="l" rtl="0">
              <a:lnSpc>
                <a:spcPct val="100000"/>
              </a:lnSpc>
              <a:spcBef>
                <a:spcPts val="0"/>
              </a:spcBef>
              <a:spcAft>
                <a:spcPts val="0"/>
              </a:spcAft>
              <a:buClr>
                <a:srgbClr val="000000"/>
              </a:buClr>
              <a:buSzPts val="1400"/>
              <a:buFont typeface="+mj-lt"/>
              <a:buAutoNum type="arabicPeriod" startAt="7"/>
            </a:pPr>
            <a:r>
              <a:rPr lang="en-US" sz="1200" b="1" i="0" u="none" strike="noStrike" cap="none" dirty="0">
                <a:solidFill>
                  <a:schemeClr val="dk1"/>
                </a:solidFill>
                <a:latin typeface="Calibri"/>
                <a:ea typeface="Calibri"/>
                <a:cs typeface="Calibri"/>
                <a:sym typeface="Calibri"/>
              </a:rPr>
              <a:t>Application Security: </a:t>
            </a:r>
            <a:r>
              <a:rPr lang="en-US" sz="1200" b="0" i="0" u="none" strike="noStrike" cap="none" dirty="0">
                <a:solidFill>
                  <a:schemeClr val="dk1"/>
                </a:solidFill>
                <a:latin typeface="Calibri"/>
                <a:ea typeface="Calibri"/>
                <a:cs typeface="Calibri"/>
                <a:sym typeface="Calibri"/>
              </a:rPr>
              <a:t>As the name suggests this domain primarily focusses in protecting software applications from threats and vulnerabilities throughout the entire lifecycle, from development to deployment and involves the below domains:</a:t>
            </a:r>
          </a:p>
          <a:p>
            <a:pPr marL="742950" marR="0" lvl="1" indent="-285750" algn="l" rtl="0">
              <a:lnSpc>
                <a:spcPct val="100000"/>
              </a:lnSpc>
              <a:spcBef>
                <a:spcPts val="0"/>
              </a:spcBef>
              <a:spcAft>
                <a:spcPts val="0"/>
              </a:spcAft>
              <a:buClr>
                <a:srgbClr val="000000"/>
              </a:buClr>
              <a:buSzPts val="1400"/>
              <a:buFont typeface="+mj-lt"/>
              <a:buAutoNum type="arabicPeriod" startAt="7"/>
            </a:pPr>
            <a:r>
              <a:rPr lang="en-US" sz="1200" b="0" i="0" u="none" strike="noStrike" cap="none" dirty="0">
                <a:solidFill>
                  <a:schemeClr val="dk1"/>
                </a:solidFill>
                <a:latin typeface="Calibri"/>
                <a:ea typeface="Calibri"/>
                <a:cs typeface="Calibri"/>
                <a:sym typeface="Calibri"/>
              </a:rPr>
              <a:t>Secure SDLC (software development life cycle) and DevSecOps (Developer, Security, and Operations)</a:t>
            </a:r>
          </a:p>
          <a:p>
            <a:pPr marL="742950" marR="0" lvl="1" indent="-285750" algn="l" rtl="0">
              <a:lnSpc>
                <a:spcPct val="100000"/>
              </a:lnSpc>
              <a:spcBef>
                <a:spcPts val="0"/>
              </a:spcBef>
              <a:spcAft>
                <a:spcPts val="0"/>
              </a:spcAft>
              <a:buClr>
                <a:srgbClr val="000000"/>
              </a:buClr>
              <a:buSzPts val="1400"/>
              <a:buFont typeface="+mj-lt"/>
              <a:buAutoNum type="arabicPeriod" startAt="7"/>
            </a:pPr>
            <a:r>
              <a:rPr lang="en-US" sz="1200" b="0" i="0" u="none" strike="noStrike" cap="none" dirty="0">
                <a:solidFill>
                  <a:schemeClr val="dk1"/>
                </a:solidFill>
                <a:latin typeface="Calibri"/>
                <a:ea typeface="Calibri"/>
                <a:cs typeface="Calibri"/>
                <a:sym typeface="Calibri"/>
              </a:rPr>
              <a:t>API and web application security testing (SAST - Static Application Security Testing / DAST - Dynamic Application Security Testing)</a:t>
            </a:r>
          </a:p>
          <a:p>
            <a:pPr marL="742950" marR="0" lvl="1" indent="-285750" algn="l" rtl="0">
              <a:lnSpc>
                <a:spcPct val="100000"/>
              </a:lnSpc>
              <a:spcBef>
                <a:spcPts val="0"/>
              </a:spcBef>
              <a:spcAft>
                <a:spcPts val="0"/>
              </a:spcAft>
              <a:buClr>
                <a:srgbClr val="000000"/>
              </a:buClr>
              <a:buSzPts val="1400"/>
              <a:buFont typeface="+mj-lt"/>
              <a:buAutoNum type="arabicPeriod" startAt="7"/>
            </a:pPr>
            <a:r>
              <a:rPr lang="en-US" sz="1200" b="0" i="0" u="none" strike="noStrike" cap="none" dirty="0">
                <a:solidFill>
                  <a:schemeClr val="dk1"/>
                </a:solidFill>
                <a:latin typeface="Calibri"/>
                <a:ea typeface="Calibri"/>
                <a:cs typeface="Calibri"/>
                <a:sym typeface="Calibri"/>
              </a:rPr>
              <a:t>Code review and vulnerability management</a:t>
            </a:r>
          </a:p>
          <a:p>
            <a:pPr marL="742950" marR="0" lvl="1" indent="-285750" algn="l" rtl="0">
              <a:lnSpc>
                <a:spcPct val="100000"/>
              </a:lnSpc>
              <a:spcBef>
                <a:spcPts val="0"/>
              </a:spcBef>
              <a:spcAft>
                <a:spcPts val="0"/>
              </a:spcAft>
              <a:buClr>
                <a:srgbClr val="000000"/>
              </a:buClr>
              <a:buSzPts val="1400"/>
              <a:buFont typeface="+mj-lt"/>
              <a:buAutoNum type="arabicPeriod" startAt="7"/>
            </a:pPr>
            <a:r>
              <a:rPr lang="en-US" sz="1200" b="0" i="0" u="none" strike="noStrike" cap="none" dirty="0">
                <a:solidFill>
                  <a:schemeClr val="dk1"/>
                </a:solidFill>
                <a:latin typeface="Calibri"/>
                <a:ea typeface="Calibri"/>
                <a:cs typeface="Calibri"/>
                <a:sym typeface="Calibri"/>
              </a:rPr>
              <a:t>Container and microservices security</a:t>
            </a:r>
          </a:p>
          <a:p>
            <a:pPr marL="285750" marR="0" lvl="0" indent="-285750" algn="l" rtl="0">
              <a:lnSpc>
                <a:spcPct val="100000"/>
              </a:lnSpc>
              <a:spcBef>
                <a:spcPts val="0"/>
              </a:spcBef>
              <a:spcAft>
                <a:spcPts val="0"/>
              </a:spcAft>
              <a:buClr>
                <a:srgbClr val="000000"/>
              </a:buClr>
              <a:buSzPts val="1400"/>
              <a:buFont typeface="+mj-lt"/>
              <a:buAutoNum type="arabicPeriod" startAt="8"/>
            </a:pPr>
            <a:r>
              <a:rPr lang="en-US" sz="1200" b="1" i="0" u="none" strike="noStrike" cap="none" dirty="0">
                <a:solidFill>
                  <a:schemeClr val="dk1"/>
                </a:solidFill>
                <a:latin typeface="Calibri"/>
                <a:ea typeface="Calibri"/>
                <a:cs typeface="Calibri"/>
                <a:sym typeface="Calibri"/>
              </a:rPr>
              <a:t>Security Operations &amp; Threat Management</a:t>
            </a:r>
            <a:r>
              <a:rPr lang="en-US" sz="1200" b="0" i="0" u="none" strike="noStrike" cap="none" dirty="0">
                <a:solidFill>
                  <a:schemeClr val="dk1"/>
                </a:solidFill>
                <a:latin typeface="Calibri"/>
                <a:ea typeface="Calibri"/>
                <a:cs typeface="Calibri"/>
                <a:sym typeface="Calibri"/>
              </a:rPr>
              <a:t>: This domain focuses on detecting, analyzing, responding to, and mitigating cyber threats in real time through continuous monitoring and proactive defense mechanisms and consists of the below domains:</a:t>
            </a:r>
            <a:endParaRPr lang="en-US" sz="1200" b="1" i="0" u="none" strike="noStrike" cap="none" dirty="0">
              <a:solidFill>
                <a:schemeClr val="dk1"/>
              </a:solidFill>
              <a:latin typeface="Calibri"/>
              <a:ea typeface="Calibri"/>
              <a:cs typeface="Calibri"/>
              <a:sym typeface="Calibri"/>
            </a:endParaRPr>
          </a:p>
          <a:p>
            <a:pPr marL="742950" marR="0" lvl="1" indent="-285750" algn="l" rtl="0">
              <a:lnSpc>
                <a:spcPct val="100000"/>
              </a:lnSpc>
              <a:spcBef>
                <a:spcPts val="0"/>
              </a:spcBef>
              <a:spcAft>
                <a:spcPts val="0"/>
              </a:spcAft>
              <a:buClr>
                <a:srgbClr val="000000"/>
              </a:buClr>
              <a:buSzPts val="1400"/>
              <a:buFont typeface="+mj-lt"/>
              <a:buAutoNum type="arabicPeriod" startAt="8"/>
            </a:pPr>
            <a:r>
              <a:rPr lang="en-US" sz="1200" b="0" i="0" u="none" strike="noStrike" cap="none" dirty="0">
                <a:solidFill>
                  <a:schemeClr val="dk1"/>
                </a:solidFill>
                <a:latin typeface="Calibri"/>
                <a:ea typeface="Calibri"/>
                <a:cs typeface="Calibri"/>
                <a:sym typeface="Calibri"/>
              </a:rPr>
              <a:t>Threat hunting and intelligence gathering</a:t>
            </a:r>
          </a:p>
          <a:p>
            <a:pPr marL="742950" marR="0" lvl="1" indent="-285750" algn="l" rtl="0">
              <a:lnSpc>
                <a:spcPct val="100000"/>
              </a:lnSpc>
              <a:spcBef>
                <a:spcPts val="0"/>
              </a:spcBef>
              <a:spcAft>
                <a:spcPts val="0"/>
              </a:spcAft>
              <a:buClr>
                <a:srgbClr val="000000"/>
              </a:buClr>
              <a:buSzPts val="1400"/>
              <a:buFont typeface="+mj-lt"/>
              <a:buAutoNum type="arabicPeriod" startAt="8"/>
            </a:pPr>
            <a:r>
              <a:rPr lang="en-US" sz="1200" b="0" i="0" u="none" strike="noStrike" cap="none" dirty="0">
                <a:solidFill>
                  <a:schemeClr val="dk1"/>
                </a:solidFill>
                <a:latin typeface="Calibri"/>
                <a:ea typeface="Calibri"/>
                <a:cs typeface="Calibri"/>
                <a:sym typeface="Calibri"/>
              </a:rPr>
              <a:t>Continuous monitoring and response</a:t>
            </a:r>
          </a:p>
          <a:p>
            <a:pPr marL="742950" marR="0" lvl="1" indent="-285750" algn="l" rtl="0">
              <a:lnSpc>
                <a:spcPct val="100000"/>
              </a:lnSpc>
              <a:spcBef>
                <a:spcPts val="0"/>
              </a:spcBef>
              <a:spcAft>
                <a:spcPts val="0"/>
              </a:spcAft>
              <a:buClr>
                <a:srgbClr val="000000"/>
              </a:buClr>
              <a:buSzPts val="1400"/>
              <a:buFont typeface="+mj-lt"/>
              <a:buAutoNum type="arabicPeriod" startAt="8"/>
            </a:pPr>
            <a:r>
              <a:rPr lang="en-US" sz="1200" b="0" i="0" u="none" strike="noStrike" cap="none" dirty="0">
                <a:solidFill>
                  <a:schemeClr val="dk1"/>
                </a:solidFill>
                <a:latin typeface="Calibri"/>
                <a:ea typeface="Calibri"/>
                <a:cs typeface="Calibri"/>
                <a:sym typeface="Calibri"/>
              </a:rPr>
              <a:t>SOC operations and automation (SOAR)</a:t>
            </a:r>
          </a:p>
          <a:p>
            <a:pPr marL="742950" marR="0" lvl="1" indent="-285750" algn="l" rtl="0">
              <a:lnSpc>
                <a:spcPct val="100000"/>
              </a:lnSpc>
              <a:spcBef>
                <a:spcPts val="0"/>
              </a:spcBef>
              <a:spcAft>
                <a:spcPts val="0"/>
              </a:spcAft>
              <a:buClr>
                <a:srgbClr val="000000"/>
              </a:buClr>
              <a:buSzPts val="1400"/>
              <a:buFont typeface="+mj-lt"/>
              <a:buAutoNum type="arabicPeriod" startAt="8"/>
            </a:pPr>
            <a:r>
              <a:rPr lang="en-US" sz="1200" b="0" i="0" u="none" strike="noStrike" cap="none" dirty="0">
                <a:solidFill>
                  <a:schemeClr val="dk1"/>
                </a:solidFill>
                <a:latin typeface="Calibri"/>
                <a:ea typeface="Calibri"/>
                <a:cs typeface="Calibri"/>
                <a:sym typeface="Calibri"/>
              </a:rPr>
              <a:t>Red teaming and penetration testing</a:t>
            </a:r>
          </a:p>
          <a:p>
            <a:pPr marL="285750" marR="0" lvl="0" indent="-285750" algn="l" rtl="0">
              <a:lnSpc>
                <a:spcPct val="100000"/>
              </a:lnSpc>
              <a:spcBef>
                <a:spcPts val="0"/>
              </a:spcBef>
              <a:spcAft>
                <a:spcPts val="0"/>
              </a:spcAft>
              <a:buClr>
                <a:srgbClr val="000000"/>
              </a:buClr>
              <a:buSzPts val="1400"/>
              <a:buFont typeface="+mj-lt"/>
              <a:buAutoNum type="arabicPeriod" startAt="8"/>
            </a:pPr>
            <a:r>
              <a:rPr lang="en-US" sz="1200" b="1" i="0" u="none" strike="noStrike" cap="none" dirty="0">
                <a:solidFill>
                  <a:schemeClr val="dk1"/>
                </a:solidFill>
                <a:latin typeface="Calibri"/>
                <a:ea typeface="Calibri"/>
                <a:cs typeface="Calibri"/>
                <a:sym typeface="Calibri"/>
              </a:rPr>
              <a:t>Third-Party &amp; Supply Chain Security</a:t>
            </a:r>
            <a:r>
              <a:rPr lang="en-US" sz="1200" b="0" i="0" u="none" strike="noStrike" cap="none" dirty="0">
                <a:solidFill>
                  <a:schemeClr val="dk1"/>
                </a:solidFill>
                <a:latin typeface="Calibri"/>
                <a:ea typeface="Calibri"/>
                <a:cs typeface="Calibri"/>
                <a:sym typeface="Calibri"/>
              </a:rPr>
              <a:t>: This domain primarily focuses on protecting an organization from risks introduced by external vendors, partners, and service providers that connect to or process the organization’s data, systems, or infrastructure and comprises of the below sub domains:</a:t>
            </a:r>
            <a:endParaRPr lang="en-US" sz="1200" b="1" i="0" u="none" strike="noStrike" cap="none" dirty="0">
              <a:solidFill>
                <a:schemeClr val="dk1"/>
              </a:solidFill>
              <a:latin typeface="Calibri"/>
              <a:ea typeface="Calibri"/>
              <a:cs typeface="Calibri"/>
              <a:sym typeface="Calibri"/>
            </a:endParaRPr>
          </a:p>
          <a:p>
            <a:pPr marL="742950" marR="0" lvl="1" indent="-285750" algn="l" rtl="0">
              <a:lnSpc>
                <a:spcPct val="100000"/>
              </a:lnSpc>
              <a:spcBef>
                <a:spcPts val="0"/>
              </a:spcBef>
              <a:spcAft>
                <a:spcPts val="0"/>
              </a:spcAft>
              <a:buClr>
                <a:srgbClr val="000000"/>
              </a:buClr>
              <a:buSzPts val="1400"/>
              <a:buFont typeface="+mj-lt"/>
              <a:buAutoNum type="romanLcPeriod"/>
            </a:pPr>
            <a:r>
              <a:rPr lang="en-US" sz="1200" b="0" i="0" u="none" strike="noStrike" cap="none" dirty="0">
                <a:solidFill>
                  <a:schemeClr val="dk1"/>
                </a:solidFill>
                <a:latin typeface="Calibri"/>
                <a:ea typeface="Calibri"/>
                <a:cs typeface="Calibri"/>
                <a:sym typeface="Calibri"/>
              </a:rPr>
              <a:t>Vendor risk management</a:t>
            </a:r>
          </a:p>
          <a:p>
            <a:pPr marL="742950" marR="0" lvl="1" indent="-285750" algn="l" rtl="0">
              <a:lnSpc>
                <a:spcPct val="100000"/>
              </a:lnSpc>
              <a:spcBef>
                <a:spcPts val="0"/>
              </a:spcBef>
              <a:spcAft>
                <a:spcPts val="0"/>
              </a:spcAft>
              <a:buClr>
                <a:srgbClr val="000000"/>
              </a:buClr>
              <a:buSzPts val="1400"/>
              <a:buFont typeface="+mj-lt"/>
              <a:buAutoNum type="romanLcPeriod"/>
            </a:pPr>
            <a:r>
              <a:rPr lang="en-US" sz="1200" b="0" i="0" u="none" strike="noStrike" cap="none" dirty="0">
                <a:solidFill>
                  <a:schemeClr val="dk1"/>
                </a:solidFill>
                <a:latin typeface="Calibri"/>
                <a:ea typeface="Calibri"/>
                <a:cs typeface="Calibri"/>
                <a:sym typeface="Calibri"/>
              </a:rPr>
              <a:t>Contractual security requirements</a:t>
            </a:r>
          </a:p>
          <a:p>
            <a:pPr marL="742950" marR="0" lvl="1" indent="-285750" algn="l" rtl="0">
              <a:lnSpc>
                <a:spcPct val="100000"/>
              </a:lnSpc>
              <a:spcBef>
                <a:spcPts val="0"/>
              </a:spcBef>
              <a:spcAft>
                <a:spcPts val="0"/>
              </a:spcAft>
              <a:buClr>
                <a:srgbClr val="000000"/>
              </a:buClr>
              <a:buSzPts val="1400"/>
              <a:buFont typeface="+mj-lt"/>
              <a:buAutoNum type="romanLcPeriod"/>
            </a:pPr>
            <a:r>
              <a:rPr lang="en-US" sz="1200" b="0" i="0" u="none" strike="noStrike" cap="none" dirty="0">
                <a:solidFill>
                  <a:schemeClr val="dk1"/>
                </a:solidFill>
                <a:latin typeface="Calibri"/>
                <a:ea typeface="Calibri"/>
                <a:cs typeface="Calibri"/>
                <a:sym typeface="Calibri"/>
              </a:rPr>
              <a:t>Continuous assessment of partner systems and integrations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The CISSP (Certified Information System Security Professional) Common Body of Knowledge (CBK) - governed by </a:t>
            </a:r>
            <a:r>
              <a:rPr lang="en-US" b="1" dirty="0"/>
              <a:t>(ISC)² </a:t>
            </a:r>
            <a:r>
              <a:rPr lang="en-US" b="0" dirty="0"/>
              <a:t>- </a:t>
            </a:r>
            <a:r>
              <a:rPr lang="en-US" dirty="0"/>
              <a:t>remains a foundational framework in Cybersecurity. These 8 domains are widely recognized across the industry and Serve as the </a:t>
            </a:r>
            <a:r>
              <a:rPr lang="en-US" b="1" dirty="0"/>
              <a:t>foundation for global cybersecurity governance</a:t>
            </a:r>
            <a:r>
              <a:rPr lang="en-US" dirty="0"/>
              <a:t>:</a:t>
            </a:r>
          </a:p>
          <a:p>
            <a:pPr marL="228600" lvl="0" indent="-228600" algn="l" rtl="0">
              <a:spcBef>
                <a:spcPts val="0"/>
              </a:spcBef>
              <a:spcAft>
                <a:spcPts val="0"/>
              </a:spcAft>
              <a:buFont typeface="+mj-lt"/>
              <a:buAutoNum type="arabicPeriod"/>
            </a:pPr>
            <a:r>
              <a:rPr lang="en-US" b="1" dirty="0"/>
              <a:t>Security &amp; Risk Management</a:t>
            </a:r>
            <a:br>
              <a:rPr lang="en-US" dirty="0"/>
            </a:br>
            <a:r>
              <a:rPr lang="en-US" sz="1200" b="0" i="0" dirty="0">
                <a:solidFill>
                  <a:schemeClr val="dk1"/>
                </a:solidFill>
                <a:latin typeface="Calibri"/>
                <a:ea typeface="Calibri"/>
                <a:cs typeface="Calibri"/>
                <a:sym typeface="Calibri"/>
              </a:rPr>
              <a:t>This domain focuses on information security governance, risk management, compliance, and the core principles of confidentiality, integrity, and availability (CIA). </a:t>
            </a:r>
            <a:endParaRPr lang="en-US" dirty="0"/>
          </a:p>
          <a:p>
            <a:pPr marL="228600" lvl="0" indent="-228600" algn="l" rtl="0">
              <a:spcBef>
                <a:spcPts val="0"/>
              </a:spcBef>
              <a:spcAft>
                <a:spcPts val="0"/>
              </a:spcAft>
              <a:buFont typeface="+mj-lt"/>
              <a:buAutoNum type="arabicPeriod"/>
            </a:pPr>
            <a:r>
              <a:rPr lang="en-US" b="1" dirty="0"/>
              <a:t>Asset Security</a:t>
            </a:r>
            <a:br>
              <a:rPr lang="en-US" dirty="0"/>
            </a:br>
            <a:r>
              <a:rPr lang="en-US" sz="1200" b="0" i="0" dirty="0">
                <a:solidFill>
                  <a:schemeClr val="dk1"/>
                </a:solidFill>
                <a:latin typeface="Calibri"/>
                <a:ea typeface="Calibri"/>
                <a:cs typeface="Calibri"/>
                <a:sym typeface="Calibri"/>
              </a:rPr>
              <a:t>This domain covers the protection of organizational assets, including data classification, data lifecycle management, and proper handling of information.</a:t>
            </a:r>
            <a:endParaRPr lang="en-US" dirty="0"/>
          </a:p>
          <a:p>
            <a:pPr marL="228600" lvl="0" indent="-228600" algn="l" rtl="0">
              <a:spcBef>
                <a:spcPts val="0"/>
              </a:spcBef>
              <a:spcAft>
                <a:spcPts val="0"/>
              </a:spcAft>
              <a:buFont typeface="+mj-lt"/>
              <a:buAutoNum type="arabicPeriod"/>
            </a:pPr>
            <a:r>
              <a:rPr lang="en-US" b="1" dirty="0"/>
              <a:t>Security Architecture &amp; Engineering</a:t>
            </a:r>
            <a:br>
              <a:rPr lang="en-US" dirty="0"/>
            </a:br>
            <a:r>
              <a:rPr lang="en-US" sz="1200" b="0" i="0" dirty="0">
                <a:solidFill>
                  <a:schemeClr val="dk1"/>
                </a:solidFill>
                <a:latin typeface="Calibri"/>
                <a:ea typeface="Calibri"/>
                <a:cs typeface="Calibri"/>
                <a:sym typeface="Calibri"/>
              </a:rPr>
              <a:t>This domain deals with the design and implementation of secure systems and architectures, including cryptography, security models, and vulnerability mitigation</a:t>
            </a:r>
            <a:r>
              <a:rPr lang="en-US" dirty="0"/>
              <a:t>.</a:t>
            </a:r>
          </a:p>
          <a:p>
            <a:pPr marL="228600" lvl="0" indent="-228600" algn="l" rtl="0">
              <a:spcBef>
                <a:spcPts val="0"/>
              </a:spcBef>
              <a:spcAft>
                <a:spcPts val="0"/>
              </a:spcAft>
              <a:buFont typeface="+mj-lt"/>
              <a:buAutoNum type="arabicPeriod"/>
            </a:pPr>
            <a:r>
              <a:rPr lang="en-US" b="1" dirty="0"/>
              <a:t>Communication &amp; Network Security</a:t>
            </a:r>
            <a:br>
              <a:rPr lang="en-US" dirty="0"/>
            </a:br>
            <a:r>
              <a:rPr lang="en-US" sz="1200" b="0" i="0" dirty="0">
                <a:solidFill>
                  <a:schemeClr val="dk1"/>
                </a:solidFill>
                <a:latin typeface="Calibri"/>
                <a:ea typeface="Calibri"/>
                <a:cs typeface="Calibri"/>
                <a:sym typeface="Calibri"/>
              </a:rPr>
              <a:t>This domain focuses on securing communication channels and networks, including network architecture, protocols, and security controls. </a:t>
            </a:r>
            <a:endParaRPr lang="en-US" dirty="0"/>
          </a:p>
          <a:p>
            <a:pPr marL="228600" lvl="0" indent="-228600" algn="l" rtl="0">
              <a:spcBef>
                <a:spcPts val="0"/>
              </a:spcBef>
              <a:spcAft>
                <a:spcPts val="0"/>
              </a:spcAft>
              <a:buFont typeface="+mj-lt"/>
              <a:buAutoNum type="arabicPeriod"/>
            </a:pPr>
            <a:r>
              <a:rPr lang="en-US" b="1" dirty="0"/>
              <a:t>Identity &amp; Access Management (IAM)</a:t>
            </a:r>
            <a:br>
              <a:rPr lang="en-US" dirty="0"/>
            </a:br>
            <a:r>
              <a:rPr lang="en-US" sz="1200" b="0" i="0" dirty="0">
                <a:solidFill>
                  <a:schemeClr val="dk1"/>
                </a:solidFill>
                <a:latin typeface="Calibri"/>
                <a:ea typeface="Calibri"/>
                <a:cs typeface="Calibri"/>
                <a:sym typeface="Calibri"/>
              </a:rPr>
              <a:t>This domain is concerned with managing user identities, access rights, and authentication and authorization mechanisms. </a:t>
            </a:r>
            <a:endParaRPr lang="en-US" dirty="0"/>
          </a:p>
          <a:p>
            <a:pPr marL="228600" lvl="0" indent="-228600" algn="l" rtl="0">
              <a:spcBef>
                <a:spcPts val="0"/>
              </a:spcBef>
              <a:spcAft>
                <a:spcPts val="0"/>
              </a:spcAft>
              <a:buFont typeface="+mj-lt"/>
              <a:buAutoNum type="arabicPeriod"/>
            </a:pPr>
            <a:r>
              <a:rPr lang="en-US" b="1" dirty="0"/>
              <a:t>Security Assessment &amp; Testing</a:t>
            </a:r>
            <a:br>
              <a:rPr lang="en-US" dirty="0"/>
            </a:br>
            <a:r>
              <a:rPr lang="en-US" sz="1200" b="0" i="0" dirty="0">
                <a:solidFill>
                  <a:schemeClr val="dk1"/>
                </a:solidFill>
                <a:latin typeface="Calibri"/>
                <a:ea typeface="Calibri"/>
                <a:cs typeface="Calibri"/>
                <a:sym typeface="Calibri"/>
              </a:rPr>
              <a:t>This domain covers the processes for evaluating the effectiveness of security controls through continuous monitoring, audits, and risk-based assessments. </a:t>
            </a:r>
            <a:endParaRPr lang="en-US" dirty="0"/>
          </a:p>
          <a:p>
            <a:pPr marL="228600" lvl="0" indent="-228600" algn="l" rtl="0">
              <a:spcBef>
                <a:spcPts val="0"/>
              </a:spcBef>
              <a:spcAft>
                <a:spcPts val="0"/>
              </a:spcAft>
              <a:buFont typeface="+mj-lt"/>
              <a:buAutoNum type="arabicPeriod"/>
            </a:pPr>
            <a:r>
              <a:rPr lang="en-US" b="1" dirty="0"/>
              <a:t>Security Operations</a:t>
            </a:r>
            <a:br>
              <a:rPr lang="en-US" dirty="0"/>
            </a:br>
            <a:r>
              <a:rPr lang="en-US" sz="1200" b="0" i="0" dirty="0">
                <a:solidFill>
                  <a:schemeClr val="dk1"/>
                </a:solidFill>
                <a:latin typeface="Calibri"/>
                <a:ea typeface="Calibri"/>
                <a:cs typeface="Calibri"/>
                <a:sym typeface="Calibri"/>
              </a:rPr>
              <a:t>This domain focuses on the day-to-day management of security operations, including incident response, disaster recovery, and threat monitoring. </a:t>
            </a:r>
            <a:endParaRPr lang="en-US" dirty="0"/>
          </a:p>
          <a:p>
            <a:pPr marL="228600" lvl="0" indent="-228600" algn="l" rtl="0">
              <a:spcBef>
                <a:spcPts val="0"/>
              </a:spcBef>
              <a:spcAft>
                <a:spcPts val="0"/>
              </a:spcAft>
              <a:buFont typeface="+mj-lt"/>
              <a:buAutoNum type="arabicPeriod"/>
            </a:pPr>
            <a:r>
              <a:rPr lang="en-US" b="1" dirty="0"/>
              <a:t>Software Development Security</a:t>
            </a:r>
            <a:br>
              <a:rPr lang="en-US" dirty="0"/>
            </a:br>
            <a:r>
              <a:rPr lang="en-US" sz="1200" b="0" i="0" dirty="0">
                <a:solidFill>
                  <a:schemeClr val="dk1"/>
                </a:solidFill>
                <a:latin typeface="Calibri"/>
                <a:ea typeface="Calibri"/>
                <a:cs typeface="Calibri"/>
                <a:sym typeface="Calibri"/>
              </a:rPr>
              <a:t>This domain addresses the security considerations throughout the software development lifecycle, including secure coding practices, vulnerability management, and secure development environments.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b="1" dirty="0"/>
              <a:t>Below are the summary of the evolvement of Cybersecurity:</a:t>
            </a:r>
            <a:endParaRPr lang="en-US" dirty="0"/>
          </a:p>
          <a:p>
            <a:pPr marL="0" lvl="0" indent="0" algn="l" rtl="0">
              <a:spcBef>
                <a:spcPts val="0"/>
              </a:spcBef>
              <a:spcAft>
                <a:spcPts val="0"/>
              </a:spcAft>
              <a:buNone/>
            </a:pPr>
            <a:r>
              <a:rPr lang="en-US" b="1" dirty="0"/>
              <a:t>Early Years (1960s–1980s): </a:t>
            </a:r>
            <a:r>
              <a:rPr lang="en-US" dirty="0"/>
              <a:t>Birth of Security Concepts started with the introduction of mainframes like basic security models (e.g., user access controls). During the 1970’s the first concepts of computer viruses (theory) </a:t>
            </a:r>
            <a:r>
              <a:rPr lang="en-US" b="1" dirty="0"/>
              <a:t>Creeper virus</a:t>
            </a:r>
            <a:r>
              <a:rPr lang="en-US" dirty="0"/>
              <a:t> in 1971 the first example of malware originated. During the 1980’s the rise of personal computers started and the first antivirus programs and the term “</a:t>
            </a:r>
            <a:r>
              <a:rPr lang="en-US" b="1" dirty="0"/>
              <a:t>hacker</a:t>
            </a:r>
            <a:r>
              <a:rPr lang="en-US" dirty="0"/>
              <a:t>” gain prominence.</a:t>
            </a:r>
          </a:p>
          <a:p>
            <a:pPr marL="0" lvl="0" indent="0" algn="l" rtl="0">
              <a:spcBef>
                <a:spcPts val="0"/>
              </a:spcBef>
              <a:spcAft>
                <a:spcPts val="0"/>
              </a:spcAft>
              <a:buNone/>
            </a:pPr>
            <a:r>
              <a:rPr lang="en-US" b="1" dirty="0"/>
              <a:t>Internet booming period (1990s): </a:t>
            </a:r>
            <a:r>
              <a:rPr lang="en-US" dirty="0"/>
              <a:t>Network Threats started to emerge and widespread internet access began combined with introduction of spam emails, phishing scams, and website defacements. This gave the rise to introduction of various security solutions like Firewalls, antivirus software, and intrusion detection systems (IDS).</a:t>
            </a:r>
          </a:p>
          <a:p>
            <a:pPr marL="0" lvl="0" indent="0" algn="l" rtl="0">
              <a:spcBef>
                <a:spcPts val="0"/>
              </a:spcBef>
              <a:spcAft>
                <a:spcPts val="0"/>
              </a:spcAft>
              <a:buNone/>
            </a:pPr>
            <a:r>
              <a:rPr lang="en-US" b="1" dirty="0"/>
              <a:t>Web &amp; Email services Expansion (2000s): </a:t>
            </a:r>
            <a:r>
              <a:rPr lang="en-US" dirty="0"/>
              <a:t>Sophistication of Threats started with Malware Evolution and Email &amp; Browser Exploits giving rise to organizations starting to adopt </a:t>
            </a:r>
            <a:r>
              <a:rPr lang="en-US" b="0" dirty="0"/>
              <a:t>perimeter-based security</a:t>
            </a:r>
            <a:r>
              <a:rPr lang="en-US" dirty="0"/>
              <a:t>, VPNs, and endpoint protection and the presence of companies like Symantec, McAfee, Kaspersky in the market.</a:t>
            </a:r>
          </a:p>
          <a:p>
            <a:pPr marL="0" lvl="0" indent="0" algn="l" rtl="0">
              <a:spcBef>
                <a:spcPts val="0"/>
              </a:spcBef>
              <a:spcAft>
                <a:spcPts val="0"/>
              </a:spcAft>
              <a:buNone/>
            </a:pPr>
            <a:r>
              <a:rPr lang="en-US" b="1" dirty="0"/>
              <a:t>Cloud &amp; Mobile Era (2010s): </a:t>
            </a:r>
            <a:r>
              <a:rPr lang="en-US" dirty="0"/>
              <a:t>During this period came the rise of Advanced Threats and technology like Advanced Persistent Threats (APTs), Ransomware, Cloud infrastructure, BYOD concept (Bring Your Own Device) introducing introduce mobile and IoT threats, and Security-as-a-Service (</a:t>
            </a:r>
            <a:r>
              <a:rPr lang="en-US" dirty="0" err="1"/>
              <a:t>SECaaS</a:t>
            </a:r>
            <a:r>
              <a:rPr lang="en-US" dirty="0"/>
              <a:t>) outsourcing of cybersecurity functions (MDR, SIEM, etc.)</a:t>
            </a:r>
          </a:p>
          <a:p>
            <a:pPr marL="0" lvl="0" indent="0" algn="l" rtl="0">
              <a:spcBef>
                <a:spcPts val="0"/>
              </a:spcBef>
              <a:spcAft>
                <a:spcPts val="0"/>
              </a:spcAft>
              <a:buNone/>
            </a:pPr>
            <a:r>
              <a:rPr lang="en-US" b="1" dirty="0"/>
              <a:t>Current Cybersecurity (2020s–Present): </a:t>
            </a:r>
            <a:r>
              <a:rPr lang="en-US" dirty="0"/>
              <a:t>AI, Zero Trust &amp; Threat Intelligence came into picture introducing Zero Trust Architecture (ZTA), AI (Artificial Intelligence) &amp; ML (Machine Learning) in Cybersecurity, Extended Detection and Response (XDR) and Security Orchestration (SOAR) gain traction. Tools and services like Cloud-native Security - Cloud Security Posture Management</a:t>
            </a:r>
            <a:r>
              <a:rPr lang="en-US" sz="1200" b="0" i="0" dirty="0">
                <a:solidFill>
                  <a:schemeClr val="dk1"/>
                </a:solidFill>
                <a:latin typeface="Calibri"/>
                <a:ea typeface="Calibri"/>
                <a:cs typeface="Calibri"/>
                <a:sym typeface="Calibri"/>
              </a:rPr>
              <a:t> (CSPM), </a:t>
            </a:r>
            <a:r>
              <a:rPr lang="en-US" dirty="0"/>
              <a:t>Cloud-Native Application Protection Platform (</a:t>
            </a:r>
            <a:r>
              <a:rPr lang="en-US" sz="1200" b="0" i="0" dirty="0">
                <a:solidFill>
                  <a:schemeClr val="dk1"/>
                </a:solidFill>
                <a:latin typeface="Calibri"/>
                <a:ea typeface="Calibri"/>
                <a:cs typeface="Calibri"/>
                <a:sym typeface="Calibri"/>
              </a:rPr>
              <a:t>CNAPP), </a:t>
            </a:r>
            <a:r>
              <a:rPr lang="en-US" dirty="0"/>
              <a:t>serverless security tools, Ransomware-as-a-Service (RaaS) and the final Post-Quantum Security for encryption-safe algorithms in a post-quantum world.</a:t>
            </a:r>
          </a:p>
          <a:p>
            <a:pPr marL="0" lvl="0" indent="0" algn="l" rtl="0">
              <a:spcBef>
                <a:spcPts val="0"/>
              </a:spcBef>
              <a:spcAft>
                <a:spcPts val="0"/>
              </a:spcAft>
              <a:buNone/>
            </a:pPr>
            <a:r>
              <a:rPr lang="en-US" b="1" dirty="0"/>
              <a:t>Cybersecurity and it’s Future:</a:t>
            </a:r>
            <a:endParaRPr lang="en-US" dirty="0"/>
          </a:p>
          <a:p>
            <a:pPr marL="171450" lvl="0" indent="-171450" algn="l" rtl="0">
              <a:spcBef>
                <a:spcPts val="0"/>
              </a:spcBef>
              <a:spcAft>
                <a:spcPts val="0"/>
              </a:spcAft>
              <a:buClr>
                <a:schemeClr val="dk1"/>
              </a:buClr>
              <a:buSzPts val="1200"/>
              <a:buFont typeface="Arial"/>
              <a:buChar char="•"/>
            </a:pPr>
            <a:r>
              <a:rPr lang="en-US" b="1" dirty="0"/>
              <a:t>AI vs. AI: </a:t>
            </a:r>
            <a:r>
              <a:rPr lang="en-US" dirty="0"/>
              <a:t>Cyber defense and cyberattacks will both use AI, leading to intelligent offensive and defensive tools.</a:t>
            </a:r>
          </a:p>
          <a:p>
            <a:pPr marL="171450" lvl="0" indent="-171450" algn="l" rtl="0">
              <a:spcBef>
                <a:spcPts val="0"/>
              </a:spcBef>
              <a:spcAft>
                <a:spcPts val="0"/>
              </a:spcAft>
              <a:buClr>
                <a:schemeClr val="dk1"/>
              </a:buClr>
              <a:buSzPts val="1200"/>
              <a:buFont typeface="Arial"/>
              <a:buChar char="•"/>
            </a:pPr>
            <a:r>
              <a:rPr lang="en-US" b="1" dirty="0"/>
              <a:t>Quantum-Resistant Encryption: </a:t>
            </a:r>
            <a:r>
              <a:rPr lang="en-US" dirty="0"/>
              <a:t>Traditional encryption may be obsolete post-quantum computing.</a:t>
            </a:r>
          </a:p>
          <a:p>
            <a:pPr marL="171450" lvl="0" indent="-171450" algn="l" rtl="0">
              <a:spcBef>
                <a:spcPts val="0"/>
              </a:spcBef>
              <a:spcAft>
                <a:spcPts val="0"/>
              </a:spcAft>
              <a:buClr>
                <a:schemeClr val="dk1"/>
              </a:buClr>
              <a:buSzPts val="1200"/>
              <a:buFont typeface="Arial"/>
              <a:buChar char="•"/>
            </a:pPr>
            <a:r>
              <a:rPr lang="en-US" b="1" dirty="0"/>
              <a:t>Autonomous SOCs: </a:t>
            </a:r>
            <a:r>
              <a:rPr lang="en-US" dirty="0"/>
              <a:t>AI-driven, self-healing security operations center’s fully integrated with SIEM solution.</a:t>
            </a:r>
          </a:p>
          <a:p>
            <a:pPr marL="171450" lvl="0" indent="-171450" algn="l" rtl="0">
              <a:spcBef>
                <a:spcPts val="0"/>
              </a:spcBef>
              <a:spcAft>
                <a:spcPts val="0"/>
              </a:spcAft>
              <a:buClr>
                <a:schemeClr val="dk1"/>
              </a:buClr>
              <a:buSzPts val="1200"/>
              <a:buFont typeface="Arial"/>
              <a:buChar char="•"/>
            </a:pPr>
            <a:r>
              <a:rPr lang="en-US" b="1" dirty="0"/>
              <a:t>Cybersecurity Mesh: </a:t>
            </a:r>
            <a:r>
              <a:rPr lang="en-US" dirty="0"/>
              <a:t>A distributed approach to securing digital assets across various environments.</a:t>
            </a:r>
          </a:p>
          <a:p>
            <a:pPr marL="171450" lvl="0" indent="-171450" algn="l" rtl="0">
              <a:spcBef>
                <a:spcPts val="0"/>
              </a:spcBef>
              <a:spcAft>
                <a:spcPts val="0"/>
              </a:spcAft>
              <a:buClr>
                <a:schemeClr val="dk1"/>
              </a:buClr>
              <a:buSzPts val="1200"/>
              <a:buFont typeface="Arial"/>
              <a:buChar char="•"/>
            </a:pPr>
            <a:r>
              <a:rPr lang="en-US" b="1" dirty="0"/>
              <a:t>Increased Regulation: </a:t>
            </a:r>
            <a:r>
              <a:rPr lang="en-US" dirty="0"/>
              <a:t>Cybersecurity compliance becoming mandatory for all industries.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Calibri"/>
              <a:buNone/>
            </a:pPr>
            <a:r>
              <a:rPr lang="en-US" b="1" dirty="0"/>
              <a:t>The Role and Future of AI in Cybersecurity</a:t>
            </a:r>
            <a:endParaRPr lang="en-US" dirty="0"/>
          </a:p>
          <a:p>
            <a:pPr marL="0" lvl="0" indent="0" algn="l" rtl="0">
              <a:spcBef>
                <a:spcPts val="0"/>
              </a:spcBef>
              <a:spcAft>
                <a:spcPts val="0"/>
              </a:spcAft>
              <a:buNone/>
            </a:pPr>
            <a:r>
              <a:rPr lang="en-US" b="1" dirty="0"/>
              <a:t>Artificial Intelligence in cybersecurity</a:t>
            </a:r>
            <a:r>
              <a:rPr lang="en-US" dirty="0"/>
              <a:t> refers to the use of machine learning (ML), natural language processing (NLP), and other AI techniques for detecting any threats automatically, analyzing large volumes of data, responding to incidents in real-time and predicting vulnerabilities before exploitation. AI basically mimics human decision-making processes and adapts dynamically to the ever evolving cyber threats. Below are the summary of the future of AI in cybersecurity:</a:t>
            </a:r>
          </a:p>
          <a:p>
            <a:pPr marL="0" lvl="0" indent="0" algn="l" rtl="0">
              <a:spcBef>
                <a:spcPts val="0"/>
              </a:spcBef>
              <a:spcAft>
                <a:spcPts val="0"/>
              </a:spcAft>
              <a:buNone/>
            </a:pPr>
            <a:r>
              <a:rPr lang="en-US" b="1" dirty="0"/>
              <a:t>AI vs. AI (Offensive AI vs Defensive AI): </a:t>
            </a:r>
            <a:endParaRPr lang="en-US" dirty="0"/>
          </a:p>
          <a:p>
            <a:pPr marL="0" lvl="0" indent="0" algn="l" rtl="0">
              <a:spcBef>
                <a:spcPts val="0"/>
              </a:spcBef>
              <a:spcAft>
                <a:spcPts val="0"/>
              </a:spcAft>
              <a:buNone/>
            </a:pPr>
            <a:r>
              <a:rPr lang="en-US" b="0" dirty="0"/>
              <a:t>Adversarial AI </a:t>
            </a:r>
            <a:r>
              <a:rPr lang="en-US" dirty="0"/>
              <a:t>will be used by threat actors to evade detection, mimic legitimate traffic, or generate polymorphic malware and </a:t>
            </a:r>
          </a:p>
          <a:p>
            <a:pPr marL="0" lvl="0" indent="0" algn="l" rtl="0">
              <a:spcBef>
                <a:spcPts val="0"/>
              </a:spcBef>
              <a:spcAft>
                <a:spcPts val="0"/>
              </a:spcAft>
              <a:buNone/>
            </a:pPr>
            <a:r>
              <a:rPr lang="en-US" b="0" dirty="0"/>
              <a:t>Defensive AI </a:t>
            </a:r>
            <a:r>
              <a:rPr lang="en-US" dirty="0"/>
              <a:t>will evolve to recognize these AI-generated threats in real-time using deeper neural networks and threat modeling.</a:t>
            </a:r>
          </a:p>
          <a:p>
            <a:pPr marL="0" lvl="0" indent="0" algn="l" rtl="0">
              <a:spcBef>
                <a:spcPts val="0"/>
              </a:spcBef>
              <a:spcAft>
                <a:spcPts val="0"/>
              </a:spcAft>
              <a:buNone/>
            </a:pPr>
            <a:r>
              <a:rPr lang="en-US" b="1" dirty="0"/>
              <a:t>Autonomous Cyber Defense:</a:t>
            </a:r>
            <a:endParaRPr lang="en-US" dirty="0"/>
          </a:p>
          <a:p>
            <a:pPr marL="0" lvl="0" indent="0" algn="l" rtl="0">
              <a:spcBef>
                <a:spcPts val="0"/>
              </a:spcBef>
              <a:spcAft>
                <a:spcPts val="0"/>
              </a:spcAft>
              <a:buNone/>
            </a:pPr>
            <a:r>
              <a:rPr lang="en-US" dirty="0"/>
              <a:t>Without any human intervention Self-learning AI systems will identify, isolate, and respond to threats giving rise to </a:t>
            </a:r>
            <a:r>
              <a:rPr lang="en-US" b="0" dirty="0"/>
              <a:t>Autonomous Security Operations Centers (SOC)</a:t>
            </a:r>
            <a:r>
              <a:rPr lang="en-US" dirty="0"/>
              <a:t> running 24/7 with minimal human oversight.</a:t>
            </a:r>
          </a:p>
          <a:p>
            <a:pPr marL="0" lvl="0" indent="0" algn="l" rtl="0">
              <a:spcBef>
                <a:spcPts val="0"/>
              </a:spcBef>
              <a:spcAft>
                <a:spcPts val="0"/>
              </a:spcAft>
              <a:buNone/>
            </a:pPr>
            <a:r>
              <a:rPr lang="en-US" b="1" dirty="0"/>
              <a:t>Cognitive Security:</a:t>
            </a:r>
            <a:endParaRPr lang="en-US" dirty="0"/>
          </a:p>
          <a:p>
            <a:pPr marL="0" lvl="0" indent="0" algn="l" rtl="0">
              <a:spcBef>
                <a:spcPts val="0"/>
              </a:spcBef>
              <a:spcAft>
                <a:spcPts val="0"/>
              </a:spcAft>
              <a:buNone/>
            </a:pPr>
            <a:r>
              <a:rPr lang="en-US" dirty="0"/>
              <a:t>Integrating AI with </a:t>
            </a:r>
            <a:r>
              <a:rPr lang="en-US" b="0" dirty="0"/>
              <a:t>cognitive and perceptive computing </a:t>
            </a:r>
            <a:r>
              <a:rPr lang="en-US" dirty="0"/>
              <a:t>will allow systems to interpret unstructured data (like social media or threat reports) to predict emerging attacks.</a:t>
            </a:r>
          </a:p>
          <a:p>
            <a:pPr marL="0" lvl="0" indent="0" algn="l" rtl="0">
              <a:spcBef>
                <a:spcPts val="0"/>
              </a:spcBef>
              <a:spcAft>
                <a:spcPts val="0"/>
              </a:spcAft>
              <a:buNone/>
            </a:pPr>
            <a:r>
              <a:rPr lang="en-US" b="1" dirty="0"/>
              <a:t>AI-Powered Driven Management:</a:t>
            </a:r>
            <a:endParaRPr lang="en-US" dirty="0"/>
          </a:p>
          <a:p>
            <a:pPr marL="0" lvl="0" indent="0" algn="l" rtl="0">
              <a:spcBef>
                <a:spcPts val="0"/>
              </a:spcBef>
              <a:spcAft>
                <a:spcPts val="0"/>
              </a:spcAft>
              <a:buNone/>
            </a:pPr>
            <a:r>
              <a:rPr lang="en-US" dirty="0"/>
              <a:t>Continuous risk assessments (RA) based on user, asset, and organizational data using AI models enhancing the GRC (Governance, Risk, Compliance) capabilities.</a:t>
            </a:r>
          </a:p>
          <a:p>
            <a:pPr marL="0" lvl="0" indent="0" algn="l" rtl="0">
              <a:spcBef>
                <a:spcPts val="0"/>
              </a:spcBef>
              <a:spcAft>
                <a:spcPts val="0"/>
              </a:spcAft>
              <a:buNone/>
            </a:pPr>
            <a:r>
              <a:rPr lang="en-US" b="1" dirty="0"/>
              <a:t>Proactive Threat Hunting:</a:t>
            </a:r>
            <a:endParaRPr lang="en-US" dirty="0"/>
          </a:p>
          <a:p>
            <a:pPr marL="0" lvl="0" indent="0" algn="l" rtl="0">
              <a:spcBef>
                <a:spcPts val="0"/>
              </a:spcBef>
              <a:spcAft>
                <a:spcPts val="0"/>
              </a:spcAft>
              <a:buNone/>
            </a:pPr>
            <a:r>
              <a:rPr lang="en-US" dirty="0"/>
              <a:t>P</a:t>
            </a:r>
            <a:r>
              <a:rPr lang="en-US" b="0" dirty="0"/>
              <a:t>redictive cybersecurity driven through AI and </a:t>
            </a:r>
            <a:r>
              <a:rPr lang="en-US" dirty="0"/>
              <a:t>forecasting likely attack vectors before exploitation ensuring the proactive hardening of systems with the required security controls.</a:t>
            </a:r>
          </a:p>
          <a:p>
            <a:pPr marL="0" lvl="0" indent="0" algn="l" rtl="0">
              <a:spcBef>
                <a:spcPts val="0"/>
              </a:spcBef>
              <a:spcAft>
                <a:spcPts val="0"/>
              </a:spcAft>
              <a:buNone/>
            </a:pPr>
            <a:r>
              <a:rPr lang="en-US" b="1" dirty="0"/>
              <a:t>Integration with Zero Trust Models:</a:t>
            </a:r>
            <a:endParaRPr lang="en-US" dirty="0"/>
          </a:p>
          <a:p>
            <a:pPr marL="0" lvl="0" indent="0" algn="l" rtl="0">
              <a:spcBef>
                <a:spcPts val="0"/>
              </a:spcBef>
              <a:spcAft>
                <a:spcPts val="0"/>
              </a:spcAft>
              <a:buNone/>
            </a:pPr>
            <a:r>
              <a:rPr lang="en-US" dirty="0"/>
              <a:t>D</a:t>
            </a:r>
            <a:r>
              <a:rPr lang="en-US" b="0" dirty="0"/>
              <a:t>ynamic access control supported by AI for</a:t>
            </a:r>
            <a:r>
              <a:rPr lang="en-US" dirty="0"/>
              <a:t> real-time identity verification, and policy enforcement in zero-trust architectures.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chemeClr val="dk1"/>
                </a:solidFill>
                <a:latin typeface="Calibri"/>
                <a:ea typeface="Calibri"/>
                <a:cs typeface="Calibri"/>
                <a:sym typeface="Calibri"/>
              </a:rPr>
              <a:t>Global Cybersecurity Market Overview: </a:t>
            </a:r>
            <a:endParaRPr lang="en-US" sz="1200" dirty="0">
              <a:solidFill>
                <a:schemeClr val="dk1"/>
              </a:solidFill>
              <a:latin typeface="Calibri"/>
              <a:ea typeface="Calibri"/>
              <a:cs typeface="Calibri"/>
              <a:sym typeface="Calibri"/>
            </a:endParaRPr>
          </a:p>
          <a:p>
            <a:pPr marL="228600" marR="0" lvl="0" indent="-228600" algn="l" rtl="0">
              <a:lnSpc>
                <a:spcPct val="100000"/>
              </a:lnSpc>
              <a:spcBef>
                <a:spcPts val="0"/>
              </a:spcBef>
              <a:spcAft>
                <a:spcPts val="0"/>
              </a:spcAft>
              <a:buClr>
                <a:schemeClr val="dk1"/>
              </a:buClr>
              <a:buSzPts val="1200"/>
              <a:buFont typeface="Calibri"/>
              <a:buAutoNum type="arabicPeriod"/>
            </a:pPr>
            <a:r>
              <a:rPr lang="en-US" sz="1200" b="1" dirty="0">
                <a:solidFill>
                  <a:schemeClr val="dk1"/>
                </a:solidFill>
                <a:latin typeface="Calibri"/>
                <a:ea typeface="Calibri"/>
                <a:cs typeface="Calibri"/>
                <a:sym typeface="Calibri"/>
              </a:rPr>
              <a:t>IMARC </a:t>
            </a:r>
            <a:r>
              <a:rPr lang="en-US" sz="1200" b="0" dirty="0">
                <a:solidFill>
                  <a:schemeClr val="dk1"/>
                </a:solidFill>
                <a:latin typeface="Calibri"/>
                <a:ea typeface="Calibri"/>
                <a:cs typeface="Calibri"/>
                <a:sym typeface="Calibri"/>
              </a:rPr>
              <a:t>(</a:t>
            </a:r>
            <a:r>
              <a:rPr lang="en-US" sz="1200" b="0" i="0" dirty="0">
                <a:solidFill>
                  <a:schemeClr val="dk1"/>
                </a:solidFill>
                <a:latin typeface="Calibri"/>
                <a:ea typeface="Calibri"/>
                <a:cs typeface="Calibri"/>
                <a:sym typeface="Calibri"/>
              </a:rPr>
              <a:t>International Market Analysis Research and Consulting</a:t>
            </a:r>
            <a:r>
              <a:rPr lang="en-US" sz="1200" b="0" dirty="0">
                <a:solidFill>
                  <a:schemeClr val="dk1"/>
                </a:solidFill>
                <a:latin typeface="Calibri"/>
                <a:ea typeface="Calibri"/>
                <a:cs typeface="Calibri"/>
                <a:sym typeface="Calibri"/>
              </a:rPr>
              <a:t>) Group reports the global cybersecurity market size reached </a:t>
            </a:r>
            <a:r>
              <a:rPr lang="en-US" sz="1200" b="1" dirty="0">
                <a:solidFill>
                  <a:schemeClr val="dk1"/>
                </a:solidFill>
                <a:latin typeface="Calibri"/>
                <a:ea typeface="Calibri"/>
                <a:cs typeface="Calibri"/>
                <a:sym typeface="Calibri"/>
              </a:rPr>
              <a:t>USD 299.6 billion</a:t>
            </a:r>
            <a:r>
              <a:rPr lang="en-US" sz="1200" b="0" dirty="0">
                <a:solidFill>
                  <a:schemeClr val="dk1"/>
                </a:solidFill>
                <a:latin typeface="Calibri"/>
                <a:ea typeface="Calibri"/>
                <a:cs typeface="Calibri"/>
                <a:sym typeface="Calibri"/>
              </a:rPr>
              <a:t> in 2024, projected to rise to </a:t>
            </a:r>
            <a:r>
              <a:rPr lang="en-US" sz="1200" b="1" dirty="0">
                <a:solidFill>
                  <a:schemeClr val="dk1"/>
                </a:solidFill>
                <a:latin typeface="Calibri"/>
                <a:ea typeface="Calibri"/>
                <a:cs typeface="Calibri"/>
                <a:sym typeface="Calibri"/>
              </a:rPr>
              <a:t>USD 644.4 billion</a:t>
            </a:r>
            <a:r>
              <a:rPr lang="en-US" sz="1200" b="0" dirty="0">
                <a:solidFill>
                  <a:schemeClr val="dk1"/>
                </a:solidFill>
                <a:latin typeface="Calibri"/>
                <a:ea typeface="Calibri"/>
                <a:cs typeface="Calibri"/>
                <a:sym typeface="Calibri"/>
              </a:rPr>
              <a:t> by 2033, with a </a:t>
            </a:r>
            <a:r>
              <a:rPr lang="en-US" sz="1200" b="1" dirty="0">
                <a:solidFill>
                  <a:schemeClr val="dk1"/>
                </a:solidFill>
                <a:latin typeface="Calibri"/>
                <a:ea typeface="Calibri"/>
                <a:cs typeface="Calibri"/>
                <a:sym typeface="Calibri"/>
              </a:rPr>
              <a:t>CAGR</a:t>
            </a:r>
            <a:r>
              <a:rPr lang="en-US" sz="1200" b="0" dirty="0">
                <a:solidFill>
                  <a:schemeClr val="dk1"/>
                </a:solidFill>
                <a:latin typeface="Calibri"/>
                <a:ea typeface="Calibri"/>
                <a:cs typeface="Calibri"/>
                <a:sym typeface="Calibri"/>
              </a:rPr>
              <a:t> (</a:t>
            </a:r>
            <a:r>
              <a:rPr lang="en-US" sz="1200" b="0" i="0" dirty="0">
                <a:solidFill>
                  <a:schemeClr val="dk1"/>
                </a:solidFill>
                <a:latin typeface="Calibri"/>
                <a:ea typeface="Calibri"/>
                <a:cs typeface="Calibri"/>
                <a:sym typeface="Calibri"/>
              </a:rPr>
              <a:t>Compound annual growth rate</a:t>
            </a:r>
            <a:r>
              <a:rPr lang="en-US" sz="1200" b="0" dirty="0">
                <a:solidFill>
                  <a:schemeClr val="dk1"/>
                </a:solidFill>
                <a:latin typeface="Calibri"/>
                <a:ea typeface="Calibri"/>
                <a:cs typeface="Calibri"/>
                <a:sym typeface="Calibri"/>
              </a:rPr>
              <a:t>) of 8.9% across 2025-2033. </a:t>
            </a:r>
            <a:endParaRPr lang="en-US" dirty="0"/>
          </a:p>
          <a:p>
            <a:pPr marL="228600" marR="0" lvl="0" indent="-228600" algn="l" rtl="0">
              <a:lnSpc>
                <a:spcPct val="100000"/>
              </a:lnSpc>
              <a:spcBef>
                <a:spcPts val="0"/>
              </a:spcBef>
              <a:spcAft>
                <a:spcPts val="0"/>
              </a:spcAft>
              <a:buClr>
                <a:schemeClr val="dk1"/>
              </a:buClr>
              <a:buSzPts val="1200"/>
              <a:buFont typeface="Calibri"/>
              <a:buAutoNum type="arabicPeriod"/>
            </a:pPr>
            <a:r>
              <a:rPr lang="en-US" sz="1200" b="1" dirty="0">
                <a:solidFill>
                  <a:schemeClr val="dk1"/>
                </a:solidFill>
                <a:latin typeface="Calibri"/>
                <a:ea typeface="Calibri"/>
                <a:cs typeface="Calibri"/>
                <a:sym typeface="Calibri"/>
              </a:rPr>
              <a:t>Fortune Business </a:t>
            </a:r>
            <a:r>
              <a:rPr lang="en-US" sz="1200" b="0" dirty="0">
                <a:solidFill>
                  <a:schemeClr val="dk1"/>
                </a:solidFill>
                <a:latin typeface="Calibri"/>
                <a:ea typeface="Calibri"/>
                <a:cs typeface="Calibri"/>
                <a:sym typeface="Calibri"/>
              </a:rPr>
              <a:t>Insights values the global market at USD 172.24 billion (2023), growing to USD 562.72 billion by 2032, at a projected CAGR of 14.3%  .</a:t>
            </a:r>
            <a:endParaRPr lang="en-US" dirty="0"/>
          </a:p>
          <a:p>
            <a:pPr marL="228600" lvl="0" indent="-228600" algn="l" rtl="0">
              <a:spcBef>
                <a:spcPts val="0"/>
              </a:spcBef>
              <a:spcAft>
                <a:spcPts val="0"/>
              </a:spcAft>
              <a:buClr>
                <a:schemeClr val="dk1"/>
              </a:buClr>
              <a:buSzPts val="1200"/>
              <a:buFont typeface="Calibri"/>
              <a:buAutoNum type="arabicPeriod"/>
            </a:pPr>
            <a:r>
              <a:rPr lang="en-US" sz="1200" b="1" dirty="0">
                <a:solidFill>
                  <a:schemeClr val="dk1"/>
                </a:solidFill>
                <a:latin typeface="Calibri"/>
                <a:ea typeface="Calibri"/>
                <a:cs typeface="Calibri"/>
                <a:sym typeface="Calibri"/>
              </a:rPr>
              <a:t>Persistence Market Research</a:t>
            </a:r>
            <a:r>
              <a:rPr lang="en-US" sz="1200" dirty="0">
                <a:solidFill>
                  <a:schemeClr val="dk1"/>
                </a:solidFill>
                <a:latin typeface="Calibri"/>
                <a:ea typeface="Calibri"/>
                <a:cs typeface="Calibri"/>
                <a:sym typeface="Calibri"/>
              </a:rPr>
              <a:t> estimates </a:t>
            </a:r>
            <a:r>
              <a:rPr lang="en-US" sz="1200" b="1" dirty="0">
                <a:solidFill>
                  <a:schemeClr val="dk1"/>
                </a:solidFill>
                <a:latin typeface="Calibri"/>
                <a:ea typeface="Calibri"/>
                <a:cs typeface="Calibri"/>
                <a:sym typeface="Calibri"/>
              </a:rPr>
              <a:t>USD 225.7 billion in 2025</a:t>
            </a:r>
            <a:r>
              <a:rPr lang="en-US" sz="1200" dirty="0">
                <a:solidFill>
                  <a:schemeClr val="dk1"/>
                </a:solidFill>
                <a:latin typeface="Calibri"/>
                <a:ea typeface="Calibri"/>
                <a:cs typeface="Calibri"/>
                <a:sym typeface="Calibri"/>
              </a:rPr>
              <a:t>, growing to </a:t>
            </a:r>
            <a:r>
              <a:rPr lang="en-US" sz="1200" b="1" dirty="0">
                <a:solidFill>
                  <a:schemeClr val="dk1"/>
                </a:solidFill>
                <a:latin typeface="Calibri"/>
                <a:ea typeface="Calibri"/>
                <a:cs typeface="Calibri"/>
                <a:sym typeface="Calibri"/>
              </a:rPr>
              <a:t>USD 443.1 billion by 2032</a:t>
            </a:r>
            <a:r>
              <a:rPr lang="en-US" sz="1200" dirty="0">
                <a:solidFill>
                  <a:schemeClr val="dk1"/>
                </a:solidFill>
                <a:latin typeface="Calibri"/>
                <a:ea typeface="Calibri"/>
                <a:cs typeface="Calibri"/>
                <a:sym typeface="Calibri"/>
              </a:rPr>
              <a:t>, with a </a:t>
            </a:r>
            <a:r>
              <a:rPr lang="en-US" sz="1200" b="1" dirty="0">
                <a:solidFill>
                  <a:schemeClr val="dk1"/>
                </a:solidFill>
                <a:latin typeface="Calibri"/>
                <a:ea typeface="Calibri"/>
                <a:cs typeface="Calibri"/>
                <a:sym typeface="Calibri"/>
              </a:rPr>
              <a:t>CAGR of 10.2%</a:t>
            </a:r>
            <a:r>
              <a:rPr lang="en-US" sz="1200" dirty="0">
                <a:solidFill>
                  <a:schemeClr val="dk1"/>
                </a:solidFill>
                <a:latin typeface="Calibri"/>
                <a:ea typeface="Calibri"/>
                <a:cs typeface="Calibri"/>
                <a:sym typeface="Calibri"/>
              </a:rPr>
              <a:t> .</a:t>
            </a:r>
          </a:p>
          <a:p>
            <a:pPr marL="228600" lvl="0" indent="-228600" algn="l" rtl="0">
              <a:spcBef>
                <a:spcPts val="0"/>
              </a:spcBef>
              <a:spcAft>
                <a:spcPts val="0"/>
              </a:spcAft>
              <a:buClr>
                <a:schemeClr val="dk1"/>
              </a:buClr>
              <a:buSzPts val="1200"/>
              <a:buFont typeface="Calibri"/>
              <a:buAutoNum type="arabicPeriod"/>
            </a:pPr>
            <a:r>
              <a:rPr lang="en-US" sz="1200" b="1" dirty="0">
                <a:solidFill>
                  <a:schemeClr val="dk1"/>
                </a:solidFill>
                <a:latin typeface="Calibri"/>
                <a:ea typeface="Calibri"/>
                <a:cs typeface="Calibri"/>
                <a:sym typeface="Calibri"/>
              </a:rPr>
              <a:t>Grand View Research</a:t>
            </a:r>
            <a:r>
              <a:rPr lang="en-US" sz="1200" dirty="0">
                <a:solidFill>
                  <a:schemeClr val="dk1"/>
                </a:solidFill>
                <a:latin typeface="Calibri"/>
                <a:ea typeface="Calibri"/>
                <a:cs typeface="Calibri"/>
                <a:sym typeface="Calibri"/>
              </a:rPr>
              <a:t> positions the 2024 market at </a:t>
            </a:r>
            <a:r>
              <a:rPr lang="en-US" sz="1200" b="1" dirty="0">
                <a:solidFill>
                  <a:schemeClr val="dk1"/>
                </a:solidFill>
                <a:latin typeface="Calibri"/>
                <a:ea typeface="Calibri"/>
                <a:cs typeface="Calibri"/>
                <a:sym typeface="Calibri"/>
              </a:rPr>
              <a:t>USD 245.62 billion</a:t>
            </a:r>
            <a:r>
              <a:rPr lang="en-US" sz="1200" dirty="0">
                <a:solidFill>
                  <a:schemeClr val="dk1"/>
                </a:solidFill>
                <a:latin typeface="Calibri"/>
                <a:ea typeface="Calibri"/>
                <a:cs typeface="Calibri"/>
                <a:sym typeface="Calibri"/>
              </a:rPr>
              <a:t>, forecasting </a:t>
            </a:r>
            <a:r>
              <a:rPr lang="en-US" sz="1200" b="1" dirty="0">
                <a:solidFill>
                  <a:schemeClr val="dk1"/>
                </a:solidFill>
                <a:latin typeface="Calibri"/>
                <a:ea typeface="Calibri"/>
                <a:cs typeface="Calibri"/>
                <a:sym typeface="Calibri"/>
              </a:rPr>
              <a:t>USD 500.70 billion by 2030</a:t>
            </a:r>
            <a:r>
              <a:rPr lang="en-US" sz="1200" dirty="0">
                <a:solidFill>
                  <a:schemeClr val="dk1"/>
                </a:solidFill>
                <a:latin typeface="Calibri"/>
                <a:ea typeface="Calibri"/>
                <a:cs typeface="Calibri"/>
                <a:sym typeface="Calibri"/>
              </a:rPr>
              <a:t>, at a </a:t>
            </a:r>
            <a:r>
              <a:rPr lang="en-US" sz="1200" b="1" dirty="0">
                <a:solidFill>
                  <a:schemeClr val="dk1"/>
                </a:solidFill>
                <a:latin typeface="Calibri"/>
                <a:ea typeface="Calibri"/>
                <a:cs typeface="Calibri"/>
                <a:sym typeface="Calibri"/>
              </a:rPr>
              <a:t>12.9% CAGR</a:t>
            </a:r>
            <a:r>
              <a:rPr lang="en-US" sz="1200" dirty="0">
                <a:solidFill>
                  <a:schemeClr val="dk1"/>
                </a:solidFill>
                <a:latin typeface="Calibri"/>
                <a:ea typeface="Calibri"/>
                <a:cs typeface="Calibri"/>
                <a:sym typeface="Calibri"/>
              </a:rPr>
              <a:t>  .</a:t>
            </a:r>
          </a:p>
          <a:p>
            <a:pPr marL="228600" lvl="0" indent="-228600" algn="l" rtl="0">
              <a:spcBef>
                <a:spcPts val="0"/>
              </a:spcBef>
              <a:spcAft>
                <a:spcPts val="0"/>
              </a:spcAft>
              <a:buClr>
                <a:schemeClr val="dk1"/>
              </a:buClr>
              <a:buSzPts val="1200"/>
              <a:buFont typeface="Calibri"/>
              <a:buAutoNum type="arabicPeriod"/>
            </a:pPr>
            <a:r>
              <a:rPr lang="en-US" sz="1200" dirty="0">
                <a:solidFill>
                  <a:schemeClr val="dk1"/>
                </a:solidFill>
                <a:latin typeface="Calibri"/>
                <a:ea typeface="Calibri"/>
                <a:cs typeface="Calibri"/>
                <a:sym typeface="Calibri"/>
              </a:rPr>
              <a:t> </a:t>
            </a:r>
            <a:r>
              <a:rPr lang="en-US" sz="1200" b="1" dirty="0">
                <a:solidFill>
                  <a:schemeClr val="dk1"/>
                </a:solidFill>
                <a:latin typeface="Calibri"/>
                <a:ea typeface="Calibri"/>
                <a:cs typeface="Calibri"/>
                <a:sym typeface="Calibri"/>
              </a:rPr>
              <a:t>Precedence Research</a:t>
            </a:r>
            <a:r>
              <a:rPr lang="en-US" sz="1200" dirty="0">
                <a:solidFill>
                  <a:schemeClr val="dk1"/>
                </a:solidFill>
                <a:latin typeface="Calibri"/>
                <a:ea typeface="Calibri"/>
                <a:cs typeface="Calibri"/>
                <a:sym typeface="Calibri"/>
              </a:rPr>
              <a:t> estimates </a:t>
            </a:r>
            <a:r>
              <a:rPr lang="en-US" sz="1200" b="1" dirty="0">
                <a:solidFill>
                  <a:schemeClr val="dk1"/>
                </a:solidFill>
                <a:latin typeface="Calibri"/>
                <a:ea typeface="Calibri"/>
                <a:cs typeface="Calibri"/>
                <a:sym typeface="Calibri"/>
              </a:rPr>
              <a:t>USD 301.91 billion in 2025</a:t>
            </a:r>
            <a:r>
              <a:rPr lang="en-US" sz="1200" dirty="0">
                <a:solidFill>
                  <a:schemeClr val="dk1"/>
                </a:solidFill>
                <a:latin typeface="Calibri"/>
                <a:ea typeface="Calibri"/>
                <a:cs typeface="Calibri"/>
                <a:sym typeface="Calibri"/>
              </a:rPr>
              <a:t>, rising to </a:t>
            </a:r>
            <a:r>
              <a:rPr lang="en-US" sz="1200" b="1" dirty="0">
                <a:solidFill>
                  <a:schemeClr val="dk1"/>
                </a:solidFill>
                <a:latin typeface="Calibri"/>
                <a:ea typeface="Calibri"/>
                <a:cs typeface="Calibri"/>
                <a:sym typeface="Calibri"/>
              </a:rPr>
              <a:t>USD 878.48 billion by 2034</a:t>
            </a:r>
            <a:r>
              <a:rPr lang="en-US" sz="1200" dirty="0">
                <a:solidFill>
                  <a:schemeClr val="dk1"/>
                </a:solidFill>
                <a:latin typeface="Calibri"/>
                <a:ea typeface="Calibri"/>
                <a:cs typeface="Calibri"/>
                <a:sym typeface="Calibri"/>
              </a:rPr>
              <a:t>, at a </a:t>
            </a:r>
            <a:r>
              <a:rPr lang="en-US" sz="1200" b="1" dirty="0">
                <a:solidFill>
                  <a:schemeClr val="dk1"/>
                </a:solidFill>
                <a:latin typeface="Calibri"/>
                <a:ea typeface="Calibri"/>
                <a:cs typeface="Calibri"/>
                <a:sym typeface="Calibri"/>
              </a:rPr>
              <a:t>12.6% CAGR</a:t>
            </a:r>
            <a:r>
              <a:rPr lang="en-US" sz="1200" dirty="0">
                <a:solidFill>
                  <a:schemeClr val="dk1"/>
                </a:solidFill>
                <a:latin typeface="Calibri"/>
                <a:ea typeface="Calibri"/>
                <a:cs typeface="Calibri"/>
                <a:sym typeface="Calibri"/>
              </a:rPr>
              <a:t>  </a:t>
            </a:r>
          </a:p>
          <a:p>
            <a:pPr marL="228600" lvl="0" indent="-228600" algn="l" rtl="0">
              <a:spcBef>
                <a:spcPts val="0"/>
              </a:spcBef>
              <a:spcAft>
                <a:spcPts val="0"/>
              </a:spcAft>
              <a:buClr>
                <a:schemeClr val="dk1"/>
              </a:buClr>
              <a:buSzPts val="1200"/>
              <a:buFont typeface="Calibri"/>
              <a:buAutoNum type="arabicPeriod"/>
            </a:pPr>
            <a:r>
              <a:rPr lang="en-US" sz="1200" dirty="0">
                <a:solidFill>
                  <a:schemeClr val="dk1"/>
                </a:solidFill>
                <a:latin typeface="Calibri"/>
                <a:ea typeface="Calibri"/>
                <a:cs typeface="Calibri"/>
                <a:sym typeface="Calibri"/>
              </a:rPr>
              <a:t> Gartner projects </a:t>
            </a:r>
            <a:r>
              <a:rPr lang="en-US" sz="1200" b="1" dirty="0">
                <a:solidFill>
                  <a:schemeClr val="dk1"/>
                </a:solidFill>
                <a:latin typeface="Calibri"/>
                <a:ea typeface="Calibri"/>
                <a:cs typeface="Calibri"/>
                <a:sym typeface="Calibri"/>
              </a:rPr>
              <a:t>global end-user spending</a:t>
            </a:r>
            <a:r>
              <a:rPr lang="en-US" sz="1200" dirty="0">
                <a:solidFill>
                  <a:schemeClr val="dk1"/>
                </a:solidFill>
                <a:latin typeface="Calibri"/>
                <a:ea typeface="Calibri"/>
                <a:cs typeface="Calibri"/>
                <a:sym typeface="Calibri"/>
              </a:rPr>
              <a:t> on information security will reach </a:t>
            </a:r>
            <a:r>
              <a:rPr lang="en-US" sz="1200" b="1" dirty="0">
                <a:solidFill>
                  <a:schemeClr val="dk1"/>
                </a:solidFill>
                <a:latin typeface="Calibri"/>
                <a:ea typeface="Calibri"/>
                <a:cs typeface="Calibri"/>
                <a:sym typeface="Calibri"/>
              </a:rPr>
              <a:t>USD 183.9 billion in 2024</a:t>
            </a:r>
            <a:r>
              <a:rPr lang="en-US" sz="1200" dirty="0">
                <a:solidFill>
                  <a:schemeClr val="dk1"/>
                </a:solidFill>
                <a:latin typeface="Calibri"/>
                <a:ea typeface="Calibri"/>
                <a:cs typeface="Calibri"/>
                <a:sym typeface="Calibri"/>
              </a:rPr>
              <a:t>, rising to </a:t>
            </a:r>
            <a:r>
              <a:rPr lang="en-US" sz="1200" b="1" dirty="0">
                <a:solidFill>
                  <a:schemeClr val="dk1"/>
                </a:solidFill>
                <a:latin typeface="Calibri"/>
                <a:ea typeface="Calibri"/>
                <a:cs typeface="Calibri"/>
                <a:sym typeface="Calibri"/>
              </a:rPr>
              <a:t>USD 212 billion in 2025</a:t>
            </a:r>
            <a:r>
              <a:rPr lang="en-US" sz="1200" dirty="0">
                <a:solidFill>
                  <a:schemeClr val="dk1"/>
                </a:solidFill>
                <a:latin typeface="Calibri"/>
                <a:ea typeface="Calibri"/>
                <a:cs typeface="Calibri"/>
                <a:sym typeface="Calibri"/>
              </a:rPr>
              <a:t>, representing </a:t>
            </a:r>
            <a:r>
              <a:rPr lang="en-US" sz="1200" b="1" dirty="0">
                <a:solidFill>
                  <a:schemeClr val="dk1"/>
                </a:solidFill>
                <a:latin typeface="Calibri"/>
                <a:ea typeface="Calibri"/>
                <a:cs typeface="Calibri"/>
                <a:sym typeface="Calibri"/>
              </a:rPr>
              <a:t>15.1% year-over-year growth. </a:t>
            </a:r>
            <a:r>
              <a:rPr lang="en-US" sz="1200" dirty="0">
                <a:solidFill>
                  <a:schemeClr val="dk1"/>
                </a:solidFill>
                <a:latin typeface="Calibri"/>
                <a:ea typeface="Calibri"/>
                <a:cs typeface="Calibri"/>
                <a:sym typeface="Calibri"/>
              </a:rPr>
              <a:t>Over the extended period </a:t>
            </a:r>
            <a:r>
              <a:rPr lang="en-US" sz="1200" b="1" dirty="0">
                <a:solidFill>
                  <a:schemeClr val="dk1"/>
                </a:solidFill>
                <a:latin typeface="Calibri"/>
                <a:ea typeface="Calibri"/>
                <a:cs typeface="Calibri"/>
                <a:sym typeface="Calibri"/>
              </a:rPr>
              <a:t>2023-2028</a:t>
            </a:r>
            <a:r>
              <a:rPr lang="en-US" sz="1200" dirty="0">
                <a:solidFill>
                  <a:schemeClr val="dk1"/>
                </a:solidFill>
                <a:latin typeface="Calibri"/>
                <a:ea typeface="Calibri"/>
                <a:cs typeface="Calibri"/>
                <a:sym typeface="Calibri"/>
              </a:rPr>
              <a:t>, Gartner estimates spending will grow from </a:t>
            </a:r>
            <a:r>
              <a:rPr lang="en-US" sz="1200" b="1" dirty="0">
                <a:solidFill>
                  <a:schemeClr val="dk1"/>
                </a:solidFill>
                <a:latin typeface="Calibri"/>
                <a:ea typeface="Calibri"/>
                <a:cs typeface="Calibri"/>
                <a:sym typeface="Calibri"/>
              </a:rPr>
              <a:t>USD 162 billion to approximately USD 292-294 billion</a:t>
            </a:r>
            <a:r>
              <a:rPr lang="en-US" sz="1200" dirty="0">
                <a:solidFill>
                  <a:schemeClr val="dk1"/>
                </a:solidFill>
                <a:latin typeface="Calibri"/>
                <a:ea typeface="Calibri"/>
                <a:cs typeface="Calibri"/>
                <a:sym typeface="Calibri"/>
              </a:rPr>
              <a:t>, indicating a </a:t>
            </a:r>
            <a:r>
              <a:rPr lang="en-US" sz="1200" b="1" dirty="0">
                <a:solidFill>
                  <a:schemeClr val="dk1"/>
                </a:solidFill>
                <a:latin typeface="Calibri"/>
                <a:ea typeface="Calibri"/>
                <a:cs typeface="Calibri"/>
                <a:sym typeface="Calibri"/>
              </a:rPr>
              <a:t>CAGR of around 11.7-12.5%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1" dirty="0">
                <a:solidFill>
                  <a:schemeClr val="dk1"/>
                </a:solidFill>
                <a:latin typeface="Calibri"/>
                <a:ea typeface="Calibri"/>
                <a:cs typeface="Calibri"/>
                <a:sym typeface="Calibri"/>
              </a:rPr>
              <a:t>ISC² 2024 Cybersecurity Workforce Study: </a:t>
            </a:r>
            <a:endParaRPr lang="en-US" sz="1200" dirty="0">
              <a:solidFill>
                <a:schemeClr val="dk1"/>
              </a:solidFill>
              <a:latin typeface="Calibri"/>
              <a:ea typeface="Calibri"/>
              <a:cs typeface="Calibri"/>
              <a:sym typeface="Calibri"/>
            </a:endParaRPr>
          </a:p>
          <a:p>
            <a:pPr marL="171450" lvl="0" indent="-171450" algn="l" rtl="0">
              <a:spcBef>
                <a:spcPts val="0"/>
              </a:spcBef>
              <a:spcAft>
                <a:spcPts val="0"/>
              </a:spcAft>
              <a:buClr>
                <a:schemeClr val="dk1"/>
              </a:buClr>
              <a:buSzPts val="1200"/>
              <a:buFont typeface="Noto Sans Symbols"/>
              <a:buChar char="▪"/>
            </a:pPr>
            <a:r>
              <a:rPr lang="en-US" sz="1200" b="1" dirty="0">
                <a:solidFill>
                  <a:schemeClr val="dk1"/>
                </a:solidFill>
                <a:latin typeface="Calibri"/>
                <a:ea typeface="Calibri"/>
                <a:cs typeface="Calibri"/>
                <a:sym typeface="Calibri"/>
              </a:rPr>
              <a:t>Active global cybersecurity workforce</a:t>
            </a:r>
            <a:r>
              <a:rPr lang="en-US" sz="1200" dirty="0">
                <a:solidFill>
                  <a:schemeClr val="dk1"/>
                </a:solidFill>
                <a:latin typeface="Calibri"/>
                <a:ea typeface="Calibri"/>
                <a:cs typeface="Calibri"/>
                <a:sym typeface="Calibri"/>
              </a:rPr>
              <a:t>: approximately </a:t>
            </a:r>
            <a:r>
              <a:rPr lang="en-US" sz="1200" b="1" dirty="0">
                <a:solidFill>
                  <a:schemeClr val="dk1"/>
                </a:solidFill>
                <a:latin typeface="Calibri"/>
                <a:ea typeface="Calibri"/>
                <a:cs typeface="Calibri"/>
                <a:sym typeface="Calibri"/>
              </a:rPr>
              <a:t>5.5 million professionals</a:t>
            </a:r>
            <a:r>
              <a:rPr lang="en-US" sz="1200" dirty="0">
                <a:solidFill>
                  <a:schemeClr val="dk1"/>
                </a:solidFill>
                <a:latin typeface="Calibri"/>
                <a:ea typeface="Calibri"/>
                <a:cs typeface="Calibri"/>
                <a:sym typeface="Calibri"/>
              </a:rPr>
              <a:t>, a very modest </a:t>
            </a:r>
            <a:r>
              <a:rPr lang="en-US" sz="1200" b="1" dirty="0">
                <a:solidFill>
                  <a:schemeClr val="dk1"/>
                </a:solidFill>
                <a:latin typeface="Calibri"/>
                <a:ea typeface="Calibri"/>
                <a:cs typeface="Calibri"/>
                <a:sym typeface="Calibri"/>
              </a:rPr>
              <a:t>0.1% increase</a:t>
            </a:r>
            <a:r>
              <a:rPr lang="en-US" sz="1200" dirty="0">
                <a:solidFill>
                  <a:schemeClr val="dk1"/>
                </a:solidFill>
                <a:latin typeface="Calibri"/>
                <a:ea typeface="Calibri"/>
                <a:cs typeface="Calibri"/>
                <a:sym typeface="Calibri"/>
              </a:rPr>
              <a:t> from the prior year.</a:t>
            </a:r>
          </a:p>
          <a:p>
            <a:pPr marL="171450" lvl="0" indent="-171450" algn="l" rtl="0">
              <a:spcBef>
                <a:spcPts val="0"/>
              </a:spcBef>
              <a:spcAft>
                <a:spcPts val="0"/>
              </a:spcAft>
              <a:buClr>
                <a:schemeClr val="dk1"/>
              </a:buClr>
              <a:buSzPts val="1200"/>
              <a:buFont typeface="Noto Sans Symbols"/>
              <a:buChar char="▪"/>
            </a:pPr>
            <a:r>
              <a:rPr lang="en-US" sz="1200" b="1" dirty="0">
                <a:solidFill>
                  <a:schemeClr val="dk1"/>
                </a:solidFill>
                <a:latin typeface="Calibri"/>
                <a:ea typeface="Calibri"/>
                <a:cs typeface="Calibri"/>
                <a:sym typeface="Calibri"/>
              </a:rPr>
              <a:t>Global workforce gap</a:t>
            </a:r>
            <a:r>
              <a:rPr lang="en-US" sz="1200" dirty="0">
                <a:solidFill>
                  <a:schemeClr val="dk1"/>
                </a:solidFill>
                <a:latin typeface="Calibri"/>
                <a:ea typeface="Calibri"/>
                <a:cs typeface="Calibri"/>
                <a:sym typeface="Calibri"/>
              </a:rPr>
              <a:t>: </a:t>
            </a:r>
            <a:r>
              <a:rPr lang="en-US" sz="1200" b="1" dirty="0">
                <a:solidFill>
                  <a:schemeClr val="dk1"/>
                </a:solidFill>
                <a:latin typeface="Calibri"/>
                <a:ea typeface="Calibri"/>
                <a:cs typeface="Calibri"/>
                <a:sym typeface="Calibri"/>
              </a:rPr>
              <a:t>Around 4.8 million</a:t>
            </a:r>
            <a:r>
              <a:rPr lang="en-US" sz="1200" dirty="0">
                <a:solidFill>
                  <a:schemeClr val="dk1"/>
                </a:solidFill>
                <a:latin typeface="Calibri"/>
                <a:ea typeface="Calibri"/>
                <a:cs typeface="Calibri"/>
                <a:sym typeface="Calibri"/>
              </a:rPr>
              <a:t>, up </a:t>
            </a:r>
            <a:r>
              <a:rPr lang="en-US" sz="1200" b="1" dirty="0">
                <a:solidFill>
                  <a:schemeClr val="dk1"/>
                </a:solidFill>
                <a:latin typeface="Calibri"/>
                <a:ea typeface="Calibri"/>
                <a:cs typeface="Calibri"/>
                <a:sym typeface="Calibri"/>
              </a:rPr>
              <a:t>19% year-on-year</a:t>
            </a:r>
            <a:r>
              <a:rPr lang="en-US" sz="1200" dirty="0">
                <a:solidFill>
                  <a:schemeClr val="dk1"/>
                </a:solidFill>
                <a:latin typeface="Calibri"/>
                <a:ea typeface="Calibri"/>
                <a:cs typeface="Calibri"/>
                <a:sym typeface="Calibri"/>
              </a:rPr>
              <a:t> in 2024.</a:t>
            </a:r>
          </a:p>
          <a:p>
            <a:pPr marL="171450" lvl="0" indent="-171450" algn="l" rtl="0">
              <a:spcBef>
                <a:spcPts val="0"/>
              </a:spcBef>
              <a:spcAft>
                <a:spcPts val="0"/>
              </a:spcAft>
              <a:buClr>
                <a:schemeClr val="dk1"/>
              </a:buClr>
              <a:buSzPts val="1200"/>
              <a:buFont typeface="Noto Sans Symbols"/>
              <a:buChar char="▪"/>
            </a:pPr>
            <a:r>
              <a:rPr lang="en-US" sz="1200" b="1" dirty="0">
                <a:solidFill>
                  <a:schemeClr val="dk1"/>
                </a:solidFill>
                <a:latin typeface="Calibri"/>
                <a:ea typeface="Calibri"/>
                <a:cs typeface="Calibri"/>
                <a:sym typeface="Calibri"/>
              </a:rPr>
              <a:t>Total demand to meet requirements</a:t>
            </a:r>
            <a:r>
              <a:rPr lang="en-US" sz="1200" dirty="0">
                <a:solidFill>
                  <a:schemeClr val="dk1"/>
                </a:solidFill>
                <a:latin typeface="Calibri"/>
                <a:ea typeface="Calibri"/>
                <a:cs typeface="Calibri"/>
                <a:sym typeface="Calibri"/>
              </a:rPr>
              <a:t>: about </a:t>
            </a:r>
            <a:r>
              <a:rPr lang="en-US" sz="1200" b="1" dirty="0">
                <a:solidFill>
                  <a:schemeClr val="dk1"/>
                </a:solidFill>
                <a:latin typeface="Calibri"/>
                <a:ea typeface="Calibri"/>
                <a:cs typeface="Calibri"/>
                <a:sym typeface="Calibri"/>
              </a:rPr>
              <a:t>10.2 million professionals globally</a:t>
            </a:r>
            <a:r>
              <a:rPr lang="en-US" sz="1200" dirty="0">
                <a:solidFill>
                  <a:schemeClr val="dk1"/>
                </a:solidFill>
                <a:latin typeface="Calibri"/>
                <a:ea typeface="Calibri"/>
                <a:cs typeface="Calibri"/>
                <a:sym typeface="Calibri"/>
              </a:rPr>
              <a:t>  .</a:t>
            </a:r>
          </a:p>
          <a:p>
            <a:pPr marL="0" lvl="0" indent="0" algn="l" rtl="0">
              <a:spcBef>
                <a:spcPts val="0"/>
              </a:spcBef>
              <a:spcAft>
                <a:spcPts val="0"/>
              </a:spcAft>
              <a:buClr>
                <a:schemeClr val="dk1"/>
              </a:buClr>
              <a:buSzPts val="1200"/>
              <a:buFont typeface="Noto Sans Symbols"/>
              <a:buNone/>
            </a:pPr>
            <a:r>
              <a:rPr lang="en-US" sz="1200" dirty="0">
                <a:solidFill>
                  <a:schemeClr val="dk1"/>
                </a:solidFill>
                <a:latin typeface="Calibri"/>
                <a:ea typeface="Calibri"/>
                <a:cs typeface="Calibri"/>
                <a:sym typeface="Calibri"/>
              </a:rPr>
              <a:t>Workforce growth is reducing to a slower pace and as such there is a growth in demand for far outpaces supply despite organizations increasing requirements in cybersecurity.</a:t>
            </a:r>
          </a:p>
          <a:p>
            <a:pPr marL="0" lvl="0" indent="0" algn="l" rtl="0">
              <a:spcBef>
                <a:spcPts val="0"/>
              </a:spcBef>
              <a:spcAft>
                <a:spcPts val="0"/>
              </a:spcAft>
              <a:buClr>
                <a:schemeClr val="dk1"/>
              </a:buClr>
              <a:buSzPts val="1200"/>
              <a:buFont typeface="Noto Sans Symbols"/>
              <a:buNone/>
            </a:pPr>
            <a:r>
              <a:rPr lang="en-US" sz="1200" b="1" dirty="0">
                <a:solidFill>
                  <a:schemeClr val="dk1"/>
                </a:solidFill>
                <a:latin typeface="Calibri"/>
                <a:ea typeface="Calibri"/>
                <a:cs typeface="Calibri"/>
                <a:sym typeface="Calibri"/>
              </a:rPr>
              <a:t>Boston Consulting Group (BCG) &amp; Global Cybersecurity Forum (2024):</a:t>
            </a:r>
            <a:endParaRPr lang="en-US" sz="1200" dirty="0">
              <a:solidFill>
                <a:schemeClr val="dk1"/>
              </a:solidFill>
              <a:latin typeface="Calibri"/>
              <a:ea typeface="Calibri"/>
              <a:cs typeface="Calibri"/>
              <a:sym typeface="Calibri"/>
            </a:endParaRPr>
          </a:p>
          <a:p>
            <a:pPr marL="171450" lvl="0" indent="-171450" algn="l" rtl="0">
              <a:spcBef>
                <a:spcPts val="0"/>
              </a:spcBef>
              <a:spcAft>
                <a:spcPts val="0"/>
              </a:spcAft>
              <a:buClr>
                <a:schemeClr val="dk1"/>
              </a:buClr>
              <a:buSzPts val="1200"/>
              <a:buFont typeface="Noto Sans Symbols"/>
              <a:buChar char="▪"/>
            </a:pPr>
            <a:r>
              <a:rPr lang="en-US" sz="1200" dirty="0">
                <a:solidFill>
                  <a:schemeClr val="dk1"/>
                </a:solidFill>
                <a:latin typeface="Calibri"/>
                <a:ea typeface="Calibri"/>
                <a:cs typeface="Calibri"/>
                <a:sym typeface="Calibri"/>
              </a:rPr>
              <a:t>There is an estimated growth of approx. </a:t>
            </a:r>
            <a:r>
              <a:rPr lang="en-US" sz="1200" b="1" dirty="0">
                <a:solidFill>
                  <a:schemeClr val="dk1"/>
                </a:solidFill>
                <a:latin typeface="Calibri"/>
                <a:ea typeface="Calibri"/>
                <a:cs typeface="Calibri"/>
                <a:sym typeface="Calibri"/>
              </a:rPr>
              <a:t>7.1 million cybersecurity professionals</a:t>
            </a:r>
            <a:r>
              <a:rPr lang="en-US" sz="1200" dirty="0">
                <a:solidFill>
                  <a:schemeClr val="dk1"/>
                </a:solidFill>
                <a:latin typeface="Calibri"/>
                <a:ea typeface="Calibri"/>
                <a:cs typeface="Calibri"/>
                <a:sym typeface="Calibri"/>
              </a:rPr>
              <a:t> worldwide and the demand continues to exceed supply which leaves </a:t>
            </a:r>
            <a:r>
              <a:rPr lang="en-US" sz="1200" b="1" dirty="0">
                <a:solidFill>
                  <a:schemeClr val="dk1"/>
                </a:solidFill>
                <a:latin typeface="Calibri"/>
                <a:ea typeface="Calibri"/>
                <a:cs typeface="Calibri"/>
                <a:sym typeface="Calibri"/>
              </a:rPr>
              <a:t>approximately 2.8 million positions unfilled</a:t>
            </a:r>
            <a:r>
              <a:rPr lang="en-US" sz="1200" dirty="0">
                <a:solidFill>
                  <a:schemeClr val="dk1"/>
                </a:solidFill>
                <a:latin typeface="Calibri"/>
                <a:ea typeface="Calibri"/>
                <a:cs typeface="Calibri"/>
                <a:sym typeface="Calibri"/>
              </a:rPr>
              <a:t>, especially acute in Asia-Pacific which accounts for </a:t>
            </a:r>
            <a:r>
              <a:rPr lang="en-US" sz="1200" b="1" dirty="0">
                <a:solidFill>
                  <a:schemeClr val="dk1"/>
                </a:solidFill>
                <a:latin typeface="Calibri"/>
                <a:ea typeface="Calibri"/>
                <a:cs typeface="Calibri"/>
                <a:sym typeface="Calibri"/>
              </a:rPr>
              <a:t>56% of the shortage</a:t>
            </a:r>
            <a:r>
              <a:rPr lang="en-US" sz="1200" dirty="0">
                <a:solidFill>
                  <a:schemeClr val="dk1"/>
                </a:solidFill>
                <a:latin typeface="Calibri"/>
                <a:ea typeface="Calibri"/>
                <a:cs typeface="Calibri"/>
                <a:sym typeface="Calibri"/>
              </a:rPr>
              <a:t>.</a:t>
            </a:r>
          </a:p>
          <a:p>
            <a:pPr marL="0" lvl="0" indent="0" algn="l" rtl="0">
              <a:spcBef>
                <a:spcPts val="0"/>
              </a:spcBef>
              <a:spcAft>
                <a:spcPts val="0"/>
              </a:spcAft>
              <a:buClr>
                <a:schemeClr val="dk1"/>
              </a:buClr>
              <a:buSzPts val="1200"/>
              <a:buFont typeface="Noto Sans Symbols"/>
              <a:buNone/>
            </a:pPr>
            <a:r>
              <a:rPr lang="en-US" sz="1200" b="1" dirty="0">
                <a:solidFill>
                  <a:schemeClr val="dk1"/>
                </a:solidFill>
                <a:latin typeface="Calibri"/>
                <a:ea typeface="Calibri"/>
                <a:cs typeface="Calibri"/>
                <a:sym typeface="Calibri"/>
              </a:rPr>
              <a:t>World Economic Forum (WEF):</a:t>
            </a:r>
            <a:endParaRPr lang="en-US" sz="1200" dirty="0">
              <a:solidFill>
                <a:schemeClr val="dk1"/>
              </a:solidFill>
              <a:latin typeface="Calibri"/>
              <a:ea typeface="Calibri"/>
              <a:cs typeface="Calibri"/>
              <a:sym typeface="Calibri"/>
            </a:endParaRPr>
          </a:p>
          <a:p>
            <a:pPr marL="171450" lvl="0" indent="-171450" algn="l" rtl="0">
              <a:spcBef>
                <a:spcPts val="0"/>
              </a:spcBef>
              <a:spcAft>
                <a:spcPts val="0"/>
              </a:spcAft>
              <a:buClr>
                <a:schemeClr val="dk1"/>
              </a:buClr>
              <a:buSzPts val="1200"/>
              <a:buFont typeface="Noto Sans Symbols"/>
              <a:buChar char="▪"/>
            </a:pPr>
            <a:r>
              <a:rPr lang="en-US" sz="1200" dirty="0">
                <a:solidFill>
                  <a:schemeClr val="dk1"/>
                </a:solidFill>
                <a:latin typeface="Calibri"/>
                <a:ea typeface="Calibri"/>
                <a:cs typeface="Calibri"/>
                <a:sym typeface="Calibri"/>
              </a:rPr>
              <a:t>WEF reported a </a:t>
            </a:r>
            <a:r>
              <a:rPr lang="en-US" sz="1200" b="1" dirty="0">
                <a:solidFill>
                  <a:schemeClr val="dk1"/>
                </a:solidFill>
                <a:latin typeface="Calibri"/>
                <a:ea typeface="Calibri"/>
                <a:cs typeface="Calibri"/>
                <a:sym typeface="Calibri"/>
              </a:rPr>
              <a:t>shortfall of 4 million cybersecurity professionals globally</a:t>
            </a:r>
            <a:r>
              <a:rPr lang="en-US" sz="1200" dirty="0">
                <a:solidFill>
                  <a:schemeClr val="dk1"/>
                </a:solidFill>
                <a:latin typeface="Calibri"/>
                <a:ea typeface="Calibri"/>
                <a:cs typeface="Calibri"/>
                <a:sym typeface="Calibri"/>
              </a:rPr>
              <a:t> as of mid‑2024. This projects growth in shortage to as much as </a:t>
            </a:r>
            <a:r>
              <a:rPr lang="en-US" sz="1200" b="1" dirty="0">
                <a:solidFill>
                  <a:schemeClr val="dk1"/>
                </a:solidFill>
                <a:latin typeface="Calibri"/>
                <a:ea typeface="Calibri"/>
                <a:cs typeface="Calibri"/>
                <a:sym typeface="Calibri"/>
              </a:rPr>
              <a:t>85 million by 2030</a:t>
            </a:r>
            <a:r>
              <a:rPr lang="en-US" sz="1200" dirty="0">
                <a:solidFill>
                  <a:schemeClr val="dk1"/>
                </a:solidFill>
                <a:latin typeface="Calibri"/>
                <a:ea typeface="Calibri"/>
                <a:cs typeface="Calibri"/>
                <a:sym typeface="Calibri"/>
              </a:rPr>
              <a:t>, with an estimated </a:t>
            </a:r>
            <a:r>
              <a:rPr lang="en-US" sz="1200" b="1" dirty="0">
                <a:solidFill>
                  <a:schemeClr val="dk1"/>
                </a:solidFill>
                <a:latin typeface="Calibri"/>
                <a:ea typeface="Calibri"/>
                <a:cs typeface="Calibri"/>
                <a:sym typeface="Calibri"/>
              </a:rPr>
              <a:t>USD 8.5 trillion in unrealized revenue per year</a:t>
            </a:r>
            <a:r>
              <a:rPr lang="en-US" sz="1200" dirty="0">
                <a:solidFill>
                  <a:schemeClr val="dk1"/>
                </a:solidFill>
                <a:latin typeface="Calibri"/>
                <a:ea typeface="Calibri"/>
                <a:cs typeface="Calibri"/>
                <a:sym typeface="Calibri"/>
              </a:rPr>
              <a:t> due to unfilled roles.</a:t>
            </a:r>
          </a:p>
          <a:p>
            <a:pPr marL="171450" lvl="0" indent="-171450" algn="l" rtl="0">
              <a:spcBef>
                <a:spcPts val="0"/>
              </a:spcBef>
              <a:spcAft>
                <a:spcPts val="0"/>
              </a:spcAft>
              <a:buClr>
                <a:schemeClr val="dk1"/>
              </a:buClr>
              <a:buSzPts val="1200"/>
              <a:buFont typeface="Noto Sans Symbols"/>
              <a:buChar char="▪"/>
            </a:pPr>
            <a:r>
              <a:rPr lang="en-US" sz="1200" dirty="0">
                <a:solidFill>
                  <a:schemeClr val="dk1"/>
                </a:solidFill>
                <a:latin typeface="Calibri"/>
                <a:ea typeface="Calibri"/>
                <a:cs typeface="Calibri"/>
                <a:sym typeface="Calibri"/>
              </a:rPr>
              <a:t>It is estimated that 64% of the organizations face increased risk due to cybersecurity skills gaps out of which less than 15% is expected to have a substantial improvements by 2026.</a:t>
            </a:r>
          </a:p>
          <a:p>
            <a:pPr marL="0" lvl="0" indent="0" algn="l" rtl="0">
              <a:spcBef>
                <a:spcPts val="0"/>
              </a:spcBef>
              <a:spcAft>
                <a:spcPts val="0"/>
              </a:spcAft>
              <a:buClr>
                <a:schemeClr val="dk1"/>
              </a:buClr>
              <a:buSzPts val="1200"/>
              <a:buFont typeface="Noto Sans Symbols"/>
              <a:buNone/>
            </a:pPr>
            <a:r>
              <a:rPr lang="en-US" sz="1200" b="1" dirty="0">
                <a:solidFill>
                  <a:schemeClr val="dk1"/>
                </a:solidFill>
                <a:latin typeface="Calibri"/>
                <a:ea typeface="Calibri"/>
                <a:cs typeface="Calibri"/>
                <a:sym typeface="Calibri"/>
              </a:rPr>
              <a:t>Regional Distribution &amp; Focus Areas</a:t>
            </a:r>
            <a:endParaRPr lang="en-US" sz="1200" dirty="0">
              <a:solidFill>
                <a:schemeClr val="dk1"/>
              </a:solidFill>
              <a:latin typeface="Calibri"/>
              <a:ea typeface="Calibri"/>
              <a:cs typeface="Calibri"/>
              <a:sym typeface="Calibri"/>
            </a:endParaRPr>
          </a:p>
          <a:p>
            <a:pPr marL="171450" lvl="0" indent="-171450" algn="l" rtl="0">
              <a:spcBef>
                <a:spcPts val="0"/>
              </a:spcBef>
              <a:spcAft>
                <a:spcPts val="0"/>
              </a:spcAft>
              <a:buClr>
                <a:schemeClr val="dk1"/>
              </a:buClr>
              <a:buSzPts val="1200"/>
              <a:buFont typeface="Noto Sans Symbols"/>
              <a:buChar char="▪"/>
            </a:pPr>
            <a:r>
              <a:rPr lang="en-US" sz="1200" b="1" dirty="0">
                <a:solidFill>
                  <a:schemeClr val="dk1"/>
                </a:solidFill>
                <a:latin typeface="Calibri"/>
                <a:ea typeface="Calibri"/>
                <a:cs typeface="Calibri"/>
                <a:sym typeface="Calibri"/>
              </a:rPr>
              <a:t>Asia-Pacific</a:t>
            </a:r>
            <a:r>
              <a:rPr lang="en-US" sz="1200" dirty="0">
                <a:solidFill>
                  <a:schemeClr val="dk1"/>
                </a:solidFill>
                <a:latin typeface="Calibri"/>
                <a:ea typeface="Calibri"/>
                <a:cs typeface="Calibri"/>
                <a:sym typeface="Calibri"/>
              </a:rPr>
              <a:t> region experiences the largest shortages (accounts for approx. 56% of global gap).</a:t>
            </a:r>
          </a:p>
          <a:p>
            <a:pPr marL="171450" lvl="0" indent="-171450" algn="l" rtl="0">
              <a:spcBef>
                <a:spcPts val="0"/>
              </a:spcBef>
              <a:spcAft>
                <a:spcPts val="0"/>
              </a:spcAft>
              <a:buClr>
                <a:schemeClr val="dk1"/>
              </a:buClr>
              <a:buSzPts val="1200"/>
              <a:buFont typeface="Noto Sans Symbols"/>
              <a:buChar char="▪"/>
            </a:pPr>
            <a:r>
              <a:rPr lang="en-US" sz="1200" b="1" dirty="0">
                <a:solidFill>
                  <a:schemeClr val="dk1"/>
                </a:solidFill>
                <a:latin typeface="Calibri"/>
                <a:ea typeface="Calibri"/>
                <a:cs typeface="Calibri"/>
                <a:sym typeface="Calibri"/>
              </a:rPr>
              <a:t>North America</a:t>
            </a:r>
            <a:r>
              <a:rPr lang="en-US" sz="1200" dirty="0">
                <a:solidFill>
                  <a:schemeClr val="dk1"/>
                </a:solidFill>
                <a:latin typeface="Calibri"/>
                <a:ea typeface="Calibri"/>
                <a:cs typeface="Calibri"/>
                <a:sym typeface="Calibri"/>
              </a:rPr>
              <a:t> and </a:t>
            </a:r>
            <a:r>
              <a:rPr lang="en-US" sz="1200" b="1" dirty="0">
                <a:solidFill>
                  <a:schemeClr val="dk1"/>
                </a:solidFill>
                <a:latin typeface="Calibri"/>
                <a:ea typeface="Calibri"/>
                <a:cs typeface="Calibri"/>
                <a:sym typeface="Calibri"/>
              </a:rPr>
              <a:t>Europe</a:t>
            </a:r>
            <a:r>
              <a:rPr lang="en-US" sz="1200" dirty="0">
                <a:solidFill>
                  <a:schemeClr val="dk1"/>
                </a:solidFill>
                <a:latin typeface="Calibri"/>
                <a:ea typeface="Calibri"/>
                <a:cs typeface="Calibri"/>
                <a:sym typeface="Calibri"/>
              </a:rPr>
              <a:t> also report significant unmet demand where the </a:t>
            </a:r>
            <a:r>
              <a:rPr lang="en-US" sz="1200" b="0" i="0" dirty="0">
                <a:solidFill>
                  <a:schemeClr val="dk1"/>
                </a:solidFill>
                <a:latin typeface="Calibri"/>
                <a:ea typeface="Calibri"/>
                <a:cs typeface="Calibri"/>
                <a:sym typeface="Calibri"/>
              </a:rPr>
              <a:t>availability of required cybersecurity professionals does not satisfy the requirements</a:t>
            </a:r>
            <a:r>
              <a:rPr lang="en-US" sz="1200" dirty="0">
                <a:solidFill>
                  <a:schemeClr val="dk1"/>
                </a:solidFill>
                <a:latin typeface="Calibri"/>
                <a:ea typeface="Calibri"/>
                <a:cs typeface="Calibri"/>
                <a:sym typeface="Calibri"/>
              </a:rPr>
              <a:t>.</a:t>
            </a:r>
          </a:p>
          <a:p>
            <a:pPr marL="171450" lvl="0" indent="-171450" algn="l" rtl="0">
              <a:spcBef>
                <a:spcPts val="0"/>
              </a:spcBef>
              <a:spcAft>
                <a:spcPts val="0"/>
              </a:spcAft>
              <a:buClr>
                <a:schemeClr val="dk1"/>
              </a:buClr>
              <a:buSzPts val="1200"/>
              <a:buFont typeface="Noto Sans Symbols"/>
              <a:buChar char="▪"/>
            </a:pPr>
            <a:r>
              <a:rPr lang="en-US" sz="1200" dirty="0">
                <a:solidFill>
                  <a:schemeClr val="dk1"/>
                </a:solidFill>
                <a:latin typeface="Calibri"/>
                <a:ea typeface="Calibri"/>
                <a:cs typeface="Calibri"/>
                <a:sym typeface="Calibri"/>
              </a:rPr>
              <a:t>Scheduling gaps are especially acute in sectors like </a:t>
            </a:r>
            <a:r>
              <a:rPr lang="en-US" sz="1200" b="1" dirty="0">
                <a:solidFill>
                  <a:schemeClr val="dk1"/>
                </a:solidFill>
                <a:latin typeface="Calibri"/>
                <a:ea typeface="Calibri"/>
                <a:cs typeface="Calibri"/>
                <a:sym typeface="Calibri"/>
              </a:rPr>
              <a:t>financial services, healthcare, industrials</a:t>
            </a:r>
            <a:r>
              <a:rPr lang="en-US" sz="1200" dirty="0">
                <a:solidFill>
                  <a:schemeClr val="dk1"/>
                </a:solidFill>
                <a:latin typeface="Calibri"/>
                <a:ea typeface="Calibri"/>
                <a:cs typeface="Calibri"/>
                <a:sym typeface="Calibri"/>
              </a:rPr>
              <a:t>, and </a:t>
            </a:r>
            <a:r>
              <a:rPr lang="en-US" sz="1200" b="1" dirty="0">
                <a:solidFill>
                  <a:schemeClr val="dk1"/>
                </a:solidFill>
                <a:latin typeface="Calibri"/>
                <a:ea typeface="Calibri"/>
                <a:cs typeface="Calibri"/>
                <a:sym typeface="Calibri"/>
              </a:rPr>
              <a:t>government</a:t>
            </a:r>
            <a:r>
              <a:rPr lang="en-US" sz="1200" dirty="0">
                <a:solidFill>
                  <a:schemeClr val="dk1"/>
                </a:solidFill>
                <a:latin typeface="Calibri"/>
                <a:ea typeface="Calibri"/>
                <a:cs typeface="Calibri"/>
                <a:sym typeface="Calibri"/>
              </a:rPr>
              <a:t>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chapter we have learned the basic fundamentals of Cybersecurity and it’s underlying domains, the various threat factors, challenges, the best practices that an organization needs to follow to be secure and also be compliant with the industry standards and regulatory requirements, evolution of Cybersecurity  and most importantly the importance of Cybersecurity and it’s growth in the global market.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9854AF-B3D7-2ECC-8064-16CDE1357542}"/>
              </a:ext>
            </a:extLst>
          </p:cNvPr>
          <p:cNvPicPr>
            <a:picLocks noChangeAspect="1"/>
          </p:cNvPicPr>
          <p:nvPr userDrawn="1"/>
        </p:nvPicPr>
        <p:blipFill>
          <a:blip r:embed="rId2"/>
          <a:stretch>
            <a:fillRect/>
          </a:stretch>
        </p:blipFill>
        <p:spPr>
          <a:xfrm>
            <a:off x="7196273" y="4505903"/>
            <a:ext cx="1947727" cy="637597"/>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15.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62.png"/><Relationship Id="rId3" Type="http://schemas.openxmlformats.org/officeDocument/2006/relationships/image" Target="../media/image54.png"/><Relationship Id="rId7" Type="http://schemas.openxmlformats.org/officeDocument/2006/relationships/image" Target="../media/image58.png"/><Relationship Id="rId12" Type="http://schemas.openxmlformats.org/officeDocument/2006/relationships/image" Target="../media/image61.png"/><Relationship Id="rId17" Type="http://schemas.openxmlformats.org/officeDocument/2006/relationships/image" Target="../media/image66.png"/><Relationship Id="rId2" Type="http://schemas.openxmlformats.org/officeDocument/2006/relationships/notesSlide" Target="../notesSlides/notesSlide34.xml"/><Relationship Id="rId16" Type="http://schemas.openxmlformats.org/officeDocument/2006/relationships/image" Target="../media/image65.png"/><Relationship Id="rId1" Type="http://schemas.openxmlformats.org/officeDocument/2006/relationships/slideLayout" Target="../slideLayouts/slideLayout1.xml"/><Relationship Id="rId6" Type="http://schemas.openxmlformats.org/officeDocument/2006/relationships/image" Target="../media/image57.png"/><Relationship Id="rId11" Type="http://schemas.openxmlformats.org/officeDocument/2006/relationships/image" Target="../media/image60.png"/><Relationship Id="rId5" Type="http://schemas.openxmlformats.org/officeDocument/2006/relationships/image" Target="../media/image56.png"/><Relationship Id="rId15" Type="http://schemas.openxmlformats.org/officeDocument/2006/relationships/image" Target="../media/image64.png"/><Relationship Id="rId10" Type="http://schemas.openxmlformats.org/officeDocument/2006/relationships/image" Target="../media/image16.png"/><Relationship Id="rId4" Type="http://schemas.openxmlformats.org/officeDocument/2006/relationships/image" Target="../media/image55.png"/><Relationship Id="rId9" Type="http://schemas.openxmlformats.org/officeDocument/2006/relationships/image" Target="../media/image59.png"/><Relationship Id="rId14"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053E51"/>
          </a:solidFill>
          <a:ln w="12700">
            <a:solidFill>
              <a:srgbClr val="053E51"/>
            </a:solidFill>
            <a:prstDash val="solid"/>
          </a:ln>
        </p:spPr>
      </p:sp>
      <p:sp>
        <p:nvSpPr>
          <p:cNvPr id="3" name="Shape 1"/>
          <p:cNvSpPr/>
          <p:nvPr/>
        </p:nvSpPr>
        <p:spPr>
          <a:xfrm>
            <a:off x="4389120" y="0"/>
            <a:ext cx="91440" cy="5143500"/>
          </a:xfrm>
          <a:prstGeom prst="rect">
            <a:avLst/>
          </a:prstGeom>
          <a:solidFill>
            <a:srgbClr val="20ECE3"/>
          </a:solidFill>
          <a:ln w="12700">
            <a:solidFill>
              <a:srgbClr val="20ECE3"/>
            </a:solidFill>
            <a:prstDash val="solid"/>
          </a:ln>
        </p:spPr>
      </p:sp>
      <p:pic>
        <p:nvPicPr>
          <p:cNvPr id="4" name="Image 0" descr="preencoded.png"/>
          <p:cNvPicPr>
            <a:picLocks noChangeAspect="1"/>
          </p:cNvPicPr>
          <p:nvPr/>
        </p:nvPicPr>
        <p:blipFill>
          <a:blip r:embed="rId3"/>
          <a:stretch>
            <a:fillRect/>
          </a:stretch>
        </p:blipFill>
        <p:spPr>
          <a:xfrm>
            <a:off x="457200" y="502920"/>
            <a:ext cx="3474720" cy="4005072"/>
          </a:xfrm>
          <a:prstGeom prst="rect">
            <a:avLst/>
          </a:prstGeom>
        </p:spPr>
      </p:pic>
      <p:sp>
        <p:nvSpPr>
          <p:cNvPr id="5" name="Shape 2"/>
          <p:cNvSpPr/>
          <p:nvPr/>
        </p:nvSpPr>
        <p:spPr>
          <a:xfrm>
            <a:off x="4663440" y="502920"/>
            <a:ext cx="1920240" cy="411480"/>
          </a:xfrm>
          <a:prstGeom prst="rect">
            <a:avLst/>
          </a:prstGeom>
          <a:solidFill>
            <a:srgbClr val="0D6E7E"/>
          </a:solidFill>
          <a:ln w="12700">
            <a:solidFill>
              <a:srgbClr val="0D6E7E"/>
            </a:solidFill>
            <a:prstDash val="solid"/>
          </a:ln>
        </p:spPr>
      </p:sp>
      <p:sp>
        <p:nvSpPr>
          <p:cNvPr id="6" name="Text 3"/>
          <p:cNvSpPr/>
          <p:nvPr/>
        </p:nvSpPr>
        <p:spPr>
          <a:xfrm>
            <a:off x="4663440" y="502920"/>
            <a:ext cx="1920240" cy="411480"/>
          </a:xfrm>
          <a:prstGeom prst="rect">
            <a:avLst/>
          </a:prstGeom>
          <a:noFill/>
          <a:ln/>
        </p:spPr>
        <p:txBody>
          <a:bodyPr wrap="square" rtlCol="0" anchor="ctr"/>
          <a:lstStyle/>
          <a:p>
            <a:pPr marL="0" indent="0" algn="ctr">
              <a:buNone/>
            </a:pPr>
            <a:r>
              <a:rPr lang="en-US" sz="1600" b="1" kern="0" spc="300" dirty="0">
                <a:solidFill>
                  <a:srgbClr val="FFFFFF"/>
                </a:solidFill>
                <a:latin typeface="Calibri" pitchFamily="34" charset="0"/>
                <a:ea typeface="Calibri" pitchFamily="34" charset="-122"/>
                <a:cs typeface="Calibri" pitchFamily="34" charset="-120"/>
              </a:rPr>
              <a:t>CHAPTER  1</a:t>
            </a:r>
            <a:endParaRPr lang="en-US" sz="1600" dirty="0"/>
          </a:p>
        </p:txBody>
      </p:sp>
      <p:sp>
        <p:nvSpPr>
          <p:cNvPr id="7" name="Text 4"/>
          <p:cNvSpPr/>
          <p:nvPr/>
        </p:nvSpPr>
        <p:spPr>
          <a:xfrm>
            <a:off x="4617720" y="1051560"/>
            <a:ext cx="4206240" cy="777240"/>
          </a:xfrm>
          <a:prstGeom prst="rect">
            <a:avLst/>
          </a:prstGeom>
          <a:noFill/>
          <a:ln/>
        </p:spPr>
        <p:txBody>
          <a:bodyPr wrap="square" rtlCol="0" anchor="ctr"/>
          <a:lstStyle/>
          <a:p>
            <a:pPr marL="0" indent="0" algn="l">
              <a:buNone/>
            </a:pPr>
            <a:r>
              <a:rPr lang="en-US" sz="4400" b="1" dirty="0">
                <a:solidFill>
                  <a:srgbClr val="0D3D52"/>
                </a:solidFill>
                <a:latin typeface="Calibri" pitchFamily="34" charset="0"/>
                <a:ea typeface="Calibri" pitchFamily="34" charset="-122"/>
                <a:cs typeface="Calibri" pitchFamily="34" charset="-120"/>
              </a:rPr>
              <a:t>Cybersecurity</a:t>
            </a:r>
            <a:endParaRPr lang="en-US" sz="4400" dirty="0"/>
          </a:p>
        </p:txBody>
      </p:sp>
      <p:sp>
        <p:nvSpPr>
          <p:cNvPr id="8" name="Text 5"/>
          <p:cNvSpPr/>
          <p:nvPr/>
        </p:nvSpPr>
        <p:spPr>
          <a:xfrm>
            <a:off x="4617720" y="1783080"/>
            <a:ext cx="4206240" cy="777240"/>
          </a:xfrm>
          <a:prstGeom prst="rect">
            <a:avLst/>
          </a:prstGeom>
          <a:noFill/>
          <a:ln/>
        </p:spPr>
        <p:txBody>
          <a:bodyPr wrap="square" rtlCol="0" anchor="ctr"/>
          <a:lstStyle/>
          <a:p>
            <a:pPr marL="0" indent="0" algn="l">
              <a:buNone/>
            </a:pPr>
            <a:r>
              <a:rPr lang="en-US" sz="4400" b="1" dirty="0">
                <a:solidFill>
                  <a:srgbClr val="053E51"/>
                </a:solidFill>
                <a:latin typeface="Calibri" pitchFamily="34" charset="0"/>
                <a:ea typeface="Calibri" pitchFamily="34" charset="-122"/>
                <a:cs typeface="Calibri" pitchFamily="34" charset="-120"/>
              </a:rPr>
              <a:t>Fundamentals</a:t>
            </a:r>
            <a:endParaRPr lang="en-US" sz="4400" dirty="0"/>
          </a:p>
        </p:txBody>
      </p:sp>
      <p:sp>
        <p:nvSpPr>
          <p:cNvPr id="9" name="Shape 6"/>
          <p:cNvSpPr/>
          <p:nvPr/>
        </p:nvSpPr>
        <p:spPr>
          <a:xfrm>
            <a:off x="4617720" y="2651760"/>
            <a:ext cx="3657600" cy="54864"/>
          </a:xfrm>
          <a:prstGeom prst="rect">
            <a:avLst/>
          </a:prstGeom>
          <a:solidFill>
            <a:srgbClr val="20ECE3"/>
          </a:solidFill>
          <a:ln w="12700">
            <a:solidFill>
              <a:srgbClr val="20ECE3"/>
            </a:solidFill>
            <a:prstDash val="solid"/>
          </a:ln>
        </p:spPr>
      </p:sp>
      <p:sp>
        <p:nvSpPr>
          <p:cNvPr id="10" name="Text 7"/>
          <p:cNvSpPr/>
          <p:nvPr/>
        </p:nvSpPr>
        <p:spPr>
          <a:xfrm>
            <a:off x="4617720" y="2788920"/>
            <a:ext cx="4206240" cy="822960"/>
          </a:xfrm>
          <a:prstGeom prst="rect">
            <a:avLst/>
          </a:prstGeom>
          <a:noFill/>
          <a:ln/>
        </p:spPr>
        <p:txBody>
          <a:bodyPr wrap="square" rtlCol="0" anchor="ctr"/>
          <a:lstStyle/>
          <a:p>
            <a:pPr marL="0" indent="0" algn="l">
              <a:buNone/>
            </a:pPr>
            <a:r>
              <a:rPr lang="en-US" sz="1400" dirty="0">
                <a:solidFill>
                  <a:srgbClr val="4A6572"/>
                </a:solidFill>
                <a:latin typeface="Calibri" pitchFamily="34" charset="0"/>
                <a:ea typeface="Calibri" pitchFamily="34" charset="-122"/>
                <a:cs typeface="Calibri" pitchFamily="34" charset="-120"/>
              </a:rPr>
              <a:t>Essential Principles, Practices &amp; Technologies</a:t>
            </a:r>
            <a:endParaRPr lang="en-US" sz="1400" dirty="0"/>
          </a:p>
          <a:p>
            <a:pPr marL="0" indent="0" algn="l">
              <a:buNone/>
            </a:pPr>
            <a:r>
              <a:rPr lang="en-US" sz="1400" dirty="0">
                <a:solidFill>
                  <a:srgbClr val="4A6572"/>
                </a:solidFill>
                <a:latin typeface="Calibri" pitchFamily="34" charset="0"/>
                <a:ea typeface="Calibri" pitchFamily="34" charset="-122"/>
                <a:cs typeface="Calibri" pitchFamily="34" charset="-120"/>
              </a:rPr>
              <a:t>to Protect Systems, Networks &amp; Data</a:t>
            </a:r>
            <a:endParaRPr lang="en-US" sz="1400" dirty="0"/>
          </a:p>
        </p:txBody>
      </p:sp>
      <p:sp>
        <p:nvSpPr>
          <p:cNvPr id="12" name="Text 8"/>
          <p:cNvSpPr/>
          <p:nvPr/>
        </p:nvSpPr>
        <p:spPr>
          <a:xfrm>
            <a:off x="4617720" y="3794760"/>
            <a:ext cx="3200400" cy="274320"/>
          </a:xfrm>
          <a:prstGeom prst="rect">
            <a:avLst/>
          </a:prstGeom>
          <a:noFill/>
          <a:ln/>
        </p:spPr>
        <p:txBody>
          <a:bodyPr wrap="square" rtlCol="0" anchor="ctr"/>
          <a:lstStyle/>
          <a:p>
            <a:pPr marL="0" indent="0">
              <a:buNone/>
            </a:pPr>
            <a:r>
              <a:rPr lang="en-US" sz="1500" i="1" dirty="0">
                <a:solidFill>
                  <a:srgbClr val="20ECE3"/>
                </a:solidFill>
                <a:latin typeface="Calibri" pitchFamily="34" charset="0"/>
                <a:ea typeface="Calibri" pitchFamily="34" charset="-122"/>
                <a:cs typeface="Calibri" pitchFamily="34" charset="-120"/>
              </a:rPr>
              <a:t>Learn from Practitioners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3E51"/>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53E51"/>
          </a:solidFill>
          <a:ln w="12700">
            <a:solidFill>
              <a:srgbClr val="053E51"/>
            </a:solidFill>
            <a:prstDash val="solid"/>
          </a:ln>
        </p:spPr>
      </p:sp>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alphaModFix amt="80000"/>
          </a:blip>
          <a:stretch>
            <a:fillRect/>
          </a:stretch>
        </p:blipFill>
        <p:spPr>
          <a:xfrm>
            <a:off x="5486400" y="457200"/>
            <a:ext cx="3200400" cy="2377440"/>
          </a:xfrm>
          <a:prstGeom prst="rect">
            <a:avLst/>
          </a:prstGeom>
        </p:spPr>
      </p:pic>
      <p:sp>
        <p:nvSpPr>
          <p:cNvPr id="5" name="Shape 1"/>
          <p:cNvSpPr/>
          <p:nvPr/>
        </p:nvSpPr>
        <p:spPr>
          <a:xfrm>
            <a:off x="0" y="3200400"/>
            <a:ext cx="5943600" cy="731520"/>
          </a:xfrm>
          <a:prstGeom prst="rect">
            <a:avLst/>
          </a:prstGeom>
          <a:solidFill>
            <a:srgbClr val="FFFFFF"/>
          </a:solidFill>
          <a:ln w="12700">
            <a:solidFill>
              <a:srgbClr val="FFFFFF"/>
            </a:solidFill>
            <a:prstDash val="solid"/>
          </a:ln>
        </p:spPr>
      </p:sp>
      <p:sp>
        <p:nvSpPr>
          <p:cNvPr id="6" name="Text 2"/>
          <p:cNvSpPr/>
          <p:nvPr/>
        </p:nvSpPr>
        <p:spPr>
          <a:xfrm>
            <a:off x="137160" y="3246120"/>
            <a:ext cx="5669280" cy="640080"/>
          </a:xfrm>
          <a:prstGeom prst="rect">
            <a:avLst/>
          </a:prstGeom>
          <a:noFill/>
          <a:ln/>
        </p:spPr>
        <p:txBody>
          <a:bodyPr wrap="square" rtlCol="0" anchor="ctr"/>
          <a:lstStyle/>
          <a:p>
            <a:pPr marL="0" indent="0">
              <a:buNone/>
            </a:pPr>
            <a:r>
              <a:rPr lang="en-US" sz="2800" b="1" dirty="0">
                <a:solidFill>
                  <a:srgbClr val="0D3D52"/>
                </a:solidFill>
                <a:latin typeface="Calibri" pitchFamily="34" charset="0"/>
                <a:ea typeface="Calibri" pitchFamily="34" charset="-122"/>
                <a:cs typeface="Calibri" pitchFamily="34" charset="-120"/>
              </a:rPr>
              <a:t>Introduction to Cybersecurity</a:t>
            </a:r>
            <a:endParaRPr lang="en-US" sz="2800" dirty="0"/>
          </a:p>
        </p:txBody>
      </p:sp>
      <p:sp>
        <p:nvSpPr>
          <p:cNvPr id="7" name="Shape 3"/>
          <p:cNvSpPr/>
          <p:nvPr/>
        </p:nvSpPr>
        <p:spPr>
          <a:xfrm>
            <a:off x="0" y="3950208"/>
            <a:ext cx="2377440" cy="438912"/>
          </a:xfrm>
          <a:prstGeom prst="rect">
            <a:avLst/>
          </a:prstGeom>
          <a:solidFill>
            <a:srgbClr val="F5F9FA"/>
          </a:solidFill>
          <a:ln w="12700">
            <a:solidFill>
              <a:srgbClr val="F5F9FA"/>
            </a:solidFill>
            <a:prstDash val="solid"/>
          </a:ln>
        </p:spPr>
      </p:sp>
      <p:sp>
        <p:nvSpPr>
          <p:cNvPr id="8" name="Text 4"/>
          <p:cNvSpPr/>
          <p:nvPr/>
        </p:nvSpPr>
        <p:spPr>
          <a:xfrm>
            <a:off x="137160" y="3950208"/>
            <a:ext cx="2194560" cy="438912"/>
          </a:xfrm>
          <a:prstGeom prst="rect">
            <a:avLst/>
          </a:prstGeom>
          <a:noFill/>
          <a:ln/>
        </p:spPr>
        <p:txBody>
          <a:bodyPr wrap="square" rtlCol="0" anchor="ctr"/>
          <a:lstStyle/>
          <a:p>
            <a:pPr marL="0" indent="0">
              <a:buNone/>
            </a:pPr>
            <a:r>
              <a:rPr lang="en-US" sz="1600" b="1" dirty="0">
                <a:solidFill>
                  <a:srgbClr val="053E51"/>
                </a:solidFill>
                <a:latin typeface="Calibri" pitchFamily="34" charset="0"/>
                <a:ea typeface="Calibri" pitchFamily="34" charset="-122"/>
                <a:cs typeface="Calibri" pitchFamily="34" charset="-120"/>
              </a:rPr>
              <a:t>Overview</a:t>
            </a:r>
            <a:endParaRPr lang="en-US" sz="1600" dirty="0"/>
          </a:p>
        </p:txBody>
      </p:sp>
      <p:pic>
        <p:nvPicPr>
          <p:cNvPr id="9" name="Image 2" descr="preencoded.png"/>
          <p:cNvPicPr>
            <a:picLocks noChangeAspect="1"/>
          </p:cNvPicPr>
          <p:nvPr/>
        </p:nvPicPr>
        <p:blipFill>
          <a:blip r:embed="rId5"/>
          <a:stretch>
            <a:fillRect/>
          </a:stretch>
        </p:blipFill>
        <p:spPr>
          <a:xfrm>
            <a:off x="7452360" y="4681728"/>
            <a:ext cx="1508760" cy="4846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Learning Objectives</a:t>
            </a:r>
            <a:endParaRPr lang="en-US" sz="2400" dirty="0"/>
          </a:p>
        </p:txBody>
      </p:sp>
      <p:sp>
        <p:nvSpPr>
          <p:cNvPr id="5" name="Text 3"/>
          <p:cNvSpPr/>
          <p:nvPr/>
        </p:nvSpPr>
        <p:spPr>
          <a:xfrm>
            <a:off x="411480" y="749808"/>
            <a:ext cx="8046720" cy="292608"/>
          </a:xfrm>
          <a:prstGeom prst="rect">
            <a:avLst/>
          </a:prstGeom>
          <a:noFill/>
          <a:ln/>
        </p:spPr>
        <p:txBody>
          <a:bodyPr wrap="square" rtlCol="0" anchor="ctr"/>
          <a:lstStyle/>
          <a:p>
            <a:pPr marL="0" indent="0">
              <a:buNone/>
            </a:pPr>
            <a:r>
              <a:rPr lang="en-US" sz="1300" dirty="0">
                <a:solidFill>
                  <a:srgbClr val="4A6572"/>
                </a:solidFill>
                <a:latin typeface="Calibri" pitchFamily="34" charset="0"/>
                <a:ea typeface="Calibri" pitchFamily="34" charset="-122"/>
                <a:cs typeface="Calibri" pitchFamily="34" charset="-120"/>
              </a:rPr>
              <a:t>After completing this lesson, you will be able to achieve these objectives:</a:t>
            </a:r>
            <a:endParaRPr lang="en-US" sz="1300" dirty="0"/>
          </a:p>
        </p:txBody>
      </p:sp>
      <p:sp>
        <p:nvSpPr>
          <p:cNvPr id="6" name="Shape 4"/>
          <p:cNvSpPr/>
          <p:nvPr/>
        </p:nvSpPr>
        <p:spPr>
          <a:xfrm>
            <a:off x="411480" y="1115568"/>
            <a:ext cx="54864" cy="3200400"/>
          </a:xfrm>
          <a:prstGeom prst="rect">
            <a:avLst/>
          </a:prstGeom>
          <a:solidFill>
            <a:srgbClr val="20ECE3"/>
          </a:solidFill>
          <a:ln w="12700">
            <a:solidFill>
              <a:srgbClr val="20ECE3"/>
            </a:solidFill>
            <a:prstDash val="solid"/>
          </a:ln>
        </p:spPr>
      </p:sp>
      <p:sp>
        <p:nvSpPr>
          <p:cNvPr id="7" name="Shape 5"/>
          <p:cNvSpPr/>
          <p:nvPr/>
        </p:nvSpPr>
        <p:spPr>
          <a:xfrm>
            <a:off x="530352" y="1188720"/>
            <a:ext cx="201168" cy="201168"/>
          </a:xfrm>
          <a:prstGeom prst="line">
            <a:avLst/>
          </a:prstGeom>
          <a:solidFill>
            <a:srgbClr val="20ECE3"/>
          </a:solidFill>
          <a:ln w="12700">
            <a:solidFill>
              <a:srgbClr val="20ECE3"/>
            </a:solidFill>
            <a:prstDash val="solid"/>
          </a:ln>
        </p:spPr>
      </p:sp>
      <p:sp>
        <p:nvSpPr>
          <p:cNvPr id="8" name="Shape 6"/>
          <p:cNvSpPr/>
          <p:nvPr/>
        </p:nvSpPr>
        <p:spPr>
          <a:xfrm>
            <a:off x="731520" y="1271016"/>
            <a:ext cx="457200" cy="36576"/>
          </a:xfrm>
          <a:prstGeom prst="rect">
            <a:avLst/>
          </a:prstGeom>
          <a:solidFill>
            <a:srgbClr val="0D6E7E"/>
          </a:solidFill>
          <a:ln w="12700">
            <a:solidFill>
              <a:srgbClr val="0D6E7E"/>
            </a:solidFill>
            <a:prstDash val="solid"/>
          </a:ln>
        </p:spPr>
      </p:sp>
      <p:sp>
        <p:nvSpPr>
          <p:cNvPr id="9" name="Text 7"/>
          <p:cNvSpPr/>
          <p:nvPr/>
        </p:nvSpPr>
        <p:spPr>
          <a:xfrm>
            <a:off x="1234440" y="1124712"/>
            <a:ext cx="3520440" cy="713232"/>
          </a:xfrm>
          <a:prstGeom prst="rect">
            <a:avLst/>
          </a:prstGeom>
          <a:noFill/>
          <a:ln/>
        </p:spPr>
        <p:txBody>
          <a:bodyPr wrap="square" rtlCol="0" anchor="ctr"/>
          <a:lstStyle/>
          <a:p>
            <a:pPr marL="0" indent="0">
              <a:buNone/>
            </a:pPr>
            <a:r>
              <a:rPr lang="en-US" sz="1250" dirty="0">
                <a:solidFill>
                  <a:srgbClr val="1A2B35"/>
                </a:solidFill>
                <a:latin typeface="Calibri" pitchFamily="34" charset="0"/>
                <a:ea typeface="Calibri" pitchFamily="34" charset="-122"/>
                <a:cs typeface="Calibri" pitchFamily="34" charset="-120"/>
              </a:rPr>
              <a:t>Overview of cybersecurity and its threat landscape covering CIA (Confidentiality, Integrity &amp; Availability) and the threats globally</a:t>
            </a:r>
            <a:endParaRPr lang="en-US" sz="1250" dirty="0"/>
          </a:p>
        </p:txBody>
      </p:sp>
      <p:sp>
        <p:nvSpPr>
          <p:cNvPr id="10" name="Shape 8"/>
          <p:cNvSpPr/>
          <p:nvPr/>
        </p:nvSpPr>
        <p:spPr>
          <a:xfrm>
            <a:off x="530352" y="1993392"/>
            <a:ext cx="201168" cy="201168"/>
          </a:xfrm>
          <a:prstGeom prst="line">
            <a:avLst/>
          </a:prstGeom>
          <a:solidFill>
            <a:srgbClr val="20ECE3"/>
          </a:solidFill>
          <a:ln w="12700">
            <a:solidFill>
              <a:srgbClr val="20ECE3"/>
            </a:solidFill>
            <a:prstDash val="solid"/>
          </a:ln>
        </p:spPr>
      </p:sp>
      <p:sp>
        <p:nvSpPr>
          <p:cNvPr id="11" name="Shape 9"/>
          <p:cNvSpPr/>
          <p:nvPr/>
        </p:nvSpPr>
        <p:spPr>
          <a:xfrm>
            <a:off x="731520" y="2075688"/>
            <a:ext cx="457200" cy="36576"/>
          </a:xfrm>
          <a:prstGeom prst="rect">
            <a:avLst/>
          </a:prstGeom>
          <a:solidFill>
            <a:srgbClr val="0D6E7E"/>
          </a:solidFill>
          <a:ln w="12700">
            <a:solidFill>
              <a:srgbClr val="0D6E7E"/>
            </a:solidFill>
            <a:prstDash val="solid"/>
          </a:ln>
        </p:spPr>
      </p:sp>
      <p:sp>
        <p:nvSpPr>
          <p:cNvPr id="12" name="Text 10"/>
          <p:cNvSpPr/>
          <p:nvPr/>
        </p:nvSpPr>
        <p:spPr>
          <a:xfrm>
            <a:off x="1234440" y="1929384"/>
            <a:ext cx="3520440" cy="713232"/>
          </a:xfrm>
          <a:prstGeom prst="rect">
            <a:avLst/>
          </a:prstGeom>
          <a:noFill/>
          <a:ln/>
        </p:spPr>
        <p:txBody>
          <a:bodyPr wrap="square" rtlCol="0" anchor="ctr"/>
          <a:lstStyle/>
          <a:p>
            <a:pPr marL="0" indent="0">
              <a:buNone/>
            </a:pPr>
            <a:r>
              <a:rPr lang="en-US" sz="1250" dirty="0">
                <a:solidFill>
                  <a:srgbClr val="1A2B35"/>
                </a:solidFill>
                <a:latin typeface="Calibri" pitchFamily="34" charset="0"/>
                <a:ea typeface="Calibri" pitchFamily="34" charset="-122"/>
                <a:cs typeface="Calibri" pitchFamily="34" charset="-120"/>
              </a:rPr>
              <a:t>Various Cybersecurity protection layers and the best Cybersecurity practices to be implemented</a:t>
            </a:r>
            <a:endParaRPr lang="en-US" sz="1250" dirty="0"/>
          </a:p>
        </p:txBody>
      </p:sp>
      <p:sp>
        <p:nvSpPr>
          <p:cNvPr id="13" name="Shape 11"/>
          <p:cNvSpPr/>
          <p:nvPr/>
        </p:nvSpPr>
        <p:spPr>
          <a:xfrm>
            <a:off x="530352" y="2798064"/>
            <a:ext cx="201168" cy="201168"/>
          </a:xfrm>
          <a:prstGeom prst="line">
            <a:avLst/>
          </a:prstGeom>
          <a:solidFill>
            <a:srgbClr val="20ECE3"/>
          </a:solidFill>
          <a:ln w="12700">
            <a:solidFill>
              <a:srgbClr val="20ECE3"/>
            </a:solidFill>
            <a:prstDash val="solid"/>
          </a:ln>
        </p:spPr>
      </p:sp>
      <p:sp>
        <p:nvSpPr>
          <p:cNvPr id="14" name="Shape 12"/>
          <p:cNvSpPr/>
          <p:nvPr/>
        </p:nvSpPr>
        <p:spPr>
          <a:xfrm>
            <a:off x="731520" y="2880360"/>
            <a:ext cx="457200" cy="36576"/>
          </a:xfrm>
          <a:prstGeom prst="rect">
            <a:avLst/>
          </a:prstGeom>
          <a:solidFill>
            <a:srgbClr val="0D6E7E"/>
          </a:solidFill>
          <a:ln w="12700">
            <a:solidFill>
              <a:srgbClr val="0D6E7E"/>
            </a:solidFill>
            <a:prstDash val="solid"/>
          </a:ln>
        </p:spPr>
      </p:sp>
      <p:sp>
        <p:nvSpPr>
          <p:cNvPr id="15" name="Text 13"/>
          <p:cNvSpPr/>
          <p:nvPr/>
        </p:nvSpPr>
        <p:spPr>
          <a:xfrm>
            <a:off x="1234440" y="2734056"/>
            <a:ext cx="3520440" cy="713232"/>
          </a:xfrm>
          <a:prstGeom prst="rect">
            <a:avLst/>
          </a:prstGeom>
          <a:noFill/>
          <a:ln/>
        </p:spPr>
        <p:txBody>
          <a:bodyPr wrap="square" rtlCol="0" anchor="ctr"/>
          <a:lstStyle/>
          <a:p>
            <a:pPr marL="0" indent="0">
              <a:buNone/>
            </a:pPr>
            <a:r>
              <a:rPr lang="en-US" sz="1250" dirty="0">
                <a:solidFill>
                  <a:srgbClr val="1A2B35"/>
                </a:solidFill>
                <a:latin typeface="Calibri" pitchFamily="34" charset="0"/>
                <a:ea typeface="Calibri" pitchFamily="34" charset="-122"/>
                <a:cs typeface="Calibri" pitchFamily="34" charset="-120"/>
              </a:rPr>
              <a:t>Cybersecurity and co-relation with industry standards, compliance and regulatory laws and the various Cybersecurity domains</a:t>
            </a:r>
            <a:endParaRPr lang="en-US" sz="1250" dirty="0"/>
          </a:p>
        </p:txBody>
      </p:sp>
      <p:sp>
        <p:nvSpPr>
          <p:cNvPr id="16" name="Shape 14"/>
          <p:cNvSpPr/>
          <p:nvPr/>
        </p:nvSpPr>
        <p:spPr>
          <a:xfrm>
            <a:off x="530352" y="3602736"/>
            <a:ext cx="201168" cy="201168"/>
          </a:xfrm>
          <a:prstGeom prst="line">
            <a:avLst/>
          </a:prstGeom>
          <a:solidFill>
            <a:srgbClr val="20ECE3"/>
          </a:solidFill>
          <a:ln w="12700">
            <a:solidFill>
              <a:srgbClr val="20ECE3"/>
            </a:solidFill>
            <a:prstDash val="solid"/>
          </a:ln>
        </p:spPr>
      </p:sp>
      <p:sp>
        <p:nvSpPr>
          <p:cNvPr id="17" name="Shape 15"/>
          <p:cNvSpPr/>
          <p:nvPr/>
        </p:nvSpPr>
        <p:spPr>
          <a:xfrm>
            <a:off x="731520" y="3685032"/>
            <a:ext cx="457200" cy="36576"/>
          </a:xfrm>
          <a:prstGeom prst="rect">
            <a:avLst/>
          </a:prstGeom>
          <a:solidFill>
            <a:srgbClr val="0D6E7E"/>
          </a:solidFill>
          <a:ln w="12700">
            <a:solidFill>
              <a:srgbClr val="0D6E7E"/>
            </a:solidFill>
            <a:prstDash val="solid"/>
          </a:ln>
        </p:spPr>
      </p:sp>
      <p:sp>
        <p:nvSpPr>
          <p:cNvPr id="18" name="Text 16"/>
          <p:cNvSpPr/>
          <p:nvPr/>
        </p:nvSpPr>
        <p:spPr>
          <a:xfrm>
            <a:off x="1234440" y="3538728"/>
            <a:ext cx="3520440" cy="713232"/>
          </a:xfrm>
          <a:prstGeom prst="rect">
            <a:avLst/>
          </a:prstGeom>
          <a:noFill/>
          <a:ln/>
        </p:spPr>
        <p:txBody>
          <a:bodyPr wrap="square" rtlCol="0" anchor="ctr"/>
          <a:lstStyle/>
          <a:p>
            <a:pPr marL="0" indent="0">
              <a:buNone/>
            </a:pPr>
            <a:r>
              <a:rPr lang="en-US" sz="1250" dirty="0">
                <a:solidFill>
                  <a:srgbClr val="1A2B35"/>
                </a:solidFill>
                <a:latin typeface="Calibri" pitchFamily="34" charset="0"/>
                <a:ea typeface="Calibri" pitchFamily="34" charset="-122"/>
                <a:cs typeface="Calibri" pitchFamily="34" charset="-120"/>
              </a:rPr>
              <a:t>Evolution of cybersecurity, role and Future of AI in Cybersecurity and current Cybersecurity market</a:t>
            </a:r>
            <a:endParaRPr lang="en-US" sz="1250" dirty="0"/>
          </a:p>
        </p:txBody>
      </p:sp>
      <p:pic>
        <p:nvPicPr>
          <p:cNvPr id="19" name="Image 0" descr="preencoded.png"/>
          <p:cNvPicPr>
            <a:picLocks noChangeAspect="1"/>
          </p:cNvPicPr>
          <p:nvPr/>
        </p:nvPicPr>
        <p:blipFill>
          <a:blip r:embed="rId3"/>
          <a:stretch>
            <a:fillRect/>
          </a:stretch>
        </p:blipFill>
        <p:spPr>
          <a:xfrm>
            <a:off x="5074920" y="914400"/>
            <a:ext cx="3749040" cy="29443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What Is Cybersecurity?</a:t>
            </a:r>
            <a:endParaRPr lang="en-US" sz="2400" dirty="0"/>
          </a:p>
        </p:txBody>
      </p:sp>
      <p:sp>
        <p:nvSpPr>
          <p:cNvPr id="5" name="Text 3"/>
          <p:cNvSpPr/>
          <p:nvPr/>
        </p:nvSpPr>
        <p:spPr>
          <a:xfrm>
            <a:off x="411480" y="749808"/>
            <a:ext cx="8046720" cy="292608"/>
          </a:xfrm>
          <a:prstGeom prst="rect">
            <a:avLst/>
          </a:prstGeom>
          <a:noFill/>
          <a:ln/>
        </p:spPr>
        <p:txBody>
          <a:bodyPr wrap="square" rtlCol="0" anchor="ctr"/>
          <a:lstStyle/>
          <a:p>
            <a:pPr marL="0" indent="0">
              <a:buNone/>
            </a:pPr>
            <a:r>
              <a:rPr lang="en-US" sz="1300" dirty="0">
                <a:solidFill>
                  <a:srgbClr val="4A6572"/>
                </a:solidFill>
                <a:latin typeface="Calibri" pitchFamily="34" charset="0"/>
                <a:ea typeface="Calibri" pitchFamily="34" charset="-122"/>
                <a:cs typeface="Calibri" pitchFamily="34" charset="-120"/>
              </a:rPr>
              <a:t>Categories of Cybersecurity</a:t>
            </a:r>
            <a:endParaRPr lang="en-US" sz="1300" dirty="0"/>
          </a:p>
        </p:txBody>
      </p:sp>
      <p:pic>
        <p:nvPicPr>
          <p:cNvPr id="6" name="Image 0" descr="preencoded.png"/>
          <p:cNvPicPr>
            <a:picLocks noChangeAspect="1"/>
          </p:cNvPicPr>
          <p:nvPr/>
        </p:nvPicPr>
        <p:blipFill>
          <a:blip r:embed="rId3"/>
          <a:stretch>
            <a:fillRect/>
          </a:stretch>
        </p:blipFill>
        <p:spPr>
          <a:xfrm>
            <a:off x="1627632" y="1097280"/>
            <a:ext cx="777240" cy="777240"/>
          </a:xfrm>
          <a:prstGeom prst="rect">
            <a:avLst/>
          </a:prstGeom>
        </p:spPr>
      </p:pic>
      <p:sp>
        <p:nvSpPr>
          <p:cNvPr id="7" name="Text 4"/>
          <p:cNvSpPr/>
          <p:nvPr/>
        </p:nvSpPr>
        <p:spPr>
          <a:xfrm>
            <a:off x="1188720" y="1920240"/>
            <a:ext cx="1664208" cy="502920"/>
          </a:xfrm>
          <a:prstGeom prst="rect">
            <a:avLst/>
          </a:prstGeom>
          <a:noFill/>
          <a:ln/>
        </p:spPr>
        <p:txBody>
          <a:bodyPr wrap="square" rtlCol="0" anchor="ctr"/>
          <a:lstStyle/>
          <a:p>
            <a:pPr marL="0" indent="0" algn="ctr">
              <a:buNone/>
            </a:pPr>
            <a:r>
              <a:rPr lang="en-US" sz="1150" dirty="0">
                <a:solidFill>
                  <a:srgbClr val="1A2B35"/>
                </a:solidFill>
                <a:latin typeface="Calibri" pitchFamily="34" charset="0"/>
                <a:ea typeface="Calibri" pitchFamily="34" charset="-122"/>
                <a:cs typeface="Calibri" pitchFamily="34" charset="-120"/>
              </a:rPr>
              <a:t>Critical Infrastructure</a:t>
            </a:r>
            <a:endParaRPr lang="en-US" sz="1150" dirty="0"/>
          </a:p>
        </p:txBody>
      </p:sp>
      <p:pic>
        <p:nvPicPr>
          <p:cNvPr id="8" name="Image 1" descr="preencoded.png"/>
          <p:cNvPicPr>
            <a:picLocks noChangeAspect="1"/>
          </p:cNvPicPr>
          <p:nvPr/>
        </p:nvPicPr>
        <p:blipFill>
          <a:blip r:embed="rId4"/>
          <a:stretch>
            <a:fillRect/>
          </a:stretch>
        </p:blipFill>
        <p:spPr>
          <a:xfrm>
            <a:off x="4142232" y="1097280"/>
            <a:ext cx="777240" cy="777240"/>
          </a:xfrm>
          <a:prstGeom prst="rect">
            <a:avLst/>
          </a:prstGeom>
        </p:spPr>
      </p:pic>
      <p:sp>
        <p:nvSpPr>
          <p:cNvPr id="9" name="Text 5"/>
          <p:cNvSpPr/>
          <p:nvPr/>
        </p:nvSpPr>
        <p:spPr>
          <a:xfrm>
            <a:off x="3703320" y="1920240"/>
            <a:ext cx="1664208" cy="502920"/>
          </a:xfrm>
          <a:prstGeom prst="rect">
            <a:avLst/>
          </a:prstGeom>
          <a:noFill/>
          <a:ln/>
        </p:spPr>
        <p:txBody>
          <a:bodyPr wrap="square" rtlCol="0" anchor="ctr"/>
          <a:lstStyle/>
          <a:p>
            <a:pPr marL="0" indent="0" algn="ctr">
              <a:buNone/>
            </a:pPr>
            <a:r>
              <a:rPr lang="en-US" sz="1150" dirty="0">
                <a:solidFill>
                  <a:srgbClr val="1A2B35"/>
                </a:solidFill>
                <a:latin typeface="Calibri" pitchFamily="34" charset="0"/>
                <a:ea typeface="Calibri" pitchFamily="34" charset="-122"/>
                <a:cs typeface="Calibri" pitchFamily="34" charset="-120"/>
              </a:rPr>
              <a:t>Application Security</a:t>
            </a:r>
            <a:endParaRPr lang="en-US" sz="1150" dirty="0"/>
          </a:p>
        </p:txBody>
      </p:sp>
      <p:pic>
        <p:nvPicPr>
          <p:cNvPr id="10" name="Image 2" descr="preencoded.png"/>
          <p:cNvPicPr>
            <a:picLocks noChangeAspect="1"/>
          </p:cNvPicPr>
          <p:nvPr/>
        </p:nvPicPr>
        <p:blipFill>
          <a:blip r:embed="rId5"/>
          <a:stretch>
            <a:fillRect/>
          </a:stretch>
        </p:blipFill>
        <p:spPr>
          <a:xfrm>
            <a:off x="6656832" y="1097280"/>
            <a:ext cx="777240" cy="777240"/>
          </a:xfrm>
          <a:prstGeom prst="rect">
            <a:avLst/>
          </a:prstGeom>
        </p:spPr>
      </p:pic>
      <p:sp>
        <p:nvSpPr>
          <p:cNvPr id="11" name="Text 6"/>
          <p:cNvSpPr/>
          <p:nvPr/>
        </p:nvSpPr>
        <p:spPr>
          <a:xfrm>
            <a:off x="6217920" y="1920240"/>
            <a:ext cx="1664208" cy="502920"/>
          </a:xfrm>
          <a:prstGeom prst="rect">
            <a:avLst/>
          </a:prstGeom>
          <a:noFill/>
          <a:ln/>
        </p:spPr>
        <p:txBody>
          <a:bodyPr wrap="square" rtlCol="0" anchor="ctr"/>
          <a:lstStyle/>
          <a:p>
            <a:pPr marL="0" indent="0" algn="ctr">
              <a:buNone/>
            </a:pPr>
            <a:r>
              <a:rPr lang="en-US" sz="1150" dirty="0">
                <a:solidFill>
                  <a:srgbClr val="1A2B35"/>
                </a:solidFill>
                <a:latin typeface="Calibri" pitchFamily="34" charset="0"/>
                <a:ea typeface="Calibri" pitchFamily="34" charset="-122"/>
                <a:cs typeface="Calibri" pitchFamily="34" charset="-120"/>
              </a:rPr>
              <a:t>Network Security</a:t>
            </a:r>
            <a:endParaRPr lang="en-US" sz="1150" dirty="0"/>
          </a:p>
        </p:txBody>
      </p:sp>
      <p:pic>
        <p:nvPicPr>
          <p:cNvPr id="12" name="Image 3" descr="preencoded.png"/>
          <p:cNvPicPr>
            <a:picLocks noChangeAspect="1"/>
          </p:cNvPicPr>
          <p:nvPr/>
        </p:nvPicPr>
        <p:blipFill>
          <a:blip r:embed="rId6"/>
          <a:stretch>
            <a:fillRect/>
          </a:stretch>
        </p:blipFill>
        <p:spPr>
          <a:xfrm>
            <a:off x="1627632" y="2834640"/>
            <a:ext cx="777240" cy="777240"/>
          </a:xfrm>
          <a:prstGeom prst="rect">
            <a:avLst/>
          </a:prstGeom>
        </p:spPr>
      </p:pic>
      <p:sp>
        <p:nvSpPr>
          <p:cNvPr id="13" name="Text 7"/>
          <p:cNvSpPr/>
          <p:nvPr/>
        </p:nvSpPr>
        <p:spPr>
          <a:xfrm>
            <a:off x="1188720" y="3657600"/>
            <a:ext cx="1664208" cy="502920"/>
          </a:xfrm>
          <a:prstGeom prst="rect">
            <a:avLst/>
          </a:prstGeom>
          <a:noFill/>
          <a:ln/>
        </p:spPr>
        <p:txBody>
          <a:bodyPr wrap="square" rtlCol="0" anchor="ctr"/>
          <a:lstStyle/>
          <a:p>
            <a:pPr marL="0" indent="0" algn="ctr">
              <a:buNone/>
            </a:pPr>
            <a:r>
              <a:rPr lang="en-US" sz="1150" dirty="0">
                <a:solidFill>
                  <a:srgbClr val="1A2B35"/>
                </a:solidFill>
                <a:latin typeface="Calibri" pitchFamily="34" charset="0"/>
                <a:ea typeface="Calibri" pitchFamily="34" charset="-122"/>
                <a:cs typeface="Calibri" pitchFamily="34" charset="-120"/>
              </a:rPr>
              <a:t>Internet of Things (IoT) Security</a:t>
            </a:r>
            <a:endParaRPr lang="en-US" sz="1150" dirty="0"/>
          </a:p>
        </p:txBody>
      </p:sp>
      <p:sp>
        <p:nvSpPr>
          <p:cNvPr id="14" name="Shape 8"/>
          <p:cNvSpPr/>
          <p:nvPr/>
        </p:nvSpPr>
        <p:spPr>
          <a:xfrm>
            <a:off x="3703320" y="2761488"/>
            <a:ext cx="1664208" cy="1508760"/>
          </a:xfrm>
          <a:prstGeom prst="rect">
            <a:avLst/>
          </a:prstGeom>
          <a:solidFill>
            <a:srgbClr val="FFFFFF"/>
          </a:solidFill>
          <a:ln w="19050">
            <a:solidFill>
              <a:srgbClr val="AAAAAA"/>
            </a:solidFill>
            <a:prstDash val="dash"/>
          </a:ln>
        </p:spPr>
      </p:sp>
      <p:pic>
        <p:nvPicPr>
          <p:cNvPr id="15" name="Image 4" descr="preencoded.png"/>
          <p:cNvPicPr>
            <a:picLocks noChangeAspect="1"/>
          </p:cNvPicPr>
          <p:nvPr/>
        </p:nvPicPr>
        <p:blipFill>
          <a:blip r:embed="rId7"/>
          <a:stretch>
            <a:fillRect/>
          </a:stretch>
        </p:blipFill>
        <p:spPr>
          <a:xfrm>
            <a:off x="4142232" y="2834640"/>
            <a:ext cx="777240" cy="777240"/>
          </a:xfrm>
          <a:prstGeom prst="rect">
            <a:avLst/>
          </a:prstGeom>
        </p:spPr>
      </p:pic>
      <p:sp>
        <p:nvSpPr>
          <p:cNvPr id="16" name="Text 9"/>
          <p:cNvSpPr/>
          <p:nvPr/>
        </p:nvSpPr>
        <p:spPr>
          <a:xfrm>
            <a:off x="3703320" y="3657600"/>
            <a:ext cx="1664208" cy="502920"/>
          </a:xfrm>
          <a:prstGeom prst="rect">
            <a:avLst/>
          </a:prstGeom>
          <a:noFill/>
          <a:ln/>
        </p:spPr>
        <p:txBody>
          <a:bodyPr wrap="square" rtlCol="0" anchor="ctr"/>
          <a:lstStyle/>
          <a:p>
            <a:pPr marL="0" indent="0" algn="ctr">
              <a:buNone/>
            </a:pPr>
            <a:r>
              <a:rPr lang="en-US" sz="1150" dirty="0">
                <a:solidFill>
                  <a:srgbClr val="1A2B35"/>
                </a:solidFill>
                <a:latin typeface="Calibri" pitchFamily="34" charset="0"/>
                <a:ea typeface="Calibri" pitchFamily="34" charset="-122"/>
                <a:cs typeface="Calibri" pitchFamily="34" charset="-120"/>
              </a:rPr>
              <a:t>People and Processes</a:t>
            </a:r>
            <a:endParaRPr lang="en-US" sz="1150" dirty="0"/>
          </a:p>
        </p:txBody>
      </p:sp>
      <p:pic>
        <p:nvPicPr>
          <p:cNvPr id="17" name="Image 5" descr="preencoded.png"/>
          <p:cNvPicPr>
            <a:picLocks noChangeAspect="1"/>
          </p:cNvPicPr>
          <p:nvPr/>
        </p:nvPicPr>
        <p:blipFill>
          <a:blip r:embed="rId8"/>
          <a:stretch>
            <a:fillRect/>
          </a:stretch>
        </p:blipFill>
        <p:spPr>
          <a:xfrm>
            <a:off x="6656832" y="2834640"/>
            <a:ext cx="777240" cy="777240"/>
          </a:xfrm>
          <a:prstGeom prst="rect">
            <a:avLst/>
          </a:prstGeom>
        </p:spPr>
      </p:pic>
      <p:sp>
        <p:nvSpPr>
          <p:cNvPr id="18" name="Text 10"/>
          <p:cNvSpPr/>
          <p:nvPr/>
        </p:nvSpPr>
        <p:spPr>
          <a:xfrm>
            <a:off x="6217920" y="3657600"/>
            <a:ext cx="1664208" cy="502920"/>
          </a:xfrm>
          <a:prstGeom prst="rect">
            <a:avLst/>
          </a:prstGeom>
          <a:noFill/>
          <a:ln/>
        </p:spPr>
        <p:txBody>
          <a:bodyPr wrap="square" rtlCol="0" anchor="ctr"/>
          <a:lstStyle/>
          <a:p>
            <a:pPr marL="0" indent="0" algn="ctr">
              <a:buNone/>
            </a:pPr>
            <a:r>
              <a:rPr lang="en-US" sz="1150" dirty="0">
                <a:solidFill>
                  <a:srgbClr val="1A2B35"/>
                </a:solidFill>
                <a:latin typeface="Calibri" pitchFamily="34" charset="0"/>
                <a:ea typeface="Calibri" pitchFamily="34" charset="-122"/>
                <a:cs typeface="Calibri" pitchFamily="34" charset="-120"/>
              </a:rPr>
              <a:t>Cloud Security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Why Is Cybersecurity Important?</a:t>
            </a:r>
            <a:endParaRPr lang="en-US" sz="2400" dirty="0"/>
          </a:p>
        </p:txBody>
      </p:sp>
      <p:pic>
        <p:nvPicPr>
          <p:cNvPr id="5" name="Image 0" descr="preencoded.png"/>
          <p:cNvPicPr>
            <a:picLocks noChangeAspect="1"/>
          </p:cNvPicPr>
          <p:nvPr/>
        </p:nvPicPr>
        <p:blipFill>
          <a:blip r:embed="rId3"/>
          <a:stretch>
            <a:fillRect/>
          </a:stretch>
        </p:blipFill>
        <p:spPr>
          <a:xfrm>
            <a:off x="3520440" y="1691640"/>
            <a:ext cx="1417320" cy="1417320"/>
          </a:xfrm>
          <a:prstGeom prst="rect">
            <a:avLst/>
          </a:prstGeom>
        </p:spPr>
      </p:pic>
      <p:sp>
        <p:nvSpPr>
          <p:cNvPr id="6" name="Text 3"/>
          <p:cNvSpPr/>
          <p:nvPr/>
        </p:nvSpPr>
        <p:spPr>
          <a:xfrm>
            <a:off x="2926080" y="3182112"/>
            <a:ext cx="2560320" cy="548640"/>
          </a:xfrm>
          <a:prstGeom prst="rect">
            <a:avLst/>
          </a:prstGeom>
          <a:noFill/>
          <a:ln/>
        </p:spPr>
        <p:txBody>
          <a:bodyPr wrap="square" rtlCol="0" anchor="ctr"/>
          <a:lstStyle/>
          <a:p>
            <a:pPr marL="0" indent="0" algn="ctr">
              <a:buNone/>
            </a:pPr>
            <a:r>
              <a:rPr lang="en-US" sz="1200" dirty="0">
                <a:solidFill>
                  <a:srgbClr val="4A6572"/>
                </a:solidFill>
                <a:latin typeface="Calibri" pitchFamily="34" charset="0"/>
                <a:ea typeface="Calibri" pitchFamily="34" charset="-122"/>
                <a:cs typeface="Calibri" pitchFamily="34" charset="-120"/>
              </a:rPr>
              <a:t>Digital</a:t>
            </a:r>
            <a:endParaRPr lang="en-US" sz="1200" dirty="0"/>
          </a:p>
          <a:p>
            <a:pPr marL="0" indent="0" algn="ctr">
              <a:buNone/>
            </a:pPr>
            <a:r>
              <a:rPr lang="en-US" sz="1200" dirty="0">
                <a:solidFill>
                  <a:srgbClr val="4A6572"/>
                </a:solidFill>
                <a:latin typeface="Calibri" pitchFamily="34" charset="0"/>
                <a:ea typeface="Calibri" pitchFamily="34" charset="-122"/>
                <a:cs typeface="Calibri" pitchFamily="34" charset="-120"/>
              </a:rPr>
              <a:t>Transformation</a:t>
            </a:r>
            <a:endParaRPr lang="en-US" sz="1200" dirty="0"/>
          </a:p>
        </p:txBody>
      </p:sp>
      <p:sp>
        <p:nvSpPr>
          <p:cNvPr id="7" name="Shape 4"/>
          <p:cNvSpPr/>
          <p:nvPr/>
        </p:nvSpPr>
        <p:spPr>
          <a:xfrm>
            <a:off x="4937760" y="2194560"/>
            <a:ext cx="1188720" cy="36576"/>
          </a:xfrm>
          <a:prstGeom prst="rect">
            <a:avLst/>
          </a:prstGeom>
          <a:solidFill>
            <a:srgbClr val="0D6E7E"/>
          </a:solidFill>
          <a:ln w="12700">
            <a:solidFill>
              <a:srgbClr val="0D6E7E"/>
            </a:solidFill>
            <a:prstDash val="solid"/>
          </a:ln>
        </p:spPr>
      </p:sp>
      <p:sp>
        <p:nvSpPr>
          <p:cNvPr id="8" name="Shape 5"/>
          <p:cNvSpPr/>
          <p:nvPr/>
        </p:nvSpPr>
        <p:spPr>
          <a:xfrm>
            <a:off x="4937760" y="2834640"/>
            <a:ext cx="1188720" cy="36576"/>
          </a:xfrm>
          <a:prstGeom prst="rect">
            <a:avLst/>
          </a:prstGeom>
          <a:solidFill>
            <a:srgbClr val="0D6E7E"/>
          </a:solidFill>
          <a:ln w="12700">
            <a:solidFill>
              <a:srgbClr val="0D6E7E"/>
            </a:solidFill>
            <a:prstDash val="solid"/>
          </a:ln>
        </p:spPr>
      </p:sp>
      <p:pic>
        <p:nvPicPr>
          <p:cNvPr id="9" name="Image 1" descr="preencoded.png"/>
          <p:cNvPicPr>
            <a:picLocks noChangeAspect="1"/>
          </p:cNvPicPr>
          <p:nvPr/>
        </p:nvPicPr>
        <p:blipFill>
          <a:blip r:embed="rId4"/>
          <a:stretch>
            <a:fillRect/>
          </a:stretch>
        </p:blipFill>
        <p:spPr>
          <a:xfrm>
            <a:off x="6263640" y="1371600"/>
            <a:ext cx="777240" cy="777240"/>
          </a:xfrm>
          <a:prstGeom prst="rect">
            <a:avLst/>
          </a:prstGeom>
        </p:spPr>
      </p:pic>
      <p:sp>
        <p:nvSpPr>
          <p:cNvPr id="10" name="Text 6"/>
          <p:cNvSpPr/>
          <p:nvPr/>
        </p:nvSpPr>
        <p:spPr>
          <a:xfrm>
            <a:off x="5897880" y="2176272"/>
            <a:ext cx="1554480" cy="411480"/>
          </a:xfrm>
          <a:prstGeom prst="rect">
            <a:avLst/>
          </a:prstGeom>
          <a:noFill/>
          <a:ln/>
        </p:spPr>
        <p:txBody>
          <a:bodyPr wrap="square" rtlCol="0" anchor="ctr"/>
          <a:lstStyle/>
          <a:p>
            <a:pPr marL="0" indent="0" algn="ctr">
              <a:buNone/>
            </a:pPr>
            <a:r>
              <a:rPr lang="en-US" sz="1200" dirty="0">
                <a:solidFill>
                  <a:srgbClr val="1A2B35"/>
                </a:solidFill>
                <a:latin typeface="Calibri" pitchFamily="34" charset="0"/>
                <a:ea typeface="Calibri" pitchFamily="34" charset="-122"/>
                <a:cs typeface="Calibri" pitchFamily="34" charset="-120"/>
              </a:rPr>
              <a:t>Improved Efficiencies</a:t>
            </a:r>
            <a:endParaRPr lang="en-US" sz="1200" dirty="0"/>
          </a:p>
        </p:txBody>
      </p:sp>
      <p:pic>
        <p:nvPicPr>
          <p:cNvPr id="11" name="Image 2" descr="preencoded.png"/>
          <p:cNvPicPr>
            <a:picLocks noChangeAspect="1"/>
          </p:cNvPicPr>
          <p:nvPr/>
        </p:nvPicPr>
        <p:blipFill>
          <a:blip r:embed="rId5"/>
          <a:stretch>
            <a:fillRect/>
          </a:stretch>
        </p:blipFill>
        <p:spPr>
          <a:xfrm>
            <a:off x="6263640" y="2880360"/>
            <a:ext cx="777240" cy="777240"/>
          </a:xfrm>
          <a:prstGeom prst="rect">
            <a:avLst/>
          </a:prstGeom>
        </p:spPr>
      </p:pic>
      <p:sp>
        <p:nvSpPr>
          <p:cNvPr id="12" name="Text 7"/>
          <p:cNvSpPr/>
          <p:nvPr/>
        </p:nvSpPr>
        <p:spPr>
          <a:xfrm>
            <a:off x="5897880" y="3685032"/>
            <a:ext cx="1554480" cy="411480"/>
          </a:xfrm>
          <a:prstGeom prst="rect">
            <a:avLst/>
          </a:prstGeom>
          <a:noFill/>
          <a:ln/>
        </p:spPr>
        <p:txBody>
          <a:bodyPr wrap="square" rtlCol="0" anchor="ctr"/>
          <a:lstStyle/>
          <a:p>
            <a:pPr marL="0" indent="0" algn="ctr">
              <a:buNone/>
            </a:pPr>
            <a:r>
              <a:rPr lang="en-US" sz="1200" dirty="0">
                <a:solidFill>
                  <a:srgbClr val="1A2B35"/>
                </a:solidFill>
                <a:latin typeface="Calibri" pitchFamily="34" charset="0"/>
                <a:ea typeface="Calibri" pitchFamily="34" charset="-122"/>
                <a:cs typeface="Calibri" pitchFamily="34" charset="-120"/>
              </a:rPr>
              <a:t>Digital Libraries</a:t>
            </a:r>
            <a:endParaRPr lang="en-US" sz="1200" dirty="0"/>
          </a:p>
        </p:txBody>
      </p:sp>
      <p:sp>
        <p:nvSpPr>
          <p:cNvPr id="13" name="Text 8"/>
          <p:cNvSpPr/>
          <p:nvPr/>
        </p:nvSpPr>
        <p:spPr>
          <a:xfrm>
            <a:off x="457200" y="3977640"/>
            <a:ext cx="8229600" cy="777240"/>
          </a:xfrm>
          <a:prstGeom prst="rect">
            <a:avLst/>
          </a:prstGeom>
          <a:noFill/>
          <a:ln/>
        </p:spPr>
        <p:txBody>
          <a:bodyPr wrap="square" rtlCol="0" anchor="ctr"/>
          <a:lstStyle/>
          <a:p>
            <a:pPr marL="0" indent="0">
              <a:buNone/>
            </a:pPr>
            <a:r>
              <a:rPr lang="en-US" sz="1200" i="1" dirty="0">
                <a:solidFill>
                  <a:srgbClr val="4A6572"/>
                </a:solidFill>
                <a:latin typeface="Calibri" pitchFamily="34" charset="0"/>
                <a:ea typeface="Calibri" pitchFamily="34" charset="-122"/>
                <a:cs typeface="Calibri" pitchFamily="34" charset="-120"/>
              </a:rPr>
              <a:t>The digital transformation has realized enormous efficiencies, expanded conveniences, and exponentially increased productivity. Without securing computer networks and the links that connect them, all of these advances are at risk.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Information Security and Information Systems Security</a:t>
            </a:r>
            <a:endParaRPr lang="en-US" sz="2400" dirty="0"/>
          </a:p>
        </p:txBody>
      </p:sp>
      <p:sp>
        <p:nvSpPr>
          <p:cNvPr id="5" name="Text 3"/>
          <p:cNvSpPr/>
          <p:nvPr/>
        </p:nvSpPr>
        <p:spPr>
          <a:xfrm>
            <a:off x="411480" y="749808"/>
            <a:ext cx="8046720" cy="292608"/>
          </a:xfrm>
          <a:prstGeom prst="rect">
            <a:avLst/>
          </a:prstGeom>
          <a:noFill/>
          <a:ln/>
        </p:spPr>
        <p:txBody>
          <a:bodyPr wrap="square" rtlCol="0" anchor="ctr"/>
          <a:lstStyle/>
          <a:p>
            <a:pPr marL="0" indent="0">
              <a:buNone/>
            </a:pPr>
            <a:r>
              <a:rPr lang="en-US" sz="1300" dirty="0">
                <a:solidFill>
                  <a:srgbClr val="4A6572"/>
                </a:solidFill>
                <a:latin typeface="Calibri" pitchFamily="34" charset="0"/>
                <a:ea typeface="Calibri" pitchFamily="34" charset="-122"/>
                <a:cs typeface="Calibri" pitchFamily="34" charset="-120"/>
              </a:rPr>
              <a:t>Information security (InfoSec) is the practice of protecting information.</a:t>
            </a:r>
            <a:endParaRPr lang="en-US" sz="1300" dirty="0"/>
          </a:p>
        </p:txBody>
      </p:sp>
      <p:pic>
        <p:nvPicPr>
          <p:cNvPr id="6" name="Image 0" descr="preencoded.png"/>
          <p:cNvPicPr>
            <a:picLocks noChangeAspect="1"/>
          </p:cNvPicPr>
          <p:nvPr/>
        </p:nvPicPr>
        <p:blipFill>
          <a:blip r:embed="rId3"/>
          <a:stretch>
            <a:fillRect/>
          </a:stretch>
        </p:blipFill>
        <p:spPr>
          <a:xfrm>
            <a:off x="1188720" y="1143000"/>
            <a:ext cx="1005840" cy="1005840"/>
          </a:xfrm>
          <a:prstGeom prst="rect">
            <a:avLst/>
          </a:prstGeom>
        </p:spPr>
      </p:pic>
      <p:sp>
        <p:nvSpPr>
          <p:cNvPr id="7" name="Text 4"/>
          <p:cNvSpPr/>
          <p:nvPr/>
        </p:nvSpPr>
        <p:spPr>
          <a:xfrm>
            <a:off x="914400" y="2212848"/>
            <a:ext cx="1554480" cy="347472"/>
          </a:xfrm>
          <a:prstGeom prst="rect">
            <a:avLst/>
          </a:prstGeom>
          <a:noFill/>
          <a:ln/>
        </p:spPr>
        <p:txBody>
          <a:bodyPr wrap="square" rtlCol="0" anchor="ctr"/>
          <a:lstStyle/>
          <a:p>
            <a:pPr marL="0" indent="0" algn="ctr">
              <a:buNone/>
            </a:pPr>
            <a:r>
              <a:rPr lang="en-US" sz="1400" dirty="0">
                <a:solidFill>
                  <a:srgbClr val="1A2B35"/>
                </a:solidFill>
                <a:latin typeface="Calibri" pitchFamily="34" charset="0"/>
                <a:ea typeface="Calibri" pitchFamily="34" charset="-122"/>
                <a:cs typeface="Calibri" pitchFamily="34" charset="-120"/>
              </a:rPr>
              <a:t>Processes</a:t>
            </a:r>
            <a:endParaRPr lang="en-US" sz="1400" dirty="0"/>
          </a:p>
        </p:txBody>
      </p:sp>
      <p:pic>
        <p:nvPicPr>
          <p:cNvPr id="8" name="Image 1" descr="preencoded.png"/>
          <p:cNvPicPr>
            <a:picLocks noChangeAspect="1"/>
          </p:cNvPicPr>
          <p:nvPr/>
        </p:nvPicPr>
        <p:blipFill>
          <a:blip r:embed="rId4"/>
          <a:stretch>
            <a:fillRect/>
          </a:stretch>
        </p:blipFill>
        <p:spPr>
          <a:xfrm>
            <a:off x="3931920" y="1143000"/>
            <a:ext cx="1005840" cy="1005840"/>
          </a:xfrm>
          <a:prstGeom prst="rect">
            <a:avLst/>
          </a:prstGeom>
        </p:spPr>
      </p:pic>
      <p:sp>
        <p:nvSpPr>
          <p:cNvPr id="9" name="Text 5"/>
          <p:cNvSpPr/>
          <p:nvPr/>
        </p:nvSpPr>
        <p:spPr>
          <a:xfrm>
            <a:off x="3657600" y="2212848"/>
            <a:ext cx="1554480" cy="347472"/>
          </a:xfrm>
          <a:prstGeom prst="rect">
            <a:avLst/>
          </a:prstGeom>
          <a:noFill/>
          <a:ln/>
        </p:spPr>
        <p:txBody>
          <a:bodyPr wrap="square" rtlCol="0" anchor="ctr"/>
          <a:lstStyle/>
          <a:p>
            <a:pPr marL="0" indent="0" algn="ctr">
              <a:buNone/>
            </a:pPr>
            <a:r>
              <a:rPr lang="en-US" sz="1400" dirty="0">
                <a:solidFill>
                  <a:srgbClr val="1A2B35"/>
                </a:solidFill>
                <a:latin typeface="Calibri" pitchFamily="34" charset="0"/>
                <a:ea typeface="Calibri" pitchFamily="34" charset="-122"/>
                <a:cs typeface="Calibri" pitchFamily="34" charset="-120"/>
              </a:rPr>
              <a:t>Threats</a:t>
            </a:r>
            <a:endParaRPr lang="en-US" sz="1400" dirty="0"/>
          </a:p>
        </p:txBody>
      </p:sp>
      <p:pic>
        <p:nvPicPr>
          <p:cNvPr id="10" name="Image 2" descr="preencoded.png"/>
          <p:cNvPicPr>
            <a:picLocks noChangeAspect="1"/>
          </p:cNvPicPr>
          <p:nvPr/>
        </p:nvPicPr>
        <p:blipFill>
          <a:blip r:embed="rId5"/>
          <a:stretch>
            <a:fillRect/>
          </a:stretch>
        </p:blipFill>
        <p:spPr>
          <a:xfrm>
            <a:off x="6675120" y="1143000"/>
            <a:ext cx="1005840" cy="1005840"/>
          </a:xfrm>
          <a:prstGeom prst="rect">
            <a:avLst/>
          </a:prstGeom>
        </p:spPr>
      </p:pic>
      <p:sp>
        <p:nvSpPr>
          <p:cNvPr id="11" name="Text 6"/>
          <p:cNvSpPr/>
          <p:nvPr/>
        </p:nvSpPr>
        <p:spPr>
          <a:xfrm>
            <a:off x="6400800" y="2212848"/>
            <a:ext cx="1554480" cy="347472"/>
          </a:xfrm>
          <a:prstGeom prst="rect">
            <a:avLst/>
          </a:prstGeom>
          <a:noFill/>
          <a:ln/>
        </p:spPr>
        <p:txBody>
          <a:bodyPr wrap="square" rtlCol="0" anchor="ctr"/>
          <a:lstStyle/>
          <a:p>
            <a:pPr marL="0" indent="0" algn="ctr">
              <a:buNone/>
            </a:pPr>
            <a:r>
              <a:rPr lang="en-US" sz="1400" dirty="0">
                <a:solidFill>
                  <a:srgbClr val="1A2B35"/>
                </a:solidFill>
                <a:latin typeface="Calibri" pitchFamily="34" charset="0"/>
                <a:ea typeface="Calibri" pitchFamily="34" charset="-122"/>
                <a:cs typeface="Calibri" pitchFamily="34" charset="-120"/>
              </a:rPr>
              <a:t>Systems</a:t>
            </a:r>
            <a:endParaRPr lang="en-US" sz="1400" dirty="0"/>
          </a:p>
        </p:txBody>
      </p:sp>
      <p:sp>
        <p:nvSpPr>
          <p:cNvPr id="12" name="Shape 7"/>
          <p:cNvSpPr/>
          <p:nvPr/>
        </p:nvSpPr>
        <p:spPr>
          <a:xfrm>
            <a:off x="411480" y="2880360"/>
            <a:ext cx="3977640" cy="1691640"/>
          </a:xfrm>
          <a:prstGeom prst="rect">
            <a:avLst/>
          </a:prstGeom>
          <a:solidFill>
            <a:srgbClr val="EFF8FA"/>
          </a:solidFill>
          <a:ln w="15240">
            <a:solidFill>
              <a:srgbClr val="0D6E7E"/>
            </a:solidFill>
            <a:prstDash val="solid"/>
          </a:ln>
        </p:spPr>
      </p:sp>
      <p:sp>
        <p:nvSpPr>
          <p:cNvPr id="13" name="Shape 8"/>
          <p:cNvSpPr/>
          <p:nvPr/>
        </p:nvSpPr>
        <p:spPr>
          <a:xfrm>
            <a:off x="411480" y="2880360"/>
            <a:ext cx="3977640" cy="384048"/>
          </a:xfrm>
          <a:prstGeom prst="rect">
            <a:avLst/>
          </a:prstGeom>
          <a:solidFill>
            <a:srgbClr val="0D6E7E"/>
          </a:solidFill>
          <a:ln w="12700">
            <a:solidFill>
              <a:srgbClr val="0D6E7E"/>
            </a:solidFill>
            <a:prstDash val="solid"/>
          </a:ln>
        </p:spPr>
      </p:sp>
      <p:sp>
        <p:nvSpPr>
          <p:cNvPr id="14" name="Text 9"/>
          <p:cNvSpPr/>
          <p:nvPr/>
        </p:nvSpPr>
        <p:spPr>
          <a:xfrm>
            <a:off x="521208" y="2880360"/>
            <a:ext cx="374904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Digital</a:t>
            </a:r>
            <a:endParaRPr lang="en-US" sz="1400" dirty="0"/>
          </a:p>
        </p:txBody>
      </p:sp>
      <p:sp>
        <p:nvSpPr>
          <p:cNvPr id="15" name="Text 10"/>
          <p:cNvSpPr/>
          <p:nvPr/>
        </p:nvSpPr>
        <p:spPr>
          <a:xfrm>
            <a:off x="521208" y="3310128"/>
            <a:ext cx="3749040" cy="1207008"/>
          </a:xfrm>
          <a:prstGeom prst="rect">
            <a:avLst/>
          </a:prstGeom>
          <a:noFill/>
          <a:ln/>
        </p:spPr>
        <p:txBody>
          <a:bodyPr wrap="square" rtlCol="0" anchor="ctr"/>
          <a:lstStyle/>
          <a:p>
            <a:pPr marL="0" indent="0">
              <a:buNone/>
            </a:pPr>
            <a:r>
              <a:rPr lang="en-US" sz="1250" dirty="0">
                <a:solidFill>
                  <a:srgbClr val="1A2B35"/>
                </a:solidFill>
                <a:latin typeface="Calibri" pitchFamily="34" charset="0"/>
                <a:ea typeface="Calibri" pitchFamily="34" charset="-122"/>
                <a:cs typeface="Calibri" pitchFamily="34" charset="-120"/>
              </a:rPr>
              <a:t>Information stored electronically — computers, networks, servers, cloud systems, databases</a:t>
            </a:r>
            <a:endParaRPr lang="en-US" sz="1250" dirty="0"/>
          </a:p>
        </p:txBody>
      </p:sp>
      <p:sp>
        <p:nvSpPr>
          <p:cNvPr id="16" name="Shape 11"/>
          <p:cNvSpPr/>
          <p:nvPr/>
        </p:nvSpPr>
        <p:spPr>
          <a:xfrm>
            <a:off x="4663440" y="2880360"/>
            <a:ext cx="3977640" cy="1636776"/>
          </a:xfrm>
          <a:prstGeom prst="rect">
            <a:avLst/>
          </a:prstGeom>
          <a:solidFill>
            <a:srgbClr val="EFF8FA"/>
          </a:solidFill>
          <a:ln w="15240">
            <a:solidFill>
              <a:srgbClr val="0D6E7E"/>
            </a:solidFill>
            <a:prstDash val="solid"/>
          </a:ln>
        </p:spPr>
      </p:sp>
      <p:sp>
        <p:nvSpPr>
          <p:cNvPr id="17" name="Shape 12"/>
          <p:cNvSpPr/>
          <p:nvPr/>
        </p:nvSpPr>
        <p:spPr>
          <a:xfrm>
            <a:off x="4663440" y="2880360"/>
            <a:ext cx="3977640" cy="384048"/>
          </a:xfrm>
          <a:prstGeom prst="rect">
            <a:avLst/>
          </a:prstGeom>
          <a:solidFill>
            <a:srgbClr val="0D6E7E"/>
          </a:solidFill>
          <a:ln w="12700">
            <a:solidFill>
              <a:srgbClr val="0D6E7E"/>
            </a:solidFill>
            <a:prstDash val="solid"/>
          </a:ln>
        </p:spPr>
      </p:sp>
      <p:sp>
        <p:nvSpPr>
          <p:cNvPr id="18" name="Text 13"/>
          <p:cNvSpPr/>
          <p:nvPr/>
        </p:nvSpPr>
        <p:spPr>
          <a:xfrm>
            <a:off x="4773168" y="2880360"/>
            <a:ext cx="374904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Physical</a:t>
            </a:r>
            <a:endParaRPr lang="en-US" sz="1400" dirty="0"/>
          </a:p>
        </p:txBody>
      </p:sp>
      <p:sp>
        <p:nvSpPr>
          <p:cNvPr id="19" name="Text 14"/>
          <p:cNvSpPr/>
          <p:nvPr/>
        </p:nvSpPr>
        <p:spPr>
          <a:xfrm>
            <a:off x="4773168" y="3310128"/>
            <a:ext cx="3749040" cy="1207008"/>
          </a:xfrm>
          <a:prstGeom prst="rect">
            <a:avLst/>
          </a:prstGeom>
          <a:noFill/>
          <a:ln/>
        </p:spPr>
        <p:txBody>
          <a:bodyPr wrap="square" rtlCol="0" anchor="ctr"/>
          <a:lstStyle/>
          <a:p>
            <a:pPr marL="0" indent="0">
              <a:buNone/>
            </a:pPr>
            <a:r>
              <a:rPr lang="en-US" sz="1250" dirty="0">
                <a:solidFill>
                  <a:srgbClr val="1A2B35"/>
                </a:solidFill>
                <a:latin typeface="Calibri" pitchFamily="34" charset="0"/>
                <a:ea typeface="Calibri" pitchFamily="34" charset="-122"/>
                <a:cs typeface="Calibri" pitchFamily="34" charset="-120"/>
              </a:rPr>
              <a:t>Information in physical form — files on a desk, in cabinets, printed documents, hardware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Information Systems Security</a:t>
            </a:r>
            <a:endParaRPr lang="en-US" sz="2400" dirty="0"/>
          </a:p>
        </p:txBody>
      </p:sp>
      <p:sp>
        <p:nvSpPr>
          <p:cNvPr id="5" name="Text 3"/>
          <p:cNvSpPr/>
          <p:nvPr/>
        </p:nvSpPr>
        <p:spPr>
          <a:xfrm>
            <a:off x="411480" y="777240"/>
            <a:ext cx="4572000" cy="685800"/>
          </a:xfrm>
          <a:prstGeom prst="rect">
            <a:avLst/>
          </a:prstGeom>
          <a:noFill/>
          <a:ln/>
        </p:spPr>
        <p:txBody>
          <a:bodyPr wrap="square" rtlCol="0" anchor="ctr"/>
          <a:lstStyle/>
          <a:p>
            <a:pPr marL="0" indent="0">
              <a:buNone/>
            </a:pPr>
            <a:r>
              <a:rPr lang="en-US" sz="1300" dirty="0">
                <a:solidFill>
                  <a:srgbClr val="4A6572"/>
                </a:solidFill>
                <a:latin typeface="Calibri" pitchFamily="34" charset="0"/>
                <a:ea typeface="Calibri" pitchFamily="34" charset="-122"/>
                <a:cs typeface="Calibri" pitchFamily="34" charset="-120"/>
              </a:rPr>
              <a:t>Information systems security is a part of InfoSec. It is defined as the protection of information systems against:</a:t>
            </a:r>
            <a:endParaRPr lang="en-US" sz="1300" dirty="0"/>
          </a:p>
        </p:txBody>
      </p:sp>
      <p:sp>
        <p:nvSpPr>
          <p:cNvPr id="6" name="Shape 4"/>
          <p:cNvSpPr/>
          <p:nvPr/>
        </p:nvSpPr>
        <p:spPr>
          <a:xfrm>
            <a:off x="411480" y="1554480"/>
            <a:ext cx="4297680" cy="658368"/>
          </a:xfrm>
          <a:prstGeom prst="rect">
            <a:avLst/>
          </a:prstGeom>
          <a:solidFill>
            <a:srgbClr val="F5F9FA"/>
          </a:solidFill>
          <a:ln w="10160">
            <a:solidFill>
              <a:srgbClr val="0D6E7E"/>
            </a:solidFill>
            <a:prstDash val="solid"/>
          </a:ln>
        </p:spPr>
      </p:sp>
      <p:pic>
        <p:nvPicPr>
          <p:cNvPr id="7" name="Image 0" descr="preencoded.png"/>
          <p:cNvPicPr>
            <a:picLocks noChangeAspect="1"/>
          </p:cNvPicPr>
          <p:nvPr/>
        </p:nvPicPr>
        <p:blipFill>
          <a:blip r:embed="rId3"/>
          <a:stretch>
            <a:fillRect/>
          </a:stretch>
        </p:blipFill>
        <p:spPr>
          <a:xfrm>
            <a:off x="548640" y="1682496"/>
            <a:ext cx="402336" cy="402336"/>
          </a:xfrm>
          <a:prstGeom prst="rect">
            <a:avLst/>
          </a:prstGeom>
        </p:spPr>
      </p:pic>
      <p:sp>
        <p:nvSpPr>
          <p:cNvPr id="8" name="Text 5"/>
          <p:cNvSpPr/>
          <p:nvPr/>
        </p:nvSpPr>
        <p:spPr>
          <a:xfrm>
            <a:off x="1078992" y="1700784"/>
            <a:ext cx="3474720" cy="365760"/>
          </a:xfrm>
          <a:prstGeom prst="rect">
            <a:avLst/>
          </a:prstGeom>
          <a:noFill/>
          <a:ln/>
        </p:spPr>
        <p:txBody>
          <a:bodyPr wrap="square" rtlCol="0" anchor="ctr"/>
          <a:lstStyle/>
          <a:p>
            <a:pPr marL="0" indent="0">
              <a:buNone/>
            </a:pPr>
            <a:r>
              <a:rPr lang="en-US" sz="1350" b="1" dirty="0">
                <a:solidFill>
                  <a:srgbClr val="0D3D52"/>
                </a:solidFill>
                <a:latin typeface="Calibri" pitchFamily="34" charset="0"/>
                <a:ea typeface="Calibri" pitchFamily="34" charset="-122"/>
                <a:cs typeface="Calibri" pitchFamily="34" charset="-120"/>
              </a:rPr>
              <a:t>Unauthorized Access</a:t>
            </a:r>
            <a:endParaRPr lang="en-US" sz="1350" dirty="0"/>
          </a:p>
        </p:txBody>
      </p:sp>
      <p:sp>
        <p:nvSpPr>
          <p:cNvPr id="9" name="Shape 6"/>
          <p:cNvSpPr/>
          <p:nvPr/>
        </p:nvSpPr>
        <p:spPr>
          <a:xfrm>
            <a:off x="411480" y="2304288"/>
            <a:ext cx="4297680" cy="658368"/>
          </a:xfrm>
          <a:prstGeom prst="rect">
            <a:avLst/>
          </a:prstGeom>
          <a:solidFill>
            <a:srgbClr val="F5F9FA"/>
          </a:solidFill>
          <a:ln w="10160">
            <a:solidFill>
              <a:srgbClr val="0D6E7E"/>
            </a:solidFill>
            <a:prstDash val="solid"/>
          </a:ln>
        </p:spPr>
      </p:sp>
      <p:pic>
        <p:nvPicPr>
          <p:cNvPr id="10" name="Image 1" descr="preencoded.png"/>
          <p:cNvPicPr>
            <a:picLocks noChangeAspect="1"/>
          </p:cNvPicPr>
          <p:nvPr/>
        </p:nvPicPr>
        <p:blipFill>
          <a:blip r:embed="rId4"/>
          <a:stretch>
            <a:fillRect/>
          </a:stretch>
        </p:blipFill>
        <p:spPr>
          <a:xfrm>
            <a:off x="548640" y="2432304"/>
            <a:ext cx="402336" cy="402336"/>
          </a:xfrm>
          <a:prstGeom prst="rect">
            <a:avLst/>
          </a:prstGeom>
        </p:spPr>
      </p:pic>
      <p:sp>
        <p:nvSpPr>
          <p:cNvPr id="11" name="Text 7"/>
          <p:cNvSpPr/>
          <p:nvPr/>
        </p:nvSpPr>
        <p:spPr>
          <a:xfrm>
            <a:off x="1078992" y="2450592"/>
            <a:ext cx="3474720" cy="365760"/>
          </a:xfrm>
          <a:prstGeom prst="rect">
            <a:avLst/>
          </a:prstGeom>
          <a:noFill/>
          <a:ln/>
        </p:spPr>
        <p:txBody>
          <a:bodyPr wrap="square" rtlCol="0" anchor="ctr"/>
          <a:lstStyle/>
          <a:p>
            <a:pPr marL="0" indent="0">
              <a:buNone/>
            </a:pPr>
            <a:r>
              <a:rPr lang="en-US" sz="1350" b="1" dirty="0">
                <a:solidFill>
                  <a:srgbClr val="0D3D52"/>
                </a:solidFill>
                <a:latin typeface="Calibri" pitchFamily="34" charset="0"/>
                <a:ea typeface="Calibri" pitchFamily="34" charset="-122"/>
                <a:cs typeface="Calibri" pitchFamily="34" charset="-120"/>
              </a:rPr>
              <a:t>Modification</a:t>
            </a:r>
            <a:endParaRPr lang="en-US" sz="1350" dirty="0"/>
          </a:p>
        </p:txBody>
      </p:sp>
      <p:sp>
        <p:nvSpPr>
          <p:cNvPr id="12" name="Shape 8"/>
          <p:cNvSpPr/>
          <p:nvPr/>
        </p:nvSpPr>
        <p:spPr>
          <a:xfrm>
            <a:off x="411480" y="3054096"/>
            <a:ext cx="4297680" cy="658368"/>
          </a:xfrm>
          <a:prstGeom prst="rect">
            <a:avLst/>
          </a:prstGeom>
          <a:solidFill>
            <a:srgbClr val="F5F9FA"/>
          </a:solidFill>
          <a:ln w="10160">
            <a:solidFill>
              <a:srgbClr val="0D6E7E"/>
            </a:solidFill>
            <a:prstDash val="solid"/>
          </a:ln>
        </p:spPr>
      </p:sp>
      <p:pic>
        <p:nvPicPr>
          <p:cNvPr id="13" name="Image 2" descr="preencoded.png"/>
          <p:cNvPicPr>
            <a:picLocks noChangeAspect="1"/>
          </p:cNvPicPr>
          <p:nvPr/>
        </p:nvPicPr>
        <p:blipFill>
          <a:blip r:embed="rId5"/>
          <a:stretch>
            <a:fillRect/>
          </a:stretch>
        </p:blipFill>
        <p:spPr>
          <a:xfrm>
            <a:off x="548640" y="3182112"/>
            <a:ext cx="402336" cy="402336"/>
          </a:xfrm>
          <a:prstGeom prst="rect">
            <a:avLst/>
          </a:prstGeom>
        </p:spPr>
      </p:pic>
      <p:sp>
        <p:nvSpPr>
          <p:cNvPr id="14" name="Text 9"/>
          <p:cNvSpPr/>
          <p:nvPr/>
        </p:nvSpPr>
        <p:spPr>
          <a:xfrm>
            <a:off x="1078992" y="3200400"/>
            <a:ext cx="3474720" cy="365760"/>
          </a:xfrm>
          <a:prstGeom prst="rect">
            <a:avLst/>
          </a:prstGeom>
          <a:noFill/>
          <a:ln/>
        </p:spPr>
        <p:txBody>
          <a:bodyPr wrap="square" rtlCol="0" anchor="ctr"/>
          <a:lstStyle/>
          <a:p>
            <a:pPr marL="0" indent="0">
              <a:buNone/>
            </a:pPr>
            <a:r>
              <a:rPr lang="en-US" sz="1350" b="1" dirty="0">
                <a:solidFill>
                  <a:srgbClr val="0D3D52"/>
                </a:solidFill>
                <a:latin typeface="Calibri" pitchFamily="34" charset="0"/>
                <a:ea typeface="Calibri" pitchFamily="34" charset="-122"/>
                <a:cs typeface="Calibri" pitchFamily="34" charset="-120"/>
              </a:rPr>
              <a:t>Destruction</a:t>
            </a:r>
            <a:endParaRPr lang="en-US" sz="1350" dirty="0"/>
          </a:p>
        </p:txBody>
      </p:sp>
      <p:sp>
        <p:nvSpPr>
          <p:cNvPr id="15" name="Shape 10"/>
          <p:cNvSpPr/>
          <p:nvPr/>
        </p:nvSpPr>
        <p:spPr>
          <a:xfrm>
            <a:off x="411480" y="3803904"/>
            <a:ext cx="4297680" cy="658368"/>
          </a:xfrm>
          <a:prstGeom prst="rect">
            <a:avLst/>
          </a:prstGeom>
          <a:solidFill>
            <a:srgbClr val="F5F9FA"/>
          </a:solidFill>
          <a:ln w="10160">
            <a:solidFill>
              <a:srgbClr val="0D6E7E"/>
            </a:solidFill>
            <a:prstDash val="solid"/>
          </a:ln>
        </p:spPr>
      </p:sp>
      <p:pic>
        <p:nvPicPr>
          <p:cNvPr id="16" name="Image 3" descr="preencoded.png"/>
          <p:cNvPicPr>
            <a:picLocks noChangeAspect="1"/>
          </p:cNvPicPr>
          <p:nvPr/>
        </p:nvPicPr>
        <p:blipFill>
          <a:blip r:embed="rId6"/>
          <a:stretch>
            <a:fillRect/>
          </a:stretch>
        </p:blipFill>
        <p:spPr>
          <a:xfrm>
            <a:off x="548640" y="3931920"/>
            <a:ext cx="402336" cy="402336"/>
          </a:xfrm>
          <a:prstGeom prst="rect">
            <a:avLst/>
          </a:prstGeom>
        </p:spPr>
      </p:pic>
      <p:sp>
        <p:nvSpPr>
          <p:cNvPr id="17" name="Text 11"/>
          <p:cNvSpPr/>
          <p:nvPr/>
        </p:nvSpPr>
        <p:spPr>
          <a:xfrm>
            <a:off x="1078992" y="3950208"/>
            <a:ext cx="3474720" cy="365760"/>
          </a:xfrm>
          <a:prstGeom prst="rect">
            <a:avLst/>
          </a:prstGeom>
          <a:noFill/>
          <a:ln/>
        </p:spPr>
        <p:txBody>
          <a:bodyPr wrap="square" rtlCol="0" anchor="ctr"/>
          <a:lstStyle/>
          <a:p>
            <a:pPr marL="0" indent="0">
              <a:buNone/>
            </a:pPr>
            <a:r>
              <a:rPr lang="en-US" sz="1350" b="1" dirty="0">
                <a:solidFill>
                  <a:srgbClr val="0D3D52"/>
                </a:solidFill>
                <a:latin typeface="Calibri" pitchFamily="34" charset="0"/>
                <a:ea typeface="Calibri" pitchFamily="34" charset="-122"/>
                <a:cs typeface="Calibri" pitchFamily="34" charset="-120"/>
              </a:rPr>
              <a:t>Denial of Access</a:t>
            </a:r>
            <a:endParaRPr lang="en-US" sz="1350" dirty="0"/>
          </a:p>
        </p:txBody>
      </p:sp>
      <p:pic>
        <p:nvPicPr>
          <p:cNvPr id="18" name="Image 4" descr="preencoded.png"/>
          <p:cNvPicPr>
            <a:picLocks noChangeAspect="1"/>
          </p:cNvPicPr>
          <p:nvPr/>
        </p:nvPicPr>
        <p:blipFill>
          <a:blip r:embed="rId7"/>
          <a:stretch>
            <a:fillRect/>
          </a:stretch>
        </p:blipFill>
        <p:spPr>
          <a:xfrm>
            <a:off x="5120640" y="777240"/>
            <a:ext cx="3566160" cy="4114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IT Security — Information Classification</a:t>
            </a:r>
            <a:endParaRPr lang="en-US" sz="2400" dirty="0"/>
          </a:p>
        </p:txBody>
      </p:sp>
      <p:sp>
        <p:nvSpPr>
          <p:cNvPr id="5" name="Text 3"/>
          <p:cNvSpPr/>
          <p:nvPr/>
        </p:nvSpPr>
        <p:spPr>
          <a:xfrm>
            <a:off x="411480" y="649792"/>
            <a:ext cx="8046720" cy="292608"/>
          </a:xfrm>
          <a:prstGeom prst="rect">
            <a:avLst/>
          </a:prstGeom>
          <a:noFill/>
          <a:ln/>
        </p:spPr>
        <p:txBody>
          <a:bodyPr wrap="square" rtlCol="0" anchor="ctr"/>
          <a:lstStyle/>
          <a:p>
            <a:pPr marL="0" indent="0">
              <a:buNone/>
            </a:pPr>
            <a:r>
              <a:rPr lang="en-US" sz="1300" dirty="0">
                <a:solidFill>
                  <a:srgbClr val="4A6572"/>
                </a:solidFill>
                <a:latin typeface="Calibri" pitchFamily="34" charset="0"/>
                <a:ea typeface="Calibri" pitchFamily="34" charset="-122"/>
                <a:cs typeface="Calibri" pitchFamily="34" charset="-120"/>
              </a:rPr>
              <a:t>IT security scrutinizes all information to categorize and prioritize its sensitivity.</a:t>
            </a:r>
            <a:endParaRPr lang="en-US" sz="1300" dirty="0"/>
          </a:p>
        </p:txBody>
      </p:sp>
      <p:sp>
        <p:nvSpPr>
          <p:cNvPr id="6" name="Shape 4"/>
          <p:cNvSpPr/>
          <p:nvPr/>
        </p:nvSpPr>
        <p:spPr>
          <a:xfrm>
            <a:off x="3840480" y="960120"/>
            <a:ext cx="1463040" cy="530352"/>
          </a:xfrm>
          <a:prstGeom prst="rect">
            <a:avLst/>
          </a:prstGeom>
          <a:solidFill>
            <a:srgbClr val="8B0000"/>
          </a:solidFill>
          <a:ln w="12700">
            <a:solidFill>
              <a:srgbClr val="8B0000"/>
            </a:solidFill>
            <a:prstDash val="solid"/>
          </a:ln>
        </p:spPr>
      </p:sp>
      <p:sp>
        <p:nvSpPr>
          <p:cNvPr id="7" name="Text 5"/>
          <p:cNvSpPr/>
          <p:nvPr/>
        </p:nvSpPr>
        <p:spPr>
          <a:xfrm>
            <a:off x="3840480" y="960120"/>
            <a:ext cx="1463040" cy="53035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TOP SECRET</a:t>
            </a:r>
            <a:endParaRPr lang="en-US" sz="1300" dirty="0"/>
          </a:p>
        </p:txBody>
      </p:sp>
      <p:sp>
        <p:nvSpPr>
          <p:cNvPr id="8" name="Shape 6"/>
          <p:cNvSpPr/>
          <p:nvPr/>
        </p:nvSpPr>
        <p:spPr>
          <a:xfrm>
            <a:off x="3291840" y="1527048"/>
            <a:ext cx="2560320" cy="530352"/>
          </a:xfrm>
          <a:prstGeom prst="rect">
            <a:avLst/>
          </a:prstGeom>
          <a:solidFill>
            <a:srgbClr val="CC3333"/>
          </a:solidFill>
          <a:ln w="12700">
            <a:solidFill>
              <a:srgbClr val="CC3333"/>
            </a:solidFill>
            <a:prstDash val="solid"/>
          </a:ln>
        </p:spPr>
      </p:sp>
      <p:sp>
        <p:nvSpPr>
          <p:cNvPr id="9" name="Text 7"/>
          <p:cNvSpPr/>
          <p:nvPr/>
        </p:nvSpPr>
        <p:spPr>
          <a:xfrm>
            <a:off x="3291840" y="1527048"/>
            <a:ext cx="2560320" cy="53035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SECRET</a:t>
            </a:r>
            <a:endParaRPr lang="en-US" sz="1300" dirty="0"/>
          </a:p>
        </p:txBody>
      </p:sp>
      <p:sp>
        <p:nvSpPr>
          <p:cNvPr id="10" name="Shape 8"/>
          <p:cNvSpPr/>
          <p:nvPr/>
        </p:nvSpPr>
        <p:spPr>
          <a:xfrm>
            <a:off x="2651760" y="2093976"/>
            <a:ext cx="3840480" cy="530352"/>
          </a:xfrm>
          <a:prstGeom prst="rect">
            <a:avLst/>
          </a:prstGeom>
          <a:solidFill>
            <a:srgbClr val="053E51"/>
          </a:solidFill>
          <a:ln w="12700">
            <a:solidFill>
              <a:srgbClr val="053E51"/>
            </a:solidFill>
            <a:prstDash val="solid"/>
          </a:ln>
        </p:spPr>
      </p:sp>
      <p:sp>
        <p:nvSpPr>
          <p:cNvPr id="11" name="Text 9"/>
          <p:cNvSpPr/>
          <p:nvPr/>
        </p:nvSpPr>
        <p:spPr>
          <a:xfrm>
            <a:off x="2651760" y="2093976"/>
            <a:ext cx="3840480" cy="53035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CONFIDENTIAL</a:t>
            </a:r>
            <a:endParaRPr lang="en-US" sz="1300" dirty="0"/>
          </a:p>
        </p:txBody>
      </p:sp>
      <p:sp>
        <p:nvSpPr>
          <p:cNvPr id="12" name="Shape 10"/>
          <p:cNvSpPr/>
          <p:nvPr/>
        </p:nvSpPr>
        <p:spPr>
          <a:xfrm>
            <a:off x="1920240" y="2660904"/>
            <a:ext cx="5303520" cy="530352"/>
          </a:xfrm>
          <a:prstGeom prst="rect">
            <a:avLst/>
          </a:prstGeom>
          <a:solidFill>
            <a:srgbClr val="0D6E7E"/>
          </a:solidFill>
          <a:ln w="12700">
            <a:solidFill>
              <a:srgbClr val="0D6E7E"/>
            </a:solidFill>
            <a:prstDash val="solid"/>
          </a:ln>
        </p:spPr>
      </p:sp>
      <p:sp>
        <p:nvSpPr>
          <p:cNvPr id="13" name="Text 11"/>
          <p:cNvSpPr/>
          <p:nvPr/>
        </p:nvSpPr>
        <p:spPr>
          <a:xfrm>
            <a:off x="1920240" y="2660904"/>
            <a:ext cx="5303520" cy="53035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PROTECTED</a:t>
            </a:r>
            <a:endParaRPr lang="en-US" sz="1300" dirty="0"/>
          </a:p>
        </p:txBody>
      </p:sp>
      <p:sp>
        <p:nvSpPr>
          <p:cNvPr id="14" name="Shape 12"/>
          <p:cNvSpPr/>
          <p:nvPr/>
        </p:nvSpPr>
        <p:spPr>
          <a:xfrm>
            <a:off x="1188720" y="3227832"/>
            <a:ext cx="6766560" cy="530352"/>
          </a:xfrm>
          <a:prstGeom prst="rect">
            <a:avLst/>
          </a:prstGeom>
          <a:solidFill>
            <a:srgbClr val="EFF8FA"/>
          </a:solidFill>
          <a:ln w="12700">
            <a:solidFill>
              <a:srgbClr val="EFF8FA"/>
            </a:solidFill>
            <a:prstDash val="solid"/>
          </a:ln>
        </p:spPr>
      </p:sp>
      <p:sp>
        <p:nvSpPr>
          <p:cNvPr id="15" name="Text 13"/>
          <p:cNvSpPr/>
          <p:nvPr/>
        </p:nvSpPr>
        <p:spPr>
          <a:xfrm>
            <a:off x="1188720" y="3227832"/>
            <a:ext cx="6766560" cy="530352"/>
          </a:xfrm>
          <a:prstGeom prst="rect">
            <a:avLst/>
          </a:prstGeom>
          <a:noFill/>
          <a:ln/>
        </p:spPr>
        <p:txBody>
          <a:bodyPr wrap="square" rtlCol="0" anchor="ctr"/>
          <a:lstStyle/>
          <a:p>
            <a:pPr marL="0" indent="0" algn="ctr">
              <a:buNone/>
            </a:pPr>
            <a:r>
              <a:rPr lang="en-US" sz="1300" b="1" dirty="0">
                <a:solidFill>
                  <a:srgbClr val="1A2B35"/>
                </a:solidFill>
                <a:latin typeface="Calibri" pitchFamily="34" charset="0"/>
                <a:ea typeface="Calibri" pitchFamily="34" charset="-122"/>
                <a:cs typeface="Calibri" pitchFamily="34" charset="-120"/>
              </a:rPr>
              <a:t>UNPROTECTED</a:t>
            </a:r>
            <a:endParaRPr lang="en-US" sz="1300" dirty="0"/>
          </a:p>
        </p:txBody>
      </p:sp>
      <p:sp>
        <p:nvSpPr>
          <p:cNvPr id="16" name="Text 14"/>
          <p:cNvSpPr/>
          <p:nvPr/>
        </p:nvSpPr>
        <p:spPr>
          <a:xfrm rot="16200000">
            <a:off x="-91440" y="2131120"/>
            <a:ext cx="3200400" cy="822960"/>
          </a:xfrm>
          <a:prstGeom prst="rect">
            <a:avLst/>
          </a:prstGeom>
          <a:noFill/>
          <a:ln/>
        </p:spPr>
        <p:txBody>
          <a:bodyPr wrap="square" rtlCol="0" anchor="ctr"/>
          <a:lstStyle/>
          <a:p>
            <a:pPr marL="0" indent="0" algn="ctr">
              <a:buNone/>
            </a:pPr>
            <a:r>
              <a:rPr lang="en-US" sz="1400" dirty="0">
                <a:solidFill>
                  <a:srgbClr val="4A6572"/>
                </a:solidFill>
                <a:latin typeface="Calibri" pitchFamily="34" charset="0"/>
                <a:ea typeface="Calibri" pitchFamily="34" charset="-122"/>
                <a:cs typeface="Calibri" pitchFamily="34" charset="-120"/>
              </a:rPr>
              <a:t>← Increasing controls and safeguards required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What are the Principles of Information Security?</a:t>
            </a:r>
            <a:endParaRPr lang="en-US" sz="2400" dirty="0"/>
          </a:p>
        </p:txBody>
      </p:sp>
      <p:pic>
        <p:nvPicPr>
          <p:cNvPr id="5" name="Image 0" descr="preencoded.png"/>
          <p:cNvPicPr>
            <a:picLocks noChangeAspect="1"/>
          </p:cNvPicPr>
          <p:nvPr/>
        </p:nvPicPr>
        <p:blipFill>
          <a:blip r:embed="rId3"/>
          <a:stretch>
            <a:fillRect/>
          </a:stretch>
        </p:blipFill>
        <p:spPr>
          <a:xfrm>
            <a:off x="2560320" y="731520"/>
            <a:ext cx="4023360" cy="3566160"/>
          </a:xfrm>
          <a:prstGeom prst="rect">
            <a:avLst/>
          </a:prstGeom>
        </p:spPr>
      </p:pic>
      <p:pic>
        <p:nvPicPr>
          <p:cNvPr id="6" name="Image 1" descr="preencoded.png"/>
          <p:cNvPicPr>
            <a:picLocks noChangeAspect="1"/>
          </p:cNvPicPr>
          <p:nvPr/>
        </p:nvPicPr>
        <p:blipFill>
          <a:blip r:embed="rId4"/>
          <a:stretch>
            <a:fillRect/>
          </a:stretch>
        </p:blipFill>
        <p:spPr>
          <a:xfrm>
            <a:off x="411480" y="1005840"/>
            <a:ext cx="594360" cy="594360"/>
          </a:xfrm>
          <a:prstGeom prst="rect">
            <a:avLst/>
          </a:prstGeom>
        </p:spPr>
      </p:pic>
      <p:sp>
        <p:nvSpPr>
          <p:cNvPr id="7" name="Text 3"/>
          <p:cNvSpPr/>
          <p:nvPr/>
        </p:nvSpPr>
        <p:spPr>
          <a:xfrm>
            <a:off x="411480" y="1664208"/>
            <a:ext cx="1920240" cy="292608"/>
          </a:xfrm>
          <a:prstGeom prst="rect">
            <a:avLst/>
          </a:prstGeom>
          <a:noFill/>
          <a:ln/>
        </p:spPr>
        <p:txBody>
          <a:bodyPr wrap="square" rtlCol="0" anchor="ctr"/>
          <a:lstStyle/>
          <a:p>
            <a:pPr marL="0" indent="0">
              <a:buNone/>
            </a:pPr>
            <a:r>
              <a:rPr lang="en-US" sz="1300" b="1" dirty="0">
                <a:solidFill>
                  <a:srgbClr val="0D3D52"/>
                </a:solidFill>
                <a:latin typeface="Calibri" pitchFamily="34" charset="0"/>
                <a:ea typeface="Calibri" pitchFamily="34" charset="-122"/>
                <a:cs typeface="Calibri" pitchFamily="34" charset="-120"/>
              </a:rPr>
              <a:t>Confidentiality</a:t>
            </a:r>
            <a:endParaRPr lang="en-US" sz="1300" dirty="0"/>
          </a:p>
        </p:txBody>
      </p:sp>
      <p:sp>
        <p:nvSpPr>
          <p:cNvPr id="8" name="Text 4"/>
          <p:cNvSpPr/>
          <p:nvPr/>
        </p:nvSpPr>
        <p:spPr>
          <a:xfrm>
            <a:off x="1508760" y="1371600"/>
            <a:ext cx="548640" cy="365760"/>
          </a:xfrm>
          <a:prstGeom prst="rect">
            <a:avLst/>
          </a:prstGeom>
          <a:solidFill>
            <a:srgbClr val="20ECE3"/>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9" name="Text 5"/>
          <p:cNvSpPr/>
          <p:nvPr/>
        </p:nvSpPr>
        <p:spPr>
          <a:xfrm>
            <a:off x="411480" y="1965960"/>
            <a:ext cx="1920240" cy="658368"/>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Data is kept</a:t>
            </a:r>
            <a:endParaRPr lang="en-US" sz="1150" dirty="0"/>
          </a:p>
          <a:p>
            <a:pPr marL="0" indent="0">
              <a:buNone/>
            </a:pPr>
            <a:r>
              <a:rPr lang="en-US" sz="1150" dirty="0">
                <a:solidFill>
                  <a:srgbClr val="4A6572"/>
                </a:solidFill>
                <a:latin typeface="Calibri" pitchFamily="34" charset="0"/>
                <a:ea typeface="Calibri" pitchFamily="34" charset="-122"/>
                <a:cs typeface="Calibri" pitchFamily="34" charset="-120"/>
              </a:rPr>
              <a:t>confidential</a:t>
            </a:r>
            <a:endParaRPr lang="en-US" sz="1150" dirty="0"/>
          </a:p>
          <a:p>
            <a:pPr marL="0" indent="0">
              <a:buNone/>
            </a:pPr>
            <a:r>
              <a:rPr lang="en-US" sz="1150" dirty="0">
                <a:solidFill>
                  <a:srgbClr val="4A6572"/>
                </a:solidFill>
                <a:latin typeface="Calibri" pitchFamily="34" charset="0"/>
                <a:ea typeface="Calibri" pitchFamily="34" charset="-122"/>
                <a:cs typeface="Calibri" pitchFamily="34" charset="-120"/>
              </a:rPr>
              <a:t>and private.</a:t>
            </a:r>
            <a:endParaRPr lang="en-US" sz="1150" dirty="0"/>
          </a:p>
        </p:txBody>
      </p:sp>
      <p:pic>
        <p:nvPicPr>
          <p:cNvPr id="10" name="Image 2" descr="preencoded.png"/>
          <p:cNvPicPr>
            <a:picLocks noChangeAspect="1"/>
          </p:cNvPicPr>
          <p:nvPr/>
        </p:nvPicPr>
        <p:blipFill>
          <a:blip r:embed="rId5"/>
          <a:stretch>
            <a:fillRect/>
          </a:stretch>
        </p:blipFill>
        <p:spPr>
          <a:xfrm>
            <a:off x="411480" y="2788920"/>
            <a:ext cx="594360" cy="594360"/>
          </a:xfrm>
          <a:prstGeom prst="rect">
            <a:avLst/>
          </a:prstGeom>
        </p:spPr>
      </p:pic>
      <p:sp>
        <p:nvSpPr>
          <p:cNvPr id="11" name="Text 6"/>
          <p:cNvSpPr/>
          <p:nvPr/>
        </p:nvSpPr>
        <p:spPr>
          <a:xfrm>
            <a:off x="411480" y="3447288"/>
            <a:ext cx="1920240" cy="292608"/>
          </a:xfrm>
          <a:prstGeom prst="rect">
            <a:avLst/>
          </a:prstGeom>
          <a:noFill/>
          <a:ln/>
        </p:spPr>
        <p:txBody>
          <a:bodyPr wrap="square" rtlCol="0" anchor="ctr"/>
          <a:lstStyle/>
          <a:p>
            <a:pPr marL="0" indent="0">
              <a:buNone/>
            </a:pPr>
            <a:r>
              <a:rPr lang="en-US" sz="1300" b="1" dirty="0">
                <a:solidFill>
                  <a:srgbClr val="0D3D52"/>
                </a:solidFill>
                <a:latin typeface="Calibri" pitchFamily="34" charset="0"/>
                <a:ea typeface="Calibri" pitchFamily="34" charset="-122"/>
                <a:cs typeface="Calibri" pitchFamily="34" charset="-120"/>
              </a:rPr>
              <a:t>Availability</a:t>
            </a:r>
            <a:endParaRPr lang="en-US" sz="1300" dirty="0"/>
          </a:p>
        </p:txBody>
      </p:sp>
      <p:sp>
        <p:nvSpPr>
          <p:cNvPr id="12" name="Text 7"/>
          <p:cNvSpPr/>
          <p:nvPr/>
        </p:nvSpPr>
        <p:spPr>
          <a:xfrm>
            <a:off x="1508760" y="3154680"/>
            <a:ext cx="548640" cy="365760"/>
          </a:xfrm>
          <a:prstGeom prst="rect">
            <a:avLst/>
          </a:prstGeom>
          <a:solidFill>
            <a:srgbClr val="20ECE3"/>
          </a:solid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03</a:t>
            </a:r>
          </a:p>
        </p:txBody>
      </p:sp>
      <p:sp>
        <p:nvSpPr>
          <p:cNvPr id="13" name="Text 8"/>
          <p:cNvSpPr/>
          <p:nvPr/>
        </p:nvSpPr>
        <p:spPr>
          <a:xfrm>
            <a:off x="411480" y="3749040"/>
            <a:ext cx="1920240" cy="594360"/>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Data is available</a:t>
            </a:r>
            <a:endParaRPr lang="en-US" sz="1150" dirty="0"/>
          </a:p>
          <a:p>
            <a:pPr marL="0" indent="0">
              <a:buNone/>
            </a:pPr>
            <a:r>
              <a:rPr lang="en-US" sz="1150" dirty="0">
                <a:solidFill>
                  <a:srgbClr val="4A6572"/>
                </a:solidFill>
                <a:latin typeface="Calibri" pitchFamily="34" charset="0"/>
                <a:ea typeface="Calibri" pitchFamily="34" charset="-122"/>
                <a:cs typeface="Calibri" pitchFamily="34" charset="-120"/>
              </a:rPr>
              <a:t>to those who</a:t>
            </a:r>
            <a:endParaRPr lang="en-US" sz="1150" dirty="0"/>
          </a:p>
          <a:p>
            <a:pPr marL="0" indent="0">
              <a:buNone/>
            </a:pPr>
            <a:r>
              <a:rPr lang="en-US" sz="1150" dirty="0">
                <a:solidFill>
                  <a:srgbClr val="4A6572"/>
                </a:solidFill>
                <a:latin typeface="Calibri" pitchFamily="34" charset="0"/>
                <a:ea typeface="Calibri" pitchFamily="34" charset="-122"/>
                <a:cs typeface="Calibri" pitchFamily="34" charset="-120"/>
              </a:rPr>
              <a:t>need it.</a:t>
            </a:r>
            <a:endParaRPr lang="en-US" sz="1150" dirty="0"/>
          </a:p>
        </p:txBody>
      </p:sp>
      <p:pic>
        <p:nvPicPr>
          <p:cNvPr id="14" name="Image 3" descr="preencoded.png"/>
          <p:cNvPicPr>
            <a:picLocks noChangeAspect="1"/>
          </p:cNvPicPr>
          <p:nvPr/>
        </p:nvPicPr>
        <p:blipFill>
          <a:blip r:embed="rId6"/>
          <a:stretch>
            <a:fillRect/>
          </a:stretch>
        </p:blipFill>
        <p:spPr>
          <a:xfrm>
            <a:off x="6858000" y="1280160"/>
            <a:ext cx="804672" cy="804672"/>
          </a:xfrm>
          <a:prstGeom prst="rect">
            <a:avLst/>
          </a:prstGeom>
        </p:spPr>
      </p:pic>
      <p:sp>
        <p:nvSpPr>
          <p:cNvPr id="15" name="Text 9"/>
          <p:cNvSpPr/>
          <p:nvPr/>
        </p:nvSpPr>
        <p:spPr>
          <a:xfrm>
            <a:off x="6400800" y="2148840"/>
            <a:ext cx="2468880" cy="292608"/>
          </a:xfrm>
          <a:prstGeom prst="rect">
            <a:avLst/>
          </a:prstGeom>
          <a:noFill/>
          <a:ln/>
        </p:spPr>
        <p:txBody>
          <a:bodyPr wrap="square" rtlCol="0" anchor="ctr"/>
          <a:lstStyle/>
          <a:p>
            <a:pPr marL="0" indent="0">
              <a:buNone/>
            </a:pPr>
            <a:r>
              <a:rPr lang="en-US" sz="1300" b="1" dirty="0">
                <a:solidFill>
                  <a:srgbClr val="0D3D52"/>
                </a:solidFill>
                <a:latin typeface="Calibri" pitchFamily="34" charset="0"/>
                <a:ea typeface="Calibri" pitchFamily="34" charset="-122"/>
                <a:cs typeface="Calibri" pitchFamily="34" charset="-120"/>
              </a:rPr>
              <a:t>Integrity</a:t>
            </a:r>
            <a:endParaRPr lang="en-US" sz="1300" dirty="0"/>
          </a:p>
        </p:txBody>
      </p:sp>
      <p:sp>
        <p:nvSpPr>
          <p:cNvPr id="16" name="Text 10"/>
          <p:cNvSpPr/>
          <p:nvPr/>
        </p:nvSpPr>
        <p:spPr>
          <a:xfrm>
            <a:off x="6400800" y="1417320"/>
            <a:ext cx="502920" cy="365760"/>
          </a:xfrm>
          <a:prstGeom prst="rect">
            <a:avLst/>
          </a:prstGeom>
          <a:solidFill>
            <a:srgbClr val="20ECE3"/>
          </a:solid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02</a:t>
            </a:r>
          </a:p>
        </p:txBody>
      </p:sp>
      <p:sp>
        <p:nvSpPr>
          <p:cNvPr id="17" name="Text 11"/>
          <p:cNvSpPr/>
          <p:nvPr/>
        </p:nvSpPr>
        <p:spPr>
          <a:xfrm>
            <a:off x="6400800" y="2487168"/>
            <a:ext cx="2468880" cy="914400"/>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Data is authentic,</a:t>
            </a:r>
            <a:endParaRPr lang="en-US" sz="1150" dirty="0"/>
          </a:p>
          <a:p>
            <a:pPr marL="0" indent="0">
              <a:buNone/>
            </a:pPr>
            <a:r>
              <a:rPr lang="en-US" sz="1150" dirty="0">
                <a:solidFill>
                  <a:srgbClr val="4A6572"/>
                </a:solidFill>
                <a:latin typeface="Calibri" pitchFamily="34" charset="0"/>
                <a:ea typeface="Calibri" pitchFamily="34" charset="-122"/>
                <a:cs typeface="Calibri" pitchFamily="34" charset="-120"/>
              </a:rPr>
              <a:t>accurate, reliable,</a:t>
            </a:r>
            <a:endParaRPr lang="en-US" sz="1150" dirty="0"/>
          </a:p>
          <a:p>
            <a:pPr marL="0" indent="0">
              <a:buNone/>
            </a:pPr>
            <a:r>
              <a:rPr lang="en-US" sz="1150" dirty="0">
                <a:solidFill>
                  <a:srgbClr val="4A6572"/>
                </a:solidFill>
                <a:latin typeface="Calibri" pitchFamily="34" charset="0"/>
                <a:ea typeface="Calibri" pitchFamily="34" charset="-122"/>
                <a:cs typeface="Calibri" pitchFamily="34" charset="-120"/>
              </a:rPr>
              <a:t>and free from</a:t>
            </a:r>
            <a:endParaRPr lang="en-US" sz="1150" dirty="0"/>
          </a:p>
          <a:p>
            <a:pPr marL="0" indent="0">
              <a:buNone/>
            </a:pPr>
            <a:r>
              <a:rPr lang="en-US" sz="1150" dirty="0">
                <a:solidFill>
                  <a:srgbClr val="4A6572"/>
                </a:solidFill>
                <a:latin typeface="Calibri" pitchFamily="34" charset="0"/>
                <a:ea typeface="Calibri" pitchFamily="34" charset="-122"/>
                <a:cs typeface="Calibri" pitchFamily="34" charset="-120"/>
              </a:rPr>
              <a:t>tampering.</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The DAD Triad — Opposite of CIA</a:t>
            </a:r>
            <a:endParaRPr lang="en-US" sz="2400" dirty="0"/>
          </a:p>
        </p:txBody>
      </p:sp>
      <p:sp>
        <p:nvSpPr>
          <p:cNvPr id="5" name="Text 3"/>
          <p:cNvSpPr/>
          <p:nvPr/>
        </p:nvSpPr>
        <p:spPr>
          <a:xfrm>
            <a:off x="411480" y="749808"/>
            <a:ext cx="8046720" cy="292608"/>
          </a:xfrm>
          <a:prstGeom prst="rect">
            <a:avLst/>
          </a:prstGeom>
          <a:noFill/>
          <a:ln/>
        </p:spPr>
        <p:txBody>
          <a:bodyPr wrap="square" rtlCol="0" anchor="ctr"/>
          <a:lstStyle/>
          <a:p>
            <a:pPr marL="0" indent="0">
              <a:buNone/>
            </a:pPr>
            <a:r>
              <a:rPr lang="en-US" sz="1300" dirty="0">
                <a:solidFill>
                  <a:srgbClr val="4A6572"/>
                </a:solidFill>
                <a:latin typeface="Calibri" pitchFamily="34" charset="0"/>
                <a:ea typeface="Calibri" pitchFamily="34" charset="-122"/>
                <a:cs typeface="Calibri" pitchFamily="34" charset="-120"/>
              </a:rPr>
              <a:t>InfoSec works to PREVENT these three security failures:</a:t>
            </a:r>
            <a:endParaRPr lang="en-US" sz="1300" dirty="0"/>
          </a:p>
        </p:txBody>
      </p:sp>
      <p:sp>
        <p:nvSpPr>
          <p:cNvPr id="6" name="Shape 4"/>
          <p:cNvSpPr/>
          <p:nvPr/>
        </p:nvSpPr>
        <p:spPr>
          <a:xfrm>
            <a:off x="411480" y="1078992"/>
            <a:ext cx="2651760" cy="3547872"/>
          </a:xfrm>
          <a:prstGeom prst="rect">
            <a:avLst/>
          </a:prstGeom>
          <a:solidFill>
            <a:srgbClr val="F5F9FA"/>
          </a:solidFill>
          <a:ln w="25400">
            <a:solidFill>
              <a:srgbClr val="CC3333"/>
            </a:solidFill>
            <a:prstDash val="solid"/>
          </a:ln>
        </p:spPr>
      </p:sp>
      <p:sp>
        <p:nvSpPr>
          <p:cNvPr id="7" name="Shape 5"/>
          <p:cNvSpPr/>
          <p:nvPr/>
        </p:nvSpPr>
        <p:spPr>
          <a:xfrm>
            <a:off x="411480" y="1078992"/>
            <a:ext cx="2651760" cy="777240"/>
          </a:xfrm>
          <a:prstGeom prst="rect">
            <a:avLst/>
          </a:prstGeom>
          <a:solidFill>
            <a:srgbClr val="CC3333"/>
          </a:solidFill>
          <a:ln w="12700">
            <a:solidFill>
              <a:srgbClr val="CC3333"/>
            </a:solidFill>
            <a:prstDash val="solid"/>
          </a:ln>
        </p:spPr>
      </p:sp>
      <p:sp>
        <p:nvSpPr>
          <p:cNvPr id="8" name="Text 6"/>
          <p:cNvSpPr/>
          <p:nvPr/>
        </p:nvSpPr>
        <p:spPr>
          <a:xfrm>
            <a:off x="502920" y="1078992"/>
            <a:ext cx="640080" cy="77724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a:t>
            </a:r>
            <a:endParaRPr lang="en-US" sz="3600" dirty="0"/>
          </a:p>
        </p:txBody>
      </p:sp>
      <p:sp>
        <p:nvSpPr>
          <p:cNvPr id="9" name="Text 7"/>
          <p:cNvSpPr/>
          <p:nvPr/>
        </p:nvSpPr>
        <p:spPr>
          <a:xfrm>
            <a:off x="1097280" y="1170432"/>
            <a:ext cx="1828800" cy="5943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Disclosure</a:t>
            </a:r>
            <a:endParaRPr lang="en-US" sz="1400" dirty="0"/>
          </a:p>
        </p:txBody>
      </p:sp>
      <p:sp>
        <p:nvSpPr>
          <p:cNvPr id="10" name="Text 8"/>
          <p:cNvSpPr/>
          <p:nvPr/>
        </p:nvSpPr>
        <p:spPr>
          <a:xfrm>
            <a:off x="548640" y="1938528"/>
            <a:ext cx="2377440" cy="2578608"/>
          </a:xfrm>
          <a:prstGeom prst="rect">
            <a:avLst/>
          </a:prstGeom>
          <a:noFill/>
          <a:ln/>
        </p:spPr>
        <p:txBody>
          <a:bodyPr wrap="square" rtlCol="0" anchor="ctr"/>
          <a:lstStyle/>
          <a:p>
            <a:pPr marL="0" indent="0">
              <a:buNone/>
            </a:pPr>
            <a:r>
              <a:rPr lang="en-US" sz="1250" dirty="0">
                <a:solidFill>
                  <a:srgbClr val="1A2B35"/>
                </a:solidFill>
                <a:latin typeface="Calibri" pitchFamily="34" charset="0"/>
                <a:ea typeface="Calibri" pitchFamily="34" charset="-122"/>
                <a:cs typeface="Calibri" pitchFamily="34" charset="-120"/>
              </a:rPr>
              <a:t>Exposes confidential data to unauthorized parties. An effective security solution will help neutralize disclosure threats.</a:t>
            </a:r>
            <a:endParaRPr lang="en-US" sz="1250" dirty="0"/>
          </a:p>
        </p:txBody>
      </p:sp>
      <p:sp>
        <p:nvSpPr>
          <p:cNvPr id="11" name="Shape 9"/>
          <p:cNvSpPr/>
          <p:nvPr/>
        </p:nvSpPr>
        <p:spPr>
          <a:xfrm>
            <a:off x="3291840" y="1078992"/>
            <a:ext cx="2651760" cy="3547872"/>
          </a:xfrm>
          <a:prstGeom prst="rect">
            <a:avLst/>
          </a:prstGeom>
          <a:solidFill>
            <a:srgbClr val="F5F9FA"/>
          </a:solidFill>
          <a:ln w="25400">
            <a:solidFill>
              <a:srgbClr val="C8601A"/>
            </a:solidFill>
            <a:prstDash val="solid"/>
          </a:ln>
        </p:spPr>
      </p:sp>
      <p:sp>
        <p:nvSpPr>
          <p:cNvPr id="12" name="Shape 10"/>
          <p:cNvSpPr/>
          <p:nvPr/>
        </p:nvSpPr>
        <p:spPr>
          <a:xfrm>
            <a:off x="3291840" y="1078992"/>
            <a:ext cx="2651760" cy="777240"/>
          </a:xfrm>
          <a:prstGeom prst="rect">
            <a:avLst/>
          </a:prstGeom>
          <a:solidFill>
            <a:srgbClr val="C8601A"/>
          </a:solidFill>
          <a:ln w="12700">
            <a:solidFill>
              <a:srgbClr val="C8601A"/>
            </a:solidFill>
            <a:prstDash val="solid"/>
          </a:ln>
        </p:spPr>
      </p:sp>
      <p:sp>
        <p:nvSpPr>
          <p:cNvPr id="13" name="Text 11"/>
          <p:cNvSpPr/>
          <p:nvPr/>
        </p:nvSpPr>
        <p:spPr>
          <a:xfrm>
            <a:off x="3383280" y="1078992"/>
            <a:ext cx="640080" cy="77724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A</a:t>
            </a:r>
            <a:endParaRPr lang="en-US" sz="3600" dirty="0"/>
          </a:p>
        </p:txBody>
      </p:sp>
      <p:sp>
        <p:nvSpPr>
          <p:cNvPr id="14" name="Text 12"/>
          <p:cNvSpPr/>
          <p:nvPr/>
        </p:nvSpPr>
        <p:spPr>
          <a:xfrm>
            <a:off x="3977640" y="1170432"/>
            <a:ext cx="1828800" cy="5943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Alteration</a:t>
            </a:r>
            <a:endParaRPr lang="en-US" sz="1400" dirty="0"/>
          </a:p>
        </p:txBody>
      </p:sp>
      <p:sp>
        <p:nvSpPr>
          <p:cNvPr id="15" name="Text 13"/>
          <p:cNvSpPr/>
          <p:nvPr/>
        </p:nvSpPr>
        <p:spPr>
          <a:xfrm>
            <a:off x="3429000" y="1938528"/>
            <a:ext cx="2377440" cy="2578608"/>
          </a:xfrm>
          <a:prstGeom prst="rect">
            <a:avLst/>
          </a:prstGeom>
          <a:noFill/>
          <a:ln/>
        </p:spPr>
        <p:txBody>
          <a:bodyPr wrap="square" rtlCol="0" anchor="ctr"/>
          <a:lstStyle/>
          <a:p>
            <a:pPr marL="0" indent="0">
              <a:buNone/>
            </a:pPr>
            <a:r>
              <a:rPr lang="en-US" sz="1250" dirty="0">
                <a:solidFill>
                  <a:srgbClr val="1A2B35"/>
                </a:solidFill>
                <a:latin typeface="Calibri" pitchFamily="34" charset="0"/>
                <a:ea typeface="Calibri" pitchFamily="34" charset="-122"/>
                <a:cs typeface="Calibri" pitchFamily="34" charset="-120"/>
              </a:rPr>
              <a:t>The alteration of data, or the inability to test for alteration, makes data untrustworthy. Any change must be authorized, tracked, and verifiable.</a:t>
            </a:r>
            <a:endParaRPr lang="en-US" sz="1250" dirty="0"/>
          </a:p>
        </p:txBody>
      </p:sp>
      <p:sp>
        <p:nvSpPr>
          <p:cNvPr id="16" name="Shape 14"/>
          <p:cNvSpPr/>
          <p:nvPr/>
        </p:nvSpPr>
        <p:spPr>
          <a:xfrm>
            <a:off x="6172200" y="1078992"/>
            <a:ext cx="2651760" cy="3547872"/>
          </a:xfrm>
          <a:prstGeom prst="rect">
            <a:avLst/>
          </a:prstGeom>
          <a:solidFill>
            <a:srgbClr val="F5F9FA"/>
          </a:solidFill>
          <a:ln w="25400">
            <a:solidFill>
              <a:srgbClr val="8B4513"/>
            </a:solidFill>
            <a:prstDash val="solid"/>
          </a:ln>
        </p:spPr>
      </p:sp>
      <p:sp>
        <p:nvSpPr>
          <p:cNvPr id="17" name="Shape 15"/>
          <p:cNvSpPr/>
          <p:nvPr/>
        </p:nvSpPr>
        <p:spPr>
          <a:xfrm>
            <a:off x="6172200" y="1078992"/>
            <a:ext cx="2651760" cy="777240"/>
          </a:xfrm>
          <a:prstGeom prst="rect">
            <a:avLst/>
          </a:prstGeom>
          <a:solidFill>
            <a:srgbClr val="8B4513"/>
          </a:solidFill>
          <a:ln w="12700">
            <a:solidFill>
              <a:srgbClr val="8B4513"/>
            </a:solidFill>
            <a:prstDash val="solid"/>
          </a:ln>
        </p:spPr>
      </p:sp>
      <p:sp>
        <p:nvSpPr>
          <p:cNvPr id="18" name="Text 16"/>
          <p:cNvSpPr/>
          <p:nvPr/>
        </p:nvSpPr>
        <p:spPr>
          <a:xfrm>
            <a:off x="6263640" y="1078992"/>
            <a:ext cx="640080" cy="77724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a:t>
            </a:r>
            <a:endParaRPr lang="en-US" sz="3600" dirty="0"/>
          </a:p>
        </p:txBody>
      </p:sp>
      <p:sp>
        <p:nvSpPr>
          <p:cNvPr id="19" name="Text 17"/>
          <p:cNvSpPr/>
          <p:nvPr/>
        </p:nvSpPr>
        <p:spPr>
          <a:xfrm>
            <a:off x="6858000" y="1170432"/>
            <a:ext cx="1828800" cy="5943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Denial / Destruction</a:t>
            </a:r>
            <a:endParaRPr lang="en-US" sz="1400" dirty="0"/>
          </a:p>
        </p:txBody>
      </p:sp>
      <p:sp>
        <p:nvSpPr>
          <p:cNvPr id="20" name="Text 18"/>
          <p:cNvSpPr/>
          <p:nvPr/>
        </p:nvSpPr>
        <p:spPr>
          <a:xfrm>
            <a:off x="6309360" y="1938528"/>
            <a:ext cx="2377440" cy="2578608"/>
          </a:xfrm>
          <a:prstGeom prst="rect">
            <a:avLst/>
          </a:prstGeom>
          <a:noFill/>
          <a:ln/>
        </p:spPr>
        <p:txBody>
          <a:bodyPr wrap="square" rtlCol="0" anchor="ctr"/>
          <a:lstStyle/>
          <a:p>
            <a:pPr marL="0" indent="0">
              <a:buNone/>
            </a:pPr>
            <a:r>
              <a:rPr lang="en-US" sz="1250" dirty="0">
                <a:solidFill>
                  <a:srgbClr val="1A2B35"/>
                </a:solidFill>
                <a:latin typeface="Calibri" pitchFamily="34" charset="0"/>
                <a:ea typeface="Calibri" pitchFamily="34" charset="-122"/>
                <a:cs typeface="Calibri" pitchFamily="34" charset="-120"/>
              </a:rPr>
              <a:t>Prevents legitimate and authorized agents from accessing data. A network firewall can help neutralize denial threats.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First Line of Defense — People &amp; Education</a:t>
            </a:r>
            <a:endParaRPr lang="en-US" sz="2400" dirty="0"/>
          </a:p>
        </p:txBody>
      </p:sp>
      <p:sp>
        <p:nvSpPr>
          <p:cNvPr id="5" name="Text 3"/>
          <p:cNvSpPr/>
          <p:nvPr/>
        </p:nvSpPr>
        <p:spPr>
          <a:xfrm>
            <a:off x="411480" y="749808"/>
            <a:ext cx="8046720" cy="292608"/>
          </a:xfrm>
          <a:prstGeom prst="rect">
            <a:avLst/>
          </a:prstGeom>
          <a:noFill/>
          <a:ln/>
        </p:spPr>
        <p:txBody>
          <a:bodyPr wrap="square" rtlCol="0" anchor="ctr"/>
          <a:lstStyle/>
          <a:p>
            <a:pPr marL="0" indent="0">
              <a:buNone/>
            </a:pPr>
            <a:r>
              <a:rPr lang="en-US" sz="1300" dirty="0">
                <a:solidFill>
                  <a:srgbClr val="4A6572"/>
                </a:solidFill>
                <a:latin typeface="Calibri" pitchFamily="34" charset="0"/>
                <a:ea typeface="Calibri" pitchFamily="34" charset="-122"/>
                <a:cs typeface="Calibri" pitchFamily="34" charset="-120"/>
              </a:rPr>
              <a:t>Human error is the leading cause of network and computer breaches.</a:t>
            </a:r>
            <a:endParaRPr lang="en-US" sz="1300" dirty="0"/>
          </a:p>
        </p:txBody>
      </p:sp>
      <p:sp>
        <p:nvSpPr>
          <p:cNvPr id="6" name="Shape 4"/>
          <p:cNvSpPr/>
          <p:nvPr/>
        </p:nvSpPr>
        <p:spPr>
          <a:xfrm>
            <a:off x="411480" y="1115568"/>
            <a:ext cx="4206240" cy="3456432"/>
          </a:xfrm>
          <a:prstGeom prst="rect">
            <a:avLst/>
          </a:prstGeom>
          <a:solidFill>
            <a:srgbClr val="053E51"/>
          </a:solidFill>
          <a:ln w="12700">
            <a:solidFill>
              <a:srgbClr val="053E51"/>
            </a:solidFill>
            <a:prstDash val="solid"/>
          </a:ln>
        </p:spPr>
      </p:sp>
      <p:sp>
        <p:nvSpPr>
          <p:cNvPr id="7" name="Text 5"/>
          <p:cNvSpPr/>
          <p:nvPr/>
        </p:nvSpPr>
        <p:spPr>
          <a:xfrm>
            <a:off x="548640" y="1261872"/>
            <a:ext cx="3931920" cy="7772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It starts with People</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&amp; Education</a:t>
            </a:r>
            <a:endParaRPr lang="en-US" sz="2000" dirty="0"/>
          </a:p>
        </p:txBody>
      </p:sp>
      <p:sp>
        <p:nvSpPr>
          <p:cNvPr id="8" name="Text 6"/>
          <p:cNvSpPr/>
          <p:nvPr/>
        </p:nvSpPr>
        <p:spPr>
          <a:xfrm>
            <a:off x="548640" y="2103120"/>
            <a:ext cx="3931920" cy="2331720"/>
          </a:xfrm>
          <a:prstGeom prst="rect">
            <a:avLst/>
          </a:prstGeom>
          <a:noFill/>
          <a:ln/>
        </p:spPr>
        <p:txBody>
          <a:bodyPr wrap="square" rtlCol="0" anchor="ctr"/>
          <a:lstStyle/>
          <a:p>
            <a:pPr marL="0" indent="0">
              <a:buNone/>
            </a:pPr>
            <a:r>
              <a:rPr lang="en-US" sz="1250" dirty="0">
                <a:solidFill>
                  <a:srgbClr val="EFF8FA"/>
                </a:solidFill>
                <a:latin typeface="Calibri" pitchFamily="34" charset="0"/>
                <a:ea typeface="Calibri" pitchFamily="34" charset="-122"/>
                <a:cs typeface="Calibri" pitchFamily="34" charset="-120"/>
              </a:rPr>
              <a:t>Numerous studies have identified human error as the leading cause of network breaches.</a:t>
            </a:r>
            <a:endParaRPr lang="en-US" sz="1250" dirty="0"/>
          </a:p>
          <a:p>
            <a:pPr marL="0" indent="0">
              <a:buNone/>
            </a:pPr>
            <a:endParaRPr lang="en-US" sz="1250" dirty="0"/>
          </a:p>
          <a:p>
            <a:pPr marL="0" indent="0">
              <a:buNone/>
            </a:pPr>
            <a:r>
              <a:rPr lang="en-US" sz="1250" dirty="0">
                <a:solidFill>
                  <a:srgbClr val="EFF8FA"/>
                </a:solidFill>
                <a:latin typeface="Calibri" pitchFamily="34" charset="0"/>
                <a:ea typeface="Calibri" pitchFamily="34" charset="-122"/>
                <a:cs typeface="Calibri" pitchFamily="34" charset="-120"/>
              </a:rPr>
              <a:t>Educating people at work and at home to:</a:t>
            </a:r>
            <a:endParaRPr lang="en-US" sz="1250" dirty="0"/>
          </a:p>
          <a:p>
            <a:pPr marL="0" indent="0">
              <a:buNone/>
            </a:pPr>
            <a:r>
              <a:rPr lang="en-US" sz="1250" dirty="0">
                <a:solidFill>
                  <a:srgbClr val="EFF8FA"/>
                </a:solidFill>
                <a:latin typeface="Calibri" pitchFamily="34" charset="0"/>
                <a:ea typeface="Calibri" pitchFamily="34" charset="-122"/>
                <a:cs typeface="Calibri" pitchFamily="34" charset="-120"/>
              </a:rPr>
              <a:t>• Think before clicking</a:t>
            </a:r>
            <a:endParaRPr lang="en-US" sz="1250" dirty="0"/>
          </a:p>
          <a:p>
            <a:pPr marL="0" indent="0">
              <a:buNone/>
            </a:pPr>
            <a:r>
              <a:rPr lang="en-US" sz="1250" dirty="0">
                <a:solidFill>
                  <a:srgbClr val="EFF8FA"/>
                </a:solidFill>
                <a:latin typeface="Calibri" pitchFamily="34" charset="0"/>
                <a:ea typeface="Calibri" pitchFamily="34" charset="-122"/>
                <a:cs typeface="Calibri" pitchFamily="34" charset="-120"/>
              </a:rPr>
              <a:t>• Identify phishing attacks</a:t>
            </a:r>
            <a:endParaRPr lang="en-US" sz="1250" dirty="0"/>
          </a:p>
          <a:p>
            <a:pPr marL="0" indent="0">
              <a:buNone/>
            </a:pPr>
            <a:r>
              <a:rPr lang="en-US" sz="1250" dirty="0">
                <a:solidFill>
                  <a:srgbClr val="EFF8FA"/>
                </a:solidFill>
                <a:latin typeface="Calibri" pitchFamily="34" charset="0"/>
                <a:ea typeface="Calibri" pitchFamily="34" charset="-122"/>
                <a:cs typeface="Calibri" pitchFamily="34" charset="-120"/>
              </a:rPr>
              <a:t>• Recognize social engineering</a:t>
            </a:r>
            <a:endParaRPr lang="en-US" sz="1250" dirty="0"/>
          </a:p>
          <a:p>
            <a:pPr marL="0" indent="0">
              <a:buNone/>
            </a:pPr>
            <a:r>
              <a:rPr lang="en-US" sz="1250" dirty="0">
                <a:solidFill>
                  <a:srgbClr val="EFF8FA"/>
                </a:solidFill>
                <a:latin typeface="Calibri" pitchFamily="34" charset="0"/>
                <a:ea typeface="Calibri" pitchFamily="34" charset="-122"/>
                <a:cs typeface="Calibri" pitchFamily="34" charset="-120"/>
              </a:rPr>
              <a:t>• Follow security best practices</a:t>
            </a:r>
            <a:endParaRPr lang="en-US" sz="1250" dirty="0"/>
          </a:p>
        </p:txBody>
      </p:sp>
      <p:sp>
        <p:nvSpPr>
          <p:cNvPr id="9" name="Shape 7"/>
          <p:cNvSpPr/>
          <p:nvPr/>
        </p:nvSpPr>
        <p:spPr>
          <a:xfrm>
            <a:off x="5074920" y="1280160"/>
            <a:ext cx="822960" cy="822960"/>
          </a:xfrm>
          <a:prstGeom prst="line">
            <a:avLst/>
          </a:prstGeom>
          <a:solidFill>
            <a:srgbClr val="0D6E7E"/>
          </a:solidFill>
          <a:ln w="12700">
            <a:solidFill>
              <a:srgbClr val="0D6E7E"/>
            </a:solidFill>
            <a:prstDash val="solid"/>
          </a:ln>
        </p:spPr>
      </p:sp>
      <p:pic>
        <p:nvPicPr>
          <p:cNvPr id="10" name="Image 0" descr="preencoded.png"/>
          <p:cNvPicPr>
            <a:picLocks noChangeAspect="1"/>
          </p:cNvPicPr>
          <p:nvPr/>
        </p:nvPicPr>
        <p:blipFill>
          <a:blip r:embed="rId3"/>
          <a:stretch>
            <a:fillRect/>
          </a:stretch>
        </p:blipFill>
        <p:spPr>
          <a:xfrm>
            <a:off x="5166360" y="1325880"/>
            <a:ext cx="640080" cy="640080"/>
          </a:xfrm>
          <a:prstGeom prst="rect">
            <a:avLst/>
          </a:prstGeom>
        </p:spPr>
      </p:pic>
      <p:sp>
        <p:nvSpPr>
          <p:cNvPr id="11" name="Text 8"/>
          <p:cNvSpPr/>
          <p:nvPr/>
        </p:nvSpPr>
        <p:spPr>
          <a:xfrm>
            <a:off x="6035040" y="1417320"/>
            <a:ext cx="2743200" cy="502920"/>
          </a:xfrm>
          <a:prstGeom prst="rect">
            <a:avLst/>
          </a:prstGeom>
          <a:noFill/>
          <a:ln/>
        </p:spPr>
        <p:txBody>
          <a:bodyPr wrap="square" rtlCol="0" anchor="ctr"/>
          <a:lstStyle/>
          <a:p>
            <a:pPr marL="0" indent="0">
              <a:buNone/>
            </a:pPr>
            <a:r>
              <a:rPr lang="en-US" sz="1400" b="1" dirty="0">
                <a:solidFill>
                  <a:srgbClr val="0D3D52"/>
                </a:solidFill>
                <a:latin typeface="Calibri" pitchFamily="34" charset="0"/>
                <a:ea typeface="Calibri" pitchFamily="34" charset="-122"/>
                <a:cs typeface="Calibri" pitchFamily="34" charset="-120"/>
              </a:rPr>
              <a:t>Phishing Awareness</a:t>
            </a:r>
            <a:endParaRPr lang="en-US" sz="1400" dirty="0"/>
          </a:p>
        </p:txBody>
      </p:sp>
      <p:sp>
        <p:nvSpPr>
          <p:cNvPr id="12" name="Shape 9"/>
          <p:cNvSpPr/>
          <p:nvPr/>
        </p:nvSpPr>
        <p:spPr>
          <a:xfrm>
            <a:off x="5074920" y="2286000"/>
            <a:ext cx="822960" cy="822960"/>
          </a:xfrm>
          <a:prstGeom prst="line">
            <a:avLst/>
          </a:prstGeom>
          <a:solidFill>
            <a:srgbClr val="0D6E7E"/>
          </a:solidFill>
          <a:ln w="12700">
            <a:solidFill>
              <a:srgbClr val="0D6E7E"/>
            </a:solidFill>
            <a:prstDash val="solid"/>
          </a:ln>
        </p:spPr>
      </p:sp>
      <p:pic>
        <p:nvPicPr>
          <p:cNvPr id="13" name="Image 1" descr="preencoded.png"/>
          <p:cNvPicPr>
            <a:picLocks noChangeAspect="1"/>
          </p:cNvPicPr>
          <p:nvPr/>
        </p:nvPicPr>
        <p:blipFill>
          <a:blip r:embed="rId4"/>
          <a:stretch>
            <a:fillRect/>
          </a:stretch>
        </p:blipFill>
        <p:spPr>
          <a:xfrm>
            <a:off x="5166360" y="2331720"/>
            <a:ext cx="640080" cy="640080"/>
          </a:xfrm>
          <a:prstGeom prst="rect">
            <a:avLst/>
          </a:prstGeom>
        </p:spPr>
      </p:pic>
      <p:sp>
        <p:nvSpPr>
          <p:cNvPr id="14" name="Text 10"/>
          <p:cNvSpPr/>
          <p:nvPr/>
        </p:nvSpPr>
        <p:spPr>
          <a:xfrm>
            <a:off x="6035040" y="2423160"/>
            <a:ext cx="2743200" cy="502920"/>
          </a:xfrm>
          <a:prstGeom prst="rect">
            <a:avLst/>
          </a:prstGeom>
          <a:noFill/>
          <a:ln/>
        </p:spPr>
        <p:txBody>
          <a:bodyPr wrap="square" rtlCol="0" anchor="ctr"/>
          <a:lstStyle/>
          <a:p>
            <a:pPr marL="0" indent="0">
              <a:buNone/>
            </a:pPr>
            <a:r>
              <a:rPr lang="en-US" sz="1400" b="1" dirty="0">
                <a:solidFill>
                  <a:srgbClr val="0D3D52"/>
                </a:solidFill>
                <a:latin typeface="Calibri" pitchFamily="34" charset="0"/>
                <a:ea typeface="Calibri" pitchFamily="34" charset="-122"/>
                <a:cs typeface="Calibri" pitchFamily="34" charset="-120"/>
              </a:rPr>
              <a:t>Identity Protection</a:t>
            </a:r>
            <a:endParaRPr lang="en-US" sz="1400" dirty="0"/>
          </a:p>
        </p:txBody>
      </p:sp>
      <p:sp>
        <p:nvSpPr>
          <p:cNvPr id="15" name="Shape 11"/>
          <p:cNvSpPr/>
          <p:nvPr/>
        </p:nvSpPr>
        <p:spPr>
          <a:xfrm>
            <a:off x="5074920" y="3291840"/>
            <a:ext cx="822960" cy="822960"/>
          </a:xfrm>
          <a:prstGeom prst="line">
            <a:avLst/>
          </a:prstGeom>
          <a:solidFill>
            <a:srgbClr val="0D6E7E"/>
          </a:solidFill>
          <a:ln w="12700">
            <a:solidFill>
              <a:srgbClr val="0D6E7E"/>
            </a:solidFill>
            <a:prstDash val="solid"/>
          </a:ln>
        </p:spPr>
      </p:sp>
      <p:pic>
        <p:nvPicPr>
          <p:cNvPr id="16" name="Image 2" descr="preencoded.png"/>
          <p:cNvPicPr>
            <a:picLocks noChangeAspect="1"/>
          </p:cNvPicPr>
          <p:nvPr/>
        </p:nvPicPr>
        <p:blipFill>
          <a:blip r:embed="rId5"/>
          <a:stretch>
            <a:fillRect/>
          </a:stretch>
        </p:blipFill>
        <p:spPr>
          <a:xfrm>
            <a:off x="5166360" y="3337560"/>
            <a:ext cx="640080" cy="640080"/>
          </a:xfrm>
          <a:prstGeom prst="rect">
            <a:avLst/>
          </a:prstGeom>
        </p:spPr>
      </p:pic>
      <p:sp>
        <p:nvSpPr>
          <p:cNvPr id="17" name="Text 12"/>
          <p:cNvSpPr/>
          <p:nvPr/>
        </p:nvSpPr>
        <p:spPr>
          <a:xfrm>
            <a:off x="6035040" y="3429000"/>
            <a:ext cx="2743200" cy="502920"/>
          </a:xfrm>
          <a:prstGeom prst="rect">
            <a:avLst/>
          </a:prstGeom>
          <a:noFill/>
          <a:ln/>
        </p:spPr>
        <p:txBody>
          <a:bodyPr wrap="square" rtlCol="0" anchor="ctr"/>
          <a:lstStyle/>
          <a:p>
            <a:pPr marL="0" indent="0">
              <a:buNone/>
            </a:pPr>
            <a:r>
              <a:rPr lang="en-US" sz="1400" b="1" dirty="0">
                <a:solidFill>
                  <a:srgbClr val="0D3D52"/>
                </a:solidFill>
                <a:latin typeface="Calibri" pitchFamily="34" charset="0"/>
                <a:ea typeface="Calibri" pitchFamily="34" charset="-122"/>
                <a:cs typeface="Calibri" pitchFamily="34" charset="-120"/>
              </a:rPr>
              <a:t>Password Security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3E5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0ECE3"/>
          </a:solidFill>
          <a:ln w="12700">
            <a:solidFill>
              <a:srgbClr val="20ECE3"/>
            </a:solidFill>
            <a:prstDash val="solid"/>
          </a:ln>
        </p:spPr>
      </p:sp>
      <p:sp>
        <p:nvSpPr>
          <p:cNvPr id="3" name="Text 1"/>
          <p:cNvSpPr/>
          <p:nvPr/>
        </p:nvSpPr>
        <p:spPr>
          <a:xfrm>
            <a:off x="457200" y="1371600"/>
            <a:ext cx="8229600" cy="914400"/>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Threat Landscape</a:t>
            </a:r>
            <a:endParaRPr lang="en-US" sz="4200" dirty="0"/>
          </a:p>
        </p:txBody>
      </p:sp>
      <p:sp>
        <p:nvSpPr>
          <p:cNvPr id="4" name="Text 2"/>
          <p:cNvSpPr/>
          <p:nvPr/>
        </p:nvSpPr>
        <p:spPr>
          <a:xfrm>
            <a:off x="457200" y="2240280"/>
            <a:ext cx="8229600" cy="731520"/>
          </a:xfrm>
          <a:prstGeom prst="rect">
            <a:avLst/>
          </a:prstGeom>
          <a:noFill/>
          <a:ln/>
        </p:spPr>
        <p:txBody>
          <a:bodyPr wrap="square" rtlCol="0" anchor="ctr"/>
          <a:lstStyle/>
          <a:p>
            <a:pPr marL="0" indent="0" algn="ctr">
              <a:buNone/>
            </a:pPr>
            <a:r>
              <a:rPr lang="en-US" sz="3200" dirty="0">
                <a:solidFill>
                  <a:srgbClr val="20ECE3"/>
                </a:solidFill>
                <a:latin typeface="Calibri" pitchFamily="34" charset="0"/>
                <a:ea typeface="Calibri" pitchFamily="34" charset="-122"/>
                <a:cs typeface="Calibri" pitchFamily="34" charset="-120"/>
              </a:rPr>
              <a:t>of Cybersecurity</a:t>
            </a:r>
            <a:endParaRPr lang="en-US" sz="3200" dirty="0"/>
          </a:p>
        </p:txBody>
      </p:sp>
      <p:sp>
        <p:nvSpPr>
          <p:cNvPr id="5" name="Text 3"/>
          <p:cNvSpPr/>
          <p:nvPr/>
        </p:nvSpPr>
        <p:spPr>
          <a:xfrm>
            <a:off x="457200" y="3108960"/>
            <a:ext cx="8229600" cy="457200"/>
          </a:xfrm>
          <a:prstGeom prst="rect">
            <a:avLst/>
          </a:prstGeom>
          <a:noFill/>
          <a:ln/>
        </p:spPr>
        <p:txBody>
          <a:bodyPr wrap="square" rtlCol="0" anchor="ctr"/>
          <a:lstStyle/>
          <a:p>
            <a:pPr marL="0" indent="0" algn="ctr">
              <a:buNone/>
            </a:pPr>
            <a:r>
              <a:rPr lang="en-US" sz="1600" i="1" dirty="0">
                <a:solidFill>
                  <a:srgbClr val="8AABB5"/>
                </a:solidFill>
                <a:latin typeface="Calibri" pitchFamily="34" charset="0"/>
                <a:ea typeface="Calibri" pitchFamily="34" charset="-122"/>
                <a:cs typeface="Calibri" pitchFamily="34" charset="-120"/>
              </a:rPr>
              <a:t>What are the threats? Who are the bad actors?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64592"/>
            <a:ext cx="8321040" cy="502920"/>
          </a:xfrm>
          <a:prstGeom prst="rect">
            <a:avLst/>
          </a:prstGeom>
          <a:noFill/>
          <a:ln/>
        </p:spPr>
        <p:txBody>
          <a:bodyPr wrap="square" lIns="0" tIns="0" rIns="0" bIns="0" rtlCol="0" anchor="ctr"/>
          <a:lstStyle/>
          <a:p>
            <a:pPr marL="0" indent="0">
              <a:buNone/>
            </a:pPr>
            <a:r>
              <a:rPr lang="en-US" sz="2200" b="1" dirty="0">
                <a:solidFill>
                  <a:srgbClr val="0D3D52"/>
                </a:solidFill>
                <a:latin typeface="Calibri" pitchFamily="34" charset="0"/>
                <a:ea typeface="Calibri" pitchFamily="34" charset="-122"/>
                <a:cs typeface="Calibri" pitchFamily="34" charset="-120"/>
              </a:rPr>
              <a:t>Threat Landscape of Cyber Security covering CIA</a:t>
            </a:r>
            <a:endParaRPr lang="en-US" sz="2200" dirty="0"/>
          </a:p>
        </p:txBody>
      </p:sp>
      <p:pic>
        <p:nvPicPr>
          <p:cNvPr id="5" name="Image 0" descr="preencoded.png"/>
          <p:cNvPicPr>
            <a:picLocks noChangeAspect="1"/>
          </p:cNvPicPr>
          <p:nvPr/>
        </p:nvPicPr>
        <p:blipFill>
          <a:blip r:embed="rId3"/>
          <a:stretch>
            <a:fillRect/>
          </a:stretch>
        </p:blipFill>
        <p:spPr>
          <a:xfrm>
            <a:off x="228600" y="777240"/>
            <a:ext cx="3200400" cy="4005072"/>
          </a:xfrm>
          <a:prstGeom prst="rect">
            <a:avLst/>
          </a:prstGeom>
        </p:spPr>
      </p:pic>
      <p:sp>
        <p:nvSpPr>
          <p:cNvPr id="9" name="Text 6"/>
          <p:cNvSpPr/>
          <p:nvPr/>
        </p:nvSpPr>
        <p:spPr>
          <a:xfrm>
            <a:off x="5870448" y="987552"/>
            <a:ext cx="1042416" cy="65836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PHISHING</a:t>
            </a:r>
            <a:endParaRPr lang="en-US" sz="950" dirty="0"/>
          </a:p>
        </p:txBody>
      </p:sp>
      <p:sp>
        <p:nvSpPr>
          <p:cNvPr id="21" name="Text 18"/>
          <p:cNvSpPr/>
          <p:nvPr/>
        </p:nvSpPr>
        <p:spPr>
          <a:xfrm>
            <a:off x="5888736" y="3218688"/>
            <a:ext cx="841248" cy="50292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Spamming</a:t>
            </a:r>
            <a:endParaRPr lang="en-US" sz="950" dirty="0"/>
          </a:p>
        </p:txBody>
      </p:sp>
      <p:pic>
        <p:nvPicPr>
          <p:cNvPr id="25" name="Google Shape;170;p13">
            <a:extLst>
              <a:ext uri="{FF2B5EF4-FFF2-40B4-BE49-F238E27FC236}">
                <a16:creationId xmlns:a16="http://schemas.microsoft.com/office/drawing/2014/main" id="{45211CAB-7A07-ED96-2A4B-678CDB4254B9}"/>
              </a:ext>
            </a:extLst>
          </p:cNvPr>
          <p:cNvPicPr preferRelativeResize="0"/>
          <p:nvPr/>
        </p:nvPicPr>
        <p:blipFill rotWithShape="1">
          <a:blip r:embed="rId4">
            <a:alphaModFix/>
          </a:blip>
          <a:srcRect/>
          <a:stretch/>
        </p:blipFill>
        <p:spPr>
          <a:xfrm>
            <a:off x="4572000" y="667512"/>
            <a:ext cx="3864429" cy="364279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Cybersecurity Threats &amp; Attack Vectors</a:t>
            </a:r>
            <a:endParaRPr lang="en-US" sz="2400" dirty="0"/>
          </a:p>
        </p:txBody>
      </p:sp>
      <p:sp>
        <p:nvSpPr>
          <p:cNvPr id="5" name="Text 3"/>
          <p:cNvSpPr/>
          <p:nvPr/>
        </p:nvSpPr>
        <p:spPr>
          <a:xfrm>
            <a:off x="411480" y="749808"/>
            <a:ext cx="8046720" cy="292608"/>
          </a:xfrm>
          <a:prstGeom prst="rect">
            <a:avLst/>
          </a:prstGeom>
          <a:noFill/>
          <a:ln/>
        </p:spPr>
        <p:txBody>
          <a:bodyPr wrap="square" rtlCol="0" anchor="ctr"/>
          <a:lstStyle/>
          <a:p>
            <a:pPr marL="0" indent="0">
              <a:buNone/>
            </a:pPr>
            <a:r>
              <a:rPr lang="en-US" sz="1300" dirty="0">
                <a:solidFill>
                  <a:srgbClr val="4A6572"/>
                </a:solidFill>
                <a:latin typeface="Calibri" pitchFamily="34" charset="0"/>
                <a:ea typeface="Calibri" pitchFamily="34" charset="-122"/>
                <a:cs typeface="Calibri" pitchFamily="34" charset="-120"/>
              </a:rPr>
              <a:t>A cybersecurity threat is an action exploiting a vulnerability that results in harm to a system.</a:t>
            </a:r>
            <a:endParaRPr lang="en-US" sz="1300" dirty="0"/>
          </a:p>
        </p:txBody>
      </p:sp>
      <p:pic>
        <p:nvPicPr>
          <p:cNvPr id="6" name="Image 0" descr="preencoded.png"/>
          <p:cNvPicPr>
            <a:picLocks noChangeAspect="1"/>
          </p:cNvPicPr>
          <p:nvPr/>
        </p:nvPicPr>
        <p:blipFill>
          <a:blip r:embed="rId3"/>
          <a:stretch>
            <a:fillRect/>
          </a:stretch>
        </p:blipFill>
        <p:spPr>
          <a:xfrm>
            <a:off x="457200" y="1078992"/>
            <a:ext cx="8229600" cy="37033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Attack Path — Real-World Example</a:t>
            </a:r>
            <a:endParaRPr lang="en-US" sz="2400" dirty="0"/>
          </a:p>
        </p:txBody>
      </p:sp>
      <p:sp>
        <p:nvSpPr>
          <p:cNvPr id="5" name="Text 3"/>
          <p:cNvSpPr/>
          <p:nvPr/>
        </p:nvSpPr>
        <p:spPr>
          <a:xfrm>
            <a:off x="411480" y="749808"/>
            <a:ext cx="8046720" cy="292608"/>
          </a:xfrm>
          <a:prstGeom prst="rect">
            <a:avLst/>
          </a:prstGeom>
          <a:noFill/>
          <a:ln/>
        </p:spPr>
        <p:txBody>
          <a:bodyPr wrap="square" rtlCol="0" anchor="ctr"/>
          <a:lstStyle/>
          <a:p>
            <a:pPr marL="0" indent="0">
              <a:buNone/>
            </a:pPr>
            <a:r>
              <a:rPr lang="en-US" sz="1300" dirty="0">
                <a:solidFill>
                  <a:srgbClr val="4A6572"/>
                </a:solidFill>
                <a:latin typeface="Calibri" pitchFamily="34" charset="0"/>
                <a:ea typeface="Calibri" pitchFamily="34" charset="-122"/>
                <a:cs typeface="Calibri" pitchFamily="34" charset="-120"/>
              </a:rPr>
              <a:t>An attack path is the chain of events that occurs when attack vectors are exploited.</a:t>
            </a:r>
            <a:endParaRPr lang="en-US" sz="1300" dirty="0"/>
          </a:p>
        </p:txBody>
      </p:sp>
      <p:sp>
        <p:nvSpPr>
          <p:cNvPr id="6" name="Shape 4"/>
          <p:cNvSpPr/>
          <p:nvPr/>
        </p:nvSpPr>
        <p:spPr>
          <a:xfrm>
            <a:off x="411480" y="1078992"/>
            <a:ext cx="1536192" cy="3419856"/>
          </a:xfrm>
          <a:prstGeom prst="rect">
            <a:avLst/>
          </a:prstGeom>
          <a:solidFill>
            <a:srgbClr val="F5F9FA"/>
          </a:solidFill>
          <a:ln w="19050">
            <a:solidFill>
              <a:srgbClr val="0D6E7E"/>
            </a:solidFill>
            <a:prstDash val="solid"/>
          </a:ln>
        </p:spPr>
      </p:sp>
      <p:sp>
        <p:nvSpPr>
          <p:cNvPr id="7" name="Shape 5"/>
          <p:cNvSpPr/>
          <p:nvPr/>
        </p:nvSpPr>
        <p:spPr>
          <a:xfrm>
            <a:off x="411480" y="1078992"/>
            <a:ext cx="1536192" cy="475488"/>
          </a:xfrm>
          <a:prstGeom prst="rect">
            <a:avLst/>
          </a:prstGeom>
          <a:solidFill>
            <a:srgbClr val="0D6E7E"/>
          </a:solidFill>
          <a:ln w="12700">
            <a:solidFill>
              <a:srgbClr val="0D6E7E"/>
            </a:solidFill>
            <a:prstDash val="solid"/>
          </a:ln>
        </p:spPr>
      </p:sp>
      <p:sp>
        <p:nvSpPr>
          <p:cNvPr id="8" name="Text 6"/>
          <p:cNvSpPr/>
          <p:nvPr/>
        </p:nvSpPr>
        <p:spPr>
          <a:xfrm>
            <a:off x="457200" y="1078992"/>
            <a:ext cx="384048" cy="47548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466344" y="1609344"/>
            <a:ext cx="1426464" cy="548640"/>
          </a:xfrm>
          <a:prstGeom prst="rect">
            <a:avLst/>
          </a:prstGeom>
          <a:noFill/>
          <a:ln/>
        </p:spPr>
        <p:txBody>
          <a:bodyPr wrap="square" rtlCol="0" anchor="ctr"/>
          <a:lstStyle/>
          <a:p>
            <a:pPr marL="0" indent="0">
              <a:buNone/>
            </a:pPr>
            <a:r>
              <a:rPr lang="en-US" sz="1100" b="1" dirty="0">
                <a:solidFill>
                  <a:srgbClr val="0D3D52"/>
                </a:solidFill>
                <a:latin typeface="Calibri" pitchFamily="34" charset="0"/>
                <a:ea typeface="Calibri" pitchFamily="34" charset="-122"/>
                <a:cs typeface="Calibri" pitchFamily="34" charset="-120"/>
              </a:rPr>
              <a:t>Social Engineering</a:t>
            </a:r>
            <a:endParaRPr lang="en-US" sz="1100" dirty="0"/>
          </a:p>
        </p:txBody>
      </p:sp>
      <p:sp>
        <p:nvSpPr>
          <p:cNvPr id="10" name="Text 8"/>
          <p:cNvSpPr/>
          <p:nvPr/>
        </p:nvSpPr>
        <p:spPr>
          <a:xfrm>
            <a:off x="466344" y="2194560"/>
            <a:ext cx="1426464" cy="2395728"/>
          </a:xfrm>
          <a:prstGeom prst="rect">
            <a:avLst/>
          </a:prstGeom>
          <a:noFill/>
          <a:ln/>
        </p:spPr>
        <p:txBody>
          <a:bodyPr wrap="square" rtlCol="0" anchor="ctr"/>
          <a:lstStyle/>
          <a:p>
            <a:pPr marL="0" indent="0">
              <a:buNone/>
            </a:pPr>
            <a:r>
              <a:rPr lang="en-US" sz="1050" dirty="0">
                <a:solidFill>
                  <a:srgbClr val="4A6572"/>
                </a:solidFill>
                <a:latin typeface="Calibri" pitchFamily="34" charset="0"/>
                <a:ea typeface="Calibri" pitchFamily="34" charset="-122"/>
                <a:cs typeface="Calibri" pitchFamily="34" charset="-120"/>
              </a:rPr>
              <a:t>Bad actor poses as technician, convinces authorized person to open restricted server room door</a:t>
            </a:r>
            <a:endParaRPr lang="en-US" sz="1050" dirty="0"/>
          </a:p>
        </p:txBody>
      </p:sp>
      <p:sp>
        <p:nvSpPr>
          <p:cNvPr id="11" name="Shape 9"/>
          <p:cNvSpPr/>
          <p:nvPr/>
        </p:nvSpPr>
        <p:spPr>
          <a:xfrm>
            <a:off x="1947672" y="1920240"/>
            <a:ext cx="128016" cy="45720"/>
          </a:xfrm>
          <a:prstGeom prst="rect">
            <a:avLst/>
          </a:prstGeom>
          <a:solidFill>
            <a:srgbClr val="0D6E7E"/>
          </a:solidFill>
          <a:ln w="12700">
            <a:solidFill>
              <a:srgbClr val="0D6E7E"/>
            </a:solidFill>
            <a:prstDash val="solid"/>
          </a:ln>
        </p:spPr>
      </p:sp>
      <p:sp>
        <p:nvSpPr>
          <p:cNvPr id="12" name="Text 10"/>
          <p:cNvSpPr/>
          <p:nvPr/>
        </p:nvSpPr>
        <p:spPr>
          <a:xfrm>
            <a:off x="1965960" y="1828800"/>
            <a:ext cx="91440" cy="228600"/>
          </a:xfrm>
          <a:prstGeom prst="rect">
            <a:avLst/>
          </a:prstGeom>
          <a:noFill/>
          <a:ln/>
        </p:spPr>
        <p:txBody>
          <a:bodyPr wrap="square" rtlCol="0" anchor="ctr"/>
          <a:lstStyle/>
          <a:p>
            <a:pPr marL="0" indent="0">
              <a:buNone/>
            </a:pPr>
            <a:r>
              <a:rPr lang="en-US" sz="1000" dirty="0">
                <a:solidFill>
                  <a:srgbClr val="0D6E7E"/>
                </a:solidFill>
                <a:latin typeface="Calibri" pitchFamily="34" charset="0"/>
                <a:ea typeface="Calibri" pitchFamily="34" charset="-122"/>
                <a:cs typeface="Calibri" pitchFamily="34" charset="-120"/>
              </a:rPr>
              <a:t>→</a:t>
            </a:r>
            <a:endParaRPr lang="en-US" sz="1000" dirty="0"/>
          </a:p>
        </p:txBody>
      </p:sp>
      <p:sp>
        <p:nvSpPr>
          <p:cNvPr id="13" name="Shape 11"/>
          <p:cNvSpPr/>
          <p:nvPr/>
        </p:nvSpPr>
        <p:spPr>
          <a:xfrm>
            <a:off x="2103120" y="1078992"/>
            <a:ext cx="1536192" cy="3419856"/>
          </a:xfrm>
          <a:prstGeom prst="rect">
            <a:avLst/>
          </a:prstGeom>
          <a:solidFill>
            <a:srgbClr val="F5F9FA"/>
          </a:solidFill>
          <a:ln w="19050">
            <a:solidFill>
              <a:srgbClr val="053E51"/>
            </a:solidFill>
            <a:prstDash val="solid"/>
          </a:ln>
        </p:spPr>
      </p:sp>
      <p:sp>
        <p:nvSpPr>
          <p:cNvPr id="14" name="Shape 12"/>
          <p:cNvSpPr/>
          <p:nvPr/>
        </p:nvSpPr>
        <p:spPr>
          <a:xfrm>
            <a:off x="2103120" y="1078992"/>
            <a:ext cx="1536192" cy="475488"/>
          </a:xfrm>
          <a:prstGeom prst="rect">
            <a:avLst/>
          </a:prstGeom>
          <a:solidFill>
            <a:srgbClr val="053E51"/>
          </a:solidFill>
          <a:ln w="12700">
            <a:solidFill>
              <a:srgbClr val="053E51"/>
            </a:solidFill>
            <a:prstDash val="solid"/>
          </a:ln>
        </p:spPr>
      </p:sp>
      <p:sp>
        <p:nvSpPr>
          <p:cNvPr id="15" name="Text 13"/>
          <p:cNvSpPr/>
          <p:nvPr/>
        </p:nvSpPr>
        <p:spPr>
          <a:xfrm>
            <a:off x="2148840" y="1078992"/>
            <a:ext cx="384048" cy="47548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2157984" y="1609344"/>
            <a:ext cx="1426464" cy="548640"/>
          </a:xfrm>
          <a:prstGeom prst="rect">
            <a:avLst/>
          </a:prstGeom>
          <a:noFill/>
          <a:ln/>
        </p:spPr>
        <p:txBody>
          <a:bodyPr wrap="square" rtlCol="0" anchor="ctr"/>
          <a:lstStyle/>
          <a:p>
            <a:pPr marL="0" indent="0">
              <a:buNone/>
            </a:pPr>
            <a:r>
              <a:rPr lang="en-US" sz="1100" b="1" dirty="0">
                <a:solidFill>
                  <a:srgbClr val="0D3D52"/>
                </a:solidFill>
                <a:latin typeface="Calibri" pitchFamily="34" charset="0"/>
                <a:ea typeface="Calibri" pitchFamily="34" charset="-122"/>
                <a:cs typeface="Calibri" pitchFamily="34" charset="-120"/>
              </a:rPr>
              <a:t>Physical Access</a:t>
            </a:r>
            <a:endParaRPr lang="en-US" sz="1100" dirty="0"/>
          </a:p>
        </p:txBody>
      </p:sp>
      <p:sp>
        <p:nvSpPr>
          <p:cNvPr id="17" name="Text 15"/>
          <p:cNvSpPr/>
          <p:nvPr/>
        </p:nvSpPr>
        <p:spPr>
          <a:xfrm>
            <a:off x="2157984" y="2194560"/>
            <a:ext cx="1426464" cy="2395728"/>
          </a:xfrm>
          <a:prstGeom prst="rect">
            <a:avLst/>
          </a:prstGeom>
          <a:noFill/>
          <a:ln/>
        </p:spPr>
        <p:txBody>
          <a:bodyPr wrap="square" rtlCol="0" anchor="ctr"/>
          <a:lstStyle/>
          <a:p>
            <a:pPr marL="0" indent="0">
              <a:buNone/>
            </a:pPr>
            <a:r>
              <a:rPr lang="en-US" sz="1050" dirty="0">
                <a:solidFill>
                  <a:srgbClr val="4A6572"/>
                </a:solidFill>
                <a:latin typeface="Calibri" pitchFamily="34" charset="0"/>
                <a:ea typeface="Calibri" pitchFamily="34" charset="-122"/>
                <a:cs typeface="Calibri" pitchFamily="34" charset="-120"/>
              </a:rPr>
              <a:t>Actor gains entry to the server room via tailgating — bypassing physical access controls</a:t>
            </a:r>
            <a:endParaRPr lang="en-US" sz="1050" dirty="0"/>
          </a:p>
        </p:txBody>
      </p:sp>
      <p:sp>
        <p:nvSpPr>
          <p:cNvPr id="18" name="Shape 16"/>
          <p:cNvSpPr/>
          <p:nvPr/>
        </p:nvSpPr>
        <p:spPr>
          <a:xfrm>
            <a:off x="3639312" y="1920240"/>
            <a:ext cx="128016" cy="45720"/>
          </a:xfrm>
          <a:prstGeom prst="rect">
            <a:avLst/>
          </a:prstGeom>
          <a:solidFill>
            <a:srgbClr val="0D6E7E"/>
          </a:solidFill>
          <a:ln w="12700">
            <a:solidFill>
              <a:srgbClr val="0D6E7E"/>
            </a:solidFill>
            <a:prstDash val="solid"/>
          </a:ln>
        </p:spPr>
      </p:sp>
      <p:sp>
        <p:nvSpPr>
          <p:cNvPr id="19" name="Text 17"/>
          <p:cNvSpPr/>
          <p:nvPr/>
        </p:nvSpPr>
        <p:spPr>
          <a:xfrm>
            <a:off x="3657600" y="1828800"/>
            <a:ext cx="91440" cy="228600"/>
          </a:xfrm>
          <a:prstGeom prst="rect">
            <a:avLst/>
          </a:prstGeom>
          <a:noFill/>
          <a:ln/>
        </p:spPr>
        <p:txBody>
          <a:bodyPr wrap="square" rtlCol="0" anchor="ctr"/>
          <a:lstStyle/>
          <a:p>
            <a:pPr marL="0" indent="0">
              <a:buNone/>
            </a:pPr>
            <a:r>
              <a:rPr lang="en-US" sz="1000" dirty="0">
                <a:solidFill>
                  <a:srgbClr val="0D6E7E"/>
                </a:solidFill>
                <a:latin typeface="Calibri" pitchFamily="34" charset="0"/>
                <a:ea typeface="Calibri" pitchFamily="34" charset="-122"/>
                <a:cs typeface="Calibri" pitchFamily="34" charset="-120"/>
              </a:rPr>
              <a:t>→</a:t>
            </a:r>
            <a:endParaRPr lang="en-US" sz="1000" dirty="0"/>
          </a:p>
        </p:txBody>
      </p:sp>
      <p:sp>
        <p:nvSpPr>
          <p:cNvPr id="20" name="Shape 18"/>
          <p:cNvSpPr/>
          <p:nvPr/>
        </p:nvSpPr>
        <p:spPr>
          <a:xfrm>
            <a:off x="3794760" y="1078992"/>
            <a:ext cx="1536192" cy="3419856"/>
          </a:xfrm>
          <a:prstGeom prst="rect">
            <a:avLst/>
          </a:prstGeom>
          <a:solidFill>
            <a:srgbClr val="F5F9FA"/>
          </a:solidFill>
          <a:ln w="19050">
            <a:solidFill>
              <a:srgbClr val="8B4513"/>
            </a:solidFill>
            <a:prstDash val="solid"/>
          </a:ln>
        </p:spPr>
      </p:sp>
      <p:sp>
        <p:nvSpPr>
          <p:cNvPr id="21" name="Shape 19"/>
          <p:cNvSpPr/>
          <p:nvPr/>
        </p:nvSpPr>
        <p:spPr>
          <a:xfrm>
            <a:off x="3794760" y="1078992"/>
            <a:ext cx="1536192" cy="475488"/>
          </a:xfrm>
          <a:prstGeom prst="rect">
            <a:avLst/>
          </a:prstGeom>
          <a:solidFill>
            <a:srgbClr val="8B4513"/>
          </a:solidFill>
          <a:ln w="12700">
            <a:solidFill>
              <a:srgbClr val="8B4513"/>
            </a:solidFill>
            <a:prstDash val="solid"/>
          </a:ln>
        </p:spPr>
      </p:sp>
      <p:sp>
        <p:nvSpPr>
          <p:cNvPr id="22" name="Text 20"/>
          <p:cNvSpPr/>
          <p:nvPr/>
        </p:nvSpPr>
        <p:spPr>
          <a:xfrm>
            <a:off x="3840480" y="1078992"/>
            <a:ext cx="384048" cy="47548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21"/>
          <p:cNvSpPr/>
          <p:nvPr/>
        </p:nvSpPr>
        <p:spPr>
          <a:xfrm>
            <a:off x="3849624" y="1609344"/>
            <a:ext cx="1426464" cy="548640"/>
          </a:xfrm>
          <a:prstGeom prst="rect">
            <a:avLst/>
          </a:prstGeom>
          <a:noFill/>
          <a:ln/>
        </p:spPr>
        <p:txBody>
          <a:bodyPr wrap="square" rtlCol="0" anchor="ctr"/>
          <a:lstStyle/>
          <a:p>
            <a:pPr marL="0" indent="0">
              <a:buNone/>
            </a:pPr>
            <a:r>
              <a:rPr lang="en-US" sz="1100" b="1" dirty="0">
                <a:solidFill>
                  <a:srgbClr val="0D3D52"/>
                </a:solidFill>
                <a:latin typeface="Calibri" pitchFamily="34" charset="0"/>
                <a:ea typeface="Calibri" pitchFamily="34" charset="-122"/>
                <a:cs typeface="Calibri" pitchFamily="34" charset="-120"/>
              </a:rPr>
              <a:t>Malware Deployment</a:t>
            </a:r>
            <a:endParaRPr lang="en-US" sz="1100" dirty="0"/>
          </a:p>
        </p:txBody>
      </p:sp>
      <p:sp>
        <p:nvSpPr>
          <p:cNvPr id="24" name="Text 22"/>
          <p:cNvSpPr/>
          <p:nvPr/>
        </p:nvSpPr>
        <p:spPr>
          <a:xfrm>
            <a:off x="3849624" y="2194560"/>
            <a:ext cx="1426464" cy="2395728"/>
          </a:xfrm>
          <a:prstGeom prst="rect">
            <a:avLst/>
          </a:prstGeom>
          <a:noFill/>
          <a:ln/>
        </p:spPr>
        <p:txBody>
          <a:bodyPr wrap="square" rtlCol="0" anchor="ctr"/>
          <a:lstStyle/>
          <a:p>
            <a:pPr marL="0" indent="0">
              <a:buNone/>
            </a:pPr>
            <a:r>
              <a:rPr lang="en-US" sz="1050" dirty="0">
                <a:solidFill>
                  <a:srgbClr val="4A6572"/>
                </a:solidFill>
                <a:latin typeface="Calibri" pitchFamily="34" charset="0"/>
                <a:ea typeface="Calibri" pitchFamily="34" charset="-122"/>
                <a:cs typeface="Calibri" pitchFamily="34" charset="-120"/>
              </a:rPr>
              <a:t>USB device discretely connected to server, installing malware — silent persistence established</a:t>
            </a:r>
            <a:endParaRPr lang="en-US" sz="1050" dirty="0"/>
          </a:p>
        </p:txBody>
      </p:sp>
      <p:sp>
        <p:nvSpPr>
          <p:cNvPr id="25" name="Shape 23"/>
          <p:cNvSpPr/>
          <p:nvPr/>
        </p:nvSpPr>
        <p:spPr>
          <a:xfrm>
            <a:off x="5330952" y="1920240"/>
            <a:ext cx="128016" cy="45720"/>
          </a:xfrm>
          <a:prstGeom prst="rect">
            <a:avLst/>
          </a:prstGeom>
          <a:solidFill>
            <a:srgbClr val="0D6E7E"/>
          </a:solidFill>
          <a:ln w="12700">
            <a:solidFill>
              <a:srgbClr val="0D6E7E"/>
            </a:solidFill>
            <a:prstDash val="solid"/>
          </a:ln>
        </p:spPr>
      </p:sp>
      <p:sp>
        <p:nvSpPr>
          <p:cNvPr id="26" name="Text 24"/>
          <p:cNvSpPr/>
          <p:nvPr/>
        </p:nvSpPr>
        <p:spPr>
          <a:xfrm>
            <a:off x="5349240" y="1828800"/>
            <a:ext cx="91440" cy="228600"/>
          </a:xfrm>
          <a:prstGeom prst="rect">
            <a:avLst/>
          </a:prstGeom>
          <a:noFill/>
          <a:ln/>
        </p:spPr>
        <p:txBody>
          <a:bodyPr wrap="square" rtlCol="0" anchor="ctr"/>
          <a:lstStyle/>
          <a:p>
            <a:pPr marL="0" indent="0">
              <a:buNone/>
            </a:pPr>
            <a:r>
              <a:rPr lang="en-US" sz="1000" dirty="0">
                <a:solidFill>
                  <a:srgbClr val="0D6E7E"/>
                </a:solidFill>
                <a:latin typeface="Calibri" pitchFamily="34" charset="0"/>
                <a:ea typeface="Calibri" pitchFamily="34" charset="-122"/>
                <a:cs typeface="Calibri" pitchFamily="34" charset="-120"/>
              </a:rPr>
              <a:t>→</a:t>
            </a:r>
            <a:endParaRPr lang="en-US" sz="1000" dirty="0"/>
          </a:p>
        </p:txBody>
      </p:sp>
      <p:sp>
        <p:nvSpPr>
          <p:cNvPr id="27" name="Shape 25"/>
          <p:cNvSpPr/>
          <p:nvPr/>
        </p:nvSpPr>
        <p:spPr>
          <a:xfrm>
            <a:off x="5486400" y="1078992"/>
            <a:ext cx="1536192" cy="3419856"/>
          </a:xfrm>
          <a:prstGeom prst="rect">
            <a:avLst/>
          </a:prstGeom>
          <a:solidFill>
            <a:srgbClr val="F5F9FA"/>
          </a:solidFill>
          <a:ln w="19050">
            <a:solidFill>
              <a:srgbClr val="AA2222"/>
            </a:solidFill>
            <a:prstDash val="solid"/>
          </a:ln>
        </p:spPr>
      </p:sp>
      <p:sp>
        <p:nvSpPr>
          <p:cNvPr id="28" name="Shape 26"/>
          <p:cNvSpPr/>
          <p:nvPr/>
        </p:nvSpPr>
        <p:spPr>
          <a:xfrm>
            <a:off x="5486400" y="1078992"/>
            <a:ext cx="1536192" cy="475488"/>
          </a:xfrm>
          <a:prstGeom prst="rect">
            <a:avLst/>
          </a:prstGeom>
          <a:solidFill>
            <a:srgbClr val="AA2222"/>
          </a:solidFill>
          <a:ln w="12700">
            <a:solidFill>
              <a:srgbClr val="AA2222"/>
            </a:solidFill>
            <a:prstDash val="solid"/>
          </a:ln>
        </p:spPr>
      </p:sp>
      <p:sp>
        <p:nvSpPr>
          <p:cNvPr id="29" name="Text 27"/>
          <p:cNvSpPr/>
          <p:nvPr/>
        </p:nvSpPr>
        <p:spPr>
          <a:xfrm>
            <a:off x="5532120" y="1078992"/>
            <a:ext cx="384048" cy="47548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0" name="Text 28"/>
          <p:cNvSpPr/>
          <p:nvPr/>
        </p:nvSpPr>
        <p:spPr>
          <a:xfrm>
            <a:off x="5541264" y="1609344"/>
            <a:ext cx="1426464" cy="548640"/>
          </a:xfrm>
          <a:prstGeom prst="rect">
            <a:avLst/>
          </a:prstGeom>
          <a:noFill/>
          <a:ln/>
        </p:spPr>
        <p:txBody>
          <a:bodyPr wrap="square" rtlCol="0" anchor="ctr"/>
          <a:lstStyle/>
          <a:p>
            <a:pPr marL="0" indent="0">
              <a:buNone/>
            </a:pPr>
            <a:r>
              <a:rPr lang="en-US" sz="1100" b="1" dirty="0">
                <a:solidFill>
                  <a:srgbClr val="0D3D52"/>
                </a:solidFill>
                <a:latin typeface="Calibri" pitchFamily="34" charset="0"/>
                <a:ea typeface="Calibri" pitchFamily="34" charset="-122"/>
                <a:cs typeface="Calibri" pitchFamily="34" charset="-120"/>
              </a:rPr>
              <a:t>Reconnaissance</a:t>
            </a:r>
            <a:endParaRPr lang="en-US" sz="1100" dirty="0"/>
          </a:p>
        </p:txBody>
      </p:sp>
      <p:sp>
        <p:nvSpPr>
          <p:cNvPr id="31" name="Text 29"/>
          <p:cNvSpPr/>
          <p:nvPr/>
        </p:nvSpPr>
        <p:spPr>
          <a:xfrm>
            <a:off x="5541264" y="2194560"/>
            <a:ext cx="1426464" cy="2395728"/>
          </a:xfrm>
          <a:prstGeom prst="rect">
            <a:avLst/>
          </a:prstGeom>
          <a:noFill/>
          <a:ln/>
        </p:spPr>
        <p:txBody>
          <a:bodyPr wrap="square" rtlCol="0" anchor="ctr"/>
          <a:lstStyle/>
          <a:p>
            <a:pPr marL="0" indent="0">
              <a:buNone/>
            </a:pPr>
            <a:r>
              <a:rPr lang="en-US" sz="1050" dirty="0">
                <a:solidFill>
                  <a:srgbClr val="4A6572"/>
                </a:solidFill>
                <a:latin typeface="Calibri" pitchFamily="34" charset="0"/>
                <a:ea typeface="Calibri" pitchFamily="34" charset="-122"/>
                <a:cs typeface="Calibri" pitchFamily="34" charset="-120"/>
              </a:rPr>
              <a:t>Malware begins scanning internal systems, harvesting credentials and mapping the network</a:t>
            </a:r>
            <a:endParaRPr lang="en-US" sz="1050" dirty="0"/>
          </a:p>
        </p:txBody>
      </p:sp>
      <p:sp>
        <p:nvSpPr>
          <p:cNvPr id="32" name="Shape 30"/>
          <p:cNvSpPr/>
          <p:nvPr/>
        </p:nvSpPr>
        <p:spPr>
          <a:xfrm>
            <a:off x="7022592" y="1920240"/>
            <a:ext cx="128016" cy="45720"/>
          </a:xfrm>
          <a:prstGeom prst="rect">
            <a:avLst/>
          </a:prstGeom>
          <a:solidFill>
            <a:srgbClr val="0D6E7E"/>
          </a:solidFill>
          <a:ln w="12700">
            <a:solidFill>
              <a:srgbClr val="0D6E7E"/>
            </a:solidFill>
            <a:prstDash val="solid"/>
          </a:ln>
        </p:spPr>
      </p:sp>
      <p:sp>
        <p:nvSpPr>
          <p:cNvPr id="33" name="Text 31"/>
          <p:cNvSpPr/>
          <p:nvPr/>
        </p:nvSpPr>
        <p:spPr>
          <a:xfrm>
            <a:off x="7040880" y="1828800"/>
            <a:ext cx="91440" cy="228600"/>
          </a:xfrm>
          <a:prstGeom prst="rect">
            <a:avLst/>
          </a:prstGeom>
          <a:noFill/>
          <a:ln/>
        </p:spPr>
        <p:txBody>
          <a:bodyPr wrap="square" rtlCol="0" anchor="ctr"/>
          <a:lstStyle/>
          <a:p>
            <a:pPr marL="0" indent="0">
              <a:buNone/>
            </a:pPr>
            <a:r>
              <a:rPr lang="en-US" sz="1000" dirty="0">
                <a:solidFill>
                  <a:srgbClr val="0D6E7E"/>
                </a:solidFill>
                <a:latin typeface="Calibri" pitchFamily="34" charset="0"/>
                <a:ea typeface="Calibri" pitchFamily="34" charset="-122"/>
                <a:cs typeface="Calibri" pitchFamily="34" charset="-120"/>
              </a:rPr>
              <a:t>→</a:t>
            </a:r>
            <a:endParaRPr lang="en-US" sz="1000" dirty="0"/>
          </a:p>
        </p:txBody>
      </p:sp>
      <p:sp>
        <p:nvSpPr>
          <p:cNvPr id="34" name="Shape 32"/>
          <p:cNvSpPr/>
          <p:nvPr/>
        </p:nvSpPr>
        <p:spPr>
          <a:xfrm>
            <a:off x="7178040" y="1078992"/>
            <a:ext cx="1536192" cy="3419856"/>
          </a:xfrm>
          <a:prstGeom prst="rect">
            <a:avLst/>
          </a:prstGeom>
          <a:solidFill>
            <a:srgbClr val="F5F9FA"/>
          </a:solidFill>
          <a:ln w="19050">
            <a:solidFill>
              <a:srgbClr val="880000"/>
            </a:solidFill>
            <a:prstDash val="solid"/>
          </a:ln>
        </p:spPr>
      </p:sp>
      <p:sp>
        <p:nvSpPr>
          <p:cNvPr id="35" name="Shape 33"/>
          <p:cNvSpPr/>
          <p:nvPr/>
        </p:nvSpPr>
        <p:spPr>
          <a:xfrm>
            <a:off x="7178040" y="1078992"/>
            <a:ext cx="1536192" cy="475488"/>
          </a:xfrm>
          <a:prstGeom prst="rect">
            <a:avLst/>
          </a:prstGeom>
          <a:solidFill>
            <a:srgbClr val="880000"/>
          </a:solidFill>
          <a:ln w="12700">
            <a:solidFill>
              <a:srgbClr val="880000"/>
            </a:solidFill>
            <a:prstDash val="solid"/>
          </a:ln>
        </p:spPr>
      </p:sp>
      <p:sp>
        <p:nvSpPr>
          <p:cNvPr id="36" name="Text 34"/>
          <p:cNvSpPr/>
          <p:nvPr/>
        </p:nvSpPr>
        <p:spPr>
          <a:xfrm>
            <a:off x="7223760" y="1078992"/>
            <a:ext cx="384048" cy="47548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7" name="Text 35"/>
          <p:cNvSpPr/>
          <p:nvPr/>
        </p:nvSpPr>
        <p:spPr>
          <a:xfrm>
            <a:off x="7232904" y="1609344"/>
            <a:ext cx="1426464" cy="548640"/>
          </a:xfrm>
          <a:prstGeom prst="rect">
            <a:avLst/>
          </a:prstGeom>
          <a:noFill/>
          <a:ln/>
        </p:spPr>
        <p:txBody>
          <a:bodyPr wrap="square" rtlCol="0" anchor="ctr"/>
          <a:lstStyle/>
          <a:p>
            <a:pPr marL="0" indent="0">
              <a:buNone/>
            </a:pPr>
            <a:r>
              <a:rPr lang="en-US" sz="1100" b="1" dirty="0">
                <a:solidFill>
                  <a:srgbClr val="0D3D52"/>
                </a:solidFill>
                <a:latin typeface="Calibri" pitchFamily="34" charset="0"/>
                <a:ea typeface="Calibri" pitchFamily="34" charset="-122"/>
                <a:cs typeface="Calibri" pitchFamily="34" charset="-120"/>
              </a:rPr>
              <a:t>Data Exfiltration</a:t>
            </a:r>
            <a:endParaRPr lang="en-US" sz="1100" dirty="0"/>
          </a:p>
        </p:txBody>
      </p:sp>
      <p:sp>
        <p:nvSpPr>
          <p:cNvPr id="38" name="Text 36"/>
          <p:cNvSpPr/>
          <p:nvPr/>
        </p:nvSpPr>
        <p:spPr>
          <a:xfrm>
            <a:off x="7232904" y="2194560"/>
            <a:ext cx="1426464" cy="2395728"/>
          </a:xfrm>
          <a:prstGeom prst="rect">
            <a:avLst/>
          </a:prstGeom>
          <a:noFill/>
          <a:ln/>
        </p:spPr>
        <p:txBody>
          <a:bodyPr wrap="square" rtlCol="0" anchor="ctr"/>
          <a:lstStyle/>
          <a:p>
            <a:pPr marL="0" indent="0">
              <a:buNone/>
            </a:pPr>
            <a:r>
              <a:rPr lang="en-US" sz="1050" dirty="0">
                <a:solidFill>
                  <a:srgbClr val="4A6572"/>
                </a:solidFill>
                <a:latin typeface="Calibri" pitchFamily="34" charset="0"/>
                <a:ea typeface="Calibri" pitchFamily="34" charset="-122"/>
                <a:cs typeface="Calibri" pitchFamily="34" charset="-120"/>
              </a:rPr>
              <a:t>Sensitive data extracted — the final stage of the attack path is complete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82880"/>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Cybersecurity Threat Category 1: Social Engineering</a:t>
            </a:r>
            <a:endParaRPr lang="en-US" sz="2400" dirty="0"/>
          </a:p>
        </p:txBody>
      </p:sp>
      <p:sp>
        <p:nvSpPr>
          <p:cNvPr id="5" name="Shape 3"/>
          <p:cNvSpPr/>
          <p:nvPr/>
        </p:nvSpPr>
        <p:spPr>
          <a:xfrm>
            <a:off x="411480" y="932688"/>
            <a:ext cx="1920240" cy="1920240"/>
          </a:xfrm>
          <a:prstGeom prst="line">
            <a:avLst/>
          </a:prstGeom>
          <a:solidFill>
            <a:srgbClr val="EFF8FA"/>
          </a:solidFill>
          <a:ln w="25400">
            <a:solidFill>
              <a:srgbClr val="AA2222"/>
            </a:solidFill>
            <a:prstDash val="solid"/>
          </a:ln>
        </p:spPr>
      </p:sp>
      <p:pic>
        <p:nvPicPr>
          <p:cNvPr id="6" name="Image 0" descr="preencoded.png"/>
          <p:cNvPicPr>
            <a:picLocks noChangeAspect="1"/>
          </p:cNvPicPr>
          <p:nvPr/>
        </p:nvPicPr>
        <p:blipFill>
          <a:blip r:embed="rId3"/>
          <a:stretch>
            <a:fillRect/>
          </a:stretch>
        </p:blipFill>
        <p:spPr>
          <a:xfrm>
            <a:off x="658368" y="1170432"/>
            <a:ext cx="1426464" cy="1426464"/>
          </a:xfrm>
          <a:prstGeom prst="rect">
            <a:avLst/>
          </a:prstGeom>
        </p:spPr>
      </p:pic>
      <p:sp>
        <p:nvSpPr>
          <p:cNvPr id="7" name="Text 4"/>
          <p:cNvSpPr/>
          <p:nvPr/>
        </p:nvSpPr>
        <p:spPr>
          <a:xfrm>
            <a:off x="2560320" y="1005840"/>
            <a:ext cx="6217920" cy="502920"/>
          </a:xfrm>
          <a:prstGeom prst="rect">
            <a:avLst/>
          </a:prstGeom>
          <a:noFill/>
          <a:ln/>
        </p:spPr>
        <p:txBody>
          <a:bodyPr wrap="square" rtlCol="0" anchor="ctr"/>
          <a:lstStyle/>
          <a:p>
            <a:pPr marL="0" indent="0">
              <a:buNone/>
            </a:pPr>
            <a:r>
              <a:rPr lang="en-US" sz="2200" b="1" dirty="0">
                <a:solidFill>
                  <a:srgbClr val="AA2222"/>
                </a:solidFill>
                <a:latin typeface="Calibri" pitchFamily="34" charset="0"/>
                <a:ea typeface="Calibri" pitchFamily="34" charset="-122"/>
                <a:cs typeface="Calibri" pitchFamily="34" charset="-120"/>
              </a:rPr>
              <a:t>Social Engineering</a:t>
            </a:r>
            <a:endParaRPr lang="en-US" sz="2200" dirty="0"/>
          </a:p>
        </p:txBody>
      </p:sp>
      <p:sp>
        <p:nvSpPr>
          <p:cNvPr id="8" name="Text 5"/>
          <p:cNvSpPr/>
          <p:nvPr/>
        </p:nvSpPr>
        <p:spPr>
          <a:xfrm>
            <a:off x="2560320" y="1572768"/>
            <a:ext cx="6217920" cy="3246120"/>
          </a:xfrm>
          <a:prstGeom prst="rect">
            <a:avLst/>
          </a:prstGeom>
          <a:noFill/>
          <a:ln/>
        </p:spPr>
        <p:txBody>
          <a:bodyPr wrap="square" rtlCol="0" anchor="ctr"/>
          <a:lstStyle/>
          <a:p>
            <a:pPr marL="0" indent="0">
              <a:buNone/>
            </a:pPr>
            <a:r>
              <a:rPr lang="en-US" sz="1300" dirty="0">
                <a:solidFill>
                  <a:srgbClr val="1A2B35"/>
                </a:solidFill>
                <a:latin typeface="Calibri" pitchFamily="34" charset="0"/>
                <a:ea typeface="Calibri" pitchFamily="34" charset="-122"/>
                <a:cs typeface="Calibri" pitchFamily="34" charset="-120"/>
              </a:rPr>
              <a:t>The act of using psychological manipulation to trick people into taking some action contrary to their best interests — such as disclosing confidential information.</a:t>
            </a:r>
            <a:endParaRPr lang="en-US" sz="1300" dirty="0"/>
          </a:p>
          <a:p>
            <a:pPr marL="0" indent="0">
              <a:buNone/>
            </a:pP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Key ingredients of a successful social engineering attack:</a:t>
            </a: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 Gaining the trust of the victim</a:t>
            </a: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 Compelling them to act (urgency/fear)</a:t>
            </a:r>
            <a:endParaRPr lang="en-US" sz="1300" dirty="0"/>
          </a:p>
          <a:p>
            <a:pPr marL="0" indent="0">
              <a:buNone/>
            </a:pP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Common forms: Phishing, Vishing, Smishing, Pretexting, Baiting, Tailgating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82880"/>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Cybersecurity Threat Category 2: Malware</a:t>
            </a:r>
            <a:endParaRPr lang="en-US" sz="2400" dirty="0"/>
          </a:p>
        </p:txBody>
      </p:sp>
      <p:sp>
        <p:nvSpPr>
          <p:cNvPr id="5" name="Shape 3"/>
          <p:cNvSpPr/>
          <p:nvPr/>
        </p:nvSpPr>
        <p:spPr>
          <a:xfrm>
            <a:off x="411480" y="932688"/>
            <a:ext cx="1920240" cy="1920240"/>
          </a:xfrm>
          <a:prstGeom prst="line">
            <a:avLst/>
          </a:prstGeom>
          <a:solidFill>
            <a:srgbClr val="EFF8FA"/>
          </a:solidFill>
          <a:ln w="25400">
            <a:solidFill>
              <a:srgbClr val="CC3300"/>
            </a:solidFill>
            <a:prstDash val="solid"/>
          </a:ln>
        </p:spPr>
      </p:sp>
      <p:pic>
        <p:nvPicPr>
          <p:cNvPr id="6" name="Image 0" descr="preencoded.png"/>
          <p:cNvPicPr>
            <a:picLocks noChangeAspect="1"/>
          </p:cNvPicPr>
          <p:nvPr/>
        </p:nvPicPr>
        <p:blipFill>
          <a:blip r:embed="rId3"/>
          <a:stretch>
            <a:fillRect/>
          </a:stretch>
        </p:blipFill>
        <p:spPr>
          <a:xfrm>
            <a:off x="658368" y="1170432"/>
            <a:ext cx="1426464" cy="1426464"/>
          </a:xfrm>
          <a:prstGeom prst="rect">
            <a:avLst/>
          </a:prstGeom>
        </p:spPr>
      </p:pic>
      <p:sp>
        <p:nvSpPr>
          <p:cNvPr id="7" name="Text 4"/>
          <p:cNvSpPr/>
          <p:nvPr/>
        </p:nvSpPr>
        <p:spPr>
          <a:xfrm>
            <a:off x="2560320" y="1005840"/>
            <a:ext cx="6217920" cy="502920"/>
          </a:xfrm>
          <a:prstGeom prst="rect">
            <a:avLst/>
          </a:prstGeom>
          <a:noFill/>
          <a:ln/>
        </p:spPr>
        <p:txBody>
          <a:bodyPr wrap="square" rtlCol="0" anchor="ctr"/>
          <a:lstStyle/>
          <a:p>
            <a:pPr marL="0" indent="0">
              <a:buNone/>
            </a:pPr>
            <a:r>
              <a:rPr lang="en-US" sz="2200" b="1" dirty="0">
                <a:solidFill>
                  <a:srgbClr val="CC3300"/>
                </a:solidFill>
                <a:latin typeface="Calibri" pitchFamily="34" charset="0"/>
                <a:ea typeface="Calibri" pitchFamily="34" charset="-122"/>
                <a:cs typeface="Calibri" pitchFamily="34" charset="-120"/>
              </a:rPr>
              <a:t>Malware</a:t>
            </a:r>
            <a:endParaRPr lang="en-US" sz="2200" dirty="0"/>
          </a:p>
        </p:txBody>
      </p:sp>
      <p:sp>
        <p:nvSpPr>
          <p:cNvPr id="8" name="Text 5"/>
          <p:cNvSpPr/>
          <p:nvPr/>
        </p:nvSpPr>
        <p:spPr>
          <a:xfrm>
            <a:off x="2560320" y="1572768"/>
            <a:ext cx="6217920" cy="3246120"/>
          </a:xfrm>
          <a:prstGeom prst="rect">
            <a:avLst/>
          </a:prstGeom>
          <a:noFill/>
          <a:ln/>
        </p:spPr>
        <p:txBody>
          <a:bodyPr wrap="square" rtlCol="0" anchor="ctr"/>
          <a:lstStyle/>
          <a:p>
            <a:pPr marL="0" indent="0">
              <a:buNone/>
            </a:pPr>
            <a:r>
              <a:rPr lang="en-US" sz="1300" dirty="0">
                <a:solidFill>
                  <a:srgbClr val="1A2B35"/>
                </a:solidFill>
                <a:latin typeface="Calibri" pitchFamily="34" charset="0"/>
                <a:ea typeface="Calibri" pitchFamily="34" charset="-122"/>
                <a:cs typeface="Calibri" pitchFamily="34" charset="-120"/>
              </a:rPr>
              <a:t>Software designed to disrupt, damage, or gain unauthorized access to a computer system.</a:t>
            </a:r>
            <a:endParaRPr lang="en-US" sz="1300" dirty="0"/>
          </a:p>
          <a:p>
            <a:pPr marL="0" indent="0">
              <a:buNone/>
            </a:pP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Types of Malware:</a:t>
            </a: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 Viruses — attach to legitimate files</a:t>
            </a: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 Worms — self-replicating, spread across networks</a:t>
            </a: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 Trojans — disguised as legitimate software</a:t>
            </a: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 Ransomware — encrypts data for ransom</a:t>
            </a: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 Spyware — silently monitors and collects data</a:t>
            </a: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 Rootkits — hides deep in system</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82880"/>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Cybersecurity Threat Category 3: Unauthorized Access</a:t>
            </a:r>
            <a:endParaRPr lang="en-US" sz="2400" dirty="0"/>
          </a:p>
        </p:txBody>
      </p:sp>
      <p:sp>
        <p:nvSpPr>
          <p:cNvPr id="5" name="Shape 3"/>
          <p:cNvSpPr/>
          <p:nvPr/>
        </p:nvSpPr>
        <p:spPr>
          <a:xfrm>
            <a:off x="411480" y="932688"/>
            <a:ext cx="1920240" cy="1920240"/>
          </a:xfrm>
          <a:prstGeom prst="line">
            <a:avLst/>
          </a:prstGeom>
          <a:solidFill>
            <a:srgbClr val="EFF8FA"/>
          </a:solidFill>
          <a:ln w="25400">
            <a:solidFill>
              <a:srgbClr val="C8601A"/>
            </a:solidFill>
            <a:prstDash val="solid"/>
          </a:ln>
        </p:spPr>
      </p:sp>
      <p:pic>
        <p:nvPicPr>
          <p:cNvPr id="6" name="Image 0" descr="preencoded.png"/>
          <p:cNvPicPr>
            <a:picLocks noChangeAspect="1"/>
          </p:cNvPicPr>
          <p:nvPr/>
        </p:nvPicPr>
        <p:blipFill>
          <a:blip r:embed="rId3"/>
          <a:stretch>
            <a:fillRect/>
          </a:stretch>
        </p:blipFill>
        <p:spPr>
          <a:xfrm>
            <a:off x="658368" y="1170432"/>
            <a:ext cx="1426464" cy="1426464"/>
          </a:xfrm>
          <a:prstGeom prst="rect">
            <a:avLst/>
          </a:prstGeom>
        </p:spPr>
      </p:pic>
      <p:sp>
        <p:nvSpPr>
          <p:cNvPr id="7" name="Text 4"/>
          <p:cNvSpPr/>
          <p:nvPr/>
        </p:nvSpPr>
        <p:spPr>
          <a:xfrm>
            <a:off x="2560320" y="1005840"/>
            <a:ext cx="6217920" cy="502920"/>
          </a:xfrm>
          <a:prstGeom prst="rect">
            <a:avLst/>
          </a:prstGeom>
          <a:noFill/>
          <a:ln/>
        </p:spPr>
        <p:txBody>
          <a:bodyPr wrap="square" rtlCol="0" anchor="ctr"/>
          <a:lstStyle/>
          <a:p>
            <a:pPr marL="0" indent="0">
              <a:buNone/>
            </a:pPr>
            <a:r>
              <a:rPr lang="en-US" sz="2200" b="1" dirty="0">
                <a:solidFill>
                  <a:srgbClr val="C8601A"/>
                </a:solidFill>
                <a:latin typeface="Calibri" pitchFamily="34" charset="0"/>
                <a:ea typeface="Calibri" pitchFamily="34" charset="-122"/>
                <a:cs typeface="Calibri" pitchFamily="34" charset="-120"/>
              </a:rPr>
              <a:t>Unauthorized Access</a:t>
            </a:r>
            <a:endParaRPr lang="en-US" sz="2200" dirty="0"/>
          </a:p>
        </p:txBody>
      </p:sp>
      <p:sp>
        <p:nvSpPr>
          <p:cNvPr id="8" name="Text 5"/>
          <p:cNvSpPr/>
          <p:nvPr/>
        </p:nvSpPr>
        <p:spPr>
          <a:xfrm>
            <a:off x="2560320" y="1572768"/>
            <a:ext cx="6217920" cy="3246120"/>
          </a:xfrm>
          <a:prstGeom prst="rect">
            <a:avLst/>
          </a:prstGeom>
          <a:noFill/>
          <a:ln/>
        </p:spPr>
        <p:txBody>
          <a:bodyPr wrap="square" rtlCol="0" anchor="ctr"/>
          <a:lstStyle/>
          <a:p>
            <a:pPr marL="0" indent="0">
              <a:buNone/>
            </a:pPr>
            <a:r>
              <a:rPr lang="en-US" sz="1300" dirty="0">
                <a:solidFill>
                  <a:srgbClr val="1A2B35"/>
                </a:solidFill>
                <a:latin typeface="Calibri" pitchFamily="34" charset="0"/>
                <a:ea typeface="Calibri" pitchFamily="34" charset="-122"/>
                <a:cs typeface="Calibri" pitchFamily="34" charset="-120"/>
              </a:rPr>
              <a:t>Physical: A bad actor following an authorized person through a door after they have swiped their badge — known as tailgating.</a:t>
            </a:r>
            <a:endParaRPr lang="en-US" sz="1300" dirty="0"/>
          </a:p>
          <a:p>
            <a:pPr marL="0" indent="0">
              <a:buNone/>
            </a:pP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Digital: A bad actor looking over someone's shoulder as they type their credentials (shoulder surfing).</a:t>
            </a:r>
            <a:endParaRPr lang="en-US" sz="1300" dirty="0"/>
          </a:p>
          <a:p>
            <a:pPr marL="0" indent="0">
              <a:buNone/>
            </a:pP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Prevention: Multi-factor authentication, access controls, security cameras, mantraps, biometrics.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82880"/>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Cybersecurity Threat Category 4: System Design Failure</a:t>
            </a:r>
            <a:endParaRPr lang="en-US" sz="2400" dirty="0"/>
          </a:p>
        </p:txBody>
      </p:sp>
      <p:sp>
        <p:nvSpPr>
          <p:cNvPr id="5" name="Shape 3"/>
          <p:cNvSpPr/>
          <p:nvPr/>
        </p:nvSpPr>
        <p:spPr>
          <a:xfrm>
            <a:off x="411480" y="932688"/>
            <a:ext cx="1920240" cy="1920240"/>
          </a:xfrm>
          <a:prstGeom prst="line">
            <a:avLst/>
          </a:prstGeom>
          <a:solidFill>
            <a:srgbClr val="EFF8FA"/>
          </a:solidFill>
          <a:ln w="25400">
            <a:solidFill>
              <a:srgbClr val="053E51"/>
            </a:solidFill>
            <a:prstDash val="solid"/>
          </a:ln>
        </p:spPr>
      </p:sp>
      <p:pic>
        <p:nvPicPr>
          <p:cNvPr id="6" name="Image 0" descr="preencoded.png"/>
          <p:cNvPicPr>
            <a:picLocks noChangeAspect="1"/>
          </p:cNvPicPr>
          <p:nvPr/>
        </p:nvPicPr>
        <p:blipFill>
          <a:blip r:embed="rId3"/>
          <a:stretch>
            <a:fillRect/>
          </a:stretch>
        </p:blipFill>
        <p:spPr>
          <a:xfrm>
            <a:off x="658368" y="1170432"/>
            <a:ext cx="1426464" cy="1426464"/>
          </a:xfrm>
          <a:prstGeom prst="rect">
            <a:avLst/>
          </a:prstGeom>
        </p:spPr>
      </p:pic>
      <p:sp>
        <p:nvSpPr>
          <p:cNvPr id="7" name="Text 4"/>
          <p:cNvSpPr/>
          <p:nvPr/>
        </p:nvSpPr>
        <p:spPr>
          <a:xfrm>
            <a:off x="2560320" y="1005840"/>
            <a:ext cx="6217920" cy="502920"/>
          </a:xfrm>
          <a:prstGeom prst="rect">
            <a:avLst/>
          </a:prstGeom>
          <a:noFill/>
          <a:ln/>
        </p:spPr>
        <p:txBody>
          <a:bodyPr wrap="square" rtlCol="0" anchor="ctr"/>
          <a:lstStyle/>
          <a:p>
            <a:pPr marL="0" indent="0">
              <a:buNone/>
            </a:pPr>
            <a:r>
              <a:rPr lang="en-US" sz="2200" b="1" dirty="0">
                <a:solidFill>
                  <a:srgbClr val="053E51"/>
                </a:solidFill>
                <a:latin typeface="Calibri" pitchFamily="34" charset="0"/>
                <a:ea typeface="Calibri" pitchFamily="34" charset="-122"/>
                <a:cs typeface="Calibri" pitchFamily="34" charset="-120"/>
              </a:rPr>
              <a:t>System Design Failure</a:t>
            </a:r>
            <a:endParaRPr lang="en-US" sz="2200" dirty="0"/>
          </a:p>
        </p:txBody>
      </p:sp>
      <p:sp>
        <p:nvSpPr>
          <p:cNvPr id="8" name="Text 5"/>
          <p:cNvSpPr/>
          <p:nvPr/>
        </p:nvSpPr>
        <p:spPr>
          <a:xfrm>
            <a:off x="2560320" y="1572768"/>
            <a:ext cx="6217920" cy="3246120"/>
          </a:xfrm>
          <a:prstGeom prst="rect">
            <a:avLst/>
          </a:prstGeom>
          <a:noFill/>
          <a:ln/>
        </p:spPr>
        <p:txBody>
          <a:bodyPr wrap="square" rtlCol="0" anchor="ctr"/>
          <a:lstStyle/>
          <a:p>
            <a:pPr marL="0" indent="0">
              <a:buNone/>
            </a:pPr>
            <a:r>
              <a:rPr lang="en-US" sz="1300" dirty="0">
                <a:solidFill>
                  <a:srgbClr val="1A2B35"/>
                </a:solidFill>
                <a:latin typeface="Calibri" pitchFamily="34" charset="0"/>
                <a:ea typeface="Calibri" pitchFamily="34" charset="-122"/>
                <a:cs typeface="Calibri" pitchFamily="34" charset="-120"/>
              </a:rPr>
              <a:t>A security flaw in a computer system or application that a bad actor exploits to gain access.</a:t>
            </a:r>
            <a:endParaRPr lang="en-US" sz="1300" dirty="0"/>
          </a:p>
          <a:p>
            <a:pPr marL="0" indent="0">
              <a:buNone/>
            </a:pP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Examples:</a:t>
            </a: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 Unpatched software vulnerabilities</a:t>
            </a: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 Misconfigured servers or firewalls</a:t>
            </a: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 Weak default credentials</a:t>
            </a: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 SQL injection vulnerabilities</a:t>
            </a: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 Buffer overflow exploits</a:t>
            </a:r>
            <a:endParaRPr lang="en-US" sz="1300" dirty="0"/>
          </a:p>
          <a:p>
            <a:pPr marL="0" indent="0">
              <a:buNone/>
            </a:pPr>
            <a:r>
              <a:rPr lang="en-US" sz="1300" dirty="0">
                <a:solidFill>
                  <a:srgbClr val="1A2B35"/>
                </a:solidFill>
                <a:latin typeface="Calibri" pitchFamily="34" charset="0"/>
                <a:ea typeface="Calibri" pitchFamily="34" charset="-122"/>
                <a:cs typeface="Calibri" pitchFamily="34" charset="-120"/>
              </a:rPr>
              <a:t>• Zero-day vulnerabilities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53E5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731520" y="164592"/>
            <a:ext cx="7680960" cy="566928"/>
          </a:xfrm>
          <a:prstGeom prst="rect">
            <a:avLst/>
          </a:prstGeom>
          <a:solidFill>
            <a:srgbClr val="8AABB5"/>
          </a:solidFill>
          <a:ln w="12700">
            <a:solidFill>
              <a:srgbClr val="8AABB5"/>
            </a:solidFill>
            <a:prstDash val="solid"/>
          </a:ln>
        </p:spPr>
      </p:sp>
      <p:sp>
        <p:nvSpPr>
          <p:cNvPr id="4" name="Text 1"/>
          <p:cNvSpPr/>
          <p:nvPr/>
        </p:nvSpPr>
        <p:spPr>
          <a:xfrm>
            <a:off x="914400" y="201168"/>
            <a:ext cx="7315200" cy="475488"/>
          </a:xfrm>
          <a:prstGeom prst="rect">
            <a:avLst/>
          </a:prstGeom>
          <a:noFill/>
          <a:ln/>
        </p:spPr>
        <p:txBody>
          <a:bodyPr wrap="square" rtlCol="0" anchor="ctr"/>
          <a:lstStyle/>
          <a:p>
            <a:pPr marL="0" indent="0" algn="ctr">
              <a:buNone/>
            </a:pPr>
            <a:r>
              <a:rPr lang="en-US" sz="1350" dirty="0">
                <a:solidFill>
                  <a:srgbClr val="053E51"/>
                </a:solidFill>
                <a:latin typeface="Calibri" pitchFamily="34" charset="0"/>
                <a:ea typeface="Calibri" pitchFamily="34" charset="-122"/>
                <a:cs typeface="Calibri" pitchFamily="34" charset="-120"/>
              </a:rPr>
              <a:t>Identify the different types of bad actors and hackers by their motivations and tactics.</a:t>
            </a:r>
            <a:endParaRPr lang="en-US" sz="1350" dirty="0"/>
          </a:p>
        </p:txBody>
      </p:sp>
      <p:sp>
        <p:nvSpPr>
          <p:cNvPr id="5" name="Shape 2"/>
          <p:cNvSpPr/>
          <p:nvPr/>
        </p:nvSpPr>
        <p:spPr>
          <a:xfrm>
            <a:off x="502920" y="868680"/>
            <a:ext cx="3794760" cy="3639312"/>
          </a:xfrm>
          <a:prstGeom prst="rect">
            <a:avLst/>
          </a:prstGeom>
          <a:solidFill>
            <a:srgbClr val="FFFFFF"/>
          </a:solidFill>
          <a:ln w="25400">
            <a:solidFill>
              <a:srgbClr val="20ECE3"/>
            </a:solidFill>
            <a:prstDash val="solid"/>
          </a:ln>
        </p:spPr>
      </p:sp>
      <p:sp>
        <p:nvSpPr>
          <p:cNvPr id="6" name="Text 3"/>
          <p:cNvSpPr/>
          <p:nvPr/>
        </p:nvSpPr>
        <p:spPr>
          <a:xfrm>
            <a:off x="640080" y="914400"/>
            <a:ext cx="3520440" cy="411480"/>
          </a:xfrm>
          <a:prstGeom prst="rect">
            <a:avLst/>
          </a:prstGeom>
          <a:noFill/>
          <a:ln/>
        </p:spPr>
        <p:txBody>
          <a:bodyPr wrap="square" rtlCol="0" anchor="ctr"/>
          <a:lstStyle/>
          <a:p>
            <a:pPr marL="0" indent="0">
              <a:buNone/>
            </a:pPr>
            <a:r>
              <a:rPr lang="en-US" sz="1400" b="1" dirty="0">
                <a:solidFill>
                  <a:srgbClr val="0D3D52"/>
                </a:solidFill>
                <a:latin typeface="Calibri" pitchFamily="34" charset="0"/>
                <a:ea typeface="Calibri" pitchFamily="34" charset="-122"/>
                <a:cs typeface="Calibri" pitchFamily="34" charset="-120"/>
              </a:rPr>
              <a:t>Categories of Hackers</a:t>
            </a:r>
            <a:endParaRPr lang="en-US" sz="1400" dirty="0"/>
          </a:p>
        </p:txBody>
      </p:sp>
      <p:pic>
        <p:nvPicPr>
          <p:cNvPr id="7" name="Image 1" descr="preencoded.png"/>
          <p:cNvPicPr>
            <a:picLocks noChangeAspect="1"/>
          </p:cNvPicPr>
          <p:nvPr/>
        </p:nvPicPr>
        <p:blipFill>
          <a:blip r:embed="rId4"/>
          <a:stretch>
            <a:fillRect/>
          </a:stretch>
        </p:blipFill>
        <p:spPr>
          <a:xfrm>
            <a:off x="640080" y="1417320"/>
            <a:ext cx="640080" cy="512064"/>
          </a:xfrm>
          <a:prstGeom prst="rect">
            <a:avLst/>
          </a:prstGeom>
        </p:spPr>
      </p:pic>
      <p:sp>
        <p:nvSpPr>
          <p:cNvPr id="8" name="Text 4"/>
          <p:cNvSpPr/>
          <p:nvPr/>
        </p:nvSpPr>
        <p:spPr>
          <a:xfrm>
            <a:off x="640080" y="1965960"/>
            <a:ext cx="1600200" cy="292608"/>
          </a:xfrm>
          <a:prstGeom prst="rect">
            <a:avLst/>
          </a:prstGeom>
          <a:noFill/>
          <a:ln/>
        </p:spPr>
        <p:txBody>
          <a:bodyPr wrap="square" rtlCol="0" anchor="ctr"/>
          <a:lstStyle/>
          <a:p>
            <a:pPr marL="0" indent="0" algn="ctr">
              <a:buNone/>
            </a:pPr>
            <a:r>
              <a:rPr lang="en-US" sz="1100" b="1" dirty="0">
                <a:solidFill>
                  <a:srgbClr val="0D3D52"/>
                </a:solidFill>
                <a:latin typeface="Calibri" pitchFamily="34" charset="0"/>
                <a:ea typeface="Calibri" pitchFamily="34" charset="-122"/>
                <a:cs typeface="Calibri" pitchFamily="34" charset="-120"/>
              </a:rPr>
              <a:t>White Hat</a:t>
            </a:r>
            <a:endParaRPr lang="en-US" sz="1100" dirty="0"/>
          </a:p>
        </p:txBody>
      </p:sp>
      <p:sp>
        <p:nvSpPr>
          <p:cNvPr id="9" name="Text 5"/>
          <p:cNvSpPr/>
          <p:nvPr/>
        </p:nvSpPr>
        <p:spPr>
          <a:xfrm>
            <a:off x="640080" y="2276856"/>
            <a:ext cx="1600200" cy="502920"/>
          </a:xfrm>
          <a:prstGeom prst="rect">
            <a:avLst/>
          </a:prstGeom>
          <a:noFill/>
          <a:ln/>
        </p:spPr>
        <p:txBody>
          <a:bodyPr wrap="square" rtlCol="0" anchor="ctr"/>
          <a:lstStyle/>
          <a:p>
            <a:pPr marL="0" indent="0" algn="ctr">
              <a:buNone/>
            </a:pPr>
            <a:r>
              <a:rPr lang="en-US" sz="1000" dirty="0">
                <a:solidFill>
                  <a:srgbClr val="4A6572"/>
                </a:solidFill>
                <a:latin typeface="Calibri" pitchFamily="34" charset="0"/>
                <a:ea typeface="Calibri" pitchFamily="34" charset="-122"/>
                <a:cs typeface="Calibri" pitchFamily="34" charset="-120"/>
              </a:rPr>
              <a:t>Ethical</a:t>
            </a:r>
            <a:endParaRPr lang="en-US" sz="1000" dirty="0"/>
          </a:p>
        </p:txBody>
      </p:sp>
      <p:pic>
        <p:nvPicPr>
          <p:cNvPr id="10" name="Image 2" descr="preencoded.png"/>
          <p:cNvPicPr>
            <a:picLocks noChangeAspect="1"/>
          </p:cNvPicPr>
          <p:nvPr/>
        </p:nvPicPr>
        <p:blipFill>
          <a:blip r:embed="rId5"/>
          <a:stretch>
            <a:fillRect/>
          </a:stretch>
        </p:blipFill>
        <p:spPr>
          <a:xfrm>
            <a:off x="2468880" y="1417320"/>
            <a:ext cx="640080" cy="512064"/>
          </a:xfrm>
          <a:prstGeom prst="rect">
            <a:avLst/>
          </a:prstGeom>
        </p:spPr>
      </p:pic>
      <p:sp>
        <p:nvSpPr>
          <p:cNvPr id="11" name="Text 6"/>
          <p:cNvSpPr/>
          <p:nvPr/>
        </p:nvSpPr>
        <p:spPr>
          <a:xfrm>
            <a:off x="2468880" y="1965960"/>
            <a:ext cx="1600200" cy="292608"/>
          </a:xfrm>
          <a:prstGeom prst="rect">
            <a:avLst/>
          </a:prstGeom>
          <a:noFill/>
          <a:ln/>
        </p:spPr>
        <p:txBody>
          <a:bodyPr wrap="square" rtlCol="0" anchor="ctr"/>
          <a:lstStyle/>
          <a:p>
            <a:pPr marL="0" indent="0" algn="ctr">
              <a:buNone/>
            </a:pPr>
            <a:r>
              <a:rPr lang="en-US" sz="1100" b="1" dirty="0">
                <a:solidFill>
                  <a:srgbClr val="0D3D52"/>
                </a:solidFill>
                <a:latin typeface="Calibri" pitchFamily="34" charset="0"/>
                <a:ea typeface="Calibri" pitchFamily="34" charset="-122"/>
                <a:cs typeface="Calibri" pitchFamily="34" charset="-120"/>
              </a:rPr>
              <a:t>Black Hat</a:t>
            </a:r>
            <a:endParaRPr lang="en-US" sz="1100" dirty="0"/>
          </a:p>
        </p:txBody>
      </p:sp>
      <p:sp>
        <p:nvSpPr>
          <p:cNvPr id="12" name="Text 7"/>
          <p:cNvSpPr/>
          <p:nvPr/>
        </p:nvSpPr>
        <p:spPr>
          <a:xfrm>
            <a:off x="2468880" y="2276856"/>
            <a:ext cx="1600200" cy="502920"/>
          </a:xfrm>
          <a:prstGeom prst="rect">
            <a:avLst/>
          </a:prstGeom>
          <a:noFill/>
          <a:ln/>
        </p:spPr>
        <p:txBody>
          <a:bodyPr wrap="square" rtlCol="0" anchor="ctr"/>
          <a:lstStyle/>
          <a:p>
            <a:pPr marL="0" indent="0" algn="ctr">
              <a:buNone/>
            </a:pPr>
            <a:r>
              <a:rPr lang="en-US" sz="1000" dirty="0">
                <a:solidFill>
                  <a:srgbClr val="4A6572"/>
                </a:solidFill>
                <a:latin typeface="Calibri" pitchFamily="34" charset="0"/>
                <a:ea typeface="Calibri" pitchFamily="34" charset="-122"/>
                <a:cs typeface="Calibri" pitchFamily="34" charset="-120"/>
              </a:rPr>
              <a:t>Malicious</a:t>
            </a:r>
            <a:endParaRPr lang="en-US" sz="1000" dirty="0"/>
          </a:p>
        </p:txBody>
      </p:sp>
      <p:pic>
        <p:nvPicPr>
          <p:cNvPr id="13" name="Image 3" descr="preencoded.png"/>
          <p:cNvPicPr>
            <a:picLocks noChangeAspect="1"/>
          </p:cNvPicPr>
          <p:nvPr/>
        </p:nvPicPr>
        <p:blipFill>
          <a:blip r:embed="rId6"/>
          <a:stretch>
            <a:fillRect/>
          </a:stretch>
        </p:blipFill>
        <p:spPr>
          <a:xfrm>
            <a:off x="640080" y="2880360"/>
            <a:ext cx="640080" cy="512064"/>
          </a:xfrm>
          <a:prstGeom prst="rect">
            <a:avLst/>
          </a:prstGeom>
        </p:spPr>
      </p:pic>
      <p:sp>
        <p:nvSpPr>
          <p:cNvPr id="14" name="Text 8"/>
          <p:cNvSpPr/>
          <p:nvPr/>
        </p:nvSpPr>
        <p:spPr>
          <a:xfrm>
            <a:off x="640080" y="3429000"/>
            <a:ext cx="1600200" cy="292608"/>
          </a:xfrm>
          <a:prstGeom prst="rect">
            <a:avLst/>
          </a:prstGeom>
          <a:noFill/>
          <a:ln/>
        </p:spPr>
        <p:txBody>
          <a:bodyPr wrap="square" rtlCol="0" anchor="ctr"/>
          <a:lstStyle/>
          <a:p>
            <a:pPr marL="0" indent="0" algn="ctr">
              <a:buNone/>
            </a:pPr>
            <a:r>
              <a:rPr lang="en-US" sz="1100" b="1" dirty="0">
                <a:solidFill>
                  <a:srgbClr val="0D3D52"/>
                </a:solidFill>
                <a:latin typeface="Calibri" pitchFamily="34" charset="0"/>
                <a:ea typeface="Calibri" pitchFamily="34" charset="-122"/>
                <a:cs typeface="Calibri" pitchFamily="34" charset="-120"/>
              </a:rPr>
              <a:t>Grey Hat</a:t>
            </a:r>
            <a:endParaRPr lang="en-US" sz="1100" dirty="0"/>
          </a:p>
        </p:txBody>
      </p:sp>
      <p:sp>
        <p:nvSpPr>
          <p:cNvPr id="15" name="Text 9"/>
          <p:cNvSpPr/>
          <p:nvPr/>
        </p:nvSpPr>
        <p:spPr>
          <a:xfrm>
            <a:off x="640080" y="3739896"/>
            <a:ext cx="1600200" cy="502920"/>
          </a:xfrm>
          <a:prstGeom prst="rect">
            <a:avLst/>
          </a:prstGeom>
          <a:noFill/>
          <a:ln/>
        </p:spPr>
        <p:txBody>
          <a:bodyPr wrap="square" rtlCol="0" anchor="ctr"/>
          <a:lstStyle/>
          <a:p>
            <a:pPr marL="0" indent="0" algn="ctr">
              <a:buNone/>
            </a:pPr>
            <a:r>
              <a:rPr lang="en-US" sz="1000" dirty="0">
                <a:solidFill>
                  <a:srgbClr val="4A6572"/>
                </a:solidFill>
                <a:latin typeface="Calibri" pitchFamily="34" charset="0"/>
                <a:ea typeface="Calibri" pitchFamily="34" charset="-122"/>
                <a:cs typeface="Calibri" pitchFamily="34" charset="-120"/>
              </a:rPr>
              <a:t>Not malicious,</a:t>
            </a:r>
            <a:endParaRPr lang="en-US" sz="1000" dirty="0"/>
          </a:p>
          <a:p>
            <a:pPr marL="0" indent="0" algn="ctr">
              <a:buNone/>
            </a:pPr>
            <a:r>
              <a:rPr lang="en-US" sz="1000" dirty="0">
                <a:solidFill>
                  <a:srgbClr val="4A6572"/>
                </a:solidFill>
                <a:latin typeface="Calibri" pitchFamily="34" charset="0"/>
                <a:ea typeface="Calibri" pitchFamily="34" charset="-122"/>
                <a:cs typeface="Calibri" pitchFamily="34" charset="-120"/>
              </a:rPr>
              <a:t>not ethical</a:t>
            </a:r>
            <a:endParaRPr lang="en-US" sz="1000" dirty="0"/>
          </a:p>
        </p:txBody>
      </p:sp>
      <p:pic>
        <p:nvPicPr>
          <p:cNvPr id="16" name="Image 4" descr="preencoded.png"/>
          <p:cNvPicPr>
            <a:picLocks noChangeAspect="1"/>
          </p:cNvPicPr>
          <p:nvPr/>
        </p:nvPicPr>
        <p:blipFill>
          <a:blip r:embed="rId7"/>
          <a:stretch>
            <a:fillRect/>
          </a:stretch>
        </p:blipFill>
        <p:spPr>
          <a:xfrm>
            <a:off x="2468880" y="2880360"/>
            <a:ext cx="640080" cy="512064"/>
          </a:xfrm>
          <a:prstGeom prst="rect">
            <a:avLst/>
          </a:prstGeom>
        </p:spPr>
      </p:pic>
      <p:sp>
        <p:nvSpPr>
          <p:cNvPr id="17" name="Text 10"/>
          <p:cNvSpPr/>
          <p:nvPr/>
        </p:nvSpPr>
        <p:spPr>
          <a:xfrm>
            <a:off x="2468880" y="3429000"/>
            <a:ext cx="1600200" cy="292608"/>
          </a:xfrm>
          <a:prstGeom prst="rect">
            <a:avLst/>
          </a:prstGeom>
          <a:noFill/>
          <a:ln/>
        </p:spPr>
        <p:txBody>
          <a:bodyPr wrap="square" rtlCol="0" anchor="ctr"/>
          <a:lstStyle/>
          <a:p>
            <a:pPr marL="0" indent="0" algn="ctr">
              <a:buNone/>
            </a:pPr>
            <a:r>
              <a:rPr lang="en-US" sz="1100" b="1" dirty="0">
                <a:solidFill>
                  <a:srgbClr val="0D3D52"/>
                </a:solidFill>
                <a:latin typeface="Calibri" pitchFamily="34" charset="0"/>
                <a:ea typeface="Calibri" pitchFamily="34" charset="-122"/>
                <a:cs typeface="Calibri" pitchFamily="34" charset="-120"/>
              </a:rPr>
              <a:t>Blue Hat</a:t>
            </a:r>
            <a:endParaRPr lang="en-US" sz="1100" dirty="0"/>
          </a:p>
        </p:txBody>
      </p:sp>
      <p:sp>
        <p:nvSpPr>
          <p:cNvPr id="18" name="Text 11"/>
          <p:cNvSpPr/>
          <p:nvPr/>
        </p:nvSpPr>
        <p:spPr>
          <a:xfrm>
            <a:off x="2468880" y="3739896"/>
            <a:ext cx="1600200" cy="502920"/>
          </a:xfrm>
          <a:prstGeom prst="rect">
            <a:avLst/>
          </a:prstGeom>
          <a:noFill/>
          <a:ln/>
        </p:spPr>
        <p:txBody>
          <a:bodyPr wrap="square" rtlCol="0" anchor="ctr"/>
          <a:lstStyle/>
          <a:p>
            <a:pPr marL="0" indent="0" algn="ctr">
              <a:buNone/>
            </a:pPr>
            <a:r>
              <a:rPr lang="en-US" sz="1000" dirty="0">
                <a:solidFill>
                  <a:srgbClr val="4A6572"/>
                </a:solidFill>
                <a:latin typeface="Calibri" pitchFamily="34" charset="0"/>
                <a:ea typeface="Calibri" pitchFamily="34" charset="-122"/>
                <a:cs typeface="Calibri" pitchFamily="34" charset="-120"/>
              </a:rPr>
              <a:t>Ethical,</a:t>
            </a:r>
            <a:endParaRPr lang="en-US" sz="1000" dirty="0"/>
          </a:p>
          <a:p>
            <a:pPr marL="0" indent="0" algn="ctr">
              <a:buNone/>
            </a:pPr>
            <a:r>
              <a:rPr lang="en-US" sz="1000" dirty="0">
                <a:solidFill>
                  <a:srgbClr val="4A6572"/>
                </a:solidFill>
                <a:latin typeface="Calibri" pitchFamily="34" charset="0"/>
                <a:ea typeface="Calibri" pitchFamily="34" charset="-122"/>
                <a:cs typeface="Calibri" pitchFamily="34" charset="-120"/>
              </a:rPr>
              <a:t>hired third party</a:t>
            </a:r>
            <a:endParaRPr lang="en-US" sz="1000" dirty="0"/>
          </a:p>
        </p:txBody>
      </p:sp>
      <p:sp>
        <p:nvSpPr>
          <p:cNvPr id="19" name="Shape 12"/>
          <p:cNvSpPr/>
          <p:nvPr/>
        </p:nvSpPr>
        <p:spPr>
          <a:xfrm>
            <a:off x="4480560" y="868680"/>
            <a:ext cx="4224528" cy="3639312"/>
          </a:xfrm>
          <a:prstGeom prst="rect">
            <a:avLst/>
          </a:prstGeom>
          <a:solidFill>
            <a:srgbClr val="FFFFFF"/>
          </a:solidFill>
          <a:ln w="25400">
            <a:solidFill>
              <a:srgbClr val="20ECE3"/>
            </a:solidFill>
            <a:prstDash val="solid"/>
          </a:ln>
        </p:spPr>
      </p:sp>
      <p:sp>
        <p:nvSpPr>
          <p:cNvPr id="20" name="Text 13"/>
          <p:cNvSpPr/>
          <p:nvPr/>
        </p:nvSpPr>
        <p:spPr>
          <a:xfrm>
            <a:off x="4617720" y="914400"/>
            <a:ext cx="3931920" cy="411480"/>
          </a:xfrm>
          <a:prstGeom prst="rect">
            <a:avLst/>
          </a:prstGeom>
          <a:noFill/>
          <a:ln/>
        </p:spPr>
        <p:txBody>
          <a:bodyPr wrap="square" rtlCol="0" anchor="ctr"/>
          <a:lstStyle/>
          <a:p>
            <a:pPr marL="0" indent="0">
              <a:buNone/>
            </a:pPr>
            <a:r>
              <a:rPr lang="en-US" sz="1300" b="1" dirty="0">
                <a:solidFill>
                  <a:srgbClr val="0D3D52"/>
                </a:solidFill>
                <a:latin typeface="Calibri" pitchFamily="34" charset="0"/>
                <a:ea typeface="Calibri" pitchFamily="34" charset="-122"/>
                <a:cs typeface="Calibri" pitchFamily="34" charset="-120"/>
              </a:rPr>
              <a:t>The Hacktivist — Botnet / DDoS</a:t>
            </a:r>
            <a:endParaRPr lang="en-US" sz="1300" dirty="0"/>
          </a:p>
        </p:txBody>
      </p:sp>
      <p:pic>
        <p:nvPicPr>
          <p:cNvPr id="21" name="Image 5" descr="preencoded.png"/>
          <p:cNvPicPr>
            <a:picLocks noChangeAspect="1"/>
          </p:cNvPicPr>
          <p:nvPr/>
        </p:nvPicPr>
        <p:blipFill>
          <a:blip r:embed="rId8"/>
          <a:stretch>
            <a:fillRect/>
          </a:stretch>
        </p:blipFill>
        <p:spPr>
          <a:xfrm>
            <a:off x="4572000" y="1371600"/>
            <a:ext cx="3977640" cy="2971800"/>
          </a:xfrm>
          <a:prstGeom prst="rect">
            <a:avLst/>
          </a:prstGeom>
        </p:spPr>
      </p:pic>
      <p:sp>
        <p:nvSpPr>
          <p:cNvPr id="22" name="Text 14"/>
          <p:cNvSpPr/>
          <p:nvPr/>
        </p:nvSpPr>
        <p:spPr>
          <a:xfrm>
            <a:off x="3200400" y="4663440"/>
            <a:ext cx="2743200" cy="384048"/>
          </a:xfrm>
          <a:prstGeom prst="rect">
            <a:avLst/>
          </a:prstGeom>
          <a:noFill/>
          <a:ln/>
        </p:spPr>
        <p:txBody>
          <a:bodyPr wrap="square" rtlCol="0" anchor="ctr"/>
          <a:lstStyle/>
          <a:p>
            <a:pPr marL="0" indent="0" algn="ctr">
              <a:buNone/>
            </a:pPr>
            <a:r>
              <a:rPr lang="en-US" sz="1500" b="1" dirty="0">
                <a:solidFill>
                  <a:srgbClr val="20ECE3"/>
                </a:solidFill>
                <a:latin typeface="Calibri" pitchFamily="34" charset="0"/>
                <a:ea typeface="Calibri" pitchFamily="34" charset="-122"/>
                <a:cs typeface="Calibri" pitchFamily="34" charset="-120"/>
              </a:rPr>
              <a:t>Threat Actors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82880"/>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Bad Actors — Who Are They?</a:t>
            </a:r>
            <a:endParaRPr lang="en-US" sz="2400" dirty="0"/>
          </a:p>
        </p:txBody>
      </p:sp>
      <p:sp>
        <p:nvSpPr>
          <p:cNvPr id="5" name="Shape 3"/>
          <p:cNvSpPr/>
          <p:nvPr/>
        </p:nvSpPr>
        <p:spPr>
          <a:xfrm>
            <a:off x="411480" y="914400"/>
            <a:ext cx="1828800" cy="1828800"/>
          </a:xfrm>
          <a:prstGeom prst="rect">
            <a:avLst/>
          </a:prstGeom>
          <a:solidFill>
            <a:srgbClr val="EFF8FA"/>
          </a:solidFill>
          <a:ln w="19050">
            <a:solidFill>
              <a:srgbClr val="AA2222"/>
            </a:solidFill>
            <a:prstDash val="solid"/>
          </a:ln>
        </p:spPr>
      </p:sp>
      <p:pic>
        <p:nvPicPr>
          <p:cNvPr id="6" name="Image 0" descr="preencoded.png"/>
          <p:cNvPicPr>
            <a:picLocks noChangeAspect="1"/>
          </p:cNvPicPr>
          <p:nvPr/>
        </p:nvPicPr>
        <p:blipFill>
          <a:blip r:embed="rId3"/>
          <a:stretch>
            <a:fillRect/>
          </a:stretch>
        </p:blipFill>
        <p:spPr>
          <a:xfrm>
            <a:off x="658368" y="1143000"/>
            <a:ext cx="1325880" cy="1325880"/>
          </a:xfrm>
          <a:prstGeom prst="rect">
            <a:avLst/>
          </a:prstGeom>
        </p:spPr>
      </p:pic>
      <p:sp>
        <p:nvSpPr>
          <p:cNvPr id="7" name="Text 4"/>
          <p:cNvSpPr/>
          <p:nvPr/>
        </p:nvSpPr>
        <p:spPr>
          <a:xfrm>
            <a:off x="2423160" y="822960"/>
            <a:ext cx="6400800" cy="4114800"/>
          </a:xfrm>
          <a:prstGeom prst="rect">
            <a:avLst/>
          </a:prstGeom>
          <a:noFill/>
          <a:ln/>
        </p:spPr>
        <p:txBody>
          <a:bodyPr wrap="square" rtlCol="0" anchor="ctr"/>
          <a:lstStyle/>
          <a:p>
            <a:pPr marL="0" indent="0">
              <a:buNone/>
            </a:pPr>
            <a:r>
              <a:rPr lang="en-US" sz="1250" dirty="0">
                <a:solidFill>
                  <a:srgbClr val="1A2B35"/>
                </a:solidFill>
                <a:latin typeface="Calibri" pitchFamily="34" charset="0"/>
                <a:ea typeface="Calibri" pitchFamily="34" charset="-122"/>
                <a:cs typeface="Calibri" pitchFamily="34" charset="-120"/>
              </a:rPr>
              <a:t>Bad actors (threat actors) are persons who try to steal, sabotage, or stop users from using computer systems or accessing authorized information.</a:t>
            </a:r>
            <a:endParaRPr lang="en-US" sz="1250" dirty="0"/>
          </a:p>
          <a:p>
            <a:pPr marL="0" indent="0">
              <a:buNone/>
            </a:pPr>
            <a:endParaRPr lang="en-US" sz="1250" dirty="0"/>
          </a:p>
          <a:p>
            <a:pPr marL="0" indent="0">
              <a:buNone/>
            </a:pPr>
            <a:r>
              <a:rPr lang="en-US" sz="1250" dirty="0">
                <a:solidFill>
                  <a:srgbClr val="1A2B35"/>
                </a:solidFill>
                <a:latin typeface="Calibri" pitchFamily="34" charset="0"/>
                <a:ea typeface="Calibri" pitchFamily="34" charset="-122"/>
                <a:cs typeface="Calibri" pitchFamily="34" charset="-120"/>
              </a:rPr>
              <a:t>They could be:</a:t>
            </a:r>
            <a:endParaRPr lang="en-US" sz="1250" dirty="0"/>
          </a:p>
          <a:p>
            <a:pPr marL="0" indent="0">
              <a:buNone/>
            </a:pPr>
            <a:r>
              <a:rPr lang="en-US" sz="1250" dirty="0">
                <a:solidFill>
                  <a:srgbClr val="1A2B35"/>
                </a:solidFill>
                <a:latin typeface="Calibri" pitchFamily="34" charset="0"/>
                <a:ea typeface="Calibri" pitchFamily="34" charset="-122"/>
                <a:cs typeface="Calibri" pitchFamily="34" charset="-120"/>
              </a:rPr>
              <a:t>• Someone in a local coffee shop setting up a fake Wi-Fi access point</a:t>
            </a:r>
            <a:endParaRPr lang="en-US" sz="1250" dirty="0"/>
          </a:p>
          <a:p>
            <a:pPr marL="0" indent="0">
              <a:buNone/>
            </a:pPr>
            <a:r>
              <a:rPr lang="en-US" sz="1250" dirty="0">
                <a:solidFill>
                  <a:srgbClr val="1A2B35"/>
                </a:solidFill>
                <a:latin typeface="Calibri" pitchFamily="34" charset="0"/>
                <a:ea typeface="Calibri" pitchFamily="34" charset="-122"/>
                <a:cs typeface="Calibri" pitchFamily="34" charset="-120"/>
              </a:rPr>
              <a:t>• A disgruntled employee leveraging access to corporate data</a:t>
            </a:r>
            <a:endParaRPr lang="en-US" sz="1250" dirty="0"/>
          </a:p>
          <a:p>
            <a:pPr marL="0" indent="0">
              <a:buNone/>
            </a:pPr>
            <a:r>
              <a:rPr lang="en-US" sz="1250" dirty="0">
                <a:solidFill>
                  <a:srgbClr val="1A2B35"/>
                </a:solidFill>
                <a:latin typeface="Calibri" pitchFamily="34" charset="0"/>
                <a:ea typeface="Calibri" pitchFamily="34" charset="-122"/>
                <a:cs typeface="Calibri" pitchFamily="34" charset="-120"/>
              </a:rPr>
              <a:t>• A full-time scammer in a call center in another country</a:t>
            </a:r>
            <a:endParaRPr lang="en-US" sz="1250" dirty="0"/>
          </a:p>
          <a:p>
            <a:pPr marL="0" indent="0">
              <a:buNone/>
            </a:pPr>
            <a:r>
              <a:rPr lang="en-US" sz="1250" dirty="0">
                <a:solidFill>
                  <a:srgbClr val="1A2B35"/>
                </a:solidFill>
                <a:latin typeface="Calibri" pitchFamily="34" charset="0"/>
                <a:ea typeface="Calibri" pitchFamily="34" charset="-122"/>
                <a:cs typeface="Calibri" pitchFamily="34" charset="-120"/>
              </a:rPr>
              <a:t>• A teenager using freely available ransomware tools</a:t>
            </a:r>
            <a:endParaRPr lang="en-US" sz="1250" dirty="0"/>
          </a:p>
          <a:p>
            <a:pPr marL="0" indent="0">
              <a:buNone/>
            </a:pPr>
            <a:endParaRPr lang="en-US" sz="1250" dirty="0"/>
          </a:p>
          <a:p>
            <a:pPr marL="0" indent="0">
              <a:buNone/>
            </a:pPr>
            <a:r>
              <a:rPr lang="en-US" sz="1250" dirty="0">
                <a:solidFill>
                  <a:srgbClr val="1A2B35"/>
                </a:solidFill>
                <a:latin typeface="Calibri" pitchFamily="34" charset="0"/>
                <a:ea typeface="Calibri" pitchFamily="34" charset="-122"/>
                <a:cs typeface="Calibri" pitchFamily="34" charset="-120"/>
              </a:rPr>
              <a:t>Cybersecurity is no longer just an IT problem — it is an operational and national security issue.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82880"/>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Bad Actor Types — The Five Categories</a:t>
            </a:r>
            <a:endParaRPr lang="en-US" sz="2400" dirty="0"/>
          </a:p>
        </p:txBody>
      </p:sp>
      <p:sp>
        <p:nvSpPr>
          <p:cNvPr id="5" name="Shape 3"/>
          <p:cNvSpPr/>
          <p:nvPr/>
        </p:nvSpPr>
        <p:spPr>
          <a:xfrm>
            <a:off x="411480" y="914400"/>
            <a:ext cx="1828800" cy="1828800"/>
          </a:xfrm>
          <a:prstGeom prst="rect">
            <a:avLst/>
          </a:prstGeom>
          <a:solidFill>
            <a:srgbClr val="EFF8FA"/>
          </a:solidFill>
          <a:ln w="19050">
            <a:solidFill>
              <a:srgbClr val="053E51"/>
            </a:solidFill>
            <a:prstDash val="solid"/>
          </a:ln>
        </p:spPr>
      </p:sp>
      <p:pic>
        <p:nvPicPr>
          <p:cNvPr id="6" name="Image 0" descr="preencoded.png"/>
          <p:cNvPicPr>
            <a:picLocks noChangeAspect="1"/>
          </p:cNvPicPr>
          <p:nvPr/>
        </p:nvPicPr>
        <p:blipFill>
          <a:blip r:embed="rId3"/>
          <a:stretch>
            <a:fillRect/>
          </a:stretch>
        </p:blipFill>
        <p:spPr>
          <a:xfrm>
            <a:off x="658368" y="1143000"/>
            <a:ext cx="1325880" cy="1325880"/>
          </a:xfrm>
          <a:prstGeom prst="rect">
            <a:avLst/>
          </a:prstGeom>
        </p:spPr>
      </p:pic>
      <p:sp>
        <p:nvSpPr>
          <p:cNvPr id="7" name="Text 4"/>
          <p:cNvSpPr/>
          <p:nvPr/>
        </p:nvSpPr>
        <p:spPr>
          <a:xfrm>
            <a:off x="2423160" y="822960"/>
            <a:ext cx="6400800" cy="4114800"/>
          </a:xfrm>
          <a:prstGeom prst="rect">
            <a:avLst/>
          </a:prstGeom>
          <a:noFill/>
          <a:ln/>
        </p:spPr>
        <p:txBody>
          <a:bodyPr wrap="square" rtlCol="0" anchor="ctr"/>
          <a:lstStyle/>
          <a:p>
            <a:pPr marL="0" indent="0">
              <a:buNone/>
            </a:pPr>
            <a:r>
              <a:rPr lang="en-US" sz="1600" dirty="0">
                <a:solidFill>
                  <a:srgbClr val="1A2B35"/>
                </a:solidFill>
                <a:latin typeface="Calibri" pitchFamily="34" charset="0"/>
                <a:ea typeface="Calibri" pitchFamily="34" charset="-122"/>
                <a:cs typeface="Calibri" pitchFamily="34" charset="-120"/>
              </a:rPr>
              <a:t>Bad actors can be grouped into types based on their character, motivations, and attack methods.</a:t>
            </a:r>
            <a:endParaRPr lang="en-US" sz="1600" dirty="0"/>
          </a:p>
          <a:p>
            <a:pPr marL="0" indent="0">
              <a:buNone/>
            </a:pPr>
            <a:endParaRPr lang="en-US" sz="1600" dirty="0"/>
          </a:p>
          <a:p>
            <a:pPr marL="285750" indent="-285750">
              <a:buFont typeface="Wingdings" panose="05000000000000000000" pitchFamily="2" charset="2"/>
              <a:buChar char="v"/>
            </a:pPr>
            <a:r>
              <a:rPr lang="en-US" sz="1600" b="1" dirty="0">
                <a:solidFill>
                  <a:srgbClr val="1A2B35"/>
                </a:solidFill>
                <a:latin typeface="Calibri" pitchFamily="34" charset="0"/>
                <a:ea typeface="Calibri" pitchFamily="34" charset="-122"/>
                <a:cs typeface="Calibri" pitchFamily="34" charset="-120"/>
              </a:rPr>
              <a:t>  Explorer</a:t>
            </a:r>
            <a:endParaRPr lang="en-US" sz="1600" b="1" dirty="0"/>
          </a:p>
          <a:p>
            <a:pPr marL="285750" indent="-285750">
              <a:buFont typeface="Wingdings" panose="05000000000000000000" pitchFamily="2" charset="2"/>
              <a:buChar char="v"/>
            </a:pPr>
            <a:r>
              <a:rPr lang="en-US" sz="1600" b="1" dirty="0">
                <a:solidFill>
                  <a:srgbClr val="1A2B35"/>
                </a:solidFill>
                <a:latin typeface="Calibri" pitchFamily="34" charset="0"/>
                <a:ea typeface="Calibri" pitchFamily="34" charset="-122"/>
                <a:cs typeface="Calibri" pitchFamily="34" charset="-120"/>
              </a:rPr>
              <a:t>  Hacktivist</a:t>
            </a:r>
            <a:endParaRPr lang="en-US" sz="1600" b="1" dirty="0"/>
          </a:p>
          <a:p>
            <a:pPr marL="285750" indent="-285750">
              <a:buFont typeface="Wingdings" panose="05000000000000000000" pitchFamily="2" charset="2"/>
              <a:buChar char="v"/>
            </a:pPr>
            <a:r>
              <a:rPr lang="en-US" sz="1600" b="1" dirty="0">
                <a:solidFill>
                  <a:srgbClr val="1A2B35"/>
                </a:solidFill>
                <a:latin typeface="Calibri" pitchFamily="34" charset="0"/>
                <a:ea typeface="Calibri" pitchFamily="34" charset="-122"/>
                <a:cs typeface="Calibri" pitchFamily="34" charset="-120"/>
              </a:rPr>
              <a:t>  Cyberterrorist</a:t>
            </a:r>
            <a:endParaRPr lang="en-US" sz="1600" b="1" dirty="0"/>
          </a:p>
          <a:p>
            <a:pPr marL="285750" indent="-285750">
              <a:buFont typeface="Wingdings" panose="05000000000000000000" pitchFamily="2" charset="2"/>
              <a:buChar char="v"/>
            </a:pPr>
            <a:r>
              <a:rPr lang="en-US" sz="1600" b="1" dirty="0">
                <a:solidFill>
                  <a:srgbClr val="1A2B35"/>
                </a:solidFill>
                <a:latin typeface="Calibri" pitchFamily="34" charset="0"/>
                <a:ea typeface="Calibri" pitchFamily="34" charset="-122"/>
                <a:cs typeface="Calibri" pitchFamily="34" charset="-120"/>
              </a:rPr>
              <a:t>  Cybercriminal</a:t>
            </a:r>
            <a:endParaRPr lang="en-US" sz="1600" b="1" dirty="0"/>
          </a:p>
          <a:p>
            <a:pPr marL="285750" indent="-285750">
              <a:buFont typeface="Wingdings" panose="05000000000000000000" pitchFamily="2" charset="2"/>
              <a:buChar char="v"/>
            </a:pPr>
            <a:r>
              <a:rPr lang="en-US" sz="1600" b="1" dirty="0">
                <a:solidFill>
                  <a:srgbClr val="1A2B35"/>
                </a:solidFill>
                <a:latin typeface="Calibri" pitchFamily="34" charset="0"/>
                <a:ea typeface="Calibri" pitchFamily="34" charset="-122"/>
                <a:cs typeface="Calibri" pitchFamily="34" charset="-120"/>
              </a:rPr>
              <a:t>  Cyberwarrior</a:t>
            </a:r>
            <a:endParaRPr lang="en-US" sz="1600" b="1" dirty="0"/>
          </a:p>
          <a:p>
            <a:pPr marL="0" indent="0">
              <a:buNone/>
            </a:pP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Note: Bad actors are NOT a homogeneous group — each type has distinct motivations and tactics.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82880"/>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Bad Actor Type 1: The Explorer</a:t>
            </a:r>
            <a:endParaRPr lang="en-US" sz="2400" dirty="0"/>
          </a:p>
        </p:txBody>
      </p:sp>
      <p:sp>
        <p:nvSpPr>
          <p:cNvPr id="5" name="Shape 3"/>
          <p:cNvSpPr/>
          <p:nvPr/>
        </p:nvSpPr>
        <p:spPr>
          <a:xfrm>
            <a:off x="411480" y="914400"/>
            <a:ext cx="1828800" cy="1828800"/>
          </a:xfrm>
          <a:prstGeom prst="rect">
            <a:avLst/>
          </a:prstGeom>
          <a:solidFill>
            <a:srgbClr val="EFF8FA"/>
          </a:solidFill>
          <a:ln w="19050">
            <a:solidFill>
              <a:srgbClr val="0D6E7E"/>
            </a:solidFill>
            <a:prstDash val="solid"/>
          </a:ln>
        </p:spPr>
      </p:sp>
      <p:pic>
        <p:nvPicPr>
          <p:cNvPr id="6" name="Image 0" descr="preencoded.png"/>
          <p:cNvPicPr>
            <a:picLocks noChangeAspect="1"/>
          </p:cNvPicPr>
          <p:nvPr/>
        </p:nvPicPr>
        <p:blipFill>
          <a:blip r:embed="rId3"/>
          <a:stretch>
            <a:fillRect/>
          </a:stretch>
        </p:blipFill>
        <p:spPr>
          <a:xfrm>
            <a:off x="658368" y="1143000"/>
            <a:ext cx="1325880" cy="1325880"/>
          </a:xfrm>
          <a:prstGeom prst="rect">
            <a:avLst/>
          </a:prstGeom>
        </p:spPr>
      </p:pic>
      <p:sp>
        <p:nvSpPr>
          <p:cNvPr id="7" name="Text 4"/>
          <p:cNvSpPr/>
          <p:nvPr/>
        </p:nvSpPr>
        <p:spPr>
          <a:xfrm>
            <a:off x="2423160" y="822960"/>
            <a:ext cx="6400800" cy="4114800"/>
          </a:xfrm>
          <a:prstGeom prst="rect">
            <a:avLst/>
          </a:prstGeom>
          <a:noFill/>
          <a:ln/>
        </p:spPr>
        <p:txBody>
          <a:bodyPr wrap="square" rtlCol="0" anchor="ctr"/>
          <a:lstStyle/>
          <a:p>
            <a:pPr marL="0" indent="0">
              <a:buNone/>
            </a:pPr>
            <a:r>
              <a:rPr lang="en-US" sz="1600" dirty="0">
                <a:solidFill>
                  <a:srgbClr val="1A2B35"/>
                </a:solidFill>
                <a:latin typeface="Calibri" pitchFamily="34" charset="0"/>
                <a:ea typeface="Calibri" pitchFamily="34" charset="-122"/>
                <a:cs typeface="Calibri" pitchFamily="34" charset="-120"/>
              </a:rPr>
              <a:t>The least nefarious of all bad actor types.</a:t>
            </a:r>
            <a:endParaRPr lang="en-US" sz="1600" dirty="0"/>
          </a:p>
          <a:p>
            <a:pPr marL="0" indent="0">
              <a:buNone/>
            </a:pP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Motivation: Notoriety and curiosity about weaknesses in computer networks.</a:t>
            </a:r>
            <a:endParaRPr lang="en-US" sz="1600" dirty="0"/>
          </a:p>
          <a:p>
            <a:pPr marL="0" indent="0">
              <a:buNone/>
            </a:pP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Behavior: Does not intend to inflict serious damage — might change a webpage or advertise their cleverness.</a:t>
            </a:r>
            <a:endParaRPr lang="en-US" sz="1600" dirty="0"/>
          </a:p>
          <a:p>
            <a:pPr marL="0" indent="0">
              <a:buNone/>
            </a:pP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Common technique — Phishing:</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Tricks people into giving up personal information via:</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Phishing (broad email campaign)</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Spear Phishing (targeted at specific person)</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Smishing (SMS/text)</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Vishing (voice/phone call)</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82880"/>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Bad Actor Type 2: The Hacktivist</a:t>
            </a:r>
            <a:endParaRPr lang="en-US" sz="2400" dirty="0"/>
          </a:p>
        </p:txBody>
      </p:sp>
      <p:sp>
        <p:nvSpPr>
          <p:cNvPr id="5" name="Shape 3"/>
          <p:cNvSpPr/>
          <p:nvPr/>
        </p:nvSpPr>
        <p:spPr>
          <a:xfrm>
            <a:off x="411480" y="914400"/>
            <a:ext cx="1828800" cy="1828800"/>
          </a:xfrm>
          <a:prstGeom prst="rect">
            <a:avLst/>
          </a:prstGeom>
          <a:solidFill>
            <a:srgbClr val="EFF8FA"/>
          </a:solidFill>
          <a:ln w="19050">
            <a:solidFill>
              <a:srgbClr val="C8601A"/>
            </a:solidFill>
            <a:prstDash val="solid"/>
          </a:ln>
        </p:spPr>
      </p:sp>
      <p:pic>
        <p:nvPicPr>
          <p:cNvPr id="6" name="Image 0" descr="preencoded.png"/>
          <p:cNvPicPr>
            <a:picLocks noChangeAspect="1"/>
          </p:cNvPicPr>
          <p:nvPr/>
        </p:nvPicPr>
        <p:blipFill>
          <a:blip r:embed="rId3"/>
          <a:stretch>
            <a:fillRect/>
          </a:stretch>
        </p:blipFill>
        <p:spPr>
          <a:xfrm>
            <a:off x="658368" y="1143000"/>
            <a:ext cx="1325880" cy="1325880"/>
          </a:xfrm>
          <a:prstGeom prst="rect">
            <a:avLst/>
          </a:prstGeom>
        </p:spPr>
      </p:pic>
      <p:sp>
        <p:nvSpPr>
          <p:cNvPr id="7" name="Text 4"/>
          <p:cNvSpPr/>
          <p:nvPr/>
        </p:nvSpPr>
        <p:spPr>
          <a:xfrm>
            <a:off x="2331720" y="1957392"/>
            <a:ext cx="6400800" cy="2703194"/>
          </a:xfrm>
          <a:prstGeom prst="rect">
            <a:avLst/>
          </a:prstGeom>
          <a:noFill/>
          <a:ln/>
        </p:spPr>
        <p:txBody>
          <a:bodyPr wrap="square" rtlCol="0" anchor="ctr"/>
          <a:lstStyle/>
          <a:p>
            <a:pPr marL="0" indent="0">
              <a:buNone/>
            </a:pPr>
            <a:r>
              <a:rPr lang="en-US" sz="1400" dirty="0">
                <a:solidFill>
                  <a:srgbClr val="1A2B35"/>
                </a:solidFill>
                <a:latin typeface="Calibri" pitchFamily="34" charset="0"/>
                <a:ea typeface="Calibri" pitchFamily="34" charset="-122"/>
                <a:cs typeface="Calibri" pitchFamily="34" charset="-120"/>
              </a:rPr>
              <a:t>Unlike the self-interested Explorer, hacktivists are fervent believers in an external cause.</a:t>
            </a:r>
            <a:endParaRPr lang="en-US" sz="1400" dirty="0"/>
          </a:p>
          <a:p>
            <a:pPr marL="0" indent="0">
              <a:buNone/>
            </a:pPr>
            <a:endParaRPr lang="en-US" sz="1400" dirty="0"/>
          </a:p>
          <a:p>
            <a:pPr marL="0" indent="0">
              <a:buNone/>
            </a:pPr>
            <a:r>
              <a:rPr lang="en-US" sz="1400" dirty="0">
                <a:solidFill>
                  <a:srgbClr val="1A2B35"/>
                </a:solidFill>
                <a:latin typeface="Calibri" pitchFamily="34" charset="0"/>
                <a:ea typeface="Calibri" pitchFamily="34" charset="-122"/>
                <a:cs typeface="Calibri" pitchFamily="34" charset="-120"/>
              </a:rPr>
              <a:t>Motivation: Ideology — animated by an emotive force against corporations, political or social organizations.</a:t>
            </a:r>
            <a:endParaRPr lang="en-US" sz="1400" dirty="0"/>
          </a:p>
          <a:p>
            <a:pPr marL="0" indent="0">
              <a:buNone/>
            </a:pPr>
            <a:endParaRPr lang="en-US" sz="1400" dirty="0"/>
          </a:p>
          <a:p>
            <a:pPr marL="0" indent="0">
              <a:buNone/>
            </a:pPr>
            <a:r>
              <a:rPr lang="en-US" sz="1400" dirty="0">
                <a:solidFill>
                  <a:srgbClr val="1A2B35"/>
                </a:solidFill>
                <a:latin typeface="Calibri" pitchFamily="34" charset="0"/>
                <a:ea typeface="Calibri" pitchFamily="34" charset="-122"/>
                <a:cs typeface="Calibri" pitchFamily="34" charset="-120"/>
              </a:rPr>
              <a:t>Method: Build botnets in secret → C&amp;C server → DDoS attacks against targeted organizations.</a:t>
            </a:r>
            <a:endParaRPr lang="en-US" sz="1400" dirty="0"/>
          </a:p>
          <a:p>
            <a:pPr marL="0" indent="0">
              <a:buNone/>
            </a:pPr>
            <a:endParaRPr lang="en-US" sz="1400" dirty="0"/>
          </a:p>
          <a:p>
            <a:pPr marL="0" indent="0">
              <a:buNone/>
            </a:pPr>
            <a:r>
              <a:rPr lang="en-US" sz="1400" dirty="0">
                <a:solidFill>
                  <a:srgbClr val="1A2B35"/>
                </a:solidFill>
                <a:latin typeface="Calibri" pitchFamily="34" charset="0"/>
                <a:ea typeface="Calibri" pitchFamily="34" charset="-122"/>
                <a:cs typeface="Calibri" pitchFamily="34" charset="-120"/>
              </a:rPr>
              <a:t>Hacktivists lack computer resources for large attacks, so they must gain control of thousands of other people's computers to mount effective DDoS attacks.</a:t>
            </a:r>
            <a:endParaRPr lang="en-US" sz="1400" dirty="0"/>
          </a:p>
        </p:txBody>
      </p:sp>
      <p:pic>
        <p:nvPicPr>
          <p:cNvPr id="10" name="Picture 9">
            <a:extLst>
              <a:ext uri="{FF2B5EF4-FFF2-40B4-BE49-F238E27FC236}">
                <a16:creationId xmlns:a16="http://schemas.microsoft.com/office/drawing/2014/main" id="{A389EBFC-1F8B-D2FF-4F2F-E2E69AA5B420}"/>
              </a:ext>
            </a:extLst>
          </p:cNvPr>
          <p:cNvPicPr>
            <a:picLocks noChangeAspect="1"/>
          </p:cNvPicPr>
          <p:nvPr/>
        </p:nvPicPr>
        <p:blipFill>
          <a:blip r:embed="rId4"/>
          <a:stretch>
            <a:fillRect/>
          </a:stretch>
        </p:blipFill>
        <p:spPr>
          <a:xfrm>
            <a:off x="2270234" y="914400"/>
            <a:ext cx="6873766" cy="117893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82880"/>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Bad Actor Type 3: The Cyberterrorist</a:t>
            </a:r>
            <a:endParaRPr lang="en-US" sz="2400" dirty="0"/>
          </a:p>
        </p:txBody>
      </p:sp>
      <p:sp>
        <p:nvSpPr>
          <p:cNvPr id="5" name="Shape 3"/>
          <p:cNvSpPr/>
          <p:nvPr/>
        </p:nvSpPr>
        <p:spPr>
          <a:xfrm>
            <a:off x="411480" y="914400"/>
            <a:ext cx="1828800" cy="1828800"/>
          </a:xfrm>
          <a:prstGeom prst="rect">
            <a:avLst/>
          </a:prstGeom>
          <a:solidFill>
            <a:srgbClr val="EFF8FA"/>
          </a:solidFill>
          <a:ln w="19050">
            <a:solidFill>
              <a:srgbClr val="CC3333"/>
            </a:solidFill>
            <a:prstDash val="solid"/>
          </a:ln>
        </p:spPr>
      </p:sp>
      <p:pic>
        <p:nvPicPr>
          <p:cNvPr id="6" name="Image 0" descr="preencoded.png"/>
          <p:cNvPicPr>
            <a:picLocks noChangeAspect="1"/>
          </p:cNvPicPr>
          <p:nvPr/>
        </p:nvPicPr>
        <p:blipFill>
          <a:blip r:embed="rId3"/>
          <a:stretch>
            <a:fillRect/>
          </a:stretch>
        </p:blipFill>
        <p:spPr>
          <a:xfrm>
            <a:off x="658368" y="1143000"/>
            <a:ext cx="1325880" cy="1325880"/>
          </a:xfrm>
          <a:prstGeom prst="rect">
            <a:avLst/>
          </a:prstGeom>
        </p:spPr>
      </p:pic>
      <p:sp>
        <p:nvSpPr>
          <p:cNvPr id="7" name="Text 4"/>
          <p:cNvSpPr/>
          <p:nvPr/>
        </p:nvSpPr>
        <p:spPr>
          <a:xfrm>
            <a:off x="2423160" y="822960"/>
            <a:ext cx="6400800" cy="4114800"/>
          </a:xfrm>
          <a:prstGeom prst="rect">
            <a:avLst/>
          </a:prstGeom>
          <a:noFill/>
          <a:ln/>
        </p:spPr>
        <p:txBody>
          <a:bodyPr wrap="square" rtlCol="0" anchor="ctr"/>
          <a:lstStyle/>
          <a:p>
            <a:pPr marL="0" indent="0">
              <a:buNone/>
            </a:pPr>
            <a:r>
              <a:rPr lang="en-US" sz="1250" dirty="0">
                <a:solidFill>
                  <a:srgbClr val="1A2B35"/>
                </a:solidFill>
                <a:latin typeface="Calibri" pitchFamily="34" charset="0"/>
                <a:ea typeface="Calibri" pitchFamily="34" charset="-122"/>
                <a:cs typeface="Calibri" pitchFamily="34" charset="-120"/>
              </a:rPr>
              <a:t>More in common with the hacktivist — motivation is driven by ideology, but violence is directed more broadly against a society.</a:t>
            </a:r>
            <a:endParaRPr lang="en-US" sz="1250" dirty="0"/>
          </a:p>
          <a:p>
            <a:pPr marL="0" indent="0">
              <a:buNone/>
            </a:pPr>
            <a:endParaRPr lang="en-US" sz="1250" dirty="0"/>
          </a:p>
          <a:p>
            <a:pPr marL="0" indent="0">
              <a:buNone/>
            </a:pPr>
            <a:r>
              <a:rPr lang="en-US" sz="1250" dirty="0">
                <a:solidFill>
                  <a:srgbClr val="1A2B35"/>
                </a:solidFill>
                <a:latin typeface="Calibri" pitchFamily="34" charset="0"/>
                <a:ea typeface="Calibri" pitchFamily="34" charset="-122"/>
                <a:cs typeface="Calibri" pitchFamily="34" charset="-120"/>
              </a:rPr>
              <a:t>Target: Online infrastructure — nuclear power plants, natural gas pipelines, electrical power grids (Operational Technology).</a:t>
            </a:r>
            <a:endParaRPr lang="en-US" sz="1250" dirty="0"/>
          </a:p>
          <a:p>
            <a:pPr marL="0" indent="0">
              <a:buNone/>
            </a:pPr>
            <a:endParaRPr lang="en-US" sz="1250" dirty="0"/>
          </a:p>
          <a:p>
            <a:pPr marL="0" indent="0">
              <a:buNone/>
            </a:pPr>
            <a:r>
              <a:rPr lang="en-US" sz="1250" dirty="0">
                <a:solidFill>
                  <a:srgbClr val="1A2B35"/>
                </a:solidFill>
                <a:latin typeface="Calibri" pitchFamily="34" charset="0"/>
                <a:ea typeface="Calibri" pitchFamily="34" charset="-122"/>
                <a:cs typeface="Calibri" pitchFamily="34" charset="-120"/>
              </a:rPr>
              <a:t>Method: DDoS attacks and spear phishing campaigns targeting high-privilege users.</a:t>
            </a:r>
            <a:endParaRPr lang="en-US" sz="1250" dirty="0"/>
          </a:p>
          <a:p>
            <a:pPr marL="0" indent="0">
              <a:buNone/>
            </a:pPr>
            <a:endParaRPr lang="en-US" sz="1250" dirty="0"/>
          </a:p>
          <a:p>
            <a:pPr marL="0" indent="0">
              <a:buNone/>
            </a:pPr>
            <a:r>
              <a:rPr lang="en-US" sz="1250" dirty="0">
                <a:solidFill>
                  <a:srgbClr val="1A2B35"/>
                </a:solidFill>
                <a:latin typeface="Calibri" pitchFamily="34" charset="0"/>
                <a:ea typeface="Calibri" pitchFamily="34" charset="-122"/>
                <a:cs typeface="Calibri" pitchFamily="34" charset="-120"/>
              </a:rPr>
              <a:t>Operates more like a cohesive virtual army with structure and direction.</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82880"/>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Bad Actor Type 4: The Cybercriminal</a:t>
            </a:r>
            <a:endParaRPr lang="en-US" sz="2400" dirty="0"/>
          </a:p>
        </p:txBody>
      </p:sp>
      <p:sp>
        <p:nvSpPr>
          <p:cNvPr id="5" name="Shape 3"/>
          <p:cNvSpPr/>
          <p:nvPr/>
        </p:nvSpPr>
        <p:spPr>
          <a:xfrm>
            <a:off x="411480" y="914400"/>
            <a:ext cx="1828800" cy="1828800"/>
          </a:xfrm>
          <a:prstGeom prst="rect">
            <a:avLst/>
          </a:prstGeom>
          <a:solidFill>
            <a:srgbClr val="EFF8FA"/>
          </a:solidFill>
          <a:ln w="19050">
            <a:solidFill>
              <a:srgbClr val="C8601A"/>
            </a:solidFill>
            <a:prstDash val="solid"/>
          </a:ln>
        </p:spPr>
      </p:sp>
      <p:pic>
        <p:nvPicPr>
          <p:cNvPr id="6" name="Image 0" descr="preencoded.png"/>
          <p:cNvPicPr>
            <a:picLocks noChangeAspect="1"/>
          </p:cNvPicPr>
          <p:nvPr/>
        </p:nvPicPr>
        <p:blipFill>
          <a:blip r:embed="rId3"/>
          <a:stretch>
            <a:fillRect/>
          </a:stretch>
        </p:blipFill>
        <p:spPr>
          <a:xfrm>
            <a:off x="658368" y="1143000"/>
            <a:ext cx="1325880" cy="1325880"/>
          </a:xfrm>
          <a:prstGeom prst="rect">
            <a:avLst/>
          </a:prstGeom>
        </p:spPr>
      </p:pic>
      <p:sp>
        <p:nvSpPr>
          <p:cNvPr id="7" name="Text 4"/>
          <p:cNvSpPr/>
          <p:nvPr/>
        </p:nvSpPr>
        <p:spPr>
          <a:xfrm>
            <a:off x="2423160" y="822960"/>
            <a:ext cx="6400800" cy="4114800"/>
          </a:xfrm>
          <a:prstGeom prst="rect">
            <a:avLst/>
          </a:prstGeom>
          <a:noFill/>
          <a:ln/>
        </p:spPr>
        <p:txBody>
          <a:bodyPr wrap="square" rtlCol="0" anchor="ctr"/>
          <a:lstStyle/>
          <a:p>
            <a:pPr marL="0" indent="0">
              <a:buNone/>
            </a:pPr>
            <a:r>
              <a:rPr lang="en-US" sz="1600" dirty="0">
                <a:solidFill>
                  <a:srgbClr val="1A2B35"/>
                </a:solidFill>
                <a:latin typeface="Calibri" pitchFamily="34" charset="0"/>
                <a:ea typeface="Calibri" pitchFamily="34" charset="-122"/>
                <a:cs typeface="Calibri" pitchFamily="34" charset="-120"/>
              </a:rPr>
              <a:t>Motivation: Money — plain and simple.</a:t>
            </a:r>
            <a:endParaRPr lang="en-US" sz="1600" dirty="0"/>
          </a:p>
          <a:p>
            <a:pPr marL="0" indent="0">
              <a:buNone/>
            </a:pP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Methods: Phishing, identity/credit card theft, ransomware.</a:t>
            </a:r>
            <a:endParaRPr lang="en-US" sz="1600" dirty="0"/>
          </a:p>
          <a:p>
            <a:pPr marL="0" indent="0">
              <a:buNone/>
            </a:pP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CASE STUDY — NASCAR Ransomware Attack (2025):</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Threat Actor: Medusa (RaaS group)</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Timeline: March 31–April 3, 2025</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Attack Vector: Phishing / compromised credentials</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Payload: Medusa Ransomware</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Impact: Employee SSNs exposed, systems disrupted</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Ransom Demand: $4 million</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Lesson: MFA + EDR + regular backups + IR testing</a:t>
            </a:r>
            <a:endParaRPr lang="en-US" sz="1600" dirty="0"/>
          </a:p>
        </p:txBody>
      </p:sp>
      <p:pic>
        <p:nvPicPr>
          <p:cNvPr id="8" name="Image 1" descr="preencoded.png"/>
          <p:cNvPicPr>
            <a:picLocks noChangeAspect="1"/>
          </p:cNvPicPr>
          <p:nvPr/>
        </p:nvPicPr>
        <p:blipFill>
          <a:blip r:embed="rId4"/>
          <a:stretch>
            <a:fillRect/>
          </a:stretch>
        </p:blipFill>
        <p:spPr>
          <a:xfrm>
            <a:off x="7452360" y="4681728"/>
            <a:ext cx="1508760" cy="48463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82880"/>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Bad Actor Type 5: The Cyberwarrior</a:t>
            </a:r>
            <a:endParaRPr lang="en-US" sz="2400" dirty="0"/>
          </a:p>
        </p:txBody>
      </p:sp>
      <p:sp>
        <p:nvSpPr>
          <p:cNvPr id="5" name="Shape 3"/>
          <p:cNvSpPr/>
          <p:nvPr/>
        </p:nvSpPr>
        <p:spPr>
          <a:xfrm>
            <a:off x="411480" y="914400"/>
            <a:ext cx="1828800" cy="1828800"/>
          </a:xfrm>
          <a:prstGeom prst="rect">
            <a:avLst/>
          </a:prstGeom>
          <a:solidFill>
            <a:srgbClr val="EFF8FA"/>
          </a:solidFill>
          <a:ln w="19050">
            <a:solidFill>
              <a:srgbClr val="8B0000"/>
            </a:solidFill>
            <a:prstDash val="solid"/>
          </a:ln>
        </p:spPr>
      </p:sp>
      <p:pic>
        <p:nvPicPr>
          <p:cNvPr id="6" name="Image 0" descr="preencoded.png"/>
          <p:cNvPicPr>
            <a:picLocks noChangeAspect="1"/>
          </p:cNvPicPr>
          <p:nvPr/>
        </p:nvPicPr>
        <p:blipFill>
          <a:blip r:embed="rId3"/>
          <a:stretch>
            <a:fillRect/>
          </a:stretch>
        </p:blipFill>
        <p:spPr>
          <a:xfrm>
            <a:off x="658368" y="1143000"/>
            <a:ext cx="1325880" cy="1325880"/>
          </a:xfrm>
          <a:prstGeom prst="rect">
            <a:avLst/>
          </a:prstGeom>
        </p:spPr>
      </p:pic>
      <p:sp>
        <p:nvSpPr>
          <p:cNvPr id="7" name="Text 4"/>
          <p:cNvSpPr/>
          <p:nvPr/>
        </p:nvSpPr>
        <p:spPr>
          <a:xfrm>
            <a:off x="2423160" y="822960"/>
            <a:ext cx="6400800" cy="4114800"/>
          </a:xfrm>
          <a:prstGeom prst="rect">
            <a:avLst/>
          </a:prstGeom>
          <a:noFill/>
          <a:ln/>
        </p:spPr>
        <p:txBody>
          <a:bodyPr wrap="square" rtlCol="0" anchor="ctr"/>
          <a:lstStyle/>
          <a:p>
            <a:pPr marL="0" indent="0">
              <a:buNone/>
            </a:pPr>
            <a:r>
              <a:rPr lang="en-US" sz="1600" dirty="0">
                <a:solidFill>
                  <a:srgbClr val="1A2B35"/>
                </a:solidFill>
                <a:latin typeface="Calibri" pitchFamily="34" charset="0"/>
                <a:ea typeface="Calibri" pitchFamily="34" charset="-122"/>
                <a:cs typeface="Calibri" pitchFamily="34" charset="-120"/>
              </a:rPr>
              <a:t>The most dangerous bad actor — has resources of a nation-state at their disposal.</a:t>
            </a:r>
            <a:endParaRPr lang="en-US" sz="1600" dirty="0"/>
          </a:p>
          <a:p>
            <a:pPr marL="0" indent="0">
              <a:buNone/>
            </a:pP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Motivation: National interests of their home country.</a:t>
            </a:r>
            <a:endParaRPr lang="en-US" sz="1600" dirty="0"/>
          </a:p>
          <a:p>
            <a:pPr marL="0" indent="0">
              <a:buNone/>
            </a:pP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Missions: Espionage, extortion, embarrassment, disruption of critical infrastructure.</a:t>
            </a:r>
            <a:endParaRPr lang="en-US" sz="1600" dirty="0"/>
          </a:p>
          <a:p>
            <a:pPr marL="0" indent="0">
              <a:buNone/>
            </a:pP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Weapon of Choice: Zero-day exploits — vulnerabilities unknown to the vendor, where the vendor has zero days to fix the problem.</a:t>
            </a:r>
            <a:endParaRPr lang="en-US" sz="1600" dirty="0"/>
          </a:p>
          <a:p>
            <a:pPr marL="0" indent="0">
              <a:buNone/>
            </a:pP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Cyberwarriors conduct intensive research on operating systems and applications to find weaknesses kept secret until they can be deployed.</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82880"/>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Zero-Day Exploits — The Cyberwarrior's Weapon</a:t>
            </a:r>
            <a:endParaRPr lang="en-US" sz="2400" dirty="0"/>
          </a:p>
        </p:txBody>
      </p:sp>
      <p:sp>
        <p:nvSpPr>
          <p:cNvPr id="5" name="Shape 3"/>
          <p:cNvSpPr/>
          <p:nvPr/>
        </p:nvSpPr>
        <p:spPr>
          <a:xfrm>
            <a:off x="411480" y="914400"/>
            <a:ext cx="1828800" cy="1828800"/>
          </a:xfrm>
          <a:prstGeom prst="rect">
            <a:avLst/>
          </a:prstGeom>
          <a:solidFill>
            <a:srgbClr val="EFF8FA"/>
          </a:solidFill>
          <a:ln w="19050">
            <a:solidFill>
              <a:srgbClr val="880000"/>
            </a:solidFill>
            <a:prstDash val="solid"/>
          </a:ln>
        </p:spPr>
      </p:sp>
      <p:pic>
        <p:nvPicPr>
          <p:cNvPr id="6" name="Image 0" descr="preencoded.png"/>
          <p:cNvPicPr>
            <a:picLocks noChangeAspect="1"/>
          </p:cNvPicPr>
          <p:nvPr/>
        </p:nvPicPr>
        <p:blipFill>
          <a:blip r:embed="rId3"/>
          <a:stretch>
            <a:fillRect/>
          </a:stretch>
        </p:blipFill>
        <p:spPr>
          <a:xfrm>
            <a:off x="658368" y="1143000"/>
            <a:ext cx="1325880" cy="1325880"/>
          </a:xfrm>
          <a:prstGeom prst="rect">
            <a:avLst/>
          </a:prstGeom>
        </p:spPr>
      </p:pic>
      <p:sp>
        <p:nvSpPr>
          <p:cNvPr id="7" name="Text 4"/>
          <p:cNvSpPr/>
          <p:nvPr/>
        </p:nvSpPr>
        <p:spPr>
          <a:xfrm>
            <a:off x="2423160" y="822960"/>
            <a:ext cx="6400800" cy="4114800"/>
          </a:xfrm>
          <a:prstGeom prst="rect">
            <a:avLst/>
          </a:prstGeom>
          <a:noFill/>
          <a:ln/>
        </p:spPr>
        <p:txBody>
          <a:bodyPr wrap="square" rtlCol="0" anchor="ctr"/>
          <a:lstStyle/>
          <a:p>
            <a:pPr marL="0" indent="0">
              <a:buNone/>
            </a:pPr>
            <a:r>
              <a:rPr lang="en-US" sz="1600" dirty="0">
                <a:solidFill>
                  <a:srgbClr val="1A2B35"/>
                </a:solidFill>
                <a:latin typeface="Calibri" pitchFamily="34" charset="0"/>
                <a:ea typeface="Calibri" pitchFamily="34" charset="-122"/>
                <a:cs typeface="Calibri" pitchFamily="34" charset="-120"/>
              </a:rPr>
              <a:t>Zero-day exploits are vulnerabilities in common operating systems and applications that:</a:t>
            </a:r>
            <a:endParaRPr lang="en-US" sz="1600" dirty="0"/>
          </a:p>
          <a:p>
            <a:pPr marL="0" indent="0">
              <a:buNone/>
            </a:pP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Are unknown to the software vendor</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Give the vendor zero days to fix the problem</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Must remain secret until they can be deployed</a:t>
            </a: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 Are often state-level intelligence assets</a:t>
            </a:r>
            <a:endParaRPr lang="en-US" sz="1600" dirty="0"/>
          </a:p>
          <a:p>
            <a:pPr marL="0" indent="0">
              <a:buNone/>
            </a:pP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Once a zero-day exploit is publicly known, the vendor immediately issues a patch — so cyberwarriors protect their secrets carefully.</a:t>
            </a:r>
            <a:endParaRPr lang="en-US" sz="1600" dirty="0"/>
          </a:p>
          <a:p>
            <a:pPr marL="0" indent="0">
              <a:buNone/>
            </a:pPr>
            <a:endParaRPr lang="en-US" sz="1600" dirty="0"/>
          </a:p>
          <a:p>
            <a:pPr marL="0" indent="0">
              <a:buNone/>
            </a:pPr>
            <a:r>
              <a:rPr lang="en-US" sz="1600" dirty="0">
                <a:solidFill>
                  <a:srgbClr val="1A2B35"/>
                </a:solidFill>
                <a:latin typeface="Calibri" pitchFamily="34" charset="0"/>
                <a:ea typeface="Calibri" pitchFamily="34" charset="-122"/>
                <a:cs typeface="Calibri" pitchFamily="34" charset="-120"/>
              </a:rPr>
              <a:t>Most Recent Example (July 2025): Warlock ransomware exploited a zero-day in Microsoft SharePoint — over 400 servers compromised across government, healthcare, and enterprise sectors.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82880"/>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Hacker Categories — The Hat System</a:t>
            </a:r>
            <a:endParaRPr lang="en-US" sz="2400" dirty="0"/>
          </a:p>
        </p:txBody>
      </p:sp>
      <p:sp>
        <p:nvSpPr>
          <p:cNvPr id="5" name="Shape 3"/>
          <p:cNvSpPr/>
          <p:nvPr/>
        </p:nvSpPr>
        <p:spPr>
          <a:xfrm>
            <a:off x="411480" y="914400"/>
            <a:ext cx="1828800" cy="1828800"/>
          </a:xfrm>
          <a:prstGeom prst="rect">
            <a:avLst/>
          </a:prstGeom>
          <a:solidFill>
            <a:srgbClr val="EFF8FA"/>
          </a:solidFill>
          <a:ln w="19050">
            <a:solidFill>
              <a:srgbClr val="053E51"/>
            </a:solidFill>
            <a:prstDash val="solid"/>
          </a:ln>
        </p:spPr>
      </p:sp>
      <p:pic>
        <p:nvPicPr>
          <p:cNvPr id="6" name="Image 0" descr="preencoded.png"/>
          <p:cNvPicPr>
            <a:picLocks noChangeAspect="1"/>
          </p:cNvPicPr>
          <p:nvPr/>
        </p:nvPicPr>
        <p:blipFill>
          <a:blip r:embed="rId3"/>
          <a:stretch>
            <a:fillRect/>
          </a:stretch>
        </p:blipFill>
        <p:spPr>
          <a:xfrm>
            <a:off x="658368" y="1143000"/>
            <a:ext cx="1325880" cy="1325880"/>
          </a:xfrm>
          <a:prstGeom prst="rect">
            <a:avLst/>
          </a:prstGeom>
        </p:spPr>
      </p:pic>
      <p:sp>
        <p:nvSpPr>
          <p:cNvPr id="7" name="Text 4"/>
          <p:cNvSpPr/>
          <p:nvPr/>
        </p:nvSpPr>
        <p:spPr>
          <a:xfrm>
            <a:off x="2423160" y="822960"/>
            <a:ext cx="6400800" cy="4114800"/>
          </a:xfrm>
          <a:prstGeom prst="rect">
            <a:avLst/>
          </a:prstGeom>
          <a:noFill/>
          <a:ln/>
        </p:spPr>
        <p:txBody>
          <a:bodyPr wrap="square" rtlCol="0" anchor="ctr"/>
          <a:lstStyle/>
          <a:p>
            <a:pPr marL="0" indent="0">
              <a:buNone/>
            </a:pPr>
            <a:r>
              <a:rPr lang="en-US" sz="1600" dirty="0">
                <a:solidFill>
                  <a:srgbClr val="1A2B35"/>
                </a:solidFill>
                <a:latin typeface="Calibri" pitchFamily="34" charset="0"/>
                <a:ea typeface="Calibri" pitchFamily="34" charset="-122"/>
                <a:cs typeface="Calibri" pitchFamily="34" charset="-120"/>
              </a:rPr>
              <a:t>Just as there are different types of bad actors, there are different categories of hackers, identified by symbolic hat colors:</a:t>
            </a:r>
            <a:endParaRPr lang="en-US" sz="1600" dirty="0"/>
          </a:p>
          <a:p>
            <a:pPr marL="0" indent="0">
              <a:buNone/>
            </a:pPr>
            <a:endParaRPr lang="en-US" sz="1600" dirty="0"/>
          </a:p>
          <a:p>
            <a:pPr marL="285750" indent="-285750">
              <a:buFont typeface="Wingdings" panose="05000000000000000000" pitchFamily="2" charset="2"/>
              <a:buChar char="v"/>
            </a:pPr>
            <a:r>
              <a:rPr lang="en-US" sz="1600" b="1" dirty="0">
                <a:solidFill>
                  <a:srgbClr val="1A2B35"/>
                </a:solidFill>
                <a:latin typeface="Calibri" pitchFamily="34" charset="0"/>
                <a:ea typeface="Calibri" pitchFamily="34" charset="-122"/>
                <a:cs typeface="Calibri" pitchFamily="34" charset="-120"/>
              </a:rPr>
              <a:t>White Hat — Ethical hacker; with proper authorization, probes the network to identify vulnerabilities.</a:t>
            </a:r>
            <a:endParaRPr lang="en-US" sz="1600" b="1" dirty="0"/>
          </a:p>
          <a:p>
            <a:pPr marL="285750" indent="-285750">
              <a:buFont typeface="Wingdings" panose="05000000000000000000" pitchFamily="2" charset="2"/>
              <a:buChar char="v"/>
            </a:pPr>
            <a:endParaRPr lang="en-US" sz="1600" b="1" dirty="0"/>
          </a:p>
          <a:p>
            <a:pPr marL="285750" indent="-285750">
              <a:buFont typeface="Wingdings" panose="05000000000000000000" pitchFamily="2" charset="2"/>
              <a:buChar char="v"/>
            </a:pPr>
            <a:r>
              <a:rPr lang="en-US" sz="1600" b="1" dirty="0">
                <a:solidFill>
                  <a:srgbClr val="1A2B35"/>
                </a:solidFill>
                <a:latin typeface="Calibri" pitchFamily="34" charset="0"/>
                <a:ea typeface="Calibri" pitchFamily="34" charset="-122"/>
                <a:cs typeface="Calibri" pitchFamily="34" charset="-120"/>
              </a:rPr>
              <a:t>Black Hat — Attacks a network for profit or to cause harm.</a:t>
            </a:r>
            <a:endParaRPr lang="en-US" sz="1600" b="1" dirty="0"/>
          </a:p>
          <a:p>
            <a:pPr marL="285750" indent="-285750">
              <a:buFont typeface="Wingdings" panose="05000000000000000000" pitchFamily="2" charset="2"/>
              <a:buChar char="v"/>
            </a:pPr>
            <a:endParaRPr lang="en-US" sz="1600" b="1" dirty="0"/>
          </a:p>
          <a:p>
            <a:pPr marL="285750" indent="-285750">
              <a:buFont typeface="Wingdings" panose="05000000000000000000" pitchFamily="2" charset="2"/>
              <a:buChar char="v"/>
            </a:pPr>
            <a:r>
              <a:rPr lang="en-US" sz="1600" b="1" dirty="0">
                <a:solidFill>
                  <a:srgbClr val="1A2B35"/>
                </a:solidFill>
                <a:latin typeface="Calibri" pitchFamily="34" charset="0"/>
                <a:ea typeface="Calibri" pitchFamily="34" charset="-122"/>
                <a:cs typeface="Calibri" pitchFamily="34" charset="-120"/>
              </a:rPr>
              <a:t>Grey Hat — Attacks a network contradicting lawful and ethical behavior, but without malicious intent. Most closely aligns with the Explorer.</a:t>
            </a:r>
            <a:endParaRPr lang="en-US" sz="1600" b="1" dirty="0"/>
          </a:p>
          <a:p>
            <a:pPr marL="285750" indent="-285750">
              <a:buFont typeface="Wingdings" panose="05000000000000000000" pitchFamily="2" charset="2"/>
              <a:buChar char="v"/>
            </a:pPr>
            <a:endParaRPr lang="en-US" sz="1600" b="1" dirty="0"/>
          </a:p>
          <a:p>
            <a:pPr marL="285750" indent="-285750">
              <a:buFont typeface="Wingdings" panose="05000000000000000000" pitchFamily="2" charset="2"/>
              <a:buChar char="v"/>
            </a:pPr>
            <a:r>
              <a:rPr lang="en-US" sz="1600" b="1" dirty="0">
                <a:solidFill>
                  <a:srgbClr val="1A2B35"/>
                </a:solidFill>
                <a:latin typeface="Calibri" pitchFamily="34" charset="0"/>
                <a:ea typeface="Calibri" pitchFamily="34" charset="-122"/>
                <a:cs typeface="Calibri" pitchFamily="34" charset="-120"/>
              </a:rPr>
              <a:t>Blue Hat — Outside security consulting firms employed for penetration testing prior to system launch.</a:t>
            </a:r>
            <a:endParaRPr lang="en-US" sz="1600"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53E5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0ECE3"/>
          </a:solidFill>
          <a:ln w="12700">
            <a:solidFill>
              <a:srgbClr val="20ECE3"/>
            </a:solidFill>
            <a:prstDash val="solid"/>
          </a:ln>
        </p:spPr>
      </p:sp>
      <p:sp>
        <p:nvSpPr>
          <p:cNvPr id="3" name="Text 1"/>
          <p:cNvSpPr/>
          <p:nvPr/>
        </p:nvSpPr>
        <p:spPr>
          <a:xfrm>
            <a:off x="457200" y="1280160"/>
            <a:ext cx="8229600" cy="82296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Understanding Cyberattacks</a:t>
            </a:r>
            <a:endParaRPr lang="en-US" sz="3800" dirty="0"/>
          </a:p>
        </p:txBody>
      </p:sp>
      <p:sp>
        <p:nvSpPr>
          <p:cNvPr id="4" name="Text 2"/>
          <p:cNvSpPr/>
          <p:nvPr/>
        </p:nvSpPr>
        <p:spPr>
          <a:xfrm>
            <a:off x="457200" y="2057400"/>
            <a:ext cx="8229600" cy="685800"/>
          </a:xfrm>
          <a:prstGeom prst="rect">
            <a:avLst/>
          </a:prstGeom>
          <a:noFill/>
          <a:ln/>
        </p:spPr>
        <p:txBody>
          <a:bodyPr wrap="square" rtlCol="0" anchor="ctr"/>
          <a:lstStyle/>
          <a:p>
            <a:pPr marL="0" indent="0" algn="ctr">
              <a:buNone/>
            </a:pPr>
            <a:r>
              <a:rPr lang="en-US" sz="3000" dirty="0">
                <a:solidFill>
                  <a:srgbClr val="20ECE3"/>
                </a:solidFill>
                <a:latin typeface="Calibri" pitchFamily="34" charset="0"/>
                <a:ea typeface="Calibri" pitchFamily="34" charset="-122"/>
                <a:cs typeface="Calibri" pitchFamily="34" charset="-120"/>
              </a:rPr>
              <a:t>Using Attack Frameworks</a:t>
            </a:r>
            <a:endParaRPr lang="en-US" sz="3000" dirty="0"/>
          </a:p>
        </p:txBody>
      </p:sp>
      <p:sp>
        <p:nvSpPr>
          <p:cNvPr id="5" name="Text 3"/>
          <p:cNvSpPr/>
          <p:nvPr/>
        </p:nvSpPr>
        <p:spPr>
          <a:xfrm>
            <a:off x="457200" y="2834640"/>
            <a:ext cx="8229600" cy="457200"/>
          </a:xfrm>
          <a:prstGeom prst="rect">
            <a:avLst/>
          </a:prstGeom>
          <a:noFill/>
          <a:ln/>
        </p:spPr>
        <p:txBody>
          <a:bodyPr wrap="square" rtlCol="0" anchor="ctr"/>
          <a:lstStyle/>
          <a:p>
            <a:pPr marL="0" indent="0" algn="ctr">
              <a:buNone/>
            </a:pPr>
            <a:r>
              <a:rPr lang="en-US" sz="1600" i="1" dirty="0">
                <a:solidFill>
                  <a:srgbClr val="8AABB5"/>
                </a:solidFill>
                <a:latin typeface="Calibri" pitchFamily="34" charset="0"/>
                <a:ea typeface="Calibri" pitchFamily="34" charset="-122"/>
                <a:cs typeface="Calibri" pitchFamily="34" charset="-120"/>
              </a:rPr>
              <a:t>Cyber Kill Chain  ·  MITRE ATT&amp;CK</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Understanding Cyberattacks Using Attack Frameworks</a:t>
            </a:r>
            <a:endParaRPr lang="en-US" sz="2400" dirty="0"/>
          </a:p>
        </p:txBody>
      </p:sp>
      <p:sp>
        <p:nvSpPr>
          <p:cNvPr id="5" name="Text 3"/>
          <p:cNvSpPr/>
          <p:nvPr/>
        </p:nvSpPr>
        <p:spPr>
          <a:xfrm>
            <a:off x="411480" y="685800"/>
            <a:ext cx="8229600" cy="347472"/>
          </a:xfrm>
          <a:prstGeom prst="rect">
            <a:avLst/>
          </a:prstGeom>
          <a:noFill/>
          <a:ln/>
        </p:spPr>
        <p:txBody>
          <a:bodyPr wrap="square" rtlCol="0" anchor="ctr"/>
          <a:lstStyle/>
          <a:p>
            <a:pPr marL="0" indent="0">
              <a:buNone/>
            </a:pPr>
            <a:r>
              <a:rPr lang="en-US" sz="1600" b="1" dirty="0">
                <a:solidFill>
                  <a:srgbClr val="053E51"/>
                </a:solidFill>
                <a:latin typeface="Calibri" pitchFamily="34" charset="0"/>
                <a:ea typeface="Calibri" pitchFamily="34" charset="-122"/>
                <a:cs typeface="Calibri" pitchFamily="34" charset="-120"/>
              </a:rPr>
              <a:t>Cyber Kill Chain — Lockheed Martin (2011)</a:t>
            </a:r>
            <a:endParaRPr lang="en-US" sz="1600" dirty="0"/>
          </a:p>
        </p:txBody>
      </p:sp>
      <p:sp>
        <p:nvSpPr>
          <p:cNvPr id="6" name="Shape 4"/>
          <p:cNvSpPr/>
          <p:nvPr/>
        </p:nvSpPr>
        <p:spPr>
          <a:xfrm>
            <a:off x="320040" y="2194560"/>
            <a:ext cx="1133856" cy="548640"/>
          </a:xfrm>
          <a:prstGeom prst="rect">
            <a:avLst/>
          </a:prstGeom>
          <a:solidFill>
            <a:srgbClr val="0D6E7E"/>
          </a:solidFill>
          <a:ln w="12700">
            <a:solidFill>
              <a:srgbClr val="0D6E7E"/>
            </a:solidFill>
            <a:prstDash val="solid"/>
          </a:ln>
        </p:spPr>
      </p:sp>
      <p:sp>
        <p:nvSpPr>
          <p:cNvPr id="7" name="Text 5"/>
          <p:cNvSpPr/>
          <p:nvPr/>
        </p:nvSpPr>
        <p:spPr>
          <a:xfrm>
            <a:off x="374904" y="2267712"/>
            <a:ext cx="1024128" cy="40233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Shape 6"/>
          <p:cNvSpPr/>
          <p:nvPr/>
        </p:nvSpPr>
        <p:spPr>
          <a:xfrm>
            <a:off x="868680" y="2743200"/>
            <a:ext cx="36576" cy="685800"/>
          </a:xfrm>
          <a:prstGeom prst="rect">
            <a:avLst/>
          </a:prstGeom>
          <a:solidFill>
            <a:srgbClr val="0D6E7E"/>
          </a:solidFill>
          <a:ln w="12700">
            <a:solidFill>
              <a:srgbClr val="0D6E7E"/>
            </a:solidFill>
            <a:prstDash val="solid"/>
          </a:ln>
        </p:spPr>
      </p:sp>
      <p:sp>
        <p:nvSpPr>
          <p:cNvPr id="9" name="Shape 7"/>
          <p:cNvSpPr/>
          <p:nvPr/>
        </p:nvSpPr>
        <p:spPr>
          <a:xfrm>
            <a:off x="365760" y="3456432"/>
            <a:ext cx="1042416" cy="457200"/>
          </a:xfrm>
          <a:prstGeom prst="line">
            <a:avLst/>
          </a:prstGeom>
          <a:solidFill>
            <a:srgbClr val="FFFFFF"/>
          </a:solidFill>
          <a:ln w="19050">
            <a:solidFill>
              <a:srgbClr val="C8601A"/>
            </a:solidFill>
            <a:prstDash val="dash"/>
          </a:ln>
        </p:spPr>
      </p:sp>
      <p:sp>
        <p:nvSpPr>
          <p:cNvPr id="10" name="Text 8"/>
          <p:cNvSpPr/>
          <p:nvPr/>
        </p:nvSpPr>
        <p:spPr>
          <a:xfrm>
            <a:off x="365760" y="3493008"/>
            <a:ext cx="1042416" cy="384048"/>
          </a:xfrm>
          <a:prstGeom prst="rect">
            <a:avLst/>
          </a:prstGeom>
          <a:noFill/>
          <a:ln/>
        </p:spPr>
        <p:txBody>
          <a:bodyPr wrap="square" rtlCol="0" anchor="ctr"/>
          <a:lstStyle/>
          <a:p>
            <a:pPr marL="0" indent="0" algn="ctr">
              <a:buNone/>
            </a:pPr>
            <a:r>
              <a:rPr lang="en-US" sz="1050" dirty="0">
                <a:solidFill>
                  <a:srgbClr val="C8601A"/>
                </a:solidFill>
                <a:latin typeface="Calibri" pitchFamily="34" charset="0"/>
                <a:ea typeface="Calibri" pitchFamily="34" charset="-122"/>
                <a:cs typeface="Calibri" pitchFamily="34" charset="-120"/>
              </a:rPr>
              <a:t>Reconnaissance</a:t>
            </a:r>
            <a:endParaRPr lang="en-US" sz="1050" dirty="0"/>
          </a:p>
        </p:txBody>
      </p:sp>
      <p:sp>
        <p:nvSpPr>
          <p:cNvPr id="11" name="Shape 9"/>
          <p:cNvSpPr/>
          <p:nvPr/>
        </p:nvSpPr>
        <p:spPr>
          <a:xfrm>
            <a:off x="1536192" y="2194560"/>
            <a:ext cx="1133856" cy="548640"/>
          </a:xfrm>
          <a:prstGeom prst="rect">
            <a:avLst/>
          </a:prstGeom>
          <a:solidFill>
            <a:srgbClr val="0D6E7E"/>
          </a:solidFill>
          <a:ln w="12700">
            <a:solidFill>
              <a:srgbClr val="0D6E7E"/>
            </a:solidFill>
            <a:prstDash val="solid"/>
          </a:ln>
        </p:spPr>
      </p:sp>
      <p:sp>
        <p:nvSpPr>
          <p:cNvPr id="12" name="Text 10"/>
          <p:cNvSpPr/>
          <p:nvPr/>
        </p:nvSpPr>
        <p:spPr>
          <a:xfrm>
            <a:off x="1591056" y="2267712"/>
            <a:ext cx="1024128" cy="40233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Shape 11"/>
          <p:cNvSpPr/>
          <p:nvPr/>
        </p:nvSpPr>
        <p:spPr>
          <a:xfrm>
            <a:off x="2084832" y="1389888"/>
            <a:ext cx="36576" cy="804672"/>
          </a:xfrm>
          <a:prstGeom prst="rect">
            <a:avLst/>
          </a:prstGeom>
          <a:solidFill>
            <a:srgbClr val="0D6E7E"/>
          </a:solidFill>
          <a:ln w="12700">
            <a:solidFill>
              <a:srgbClr val="0D6E7E"/>
            </a:solidFill>
            <a:prstDash val="solid"/>
          </a:ln>
        </p:spPr>
      </p:sp>
      <p:sp>
        <p:nvSpPr>
          <p:cNvPr id="14" name="Text 12"/>
          <p:cNvSpPr/>
          <p:nvPr/>
        </p:nvSpPr>
        <p:spPr>
          <a:xfrm>
            <a:off x="1307592" y="1115568"/>
            <a:ext cx="1591056" cy="384048"/>
          </a:xfrm>
          <a:prstGeom prst="rect">
            <a:avLst/>
          </a:prstGeom>
          <a:noFill/>
          <a:ln/>
        </p:spPr>
        <p:txBody>
          <a:bodyPr wrap="square" rtlCol="0" anchor="ctr"/>
          <a:lstStyle/>
          <a:p>
            <a:pPr marL="0" indent="0" algn="ctr">
              <a:buNone/>
            </a:pPr>
            <a:r>
              <a:rPr lang="en-US" sz="1050" dirty="0">
                <a:solidFill>
                  <a:srgbClr val="4A6572"/>
                </a:solidFill>
                <a:latin typeface="Calibri" pitchFamily="34" charset="0"/>
                <a:ea typeface="Calibri" pitchFamily="34" charset="-122"/>
                <a:cs typeface="Calibri" pitchFamily="34" charset="-120"/>
              </a:rPr>
              <a:t>Weaponization</a:t>
            </a:r>
            <a:endParaRPr lang="en-US" sz="1050" dirty="0"/>
          </a:p>
        </p:txBody>
      </p:sp>
      <p:sp>
        <p:nvSpPr>
          <p:cNvPr id="15" name="Shape 13"/>
          <p:cNvSpPr/>
          <p:nvPr/>
        </p:nvSpPr>
        <p:spPr>
          <a:xfrm>
            <a:off x="2752344" y="2194560"/>
            <a:ext cx="1133856" cy="548640"/>
          </a:xfrm>
          <a:prstGeom prst="rect">
            <a:avLst/>
          </a:prstGeom>
          <a:solidFill>
            <a:srgbClr val="0D6E7E"/>
          </a:solidFill>
          <a:ln w="12700">
            <a:solidFill>
              <a:srgbClr val="0D6E7E"/>
            </a:solidFill>
            <a:prstDash val="solid"/>
          </a:ln>
        </p:spPr>
      </p:sp>
      <p:sp>
        <p:nvSpPr>
          <p:cNvPr id="16" name="Text 14"/>
          <p:cNvSpPr/>
          <p:nvPr/>
        </p:nvSpPr>
        <p:spPr>
          <a:xfrm>
            <a:off x="2807208" y="2267712"/>
            <a:ext cx="1024128" cy="40233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Shape 15"/>
          <p:cNvSpPr/>
          <p:nvPr/>
        </p:nvSpPr>
        <p:spPr>
          <a:xfrm>
            <a:off x="3300984" y="2743200"/>
            <a:ext cx="36576" cy="685800"/>
          </a:xfrm>
          <a:prstGeom prst="rect">
            <a:avLst/>
          </a:prstGeom>
          <a:solidFill>
            <a:srgbClr val="0D6E7E"/>
          </a:solidFill>
          <a:ln w="12700">
            <a:solidFill>
              <a:srgbClr val="0D6E7E"/>
            </a:solidFill>
            <a:prstDash val="solid"/>
          </a:ln>
        </p:spPr>
      </p:sp>
      <p:sp>
        <p:nvSpPr>
          <p:cNvPr id="18" name="Text 16"/>
          <p:cNvSpPr/>
          <p:nvPr/>
        </p:nvSpPr>
        <p:spPr>
          <a:xfrm>
            <a:off x="2569464" y="3474720"/>
            <a:ext cx="1499616" cy="411480"/>
          </a:xfrm>
          <a:prstGeom prst="rect">
            <a:avLst/>
          </a:prstGeom>
          <a:noFill/>
          <a:ln/>
        </p:spPr>
        <p:txBody>
          <a:bodyPr wrap="square" rtlCol="0" anchor="ctr"/>
          <a:lstStyle/>
          <a:p>
            <a:pPr marL="0" indent="0" algn="ctr">
              <a:buNone/>
            </a:pPr>
            <a:r>
              <a:rPr lang="en-US" sz="1050" dirty="0">
                <a:solidFill>
                  <a:srgbClr val="4A6572"/>
                </a:solidFill>
                <a:latin typeface="Calibri" pitchFamily="34" charset="0"/>
                <a:ea typeface="Calibri" pitchFamily="34" charset="-122"/>
                <a:cs typeface="Calibri" pitchFamily="34" charset="-120"/>
              </a:rPr>
              <a:t>Delivery</a:t>
            </a:r>
            <a:endParaRPr lang="en-US" sz="1050" dirty="0"/>
          </a:p>
        </p:txBody>
      </p:sp>
      <p:sp>
        <p:nvSpPr>
          <p:cNvPr id="19" name="Shape 17"/>
          <p:cNvSpPr/>
          <p:nvPr/>
        </p:nvSpPr>
        <p:spPr>
          <a:xfrm>
            <a:off x="3968496" y="2194560"/>
            <a:ext cx="1133856" cy="548640"/>
          </a:xfrm>
          <a:prstGeom prst="rect">
            <a:avLst/>
          </a:prstGeom>
          <a:solidFill>
            <a:srgbClr val="0D6E7E"/>
          </a:solidFill>
          <a:ln w="12700">
            <a:solidFill>
              <a:srgbClr val="0D6E7E"/>
            </a:solidFill>
            <a:prstDash val="solid"/>
          </a:ln>
        </p:spPr>
      </p:sp>
      <p:sp>
        <p:nvSpPr>
          <p:cNvPr id="20" name="Text 18"/>
          <p:cNvSpPr/>
          <p:nvPr/>
        </p:nvSpPr>
        <p:spPr>
          <a:xfrm>
            <a:off x="4023360" y="2267712"/>
            <a:ext cx="1024128" cy="40233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1" name="Shape 19"/>
          <p:cNvSpPr/>
          <p:nvPr/>
        </p:nvSpPr>
        <p:spPr>
          <a:xfrm>
            <a:off x="4517136" y="1389888"/>
            <a:ext cx="36576" cy="804672"/>
          </a:xfrm>
          <a:prstGeom prst="rect">
            <a:avLst/>
          </a:prstGeom>
          <a:solidFill>
            <a:srgbClr val="0D6E7E"/>
          </a:solidFill>
          <a:ln w="12700">
            <a:solidFill>
              <a:srgbClr val="0D6E7E"/>
            </a:solidFill>
            <a:prstDash val="solid"/>
          </a:ln>
        </p:spPr>
      </p:sp>
      <p:sp>
        <p:nvSpPr>
          <p:cNvPr id="22" name="Text 20"/>
          <p:cNvSpPr/>
          <p:nvPr/>
        </p:nvSpPr>
        <p:spPr>
          <a:xfrm>
            <a:off x="3739896" y="1115568"/>
            <a:ext cx="1591056" cy="384048"/>
          </a:xfrm>
          <a:prstGeom prst="rect">
            <a:avLst/>
          </a:prstGeom>
          <a:noFill/>
          <a:ln/>
        </p:spPr>
        <p:txBody>
          <a:bodyPr wrap="square" rtlCol="0" anchor="ctr"/>
          <a:lstStyle/>
          <a:p>
            <a:pPr marL="0" indent="0" algn="ctr">
              <a:buNone/>
            </a:pPr>
            <a:r>
              <a:rPr lang="en-US" sz="1050" dirty="0">
                <a:solidFill>
                  <a:srgbClr val="4A6572"/>
                </a:solidFill>
                <a:latin typeface="Calibri" pitchFamily="34" charset="0"/>
                <a:ea typeface="Calibri" pitchFamily="34" charset="-122"/>
                <a:cs typeface="Calibri" pitchFamily="34" charset="-120"/>
              </a:rPr>
              <a:t>Exploitation</a:t>
            </a:r>
            <a:endParaRPr lang="en-US" sz="1050" dirty="0"/>
          </a:p>
        </p:txBody>
      </p:sp>
      <p:sp>
        <p:nvSpPr>
          <p:cNvPr id="23" name="Shape 21"/>
          <p:cNvSpPr/>
          <p:nvPr/>
        </p:nvSpPr>
        <p:spPr>
          <a:xfrm>
            <a:off x="5184648" y="2194560"/>
            <a:ext cx="1133856" cy="548640"/>
          </a:xfrm>
          <a:prstGeom prst="rect">
            <a:avLst/>
          </a:prstGeom>
          <a:solidFill>
            <a:srgbClr val="0D6E7E"/>
          </a:solidFill>
          <a:ln w="12700">
            <a:solidFill>
              <a:srgbClr val="0D6E7E"/>
            </a:solidFill>
            <a:prstDash val="solid"/>
          </a:ln>
        </p:spPr>
      </p:sp>
      <p:sp>
        <p:nvSpPr>
          <p:cNvPr id="24" name="Text 22"/>
          <p:cNvSpPr/>
          <p:nvPr/>
        </p:nvSpPr>
        <p:spPr>
          <a:xfrm>
            <a:off x="5239512" y="2267712"/>
            <a:ext cx="1024128" cy="40233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5" name="Shape 23"/>
          <p:cNvSpPr/>
          <p:nvPr/>
        </p:nvSpPr>
        <p:spPr>
          <a:xfrm>
            <a:off x="5733288" y="2743200"/>
            <a:ext cx="36576" cy="685800"/>
          </a:xfrm>
          <a:prstGeom prst="rect">
            <a:avLst/>
          </a:prstGeom>
          <a:solidFill>
            <a:srgbClr val="0D6E7E"/>
          </a:solidFill>
          <a:ln w="12700">
            <a:solidFill>
              <a:srgbClr val="0D6E7E"/>
            </a:solidFill>
            <a:prstDash val="solid"/>
          </a:ln>
        </p:spPr>
      </p:sp>
      <p:sp>
        <p:nvSpPr>
          <p:cNvPr id="26" name="Text 24"/>
          <p:cNvSpPr/>
          <p:nvPr/>
        </p:nvSpPr>
        <p:spPr>
          <a:xfrm>
            <a:off x="5001768" y="3474720"/>
            <a:ext cx="1499616" cy="411480"/>
          </a:xfrm>
          <a:prstGeom prst="rect">
            <a:avLst/>
          </a:prstGeom>
          <a:noFill/>
          <a:ln/>
        </p:spPr>
        <p:txBody>
          <a:bodyPr wrap="square" rtlCol="0" anchor="ctr"/>
          <a:lstStyle/>
          <a:p>
            <a:pPr marL="0" indent="0" algn="ctr">
              <a:buNone/>
            </a:pPr>
            <a:r>
              <a:rPr lang="en-US" sz="1050" dirty="0">
                <a:solidFill>
                  <a:srgbClr val="4A6572"/>
                </a:solidFill>
                <a:latin typeface="Calibri" pitchFamily="34" charset="0"/>
                <a:ea typeface="Calibri" pitchFamily="34" charset="-122"/>
                <a:cs typeface="Calibri" pitchFamily="34" charset="-120"/>
              </a:rPr>
              <a:t>Installation</a:t>
            </a:r>
            <a:endParaRPr lang="en-US" sz="1050" dirty="0"/>
          </a:p>
        </p:txBody>
      </p:sp>
      <p:sp>
        <p:nvSpPr>
          <p:cNvPr id="27" name="Shape 25"/>
          <p:cNvSpPr/>
          <p:nvPr/>
        </p:nvSpPr>
        <p:spPr>
          <a:xfrm>
            <a:off x="6400800" y="2194560"/>
            <a:ext cx="1133856" cy="548640"/>
          </a:xfrm>
          <a:prstGeom prst="rect">
            <a:avLst/>
          </a:prstGeom>
          <a:solidFill>
            <a:srgbClr val="0D6E7E"/>
          </a:solidFill>
          <a:ln w="12700">
            <a:solidFill>
              <a:srgbClr val="0D6E7E"/>
            </a:solidFill>
            <a:prstDash val="solid"/>
          </a:ln>
        </p:spPr>
      </p:sp>
      <p:sp>
        <p:nvSpPr>
          <p:cNvPr id="28" name="Text 26"/>
          <p:cNvSpPr/>
          <p:nvPr/>
        </p:nvSpPr>
        <p:spPr>
          <a:xfrm>
            <a:off x="6455664" y="2267712"/>
            <a:ext cx="1024128" cy="40233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9" name="Shape 27"/>
          <p:cNvSpPr/>
          <p:nvPr/>
        </p:nvSpPr>
        <p:spPr>
          <a:xfrm>
            <a:off x="6949440" y="1389888"/>
            <a:ext cx="36576" cy="804672"/>
          </a:xfrm>
          <a:prstGeom prst="rect">
            <a:avLst/>
          </a:prstGeom>
          <a:solidFill>
            <a:srgbClr val="0D6E7E"/>
          </a:solidFill>
          <a:ln w="12700">
            <a:solidFill>
              <a:srgbClr val="0D6E7E"/>
            </a:solidFill>
            <a:prstDash val="solid"/>
          </a:ln>
        </p:spPr>
      </p:sp>
      <p:sp>
        <p:nvSpPr>
          <p:cNvPr id="30" name="Text 28"/>
          <p:cNvSpPr/>
          <p:nvPr/>
        </p:nvSpPr>
        <p:spPr>
          <a:xfrm>
            <a:off x="6172200" y="1115568"/>
            <a:ext cx="1591056" cy="384048"/>
          </a:xfrm>
          <a:prstGeom prst="rect">
            <a:avLst/>
          </a:prstGeom>
          <a:noFill/>
          <a:ln/>
        </p:spPr>
        <p:txBody>
          <a:bodyPr wrap="square" rtlCol="0" anchor="ctr"/>
          <a:lstStyle/>
          <a:p>
            <a:pPr marL="0" indent="0" algn="ctr">
              <a:buNone/>
            </a:pPr>
            <a:r>
              <a:rPr lang="en-US" sz="1050" dirty="0">
                <a:solidFill>
                  <a:srgbClr val="4A6572"/>
                </a:solidFill>
                <a:latin typeface="Calibri" pitchFamily="34" charset="0"/>
                <a:ea typeface="Calibri" pitchFamily="34" charset="-122"/>
                <a:cs typeface="Calibri" pitchFamily="34" charset="-120"/>
              </a:rPr>
              <a:t>Command and</a:t>
            </a:r>
            <a:endParaRPr lang="en-US" sz="1050" dirty="0"/>
          </a:p>
          <a:p>
            <a:pPr marL="0" indent="0" algn="ctr">
              <a:buNone/>
            </a:pPr>
            <a:r>
              <a:rPr lang="en-US" sz="1050" dirty="0">
                <a:solidFill>
                  <a:srgbClr val="4A6572"/>
                </a:solidFill>
                <a:latin typeface="Calibri" pitchFamily="34" charset="0"/>
                <a:ea typeface="Calibri" pitchFamily="34" charset="-122"/>
                <a:cs typeface="Calibri" pitchFamily="34" charset="-120"/>
              </a:rPr>
              <a:t>control</a:t>
            </a:r>
            <a:endParaRPr lang="en-US" sz="1050" dirty="0"/>
          </a:p>
        </p:txBody>
      </p:sp>
      <p:sp>
        <p:nvSpPr>
          <p:cNvPr id="31" name="Shape 29"/>
          <p:cNvSpPr/>
          <p:nvPr/>
        </p:nvSpPr>
        <p:spPr>
          <a:xfrm>
            <a:off x="7616952" y="2194560"/>
            <a:ext cx="1133856" cy="548640"/>
          </a:xfrm>
          <a:prstGeom prst="rect">
            <a:avLst/>
          </a:prstGeom>
          <a:solidFill>
            <a:srgbClr val="0D6E7E"/>
          </a:solidFill>
          <a:ln w="12700">
            <a:solidFill>
              <a:srgbClr val="0D6E7E"/>
            </a:solidFill>
            <a:prstDash val="solid"/>
          </a:ln>
        </p:spPr>
      </p:sp>
      <p:sp>
        <p:nvSpPr>
          <p:cNvPr id="32" name="Text 30"/>
          <p:cNvSpPr/>
          <p:nvPr/>
        </p:nvSpPr>
        <p:spPr>
          <a:xfrm>
            <a:off x="7671816" y="2267712"/>
            <a:ext cx="1024128" cy="40233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33" name="Shape 31"/>
          <p:cNvSpPr/>
          <p:nvPr/>
        </p:nvSpPr>
        <p:spPr>
          <a:xfrm>
            <a:off x="8165592" y="2743200"/>
            <a:ext cx="36576" cy="685800"/>
          </a:xfrm>
          <a:prstGeom prst="rect">
            <a:avLst/>
          </a:prstGeom>
          <a:solidFill>
            <a:srgbClr val="0D6E7E"/>
          </a:solidFill>
          <a:ln w="12700">
            <a:solidFill>
              <a:srgbClr val="0D6E7E"/>
            </a:solidFill>
            <a:prstDash val="solid"/>
          </a:ln>
        </p:spPr>
      </p:sp>
      <p:sp>
        <p:nvSpPr>
          <p:cNvPr id="34" name="Shape 32"/>
          <p:cNvSpPr/>
          <p:nvPr/>
        </p:nvSpPr>
        <p:spPr>
          <a:xfrm>
            <a:off x="7662672" y="3456432"/>
            <a:ext cx="1042416" cy="457200"/>
          </a:xfrm>
          <a:prstGeom prst="line">
            <a:avLst/>
          </a:prstGeom>
          <a:solidFill>
            <a:srgbClr val="FFFFFF"/>
          </a:solidFill>
          <a:ln w="19050">
            <a:solidFill>
              <a:srgbClr val="C8601A"/>
            </a:solidFill>
            <a:prstDash val="dash"/>
          </a:ln>
        </p:spPr>
      </p:sp>
      <p:sp>
        <p:nvSpPr>
          <p:cNvPr id="35" name="Text 33"/>
          <p:cNvSpPr/>
          <p:nvPr/>
        </p:nvSpPr>
        <p:spPr>
          <a:xfrm>
            <a:off x="7662672" y="3493008"/>
            <a:ext cx="1042416" cy="384048"/>
          </a:xfrm>
          <a:prstGeom prst="rect">
            <a:avLst/>
          </a:prstGeom>
          <a:noFill/>
          <a:ln/>
        </p:spPr>
        <p:txBody>
          <a:bodyPr wrap="square" rtlCol="0" anchor="ctr"/>
          <a:lstStyle/>
          <a:p>
            <a:pPr marL="0" indent="0" algn="ctr">
              <a:buNone/>
            </a:pPr>
            <a:r>
              <a:rPr lang="en-US" sz="1050" dirty="0">
                <a:solidFill>
                  <a:srgbClr val="C8601A"/>
                </a:solidFill>
                <a:latin typeface="Calibri" pitchFamily="34" charset="0"/>
                <a:ea typeface="Calibri" pitchFamily="34" charset="-122"/>
                <a:cs typeface="Calibri" pitchFamily="34" charset="-120"/>
              </a:rPr>
              <a:t>Exfiltration</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0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932688"/>
          </a:xfrm>
          <a:prstGeom prst="rect">
            <a:avLst/>
          </a:prstGeom>
          <a:solidFill>
            <a:srgbClr val="2D1B5E"/>
          </a:solidFill>
          <a:ln w="12700">
            <a:solidFill>
              <a:srgbClr val="2D1B5E"/>
            </a:solidFill>
            <a:prstDash val="solid"/>
          </a:ln>
        </p:spPr>
      </p:sp>
      <p:sp>
        <p:nvSpPr>
          <p:cNvPr id="3" name="Text 1"/>
          <p:cNvSpPr/>
          <p:nvPr/>
        </p:nvSpPr>
        <p:spPr>
          <a:xfrm>
            <a:off x="0" y="45720"/>
            <a:ext cx="9144000" cy="5029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MITRE ATT&amp;CK</a:t>
            </a:r>
            <a:endParaRPr lang="en-US" sz="3200" dirty="0"/>
          </a:p>
        </p:txBody>
      </p:sp>
      <p:sp>
        <p:nvSpPr>
          <p:cNvPr id="4" name="Text 2"/>
          <p:cNvSpPr/>
          <p:nvPr/>
        </p:nvSpPr>
        <p:spPr>
          <a:xfrm>
            <a:off x="0" y="530352"/>
            <a:ext cx="9144000" cy="347472"/>
          </a:xfrm>
          <a:prstGeom prst="rect">
            <a:avLst/>
          </a:prstGeom>
          <a:noFill/>
          <a:ln/>
        </p:spPr>
        <p:txBody>
          <a:bodyPr wrap="square" rtlCol="0" anchor="ctr"/>
          <a:lstStyle/>
          <a:p>
            <a:pPr marL="0" indent="0" algn="ctr">
              <a:buNone/>
            </a:pPr>
            <a:r>
              <a:rPr lang="en-US" sz="1200" dirty="0">
                <a:solidFill>
                  <a:srgbClr val="20ECE3"/>
                </a:solidFill>
                <a:latin typeface="Calibri" pitchFamily="34" charset="0"/>
                <a:ea typeface="Calibri" pitchFamily="34" charset="-122"/>
                <a:cs typeface="Calibri" pitchFamily="34" charset="-120"/>
              </a:rPr>
              <a:t>Adversarial Tactics, Techniques &amp; Common Knowledge  ·  Published by MITRE Corporation - 2013</a:t>
            </a:r>
            <a:endParaRPr lang="en-US" sz="1200" dirty="0"/>
          </a:p>
        </p:txBody>
      </p:sp>
      <p:sp>
        <p:nvSpPr>
          <p:cNvPr id="5" name="Shape 3"/>
          <p:cNvSpPr/>
          <p:nvPr/>
        </p:nvSpPr>
        <p:spPr>
          <a:xfrm>
            <a:off x="228600" y="1024128"/>
            <a:ext cx="804672" cy="566928"/>
          </a:xfrm>
          <a:prstGeom prst="line">
            <a:avLst/>
          </a:prstGeom>
          <a:solidFill>
            <a:srgbClr val="E91E8C"/>
          </a:solidFill>
          <a:ln w="12700">
            <a:solidFill>
              <a:srgbClr val="E91E8C"/>
            </a:solidFill>
            <a:prstDash val="solid"/>
          </a:ln>
        </p:spPr>
      </p:sp>
      <p:sp>
        <p:nvSpPr>
          <p:cNvPr id="6" name="Text 4"/>
          <p:cNvSpPr/>
          <p:nvPr/>
        </p:nvSpPr>
        <p:spPr>
          <a:xfrm>
            <a:off x="228599" y="1024128"/>
            <a:ext cx="1526629" cy="56692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2013 EST.</a:t>
            </a:r>
            <a:endParaRPr lang="en-US" sz="900" dirty="0"/>
          </a:p>
        </p:txBody>
      </p:sp>
      <p:sp>
        <p:nvSpPr>
          <p:cNvPr id="7" name="Shape 5"/>
          <p:cNvSpPr/>
          <p:nvPr/>
        </p:nvSpPr>
        <p:spPr>
          <a:xfrm>
            <a:off x="228600" y="1691640"/>
            <a:ext cx="8686800" cy="777240"/>
          </a:xfrm>
          <a:prstGeom prst="rect">
            <a:avLst/>
          </a:prstGeom>
          <a:solidFill>
            <a:srgbClr val="12063A"/>
          </a:solidFill>
          <a:ln w="12700">
            <a:solidFill>
              <a:srgbClr val="5B2D8E"/>
            </a:solidFill>
            <a:prstDash val="solid"/>
          </a:ln>
        </p:spPr>
      </p:sp>
      <p:sp>
        <p:nvSpPr>
          <p:cNvPr id="8" name="Text 6"/>
          <p:cNvSpPr/>
          <p:nvPr/>
        </p:nvSpPr>
        <p:spPr>
          <a:xfrm>
            <a:off x="411480" y="1719072"/>
            <a:ext cx="3657600" cy="292608"/>
          </a:xfrm>
          <a:prstGeom prst="rect">
            <a:avLst/>
          </a:prstGeom>
          <a:noFill/>
          <a:ln/>
        </p:spPr>
        <p:txBody>
          <a:bodyPr wrap="square" rtlCol="0" anchor="ctr"/>
          <a:lstStyle/>
          <a:p>
            <a:pPr marL="0" indent="0">
              <a:buNone/>
            </a:pPr>
            <a:r>
              <a:rPr lang="en-US" sz="1300" b="1" dirty="0">
                <a:solidFill>
                  <a:srgbClr val="20ECE3"/>
                </a:solidFill>
                <a:latin typeface="Calibri" pitchFamily="34" charset="0"/>
                <a:ea typeface="Calibri" pitchFamily="34" charset="-122"/>
                <a:cs typeface="Calibri" pitchFamily="34" charset="-120"/>
              </a:rPr>
              <a:t>What is MITRE ATT&amp;CK?</a:t>
            </a:r>
            <a:endParaRPr lang="en-US" sz="1300" dirty="0"/>
          </a:p>
        </p:txBody>
      </p:sp>
      <p:sp>
        <p:nvSpPr>
          <p:cNvPr id="9" name="Text 7"/>
          <p:cNvSpPr/>
          <p:nvPr/>
        </p:nvSpPr>
        <p:spPr>
          <a:xfrm>
            <a:off x="411480" y="2002536"/>
            <a:ext cx="8229600" cy="411480"/>
          </a:xfrm>
          <a:prstGeom prst="rect">
            <a:avLst/>
          </a:prstGeom>
          <a:noFill/>
          <a:ln/>
        </p:spPr>
        <p:txBody>
          <a:bodyPr wrap="square" rtlCol="0" anchor="ctr"/>
          <a:lstStyle/>
          <a:p>
            <a:pPr marL="0" indent="0">
              <a:buNone/>
            </a:pPr>
            <a:r>
              <a:rPr lang="en-US" sz="1100" dirty="0">
                <a:solidFill>
                  <a:srgbClr val="CCCCCC"/>
                </a:solidFill>
                <a:latin typeface="Calibri" pitchFamily="34" charset="0"/>
                <a:ea typeface="Calibri" pitchFamily="34" charset="-122"/>
                <a:cs typeface="Calibri" pitchFamily="34" charset="-120"/>
              </a:rPr>
              <a:t>A constantly evolving resource providing common language and approach for understanding and mitigating cyberattacks. Classifies and describes cyberattacks and intrusions using a comprehensive matrix system.</a:t>
            </a:r>
            <a:endParaRPr lang="en-US" sz="1100" dirty="0"/>
          </a:p>
        </p:txBody>
      </p:sp>
      <p:sp>
        <p:nvSpPr>
          <p:cNvPr id="10" name="Text 8"/>
          <p:cNvSpPr/>
          <p:nvPr/>
        </p:nvSpPr>
        <p:spPr>
          <a:xfrm>
            <a:off x="411480" y="2578608"/>
            <a:ext cx="8229600" cy="347472"/>
          </a:xfrm>
          <a:prstGeom prst="rect">
            <a:avLst/>
          </a:prstGeom>
          <a:noFill/>
          <a:ln/>
        </p:spPr>
        <p:txBody>
          <a:bodyPr wrap="square" rtlCol="0" anchor="ctr"/>
          <a:lstStyle/>
          <a:p>
            <a:pPr marL="0" indent="0" algn="ctr">
              <a:buNone/>
            </a:pPr>
            <a:r>
              <a:rPr lang="en-US" sz="1400" b="1" dirty="0">
                <a:solidFill>
                  <a:srgbClr val="FF6EC7"/>
                </a:solidFill>
                <a:latin typeface="Calibri" pitchFamily="34" charset="0"/>
                <a:ea typeface="Calibri" pitchFamily="34" charset="-122"/>
                <a:cs typeface="Calibri" pitchFamily="34" charset="-120"/>
              </a:rPr>
              <a:t>Matrix Structure</a:t>
            </a:r>
            <a:endParaRPr lang="en-US" sz="1400" dirty="0"/>
          </a:p>
        </p:txBody>
      </p:sp>
      <p:sp>
        <p:nvSpPr>
          <p:cNvPr id="11" name="Shape 9"/>
          <p:cNvSpPr/>
          <p:nvPr/>
        </p:nvSpPr>
        <p:spPr>
          <a:xfrm>
            <a:off x="411480" y="2971800"/>
            <a:ext cx="2651760" cy="566928"/>
          </a:xfrm>
          <a:prstGeom prst="rect">
            <a:avLst/>
          </a:prstGeom>
          <a:solidFill>
            <a:srgbClr val="12063A"/>
          </a:solidFill>
          <a:ln w="15240">
            <a:solidFill>
              <a:srgbClr val="2D6FA8"/>
            </a:solidFill>
            <a:prstDash val="solid"/>
          </a:ln>
        </p:spPr>
      </p:sp>
      <p:sp>
        <p:nvSpPr>
          <p:cNvPr id="12" name="Shape 10"/>
          <p:cNvSpPr/>
          <p:nvPr/>
        </p:nvSpPr>
        <p:spPr>
          <a:xfrm>
            <a:off x="502920" y="3017520"/>
            <a:ext cx="384048" cy="384048"/>
          </a:xfrm>
          <a:prstGeom prst="line">
            <a:avLst/>
          </a:prstGeom>
          <a:solidFill>
            <a:srgbClr val="2D6FA8"/>
          </a:solidFill>
          <a:ln w="12700">
            <a:solidFill>
              <a:srgbClr val="2D6FA8"/>
            </a:solidFill>
            <a:prstDash val="solid"/>
          </a:ln>
        </p:spPr>
      </p:sp>
      <p:sp>
        <p:nvSpPr>
          <p:cNvPr id="13" name="Text 11"/>
          <p:cNvSpPr/>
          <p:nvPr/>
        </p:nvSpPr>
        <p:spPr>
          <a:xfrm>
            <a:off x="502920" y="301752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2"/>
          <p:cNvSpPr/>
          <p:nvPr/>
        </p:nvSpPr>
        <p:spPr>
          <a:xfrm>
            <a:off x="960120" y="3017520"/>
            <a:ext cx="2011680" cy="256032"/>
          </a:xfrm>
          <a:prstGeom prst="rect">
            <a:avLst/>
          </a:prstGeom>
          <a:noFill/>
          <a:ln/>
        </p:spPr>
        <p:txBody>
          <a:bodyPr wrap="square" rtlCol="0" anchor="ctr"/>
          <a:lstStyle/>
          <a:p>
            <a:pPr marL="0" indent="0">
              <a:buNone/>
            </a:pPr>
            <a:r>
              <a:rPr lang="en-US" sz="1200" b="1" dirty="0">
                <a:solidFill>
                  <a:srgbClr val="20ECE3"/>
                </a:solidFill>
                <a:latin typeface="Calibri" pitchFamily="34" charset="0"/>
                <a:ea typeface="Calibri" pitchFamily="34" charset="-122"/>
                <a:cs typeface="Calibri" pitchFamily="34" charset="-120"/>
              </a:rPr>
              <a:t>Initial Access</a:t>
            </a:r>
            <a:endParaRPr lang="en-US" sz="1200" dirty="0"/>
          </a:p>
        </p:txBody>
      </p:sp>
      <p:sp>
        <p:nvSpPr>
          <p:cNvPr id="15" name="Text 13"/>
          <p:cNvSpPr/>
          <p:nvPr/>
        </p:nvSpPr>
        <p:spPr>
          <a:xfrm>
            <a:off x="960120" y="3273552"/>
            <a:ext cx="2011680" cy="219456"/>
          </a:xfrm>
          <a:prstGeom prst="rect">
            <a:avLst/>
          </a:prstGeom>
          <a:noFill/>
          <a:ln/>
        </p:spPr>
        <p:txBody>
          <a:bodyPr wrap="square" rtlCol="0" anchor="ctr"/>
          <a:lstStyle/>
          <a:p>
            <a:pPr marL="0" indent="0">
              <a:buNone/>
            </a:pPr>
            <a:r>
              <a:rPr lang="en-US" sz="1050" dirty="0">
                <a:solidFill>
                  <a:srgbClr val="AAAAAA"/>
                </a:solidFill>
                <a:latin typeface="Calibri" pitchFamily="34" charset="0"/>
                <a:ea typeface="Calibri" pitchFamily="34" charset="-122"/>
                <a:cs typeface="Calibri" pitchFamily="34" charset="-120"/>
              </a:rPr>
              <a:t>Entry point</a:t>
            </a:r>
            <a:endParaRPr lang="en-US" sz="1050" dirty="0"/>
          </a:p>
        </p:txBody>
      </p:sp>
      <p:sp>
        <p:nvSpPr>
          <p:cNvPr id="16" name="Shape 14"/>
          <p:cNvSpPr/>
          <p:nvPr/>
        </p:nvSpPr>
        <p:spPr>
          <a:xfrm>
            <a:off x="3246120" y="2971800"/>
            <a:ext cx="2651760" cy="566928"/>
          </a:xfrm>
          <a:prstGeom prst="rect">
            <a:avLst/>
          </a:prstGeom>
          <a:solidFill>
            <a:srgbClr val="12063A"/>
          </a:solidFill>
          <a:ln w="15240">
            <a:solidFill>
              <a:srgbClr val="5B2D8E"/>
            </a:solidFill>
            <a:prstDash val="solid"/>
          </a:ln>
        </p:spPr>
      </p:sp>
      <p:sp>
        <p:nvSpPr>
          <p:cNvPr id="17" name="Shape 15"/>
          <p:cNvSpPr/>
          <p:nvPr/>
        </p:nvSpPr>
        <p:spPr>
          <a:xfrm>
            <a:off x="3337560" y="3017520"/>
            <a:ext cx="384048" cy="384048"/>
          </a:xfrm>
          <a:prstGeom prst="line">
            <a:avLst/>
          </a:prstGeom>
          <a:solidFill>
            <a:srgbClr val="5B2D8E"/>
          </a:solidFill>
          <a:ln w="12700">
            <a:solidFill>
              <a:srgbClr val="5B2D8E"/>
            </a:solidFill>
            <a:prstDash val="solid"/>
          </a:ln>
        </p:spPr>
      </p:sp>
      <p:sp>
        <p:nvSpPr>
          <p:cNvPr id="18" name="Text 16"/>
          <p:cNvSpPr/>
          <p:nvPr/>
        </p:nvSpPr>
        <p:spPr>
          <a:xfrm>
            <a:off x="3337560" y="301752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7"/>
          <p:cNvSpPr/>
          <p:nvPr/>
        </p:nvSpPr>
        <p:spPr>
          <a:xfrm>
            <a:off x="3794760" y="3017520"/>
            <a:ext cx="2011680" cy="256032"/>
          </a:xfrm>
          <a:prstGeom prst="rect">
            <a:avLst/>
          </a:prstGeom>
          <a:noFill/>
          <a:ln/>
        </p:spPr>
        <p:txBody>
          <a:bodyPr wrap="square" rtlCol="0" anchor="ctr"/>
          <a:lstStyle/>
          <a:p>
            <a:pPr marL="0" indent="0">
              <a:buNone/>
            </a:pPr>
            <a:r>
              <a:rPr lang="en-US" sz="1200" b="1" dirty="0">
                <a:solidFill>
                  <a:srgbClr val="FF6EC7"/>
                </a:solidFill>
                <a:latin typeface="Calibri" pitchFamily="34" charset="0"/>
                <a:ea typeface="Calibri" pitchFamily="34" charset="-122"/>
                <a:cs typeface="Calibri" pitchFamily="34" charset="-120"/>
              </a:rPr>
              <a:t>Execution</a:t>
            </a:r>
            <a:endParaRPr lang="en-US" sz="1200" dirty="0"/>
          </a:p>
        </p:txBody>
      </p:sp>
      <p:sp>
        <p:nvSpPr>
          <p:cNvPr id="20" name="Text 18"/>
          <p:cNvSpPr/>
          <p:nvPr/>
        </p:nvSpPr>
        <p:spPr>
          <a:xfrm>
            <a:off x="3794760" y="3273552"/>
            <a:ext cx="2011680" cy="219456"/>
          </a:xfrm>
          <a:prstGeom prst="rect">
            <a:avLst/>
          </a:prstGeom>
          <a:noFill/>
          <a:ln/>
        </p:spPr>
        <p:txBody>
          <a:bodyPr wrap="square" rtlCol="0" anchor="ctr"/>
          <a:lstStyle/>
          <a:p>
            <a:pPr marL="0" indent="0">
              <a:buNone/>
            </a:pPr>
            <a:r>
              <a:rPr lang="en-US" sz="1050" dirty="0">
                <a:solidFill>
                  <a:srgbClr val="AAAAAA"/>
                </a:solidFill>
                <a:latin typeface="Calibri" pitchFamily="34" charset="0"/>
                <a:ea typeface="Calibri" pitchFamily="34" charset="-122"/>
                <a:cs typeface="Calibri" pitchFamily="34" charset="-120"/>
              </a:rPr>
              <a:t>Running code</a:t>
            </a:r>
            <a:endParaRPr lang="en-US" sz="1050" dirty="0"/>
          </a:p>
        </p:txBody>
      </p:sp>
      <p:sp>
        <p:nvSpPr>
          <p:cNvPr id="21" name="Shape 19"/>
          <p:cNvSpPr/>
          <p:nvPr/>
        </p:nvSpPr>
        <p:spPr>
          <a:xfrm>
            <a:off x="6080760" y="2971800"/>
            <a:ext cx="2651760" cy="566928"/>
          </a:xfrm>
          <a:prstGeom prst="rect">
            <a:avLst/>
          </a:prstGeom>
          <a:solidFill>
            <a:srgbClr val="12063A"/>
          </a:solidFill>
          <a:ln w="15240">
            <a:solidFill>
              <a:srgbClr val="A82D2D"/>
            </a:solidFill>
            <a:prstDash val="solid"/>
          </a:ln>
        </p:spPr>
      </p:sp>
      <p:sp>
        <p:nvSpPr>
          <p:cNvPr id="22" name="Shape 20"/>
          <p:cNvSpPr/>
          <p:nvPr/>
        </p:nvSpPr>
        <p:spPr>
          <a:xfrm>
            <a:off x="6172200" y="3017520"/>
            <a:ext cx="384048" cy="384048"/>
          </a:xfrm>
          <a:prstGeom prst="line">
            <a:avLst/>
          </a:prstGeom>
          <a:solidFill>
            <a:srgbClr val="A82D2D"/>
          </a:solidFill>
          <a:ln w="12700">
            <a:solidFill>
              <a:srgbClr val="A82D2D"/>
            </a:solidFill>
            <a:prstDash val="solid"/>
          </a:ln>
        </p:spPr>
      </p:sp>
      <p:sp>
        <p:nvSpPr>
          <p:cNvPr id="23" name="Text 21"/>
          <p:cNvSpPr/>
          <p:nvPr/>
        </p:nvSpPr>
        <p:spPr>
          <a:xfrm>
            <a:off x="6172200" y="301752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2"/>
          <p:cNvSpPr/>
          <p:nvPr/>
        </p:nvSpPr>
        <p:spPr>
          <a:xfrm>
            <a:off x="6629400" y="3017520"/>
            <a:ext cx="2011680" cy="256032"/>
          </a:xfrm>
          <a:prstGeom prst="rect">
            <a:avLst/>
          </a:prstGeom>
          <a:noFill/>
          <a:ln/>
        </p:spPr>
        <p:txBody>
          <a:bodyPr wrap="square" rtlCol="0" anchor="ctr"/>
          <a:lstStyle/>
          <a:p>
            <a:pPr marL="0" indent="0">
              <a:buNone/>
            </a:pPr>
            <a:r>
              <a:rPr lang="en-US" sz="1200" b="1" dirty="0">
                <a:solidFill>
                  <a:srgbClr val="FF6EC7"/>
                </a:solidFill>
                <a:latin typeface="Calibri" pitchFamily="34" charset="0"/>
                <a:ea typeface="Calibri" pitchFamily="34" charset="-122"/>
                <a:cs typeface="Calibri" pitchFamily="34" charset="-120"/>
              </a:rPr>
              <a:t>Defense Evasion</a:t>
            </a:r>
            <a:endParaRPr lang="en-US" sz="1200" dirty="0"/>
          </a:p>
        </p:txBody>
      </p:sp>
      <p:sp>
        <p:nvSpPr>
          <p:cNvPr id="25" name="Text 23"/>
          <p:cNvSpPr/>
          <p:nvPr/>
        </p:nvSpPr>
        <p:spPr>
          <a:xfrm>
            <a:off x="6629400" y="3273552"/>
            <a:ext cx="2011680" cy="219456"/>
          </a:xfrm>
          <a:prstGeom prst="rect">
            <a:avLst/>
          </a:prstGeom>
          <a:noFill/>
          <a:ln/>
        </p:spPr>
        <p:txBody>
          <a:bodyPr wrap="square" rtlCol="0" anchor="ctr"/>
          <a:lstStyle/>
          <a:p>
            <a:pPr marL="0" indent="0">
              <a:buNone/>
            </a:pPr>
            <a:r>
              <a:rPr lang="en-US" sz="1050" dirty="0">
                <a:solidFill>
                  <a:srgbClr val="AAAAAA"/>
                </a:solidFill>
                <a:latin typeface="Calibri" pitchFamily="34" charset="0"/>
                <a:ea typeface="Calibri" pitchFamily="34" charset="-122"/>
                <a:cs typeface="Calibri" pitchFamily="34" charset="-120"/>
              </a:rPr>
              <a:t>Avoiding detection</a:t>
            </a:r>
            <a:endParaRPr lang="en-US" sz="1050" dirty="0"/>
          </a:p>
        </p:txBody>
      </p:sp>
      <p:sp>
        <p:nvSpPr>
          <p:cNvPr id="26" name="Shape 24"/>
          <p:cNvSpPr/>
          <p:nvPr/>
        </p:nvSpPr>
        <p:spPr>
          <a:xfrm>
            <a:off x="228600" y="3639312"/>
            <a:ext cx="8686800" cy="329184"/>
          </a:xfrm>
          <a:prstGeom prst="rect">
            <a:avLst/>
          </a:prstGeom>
          <a:solidFill>
            <a:srgbClr val="E91E8C"/>
          </a:solidFill>
          <a:ln w="12700">
            <a:solidFill>
              <a:srgbClr val="E91E8C"/>
            </a:solidFill>
            <a:prstDash val="solid"/>
          </a:ln>
        </p:spPr>
      </p:sp>
      <p:sp>
        <p:nvSpPr>
          <p:cNvPr id="27" name="Text 25"/>
          <p:cNvSpPr/>
          <p:nvPr/>
        </p:nvSpPr>
        <p:spPr>
          <a:xfrm>
            <a:off x="228600" y="3639312"/>
            <a:ext cx="8686800" cy="32918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Key Benefits</a:t>
            </a:r>
            <a:endParaRPr lang="en-US" sz="1300" dirty="0"/>
          </a:p>
        </p:txBody>
      </p:sp>
      <p:sp>
        <p:nvSpPr>
          <p:cNvPr id="28" name="Shape 26"/>
          <p:cNvSpPr/>
          <p:nvPr/>
        </p:nvSpPr>
        <p:spPr>
          <a:xfrm>
            <a:off x="274320" y="4041648"/>
            <a:ext cx="4206240" cy="429768"/>
          </a:xfrm>
          <a:prstGeom prst="rect">
            <a:avLst/>
          </a:prstGeom>
          <a:solidFill>
            <a:srgbClr val="0C0320"/>
          </a:solidFill>
          <a:ln w="10160">
            <a:solidFill>
              <a:srgbClr val="2D6FA8"/>
            </a:solidFill>
            <a:prstDash val="solid"/>
          </a:ln>
        </p:spPr>
      </p:sp>
      <p:sp>
        <p:nvSpPr>
          <p:cNvPr id="29" name="Shape 27"/>
          <p:cNvSpPr/>
          <p:nvPr/>
        </p:nvSpPr>
        <p:spPr>
          <a:xfrm>
            <a:off x="347472" y="4133088"/>
            <a:ext cx="256032" cy="256032"/>
          </a:xfrm>
          <a:prstGeom prst="line">
            <a:avLst/>
          </a:prstGeom>
          <a:solidFill>
            <a:srgbClr val="2D6FA8"/>
          </a:solidFill>
          <a:ln w="12700">
            <a:solidFill>
              <a:srgbClr val="2D6FA8"/>
            </a:solidFill>
            <a:prstDash val="solid"/>
          </a:ln>
        </p:spPr>
      </p:sp>
      <p:sp>
        <p:nvSpPr>
          <p:cNvPr id="30" name="Text 28"/>
          <p:cNvSpPr/>
          <p:nvPr/>
        </p:nvSpPr>
        <p:spPr>
          <a:xfrm>
            <a:off x="347472" y="4133088"/>
            <a:ext cx="256032" cy="25603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31" name="Text 29"/>
          <p:cNvSpPr/>
          <p:nvPr/>
        </p:nvSpPr>
        <p:spPr>
          <a:xfrm>
            <a:off x="676656" y="4069080"/>
            <a:ext cx="1508760" cy="201168"/>
          </a:xfrm>
          <a:prstGeom prst="rect">
            <a:avLst/>
          </a:prstGeom>
          <a:noFill/>
          <a:ln/>
        </p:spPr>
        <p:txBody>
          <a:bodyPr wrap="square" rtlCol="0" anchor="ctr"/>
          <a:lstStyle/>
          <a:p>
            <a:pPr marL="0" indent="0">
              <a:buNone/>
            </a:pPr>
            <a:r>
              <a:rPr lang="en-US" sz="1100" b="1" dirty="0">
                <a:solidFill>
                  <a:srgbClr val="20ECE3"/>
                </a:solidFill>
                <a:latin typeface="Calibri" pitchFamily="34" charset="0"/>
                <a:ea typeface="Calibri" pitchFamily="34" charset="-122"/>
                <a:cs typeface="Calibri" pitchFamily="34" charset="-120"/>
              </a:rPr>
              <a:t>Common Language</a:t>
            </a:r>
            <a:endParaRPr lang="en-US" sz="1100" dirty="0"/>
          </a:p>
        </p:txBody>
      </p:sp>
      <p:sp>
        <p:nvSpPr>
          <p:cNvPr id="32" name="Text 30"/>
          <p:cNvSpPr/>
          <p:nvPr/>
        </p:nvSpPr>
        <p:spPr>
          <a:xfrm>
            <a:off x="676656" y="4270248"/>
            <a:ext cx="3639312" cy="182880"/>
          </a:xfrm>
          <a:prstGeom prst="rect">
            <a:avLst/>
          </a:prstGeom>
          <a:noFill/>
          <a:ln/>
        </p:spPr>
        <p:txBody>
          <a:bodyPr wrap="square" rtlCol="0" anchor="ctr"/>
          <a:lstStyle/>
          <a:p>
            <a:pPr marL="0" indent="0">
              <a:buNone/>
            </a:pPr>
            <a:r>
              <a:rPr lang="en-US" sz="1000" dirty="0">
                <a:solidFill>
                  <a:srgbClr val="CCCCCC"/>
                </a:solidFill>
                <a:latin typeface="Calibri" pitchFamily="34" charset="0"/>
                <a:ea typeface="Calibri" pitchFamily="34" charset="-122"/>
                <a:cs typeface="Calibri" pitchFamily="34" charset="-120"/>
              </a:rPr>
              <a:t>Unified framework for discussing cyber threats</a:t>
            </a:r>
            <a:endParaRPr lang="en-US" sz="1000" dirty="0"/>
          </a:p>
        </p:txBody>
      </p:sp>
      <p:sp>
        <p:nvSpPr>
          <p:cNvPr id="33" name="Shape 31"/>
          <p:cNvSpPr/>
          <p:nvPr/>
        </p:nvSpPr>
        <p:spPr>
          <a:xfrm>
            <a:off x="4663440" y="4041648"/>
            <a:ext cx="4206240" cy="429768"/>
          </a:xfrm>
          <a:prstGeom prst="rect">
            <a:avLst/>
          </a:prstGeom>
          <a:solidFill>
            <a:srgbClr val="0C0320"/>
          </a:solidFill>
          <a:ln w="10160">
            <a:solidFill>
              <a:srgbClr val="7B2D8E"/>
            </a:solidFill>
            <a:prstDash val="solid"/>
          </a:ln>
        </p:spPr>
      </p:sp>
      <p:sp>
        <p:nvSpPr>
          <p:cNvPr id="34" name="Shape 32"/>
          <p:cNvSpPr/>
          <p:nvPr/>
        </p:nvSpPr>
        <p:spPr>
          <a:xfrm>
            <a:off x="4736592" y="4133088"/>
            <a:ext cx="256032" cy="256032"/>
          </a:xfrm>
          <a:prstGeom prst="line">
            <a:avLst/>
          </a:prstGeom>
          <a:solidFill>
            <a:srgbClr val="7B2D8E"/>
          </a:solidFill>
          <a:ln w="12700">
            <a:solidFill>
              <a:srgbClr val="7B2D8E"/>
            </a:solidFill>
            <a:prstDash val="solid"/>
          </a:ln>
        </p:spPr>
      </p:sp>
      <p:sp>
        <p:nvSpPr>
          <p:cNvPr id="35" name="Text 33"/>
          <p:cNvSpPr/>
          <p:nvPr/>
        </p:nvSpPr>
        <p:spPr>
          <a:xfrm>
            <a:off x="4736592" y="4133088"/>
            <a:ext cx="256032" cy="25603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36" name="Text 34"/>
          <p:cNvSpPr/>
          <p:nvPr/>
        </p:nvSpPr>
        <p:spPr>
          <a:xfrm>
            <a:off x="5065776" y="4069080"/>
            <a:ext cx="1508760" cy="201168"/>
          </a:xfrm>
          <a:prstGeom prst="rect">
            <a:avLst/>
          </a:prstGeom>
          <a:noFill/>
          <a:ln/>
        </p:spPr>
        <p:txBody>
          <a:bodyPr wrap="square" rtlCol="0" anchor="ctr"/>
          <a:lstStyle/>
          <a:p>
            <a:pPr marL="0" indent="0">
              <a:buNone/>
            </a:pPr>
            <a:r>
              <a:rPr lang="en-US" sz="1100" b="1" dirty="0">
                <a:solidFill>
                  <a:srgbClr val="FF6EC7"/>
                </a:solidFill>
                <a:latin typeface="Calibri" pitchFamily="34" charset="0"/>
                <a:ea typeface="Calibri" pitchFamily="34" charset="-122"/>
                <a:cs typeface="Calibri" pitchFamily="34" charset="-120"/>
              </a:rPr>
              <a:t>Threat Prioritization</a:t>
            </a:r>
            <a:endParaRPr lang="en-US" sz="1100" dirty="0"/>
          </a:p>
        </p:txBody>
      </p:sp>
      <p:sp>
        <p:nvSpPr>
          <p:cNvPr id="37" name="Text 35"/>
          <p:cNvSpPr/>
          <p:nvPr/>
        </p:nvSpPr>
        <p:spPr>
          <a:xfrm>
            <a:off x="5065776" y="4270248"/>
            <a:ext cx="3639312" cy="182880"/>
          </a:xfrm>
          <a:prstGeom prst="rect">
            <a:avLst/>
          </a:prstGeom>
          <a:noFill/>
          <a:ln/>
        </p:spPr>
        <p:txBody>
          <a:bodyPr wrap="square" rtlCol="0" anchor="ctr"/>
          <a:lstStyle/>
          <a:p>
            <a:pPr marL="0" indent="0">
              <a:buNone/>
            </a:pPr>
            <a:r>
              <a:rPr lang="en-US" sz="1000" dirty="0">
                <a:solidFill>
                  <a:srgbClr val="CCCCCC"/>
                </a:solidFill>
                <a:latin typeface="Calibri" pitchFamily="34" charset="0"/>
                <a:ea typeface="Calibri" pitchFamily="34" charset="-122"/>
                <a:cs typeface="Calibri" pitchFamily="34" charset="-120"/>
              </a:rPr>
              <a:t>Map critical threats by techniques and categories</a:t>
            </a:r>
            <a:endParaRPr lang="en-US" sz="1000" dirty="0"/>
          </a:p>
        </p:txBody>
      </p:sp>
      <p:sp>
        <p:nvSpPr>
          <p:cNvPr id="38" name="Shape 36"/>
          <p:cNvSpPr/>
          <p:nvPr/>
        </p:nvSpPr>
        <p:spPr>
          <a:xfrm>
            <a:off x="274320" y="4517136"/>
            <a:ext cx="4206240" cy="429768"/>
          </a:xfrm>
          <a:prstGeom prst="rect">
            <a:avLst/>
          </a:prstGeom>
          <a:solidFill>
            <a:srgbClr val="0C0320"/>
          </a:solidFill>
          <a:ln w="10160">
            <a:solidFill>
              <a:srgbClr val="A82D2D"/>
            </a:solidFill>
            <a:prstDash val="solid"/>
          </a:ln>
        </p:spPr>
      </p:sp>
      <p:sp>
        <p:nvSpPr>
          <p:cNvPr id="39" name="Shape 37"/>
          <p:cNvSpPr/>
          <p:nvPr/>
        </p:nvSpPr>
        <p:spPr>
          <a:xfrm>
            <a:off x="347472" y="4608576"/>
            <a:ext cx="256032" cy="256032"/>
          </a:xfrm>
          <a:prstGeom prst="line">
            <a:avLst/>
          </a:prstGeom>
          <a:solidFill>
            <a:srgbClr val="A82D2D"/>
          </a:solidFill>
          <a:ln w="12700">
            <a:solidFill>
              <a:srgbClr val="A82D2D"/>
            </a:solidFill>
            <a:prstDash val="solid"/>
          </a:ln>
        </p:spPr>
      </p:sp>
      <p:sp>
        <p:nvSpPr>
          <p:cNvPr id="40" name="Text 38"/>
          <p:cNvSpPr/>
          <p:nvPr/>
        </p:nvSpPr>
        <p:spPr>
          <a:xfrm>
            <a:off x="347472" y="4608576"/>
            <a:ext cx="256032" cy="25603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41" name="Text 39"/>
          <p:cNvSpPr/>
          <p:nvPr/>
        </p:nvSpPr>
        <p:spPr>
          <a:xfrm>
            <a:off x="676656" y="4544568"/>
            <a:ext cx="1508760" cy="201168"/>
          </a:xfrm>
          <a:prstGeom prst="rect">
            <a:avLst/>
          </a:prstGeom>
          <a:noFill/>
          <a:ln/>
        </p:spPr>
        <p:txBody>
          <a:bodyPr wrap="square" rtlCol="0" anchor="ctr"/>
          <a:lstStyle/>
          <a:p>
            <a:pPr marL="0" indent="0">
              <a:buNone/>
            </a:pPr>
            <a:r>
              <a:rPr lang="en-US" sz="1100" b="1" dirty="0">
                <a:solidFill>
                  <a:srgbClr val="FF6EC7"/>
                </a:solidFill>
                <a:latin typeface="Calibri" pitchFamily="34" charset="0"/>
                <a:ea typeface="Calibri" pitchFamily="34" charset="-122"/>
                <a:cs typeface="Calibri" pitchFamily="34" charset="-120"/>
              </a:rPr>
              <a:t>Comprehensive TTPs</a:t>
            </a:r>
            <a:endParaRPr lang="en-US" sz="1100" dirty="0"/>
          </a:p>
        </p:txBody>
      </p:sp>
      <p:sp>
        <p:nvSpPr>
          <p:cNvPr id="42" name="Text 40"/>
          <p:cNvSpPr/>
          <p:nvPr/>
        </p:nvSpPr>
        <p:spPr>
          <a:xfrm>
            <a:off x="676656" y="4745736"/>
            <a:ext cx="3639312" cy="182880"/>
          </a:xfrm>
          <a:prstGeom prst="rect">
            <a:avLst/>
          </a:prstGeom>
          <a:noFill/>
          <a:ln/>
        </p:spPr>
        <p:txBody>
          <a:bodyPr wrap="square" rtlCol="0" anchor="ctr"/>
          <a:lstStyle/>
          <a:p>
            <a:pPr marL="0" indent="0">
              <a:buNone/>
            </a:pPr>
            <a:r>
              <a:rPr lang="en-US" sz="1000" dirty="0">
                <a:solidFill>
                  <a:srgbClr val="CCCCCC"/>
                </a:solidFill>
                <a:latin typeface="Calibri" pitchFamily="34" charset="0"/>
                <a:ea typeface="Calibri" pitchFamily="34" charset="-122"/>
                <a:cs typeface="Calibri" pitchFamily="34" charset="-120"/>
              </a:rPr>
              <a:t>Detailed attacker tactics, techniques &amp; procedures</a:t>
            </a:r>
            <a:endParaRPr lang="en-US" sz="1000" dirty="0"/>
          </a:p>
        </p:txBody>
      </p:sp>
      <p:sp>
        <p:nvSpPr>
          <p:cNvPr id="43" name="Shape 41"/>
          <p:cNvSpPr/>
          <p:nvPr/>
        </p:nvSpPr>
        <p:spPr>
          <a:xfrm>
            <a:off x="4663440" y="4517136"/>
            <a:ext cx="2567677" cy="621792"/>
          </a:xfrm>
          <a:prstGeom prst="rect">
            <a:avLst/>
          </a:prstGeom>
          <a:solidFill>
            <a:srgbClr val="0C0320"/>
          </a:solidFill>
          <a:ln w="10160">
            <a:solidFill>
              <a:srgbClr val="2DA85B"/>
            </a:solidFill>
            <a:prstDash val="solid"/>
          </a:ln>
        </p:spPr>
      </p:sp>
      <p:sp>
        <p:nvSpPr>
          <p:cNvPr id="44" name="Shape 42"/>
          <p:cNvSpPr/>
          <p:nvPr/>
        </p:nvSpPr>
        <p:spPr>
          <a:xfrm>
            <a:off x="4736592" y="4608576"/>
            <a:ext cx="256032" cy="256032"/>
          </a:xfrm>
          <a:prstGeom prst="line">
            <a:avLst/>
          </a:prstGeom>
          <a:solidFill>
            <a:srgbClr val="2DA85B"/>
          </a:solidFill>
          <a:ln w="12700">
            <a:solidFill>
              <a:srgbClr val="2DA85B"/>
            </a:solidFill>
            <a:prstDash val="solid"/>
          </a:ln>
        </p:spPr>
      </p:sp>
      <p:sp>
        <p:nvSpPr>
          <p:cNvPr id="45" name="Text 43"/>
          <p:cNvSpPr/>
          <p:nvPr/>
        </p:nvSpPr>
        <p:spPr>
          <a:xfrm>
            <a:off x="4736592" y="4608576"/>
            <a:ext cx="256032" cy="25603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46" name="Text 44"/>
          <p:cNvSpPr/>
          <p:nvPr/>
        </p:nvSpPr>
        <p:spPr>
          <a:xfrm>
            <a:off x="5065776" y="4544568"/>
            <a:ext cx="1508760" cy="201168"/>
          </a:xfrm>
          <a:prstGeom prst="rect">
            <a:avLst/>
          </a:prstGeom>
          <a:noFill/>
          <a:ln/>
        </p:spPr>
        <p:txBody>
          <a:bodyPr wrap="square" rtlCol="0" anchor="ctr"/>
          <a:lstStyle/>
          <a:p>
            <a:pPr marL="0" indent="0">
              <a:buNone/>
            </a:pPr>
            <a:r>
              <a:rPr lang="en-US" sz="1100" b="1" dirty="0">
                <a:solidFill>
                  <a:srgbClr val="FF6EC7"/>
                </a:solidFill>
                <a:latin typeface="Calibri" pitchFamily="34" charset="0"/>
                <a:ea typeface="Calibri" pitchFamily="34" charset="-122"/>
                <a:cs typeface="Calibri" pitchFamily="34" charset="-120"/>
              </a:rPr>
              <a:t>Effective Mitigation</a:t>
            </a:r>
            <a:endParaRPr lang="en-US" sz="1100" dirty="0"/>
          </a:p>
        </p:txBody>
      </p:sp>
      <p:sp>
        <p:nvSpPr>
          <p:cNvPr id="47" name="Text 45"/>
          <p:cNvSpPr/>
          <p:nvPr/>
        </p:nvSpPr>
        <p:spPr>
          <a:xfrm>
            <a:off x="5065776" y="4773168"/>
            <a:ext cx="2165341" cy="324612"/>
          </a:xfrm>
          <a:prstGeom prst="rect">
            <a:avLst/>
          </a:prstGeom>
          <a:noFill/>
          <a:ln/>
        </p:spPr>
        <p:txBody>
          <a:bodyPr wrap="square" rtlCol="0" anchor="ctr"/>
          <a:lstStyle/>
          <a:p>
            <a:pPr marL="0" indent="0">
              <a:buNone/>
            </a:pPr>
            <a:r>
              <a:rPr lang="en-US" sz="1000" dirty="0">
                <a:solidFill>
                  <a:srgbClr val="CCCCCC"/>
                </a:solidFill>
                <a:latin typeface="Calibri" pitchFamily="34" charset="0"/>
                <a:ea typeface="Calibri" pitchFamily="34" charset="-122"/>
                <a:cs typeface="Calibri" pitchFamily="34" charset="-120"/>
              </a:rPr>
              <a:t>Design and implement better </a:t>
            </a:r>
          </a:p>
          <a:p>
            <a:pPr marL="0" indent="0">
              <a:buNone/>
            </a:pPr>
            <a:r>
              <a:rPr lang="en-US" sz="1000" dirty="0">
                <a:solidFill>
                  <a:srgbClr val="CCCCCC"/>
                </a:solidFill>
                <a:latin typeface="Calibri" pitchFamily="34" charset="0"/>
                <a:ea typeface="Calibri" pitchFamily="34" charset="-122"/>
                <a:cs typeface="Calibri" pitchFamily="34" charset="-120"/>
              </a:rPr>
              <a:t>countermeasures</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0A2E"/>
        </a:solidFill>
        <a:effectLst/>
      </p:bgPr>
    </p:bg>
    <p:spTree>
      <p:nvGrpSpPr>
        <p:cNvPr id="1" name=""/>
        <p:cNvGrpSpPr/>
        <p:nvPr/>
      </p:nvGrpSpPr>
      <p:grpSpPr>
        <a:xfrm>
          <a:off x="0" y="0"/>
          <a:ext cx="0" cy="0"/>
          <a:chOff x="0" y="0"/>
          <a:chExt cx="0" cy="0"/>
        </a:xfrm>
      </p:grpSpPr>
      <p:sp>
        <p:nvSpPr>
          <p:cNvPr id="2" name="Text 0"/>
          <p:cNvSpPr/>
          <p:nvPr/>
        </p:nvSpPr>
        <p:spPr>
          <a:xfrm>
            <a:off x="274320" y="73152"/>
            <a:ext cx="5943600" cy="475488"/>
          </a:xfrm>
          <a:prstGeom prst="rect">
            <a:avLst/>
          </a:prstGeom>
          <a:noFill/>
          <a:ln/>
        </p:spPr>
        <p:txBody>
          <a:bodyPr wrap="square" rtlCol="0" anchor="ctr"/>
          <a:lstStyle/>
          <a:p>
            <a:pPr marL="0" indent="0">
              <a:buNone/>
            </a:pPr>
            <a:r>
              <a:rPr lang="en-US" sz="2200" b="1" dirty="0">
                <a:solidFill>
                  <a:srgbClr val="20ECE3"/>
                </a:solidFill>
                <a:latin typeface="Calibri" pitchFamily="34" charset="0"/>
                <a:ea typeface="Calibri" pitchFamily="34" charset="-122"/>
                <a:cs typeface="Calibri" pitchFamily="34" charset="-120"/>
              </a:rPr>
              <a:t>Defense &amp; Mitigation Strategies</a:t>
            </a:r>
            <a:endParaRPr lang="en-US" sz="2200" dirty="0"/>
          </a:p>
        </p:txBody>
      </p:sp>
      <p:sp>
        <p:nvSpPr>
          <p:cNvPr id="3" name="Shape 1"/>
          <p:cNvSpPr/>
          <p:nvPr/>
        </p:nvSpPr>
        <p:spPr>
          <a:xfrm>
            <a:off x="4617720" y="73152"/>
            <a:ext cx="4251960" cy="1508760"/>
          </a:xfrm>
          <a:prstGeom prst="rect">
            <a:avLst/>
          </a:prstGeom>
          <a:solidFill>
            <a:srgbClr val="0B2B0B"/>
          </a:solidFill>
          <a:ln w="19050">
            <a:solidFill>
              <a:srgbClr val="22AA22"/>
            </a:solidFill>
            <a:prstDash val="solid"/>
          </a:ln>
        </p:spPr>
      </p:sp>
      <p:sp>
        <p:nvSpPr>
          <p:cNvPr id="4" name="Text 2"/>
          <p:cNvSpPr/>
          <p:nvPr/>
        </p:nvSpPr>
        <p:spPr>
          <a:xfrm>
            <a:off x="4754880" y="109728"/>
            <a:ext cx="3931920" cy="292608"/>
          </a:xfrm>
          <a:prstGeom prst="rect">
            <a:avLst/>
          </a:prstGeom>
          <a:noFill/>
          <a:ln/>
        </p:spPr>
        <p:txBody>
          <a:bodyPr wrap="square" rtlCol="0" anchor="ctr"/>
          <a:lstStyle/>
          <a:p>
            <a:pPr marL="0" indent="0">
              <a:buNone/>
            </a:pPr>
            <a:r>
              <a:rPr lang="en-US" sz="1200" b="1" dirty="0">
                <a:solidFill>
                  <a:srgbClr val="22CC22"/>
                </a:solidFill>
                <a:latin typeface="Calibri" pitchFamily="34" charset="0"/>
                <a:ea typeface="Calibri" pitchFamily="34" charset="-122"/>
                <a:cs typeface="Calibri" pitchFamily="34" charset="-120"/>
              </a:rPr>
              <a:t>Protection Measures</a:t>
            </a:r>
            <a:endParaRPr lang="en-US" sz="1200" dirty="0"/>
          </a:p>
        </p:txBody>
      </p:sp>
      <p:sp>
        <p:nvSpPr>
          <p:cNvPr id="5" name="Text 3"/>
          <p:cNvSpPr/>
          <p:nvPr/>
        </p:nvSpPr>
        <p:spPr>
          <a:xfrm>
            <a:off x="4754880" y="411480"/>
            <a:ext cx="3977640" cy="256032"/>
          </a:xfrm>
          <a:prstGeom prst="rect">
            <a:avLst/>
          </a:prstGeom>
          <a:noFill/>
          <a:ln/>
        </p:spPr>
        <p:txBody>
          <a:bodyPr wrap="square" rtlCol="0" anchor="ctr"/>
          <a:lstStyle/>
          <a:p>
            <a:pPr marL="0" indent="0">
              <a:buNone/>
            </a:pPr>
            <a:r>
              <a:rPr lang="en-US" sz="1050" dirty="0">
                <a:solidFill>
                  <a:srgbClr val="CCEECC"/>
                </a:solidFill>
                <a:latin typeface="Calibri" pitchFamily="34" charset="0"/>
                <a:ea typeface="Calibri" pitchFamily="34" charset="-122"/>
                <a:cs typeface="Calibri" pitchFamily="34" charset="-120"/>
              </a:rPr>
              <a:t>● Multi-Factor Authentication (MFA)</a:t>
            </a:r>
            <a:endParaRPr lang="en-US" sz="1050" dirty="0"/>
          </a:p>
        </p:txBody>
      </p:sp>
      <p:sp>
        <p:nvSpPr>
          <p:cNvPr id="6" name="Text 4"/>
          <p:cNvSpPr/>
          <p:nvPr/>
        </p:nvSpPr>
        <p:spPr>
          <a:xfrm>
            <a:off x="4754880" y="685800"/>
            <a:ext cx="3977640" cy="256032"/>
          </a:xfrm>
          <a:prstGeom prst="rect">
            <a:avLst/>
          </a:prstGeom>
          <a:noFill/>
          <a:ln/>
        </p:spPr>
        <p:txBody>
          <a:bodyPr wrap="square" rtlCol="0" anchor="ctr"/>
          <a:lstStyle/>
          <a:p>
            <a:pPr marL="0" indent="0">
              <a:buNone/>
            </a:pPr>
            <a:r>
              <a:rPr lang="en-US" sz="1050" dirty="0">
                <a:solidFill>
                  <a:srgbClr val="CCEECC"/>
                </a:solidFill>
                <a:latin typeface="Calibri" pitchFamily="34" charset="0"/>
                <a:ea typeface="Calibri" pitchFamily="34" charset="-122"/>
                <a:cs typeface="Calibri" pitchFamily="34" charset="-120"/>
              </a:rPr>
              <a:t>● Data Encryption</a:t>
            </a:r>
            <a:endParaRPr lang="en-US" sz="1050" dirty="0"/>
          </a:p>
        </p:txBody>
      </p:sp>
      <p:sp>
        <p:nvSpPr>
          <p:cNvPr id="7" name="Text 5"/>
          <p:cNvSpPr/>
          <p:nvPr/>
        </p:nvSpPr>
        <p:spPr>
          <a:xfrm>
            <a:off x="4754880" y="960120"/>
            <a:ext cx="3977640" cy="256032"/>
          </a:xfrm>
          <a:prstGeom prst="rect">
            <a:avLst/>
          </a:prstGeom>
          <a:noFill/>
          <a:ln/>
        </p:spPr>
        <p:txBody>
          <a:bodyPr wrap="square" rtlCol="0" anchor="ctr"/>
          <a:lstStyle/>
          <a:p>
            <a:pPr marL="0" indent="0">
              <a:buNone/>
            </a:pPr>
            <a:r>
              <a:rPr lang="en-US" sz="1050" dirty="0">
                <a:solidFill>
                  <a:srgbClr val="CCEECC"/>
                </a:solidFill>
                <a:latin typeface="Calibri" pitchFamily="34" charset="0"/>
                <a:ea typeface="Calibri" pitchFamily="34" charset="-122"/>
                <a:cs typeface="Calibri" pitchFamily="34" charset="-120"/>
              </a:rPr>
              <a:t>● AI-Powered Anomaly Detection</a:t>
            </a:r>
            <a:endParaRPr lang="en-US" sz="1050" dirty="0"/>
          </a:p>
        </p:txBody>
      </p:sp>
      <p:sp>
        <p:nvSpPr>
          <p:cNvPr id="8" name="Text 6"/>
          <p:cNvSpPr/>
          <p:nvPr/>
        </p:nvSpPr>
        <p:spPr>
          <a:xfrm>
            <a:off x="4754880" y="1234440"/>
            <a:ext cx="3977640" cy="256032"/>
          </a:xfrm>
          <a:prstGeom prst="rect">
            <a:avLst/>
          </a:prstGeom>
          <a:noFill/>
          <a:ln/>
        </p:spPr>
        <p:txBody>
          <a:bodyPr wrap="square" rtlCol="0" anchor="ctr"/>
          <a:lstStyle/>
          <a:p>
            <a:pPr marL="0" indent="0">
              <a:buNone/>
            </a:pPr>
            <a:r>
              <a:rPr lang="en-US" sz="1050" dirty="0">
                <a:solidFill>
                  <a:srgbClr val="CCEECC"/>
                </a:solidFill>
                <a:latin typeface="Calibri" pitchFamily="34" charset="0"/>
                <a:ea typeface="Calibri" pitchFamily="34" charset="-122"/>
                <a:cs typeface="Calibri" pitchFamily="34" charset="-120"/>
              </a:rPr>
              <a:t>● Threat Intelligence Sharing</a:t>
            </a:r>
            <a:endParaRPr lang="en-US" sz="1050" dirty="0"/>
          </a:p>
        </p:txBody>
      </p:sp>
      <p:pic>
        <p:nvPicPr>
          <p:cNvPr id="9" name="Image 0" descr="preencoded.png"/>
          <p:cNvPicPr>
            <a:picLocks noChangeAspect="1"/>
          </p:cNvPicPr>
          <p:nvPr/>
        </p:nvPicPr>
        <p:blipFill>
          <a:blip r:embed="rId3"/>
          <a:stretch>
            <a:fillRect/>
          </a:stretch>
        </p:blipFill>
        <p:spPr>
          <a:xfrm>
            <a:off x="914400" y="685800"/>
            <a:ext cx="3474720" cy="3474720"/>
          </a:xfrm>
          <a:prstGeom prst="rect">
            <a:avLst/>
          </a:prstGeom>
        </p:spPr>
      </p:pic>
      <p:sp>
        <p:nvSpPr>
          <p:cNvPr id="10" name="Shape 7"/>
          <p:cNvSpPr/>
          <p:nvPr/>
        </p:nvSpPr>
        <p:spPr>
          <a:xfrm>
            <a:off x="274320" y="2834640"/>
            <a:ext cx="4206240" cy="1600200"/>
          </a:xfrm>
          <a:prstGeom prst="rect">
            <a:avLst/>
          </a:prstGeom>
          <a:solidFill>
            <a:srgbClr val="2B0B0B"/>
          </a:solidFill>
          <a:ln w="19050">
            <a:solidFill>
              <a:srgbClr val="CC3333"/>
            </a:solidFill>
            <a:prstDash val="solid"/>
          </a:ln>
        </p:spPr>
      </p:sp>
      <p:sp>
        <p:nvSpPr>
          <p:cNvPr id="11" name="Text 8"/>
          <p:cNvSpPr/>
          <p:nvPr/>
        </p:nvSpPr>
        <p:spPr>
          <a:xfrm>
            <a:off x="411480" y="2871216"/>
            <a:ext cx="3931920" cy="292608"/>
          </a:xfrm>
          <a:prstGeom prst="rect">
            <a:avLst/>
          </a:prstGeom>
          <a:noFill/>
          <a:ln/>
        </p:spPr>
        <p:txBody>
          <a:bodyPr wrap="square" rtlCol="0" anchor="ctr"/>
          <a:lstStyle/>
          <a:p>
            <a:pPr marL="0" indent="0">
              <a:buNone/>
            </a:pPr>
            <a:r>
              <a:rPr lang="en-US" sz="1200" b="1" dirty="0">
                <a:solidFill>
                  <a:srgbClr val="FF5555"/>
                </a:solidFill>
                <a:latin typeface="Calibri" pitchFamily="34" charset="0"/>
                <a:ea typeface="Calibri" pitchFamily="34" charset="-122"/>
                <a:cs typeface="Calibri" pitchFamily="34" charset="-120"/>
              </a:rPr>
              <a:t>Protection Measures — Integrity</a:t>
            </a:r>
            <a:endParaRPr lang="en-US" sz="1200" dirty="0"/>
          </a:p>
        </p:txBody>
      </p:sp>
      <p:sp>
        <p:nvSpPr>
          <p:cNvPr id="12" name="Text 9"/>
          <p:cNvSpPr/>
          <p:nvPr/>
        </p:nvSpPr>
        <p:spPr>
          <a:xfrm>
            <a:off x="411480" y="3200400"/>
            <a:ext cx="3931920" cy="219456"/>
          </a:xfrm>
          <a:prstGeom prst="rect">
            <a:avLst/>
          </a:prstGeom>
          <a:noFill/>
          <a:ln/>
        </p:spPr>
        <p:txBody>
          <a:bodyPr wrap="square" rtlCol="0" anchor="ctr"/>
          <a:lstStyle/>
          <a:p>
            <a:pPr marL="0" indent="0">
              <a:buNone/>
            </a:pPr>
            <a:r>
              <a:rPr lang="en-US" sz="1000" dirty="0">
                <a:solidFill>
                  <a:srgbClr val="FFCCCC"/>
                </a:solidFill>
                <a:latin typeface="Calibri" pitchFamily="34" charset="0"/>
                <a:ea typeface="Calibri" pitchFamily="34" charset="-122"/>
                <a:cs typeface="Calibri" pitchFamily="34" charset="-120"/>
              </a:rPr>
              <a:t>● Stringent Vendor Audits</a:t>
            </a:r>
            <a:endParaRPr lang="en-US" sz="1000" dirty="0"/>
          </a:p>
        </p:txBody>
      </p:sp>
      <p:sp>
        <p:nvSpPr>
          <p:cNvPr id="13" name="Text 10"/>
          <p:cNvSpPr/>
          <p:nvPr/>
        </p:nvSpPr>
        <p:spPr>
          <a:xfrm>
            <a:off x="411480" y="3438144"/>
            <a:ext cx="3931920" cy="219456"/>
          </a:xfrm>
          <a:prstGeom prst="rect">
            <a:avLst/>
          </a:prstGeom>
          <a:noFill/>
          <a:ln/>
        </p:spPr>
        <p:txBody>
          <a:bodyPr wrap="square" rtlCol="0" anchor="ctr"/>
          <a:lstStyle/>
          <a:p>
            <a:pPr marL="0" indent="0">
              <a:buNone/>
            </a:pPr>
            <a:r>
              <a:rPr lang="en-US" sz="1000" dirty="0">
                <a:solidFill>
                  <a:srgbClr val="FFCCCC"/>
                </a:solidFill>
                <a:latin typeface="Calibri" pitchFamily="34" charset="0"/>
                <a:ea typeface="Calibri" pitchFamily="34" charset="-122"/>
                <a:cs typeface="Calibri" pitchFamily="34" charset="-120"/>
              </a:rPr>
              <a:t>● Software Bill-of-Materials (SBOM)</a:t>
            </a:r>
            <a:endParaRPr lang="en-US" sz="1000" dirty="0"/>
          </a:p>
        </p:txBody>
      </p:sp>
      <p:sp>
        <p:nvSpPr>
          <p:cNvPr id="14" name="Text 11"/>
          <p:cNvSpPr/>
          <p:nvPr/>
        </p:nvSpPr>
        <p:spPr>
          <a:xfrm>
            <a:off x="411480" y="3675888"/>
            <a:ext cx="3931920" cy="219456"/>
          </a:xfrm>
          <a:prstGeom prst="rect">
            <a:avLst/>
          </a:prstGeom>
          <a:noFill/>
          <a:ln/>
        </p:spPr>
        <p:txBody>
          <a:bodyPr wrap="square" rtlCol="0" anchor="ctr"/>
          <a:lstStyle/>
          <a:p>
            <a:pPr marL="0" indent="0">
              <a:buNone/>
            </a:pPr>
            <a:r>
              <a:rPr lang="en-US" sz="1000" dirty="0">
                <a:solidFill>
                  <a:srgbClr val="FFCCCC"/>
                </a:solidFill>
                <a:latin typeface="Calibri" pitchFamily="34" charset="0"/>
                <a:ea typeface="Calibri" pitchFamily="34" charset="-122"/>
                <a:cs typeface="Calibri" pitchFamily="34" charset="-120"/>
              </a:rPr>
              <a:t>● Code-Signing Checks</a:t>
            </a:r>
            <a:endParaRPr lang="en-US" sz="1000" dirty="0"/>
          </a:p>
        </p:txBody>
      </p:sp>
      <p:sp>
        <p:nvSpPr>
          <p:cNvPr id="15" name="Text 12"/>
          <p:cNvSpPr/>
          <p:nvPr/>
        </p:nvSpPr>
        <p:spPr>
          <a:xfrm>
            <a:off x="411480" y="3913632"/>
            <a:ext cx="3931920" cy="219456"/>
          </a:xfrm>
          <a:prstGeom prst="rect">
            <a:avLst/>
          </a:prstGeom>
          <a:noFill/>
          <a:ln/>
        </p:spPr>
        <p:txBody>
          <a:bodyPr wrap="square" rtlCol="0" anchor="ctr"/>
          <a:lstStyle/>
          <a:p>
            <a:pPr marL="0" indent="0">
              <a:buNone/>
            </a:pPr>
            <a:r>
              <a:rPr lang="en-US" sz="1000" dirty="0">
                <a:solidFill>
                  <a:srgbClr val="FFCCCC"/>
                </a:solidFill>
                <a:latin typeface="Calibri" pitchFamily="34" charset="0"/>
                <a:ea typeface="Calibri" pitchFamily="34" charset="-122"/>
                <a:cs typeface="Calibri" pitchFamily="34" charset="-120"/>
              </a:rPr>
              <a:t>● Monitor Cyber-Physical Systems</a:t>
            </a:r>
            <a:endParaRPr lang="en-US" sz="1000" dirty="0"/>
          </a:p>
        </p:txBody>
      </p:sp>
      <p:sp>
        <p:nvSpPr>
          <p:cNvPr id="16" name="Text 13"/>
          <p:cNvSpPr/>
          <p:nvPr/>
        </p:nvSpPr>
        <p:spPr>
          <a:xfrm>
            <a:off x="411480" y="4151376"/>
            <a:ext cx="3931920" cy="219456"/>
          </a:xfrm>
          <a:prstGeom prst="rect">
            <a:avLst/>
          </a:prstGeom>
          <a:noFill/>
          <a:ln/>
        </p:spPr>
        <p:txBody>
          <a:bodyPr wrap="square" rtlCol="0" anchor="ctr"/>
          <a:lstStyle/>
          <a:p>
            <a:pPr marL="0" indent="0">
              <a:buNone/>
            </a:pPr>
            <a:r>
              <a:rPr lang="en-US" sz="1000" dirty="0">
                <a:solidFill>
                  <a:srgbClr val="FFCCCC"/>
                </a:solidFill>
                <a:latin typeface="Calibri" pitchFamily="34" charset="0"/>
                <a:ea typeface="Calibri" pitchFamily="34" charset="-122"/>
                <a:cs typeface="Calibri" pitchFamily="34" charset="-120"/>
              </a:rPr>
              <a:t>● Apply Firmware Attestation</a:t>
            </a:r>
            <a:endParaRPr lang="en-US" sz="1000" dirty="0"/>
          </a:p>
        </p:txBody>
      </p:sp>
      <p:sp>
        <p:nvSpPr>
          <p:cNvPr id="17" name="Shape 14"/>
          <p:cNvSpPr/>
          <p:nvPr/>
        </p:nvSpPr>
        <p:spPr>
          <a:xfrm>
            <a:off x="4663440" y="1664208"/>
            <a:ext cx="4206240" cy="1828800"/>
          </a:xfrm>
          <a:prstGeom prst="rect">
            <a:avLst/>
          </a:prstGeom>
          <a:solidFill>
            <a:srgbClr val="2B2200"/>
          </a:solidFill>
          <a:ln w="19050">
            <a:solidFill>
              <a:srgbClr val="C8A000"/>
            </a:solidFill>
            <a:prstDash val="solid"/>
          </a:ln>
        </p:spPr>
      </p:sp>
      <p:sp>
        <p:nvSpPr>
          <p:cNvPr id="18" name="Text 15"/>
          <p:cNvSpPr/>
          <p:nvPr/>
        </p:nvSpPr>
        <p:spPr>
          <a:xfrm>
            <a:off x="4800600" y="1700784"/>
            <a:ext cx="3931920" cy="292608"/>
          </a:xfrm>
          <a:prstGeom prst="rect">
            <a:avLst/>
          </a:prstGeom>
          <a:noFill/>
          <a:ln/>
        </p:spPr>
        <p:txBody>
          <a:bodyPr wrap="square" rtlCol="0" anchor="ctr"/>
          <a:lstStyle/>
          <a:p>
            <a:pPr marL="0" indent="0">
              <a:buNone/>
            </a:pPr>
            <a:r>
              <a:rPr lang="en-US" sz="1200" b="1" dirty="0">
                <a:solidFill>
                  <a:srgbClr val="FFD700"/>
                </a:solidFill>
                <a:latin typeface="Calibri" pitchFamily="34" charset="0"/>
                <a:ea typeface="Calibri" pitchFamily="34" charset="-122"/>
                <a:cs typeface="Calibri" pitchFamily="34" charset="-120"/>
              </a:rPr>
              <a:t>Protection Measures — Availability</a:t>
            </a:r>
            <a:endParaRPr lang="en-US" sz="1200" dirty="0"/>
          </a:p>
        </p:txBody>
      </p:sp>
      <p:sp>
        <p:nvSpPr>
          <p:cNvPr id="19" name="Text 16"/>
          <p:cNvSpPr/>
          <p:nvPr/>
        </p:nvSpPr>
        <p:spPr>
          <a:xfrm>
            <a:off x="4800600" y="2029968"/>
            <a:ext cx="3931920" cy="256032"/>
          </a:xfrm>
          <a:prstGeom prst="rect">
            <a:avLst/>
          </a:prstGeom>
          <a:noFill/>
          <a:ln/>
        </p:spPr>
        <p:txBody>
          <a:bodyPr wrap="square" rtlCol="0" anchor="ctr"/>
          <a:lstStyle/>
          <a:p>
            <a:pPr marL="0" indent="0">
              <a:buNone/>
            </a:pPr>
            <a:r>
              <a:rPr lang="en-US" sz="1050" dirty="0">
                <a:solidFill>
                  <a:srgbClr val="FFEEAA"/>
                </a:solidFill>
                <a:latin typeface="Calibri" pitchFamily="34" charset="0"/>
                <a:ea typeface="Calibri" pitchFamily="34" charset="-122"/>
                <a:cs typeface="Calibri" pitchFamily="34" charset="-120"/>
              </a:rPr>
              <a:t>● Robust Backup &amp; Recovery Systems</a:t>
            </a:r>
            <a:endParaRPr lang="en-US" sz="1050" dirty="0"/>
          </a:p>
        </p:txBody>
      </p:sp>
      <p:sp>
        <p:nvSpPr>
          <p:cNvPr id="20" name="Text 17"/>
          <p:cNvSpPr/>
          <p:nvPr/>
        </p:nvSpPr>
        <p:spPr>
          <a:xfrm>
            <a:off x="4800600" y="2304288"/>
            <a:ext cx="3931920" cy="256032"/>
          </a:xfrm>
          <a:prstGeom prst="rect">
            <a:avLst/>
          </a:prstGeom>
          <a:noFill/>
          <a:ln/>
        </p:spPr>
        <p:txBody>
          <a:bodyPr wrap="square" rtlCol="0" anchor="ctr"/>
          <a:lstStyle/>
          <a:p>
            <a:pPr marL="0" indent="0">
              <a:buNone/>
            </a:pPr>
            <a:r>
              <a:rPr lang="en-US" sz="1050" dirty="0">
                <a:solidFill>
                  <a:srgbClr val="FFEEAA"/>
                </a:solidFill>
                <a:latin typeface="Calibri" pitchFamily="34" charset="0"/>
                <a:ea typeface="Calibri" pitchFamily="34" charset="-122"/>
                <a:cs typeface="Calibri" pitchFamily="34" charset="-120"/>
              </a:rPr>
              <a:t>● Ransomware &amp; Extortion Planning</a:t>
            </a:r>
            <a:endParaRPr lang="en-US" sz="1050" dirty="0"/>
          </a:p>
        </p:txBody>
      </p:sp>
      <p:sp>
        <p:nvSpPr>
          <p:cNvPr id="21" name="Text 18"/>
          <p:cNvSpPr/>
          <p:nvPr/>
        </p:nvSpPr>
        <p:spPr>
          <a:xfrm>
            <a:off x="4800600" y="2578608"/>
            <a:ext cx="3931920" cy="256032"/>
          </a:xfrm>
          <a:prstGeom prst="rect">
            <a:avLst/>
          </a:prstGeom>
          <a:noFill/>
          <a:ln/>
        </p:spPr>
        <p:txBody>
          <a:bodyPr wrap="square" rtlCol="0" anchor="ctr"/>
          <a:lstStyle/>
          <a:p>
            <a:pPr marL="0" indent="0">
              <a:buNone/>
            </a:pPr>
            <a:r>
              <a:rPr lang="en-US" sz="1050" dirty="0">
                <a:solidFill>
                  <a:srgbClr val="FFEEAA"/>
                </a:solidFill>
                <a:latin typeface="Calibri" pitchFamily="34" charset="0"/>
                <a:ea typeface="Calibri" pitchFamily="34" charset="-122"/>
                <a:cs typeface="Calibri" pitchFamily="34" charset="-120"/>
              </a:rPr>
              <a:t>● DDoS Protection</a:t>
            </a:r>
            <a:endParaRPr lang="en-US" sz="1050" dirty="0"/>
          </a:p>
        </p:txBody>
      </p:sp>
      <p:sp>
        <p:nvSpPr>
          <p:cNvPr id="22" name="Text 19"/>
          <p:cNvSpPr/>
          <p:nvPr/>
        </p:nvSpPr>
        <p:spPr>
          <a:xfrm>
            <a:off x="4800600" y="2852928"/>
            <a:ext cx="3931920" cy="256032"/>
          </a:xfrm>
          <a:prstGeom prst="rect">
            <a:avLst/>
          </a:prstGeom>
          <a:noFill/>
          <a:ln/>
        </p:spPr>
        <p:txBody>
          <a:bodyPr wrap="square" rtlCol="0" anchor="ctr"/>
          <a:lstStyle/>
          <a:p>
            <a:pPr marL="0" indent="0">
              <a:buNone/>
            </a:pPr>
            <a:r>
              <a:rPr lang="en-US" sz="1050" dirty="0">
                <a:solidFill>
                  <a:srgbClr val="FFEEAA"/>
                </a:solidFill>
                <a:latin typeface="Calibri" pitchFamily="34" charset="0"/>
                <a:ea typeface="Calibri" pitchFamily="34" charset="-122"/>
                <a:cs typeface="Calibri" pitchFamily="34" charset="-120"/>
              </a:rPr>
              <a:t>● Segmented Networks</a:t>
            </a:r>
            <a:endParaRPr lang="en-US" sz="1050" dirty="0"/>
          </a:p>
        </p:txBody>
      </p:sp>
      <p:sp>
        <p:nvSpPr>
          <p:cNvPr id="23" name="Text 20"/>
          <p:cNvSpPr/>
          <p:nvPr/>
        </p:nvSpPr>
        <p:spPr>
          <a:xfrm>
            <a:off x="4800600" y="3127248"/>
            <a:ext cx="3931920" cy="256032"/>
          </a:xfrm>
          <a:prstGeom prst="rect">
            <a:avLst/>
          </a:prstGeom>
          <a:noFill/>
          <a:ln/>
        </p:spPr>
        <p:txBody>
          <a:bodyPr wrap="square" rtlCol="0" anchor="ctr"/>
          <a:lstStyle/>
          <a:p>
            <a:pPr marL="0" indent="0">
              <a:buNone/>
            </a:pPr>
            <a:r>
              <a:rPr lang="en-US" sz="1050" dirty="0">
                <a:solidFill>
                  <a:srgbClr val="FFEEAA"/>
                </a:solidFill>
                <a:latin typeface="Calibri" pitchFamily="34" charset="0"/>
                <a:ea typeface="Calibri" pitchFamily="34" charset="-122"/>
                <a:cs typeface="Calibri" pitchFamily="34" charset="-120"/>
              </a:rPr>
              <a:t>● AI-Powered Response Tools</a:t>
            </a:r>
            <a:endParaRPr lang="en-US" sz="1050" dirty="0"/>
          </a:p>
        </p:txBody>
      </p:sp>
      <p:sp>
        <p:nvSpPr>
          <p:cNvPr id="24" name="Shape 21"/>
          <p:cNvSpPr/>
          <p:nvPr/>
        </p:nvSpPr>
        <p:spPr>
          <a:xfrm>
            <a:off x="274320" y="4572000"/>
            <a:ext cx="6851694" cy="438912"/>
          </a:xfrm>
          <a:prstGeom prst="rect">
            <a:avLst/>
          </a:prstGeom>
          <a:solidFill>
            <a:srgbClr val="0A1A3A"/>
          </a:solidFill>
          <a:ln w="12700">
            <a:solidFill>
              <a:srgbClr val="20ECE3"/>
            </a:solidFill>
            <a:prstDash val="solid"/>
          </a:ln>
        </p:spPr>
      </p:sp>
      <p:sp>
        <p:nvSpPr>
          <p:cNvPr id="25" name="Text 22"/>
          <p:cNvSpPr/>
          <p:nvPr/>
        </p:nvSpPr>
        <p:spPr>
          <a:xfrm>
            <a:off x="411480" y="4608576"/>
            <a:ext cx="2286000" cy="347472"/>
          </a:xfrm>
          <a:prstGeom prst="rect">
            <a:avLst/>
          </a:prstGeom>
          <a:noFill/>
          <a:ln/>
        </p:spPr>
        <p:txBody>
          <a:bodyPr wrap="square" rtlCol="0" anchor="ctr"/>
          <a:lstStyle/>
          <a:p>
            <a:pPr marL="0" indent="0">
              <a:buNone/>
            </a:pPr>
            <a:r>
              <a:rPr lang="en-US" sz="1200" b="1" dirty="0">
                <a:solidFill>
                  <a:srgbClr val="20ECE3"/>
                </a:solidFill>
                <a:latin typeface="Calibri" pitchFamily="34" charset="0"/>
                <a:ea typeface="Calibri" pitchFamily="34" charset="-122"/>
                <a:cs typeface="Calibri" pitchFamily="34" charset="-120"/>
              </a:rPr>
              <a:t>Implementation Strategy:</a:t>
            </a:r>
            <a:endParaRPr lang="en-US" sz="1200" dirty="0"/>
          </a:p>
        </p:txBody>
      </p:sp>
      <p:sp>
        <p:nvSpPr>
          <p:cNvPr id="26" name="Text 23"/>
          <p:cNvSpPr/>
          <p:nvPr/>
        </p:nvSpPr>
        <p:spPr>
          <a:xfrm>
            <a:off x="2193510" y="4608576"/>
            <a:ext cx="1920240" cy="347472"/>
          </a:xfrm>
          <a:prstGeom prst="rect">
            <a:avLst/>
          </a:prstGeom>
          <a:noFill/>
          <a:ln/>
        </p:spPr>
        <p:txBody>
          <a:bodyPr wrap="square" rtlCol="0" anchor="ctr"/>
          <a:lstStyle/>
          <a:p>
            <a:pPr marL="0" indent="0" algn="ctr">
              <a:buNone/>
            </a:pPr>
            <a:r>
              <a:rPr lang="en-US" sz="1100" b="1" dirty="0">
                <a:solidFill>
                  <a:srgbClr val="22CC22"/>
                </a:solidFill>
                <a:latin typeface="Calibri" pitchFamily="34" charset="0"/>
                <a:ea typeface="Calibri" pitchFamily="34" charset="-122"/>
                <a:cs typeface="Calibri" pitchFamily="34" charset="-120"/>
              </a:rPr>
              <a:t>Deploy &amp; Monitor</a:t>
            </a:r>
            <a:endParaRPr lang="en-US" sz="1100" dirty="0"/>
          </a:p>
        </p:txBody>
      </p:sp>
      <p:sp>
        <p:nvSpPr>
          <p:cNvPr id="27" name="Text 24"/>
          <p:cNvSpPr/>
          <p:nvPr/>
        </p:nvSpPr>
        <p:spPr>
          <a:xfrm>
            <a:off x="3427425" y="4608576"/>
            <a:ext cx="1920240" cy="347472"/>
          </a:xfrm>
          <a:prstGeom prst="rect">
            <a:avLst/>
          </a:prstGeom>
          <a:noFill/>
          <a:ln/>
        </p:spPr>
        <p:txBody>
          <a:bodyPr wrap="square" rtlCol="0" anchor="ctr"/>
          <a:lstStyle/>
          <a:p>
            <a:pPr marL="0" indent="0" algn="ctr">
              <a:buNone/>
            </a:pPr>
            <a:r>
              <a:rPr lang="en-US" sz="1100" b="1" dirty="0">
                <a:solidFill>
                  <a:srgbClr val="FF5555"/>
                </a:solidFill>
                <a:latin typeface="Calibri" pitchFamily="34" charset="0"/>
                <a:ea typeface="Calibri" pitchFamily="34" charset="-122"/>
                <a:cs typeface="Calibri" pitchFamily="34" charset="-120"/>
              </a:rPr>
              <a:t>Audit &amp; Verify</a:t>
            </a:r>
            <a:endParaRPr lang="en-US" sz="1100" dirty="0"/>
          </a:p>
        </p:txBody>
      </p:sp>
      <p:sp>
        <p:nvSpPr>
          <p:cNvPr id="28" name="Text 25"/>
          <p:cNvSpPr/>
          <p:nvPr/>
        </p:nvSpPr>
        <p:spPr>
          <a:xfrm>
            <a:off x="5307730" y="4608576"/>
            <a:ext cx="1336916" cy="347472"/>
          </a:xfrm>
          <a:prstGeom prst="rect">
            <a:avLst/>
          </a:prstGeom>
          <a:noFill/>
          <a:ln/>
        </p:spPr>
        <p:txBody>
          <a:bodyPr wrap="square" rtlCol="0" anchor="ctr"/>
          <a:lstStyle/>
          <a:p>
            <a:pPr marL="0" indent="0" algn="ctr">
              <a:buNone/>
            </a:pPr>
            <a:r>
              <a:rPr lang="en-US" sz="1100" b="1" dirty="0">
                <a:solidFill>
                  <a:srgbClr val="FFD700"/>
                </a:solidFill>
                <a:latin typeface="Calibri" pitchFamily="34" charset="0"/>
                <a:ea typeface="Calibri" pitchFamily="34" charset="-122"/>
                <a:cs typeface="Calibri" pitchFamily="34" charset="-120"/>
              </a:rPr>
              <a:t>Maintain &amp; Protect</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FF8FA"/>
        </a:solidFill>
        <a:effectLst/>
      </p:bgPr>
    </p:bg>
    <p:spTree>
      <p:nvGrpSpPr>
        <p:cNvPr id="1" name=""/>
        <p:cNvGrpSpPr/>
        <p:nvPr/>
      </p:nvGrpSpPr>
      <p:grpSpPr>
        <a:xfrm>
          <a:off x="0" y="0"/>
          <a:ext cx="0" cy="0"/>
          <a:chOff x="0" y="0"/>
          <a:chExt cx="0" cy="0"/>
        </a:xfrm>
      </p:grpSpPr>
      <p:sp>
        <p:nvSpPr>
          <p:cNvPr id="2" name="Text 0"/>
          <p:cNvSpPr/>
          <p:nvPr/>
        </p:nvSpPr>
        <p:spPr>
          <a:xfrm>
            <a:off x="274320" y="73152"/>
            <a:ext cx="8595360" cy="530352"/>
          </a:xfrm>
          <a:prstGeom prst="rect">
            <a:avLst/>
          </a:prstGeom>
          <a:noFill/>
          <a:ln/>
        </p:spPr>
        <p:txBody>
          <a:bodyPr wrap="square" rtlCol="0" anchor="ctr"/>
          <a:lstStyle/>
          <a:p>
            <a:pPr marL="0" indent="0" algn="ctr">
              <a:buNone/>
            </a:pPr>
            <a:r>
              <a:rPr lang="en-US" sz="2800" b="1" dirty="0">
                <a:solidFill>
                  <a:srgbClr val="0D3D52"/>
                </a:solidFill>
                <a:latin typeface="Calibri" pitchFamily="34" charset="0"/>
                <a:ea typeface="Calibri" pitchFamily="34" charset="-122"/>
                <a:cs typeface="Calibri" pitchFamily="34" charset="-120"/>
              </a:rPr>
              <a:t>CYBERSECURITY BEST PRACTICES</a:t>
            </a:r>
            <a:endParaRPr lang="en-US" sz="2800" dirty="0"/>
          </a:p>
        </p:txBody>
      </p:sp>
      <p:sp>
        <p:nvSpPr>
          <p:cNvPr id="3" name="Text 1"/>
          <p:cNvSpPr/>
          <p:nvPr/>
        </p:nvSpPr>
        <p:spPr>
          <a:xfrm>
            <a:off x="274320" y="640080"/>
            <a:ext cx="8595360" cy="502920"/>
          </a:xfrm>
          <a:prstGeom prst="rect">
            <a:avLst/>
          </a:prstGeom>
          <a:noFill/>
          <a:ln/>
        </p:spPr>
        <p:txBody>
          <a:bodyPr wrap="square" rtlCol="0" anchor="ctr"/>
          <a:lstStyle/>
          <a:p>
            <a:pPr marL="0" indent="0" algn="ctr">
              <a:buNone/>
            </a:pPr>
            <a:r>
              <a:rPr lang="en-US" sz="1100" dirty="0">
                <a:solidFill>
                  <a:srgbClr val="4A6572"/>
                </a:solidFill>
                <a:latin typeface="Calibri" pitchFamily="34" charset="0"/>
                <a:ea typeface="Calibri" pitchFamily="34" charset="-122"/>
                <a:cs typeface="Calibri" pitchFamily="34" charset="-120"/>
              </a:rPr>
              <a:t>Cybersecurity best practices include robust access controls, regular software updates, strong password policies, multi-factor authentication, data encryption, and comprehensive incident response plans.</a:t>
            </a:r>
            <a:endParaRPr lang="en-US" sz="1100" dirty="0"/>
          </a:p>
        </p:txBody>
      </p:sp>
      <p:pic>
        <p:nvPicPr>
          <p:cNvPr id="4" name="Image 0" descr="preencoded.png"/>
          <p:cNvPicPr>
            <a:picLocks noChangeAspect="1"/>
          </p:cNvPicPr>
          <p:nvPr/>
        </p:nvPicPr>
        <p:blipFill>
          <a:blip r:embed="rId3"/>
          <a:stretch>
            <a:fillRect/>
          </a:stretch>
        </p:blipFill>
        <p:spPr>
          <a:xfrm>
            <a:off x="3611880" y="1554480"/>
            <a:ext cx="1920240" cy="1920240"/>
          </a:xfrm>
          <a:prstGeom prst="rect">
            <a:avLst/>
          </a:prstGeom>
        </p:spPr>
      </p:pic>
      <p:pic>
        <p:nvPicPr>
          <p:cNvPr id="5" name="Image 1" descr="preencoded.png"/>
          <p:cNvPicPr>
            <a:picLocks noChangeAspect="1"/>
          </p:cNvPicPr>
          <p:nvPr/>
        </p:nvPicPr>
        <p:blipFill>
          <a:blip r:embed="rId4"/>
          <a:stretch>
            <a:fillRect/>
          </a:stretch>
        </p:blipFill>
        <p:spPr>
          <a:xfrm>
            <a:off x="228600" y="1234440"/>
            <a:ext cx="384048" cy="384048"/>
          </a:xfrm>
          <a:prstGeom prst="rect">
            <a:avLst/>
          </a:prstGeom>
        </p:spPr>
      </p:pic>
      <p:sp>
        <p:nvSpPr>
          <p:cNvPr id="6" name="Text 2"/>
          <p:cNvSpPr/>
          <p:nvPr/>
        </p:nvSpPr>
        <p:spPr>
          <a:xfrm>
            <a:off x="685800" y="1261872"/>
            <a:ext cx="269748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Use strong passwords</a:t>
            </a:r>
            <a:endParaRPr lang="en-US" sz="1150" dirty="0"/>
          </a:p>
        </p:txBody>
      </p:sp>
      <p:pic>
        <p:nvPicPr>
          <p:cNvPr id="7" name="Image 2" descr="preencoded.png"/>
          <p:cNvPicPr>
            <a:picLocks noChangeAspect="1"/>
          </p:cNvPicPr>
          <p:nvPr/>
        </p:nvPicPr>
        <p:blipFill>
          <a:blip r:embed="rId5"/>
          <a:stretch>
            <a:fillRect/>
          </a:stretch>
        </p:blipFill>
        <p:spPr>
          <a:xfrm>
            <a:off x="228600" y="1737360"/>
            <a:ext cx="384048" cy="384048"/>
          </a:xfrm>
          <a:prstGeom prst="rect">
            <a:avLst/>
          </a:prstGeom>
        </p:spPr>
      </p:pic>
      <p:sp>
        <p:nvSpPr>
          <p:cNvPr id="8" name="Text 3"/>
          <p:cNvSpPr/>
          <p:nvPr/>
        </p:nvSpPr>
        <p:spPr>
          <a:xfrm>
            <a:off x="685800" y="1764792"/>
            <a:ext cx="269748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Enable 2-factor authentication</a:t>
            </a:r>
            <a:endParaRPr lang="en-US" sz="1150" dirty="0"/>
          </a:p>
        </p:txBody>
      </p:sp>
      <p:pic>
        <p:nvPicPr>
          <p:cNvPr id="9" name="Image 3" descr="preencoded.png"/>
          <p:cNvPicPr>
            <a:picLocks noChangeAspect="1"/>
          </p:cNvPicPr>
          <p:nvPr/>
        </p:nvPicPr>
        <p:blipFill>
          <a:blip r:embed="rId6"/>
          <a:stretch>
            <a:fillRect/>
          </a:stretch>
        </p:blipFill>
        <p:spPr>
          <a:xfrm>
            <a:off x="228600" y="2240280"/>
            <a:ext cx="384048" cy="384048"/>
          </a:xfrm>
          <a:prstGeom prst="rect">
            <a:avLst/>
          </a:prstGeom>
        </p:spPr>
      </p:pic>
      <p:sp>
        <p:nvSpPr>
          <p:cNvPr id="10" name="Text 4"/>
          <p:cNvSpPr/>
          <p:nvPr/>
        </p:nvSpPr>
        <p:spPr>
          <a:xfrm>
            <a:off x="685800" y="2267712"/>
            <a:ext cx="269748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Backup data regularly</a:t>
            </a:r>
            <a:endParaRPr lang="en-US" sz="1150" dirty="0"/>
          </a:p>
        </p:txBody>
      </p:sp>
      <p:pic>
        <p:nvPicPr>
          <p:cNvPr id="11" name="Image 4" descr="preencoded.png"/>
          <p:cNvPicPr>
            <a:picLocks noChangeAspect="1"/>
          </p:cNvPicPr>
          <p:nvPr/>
        </p:nvPicPr>
        <p:blipFill>
          <a:blip r:embed="rId7"/>
          <a:stretch>
            <a:fillRect/>
          </a:stretch>
        </p:blipFill>
        <p:spPr>
          <a:xfrm>
            <a:off x="228600" y="2743200"/>
            <a:ext cx="384048" cy="384048"/>
          </a:xfrm>
          <a:prstGeom prst="rect">
            <a:avLst/>
          </a:prstGeom>
        </p:spPr>
      </p:pic>
      <p:sp>
        <p:nvSpPr>
          <p:cNvPr id="12" name="Text 5"/>
          <p:cNvSpPr/>
          <p:nvPr/>
        </p:nvSpPr>
        <p:spPr>
          <a:xfrm>
            <a:off x="685800" y="2770632"/>
            <a:ext cx="269748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Adopt zero-trust security</a:t>
            </a:r>
            <a:endParaRPr lang="en-US" sz="1150" dirty="0"/>
          </a:p>
        </p:txBody>
      </p:sp>
      <p:pic>
        <p:nvPicPr>
          <p:cNvPr id="13" name="Image 5" descr="preencoded.png"/>
          <p:cNvPicPr>
            <a:picLocks noChangeAspect="1"/>
          </p:cNvPicPr>
          <p:nvPr/>
        </p:nvPicPr>
        <p:blipFill>
          <a:blip r:embed="rId8"/>
          <a:stretch>
            <a:fillRect/>
          </a:stretch>
        </p:blipFill>
        <p:spPr>
          <a:xfrm>
            <a:off x="228600" y="3246120"/>
            <a:ext cx="384048" cy="384048"/>
          </a:xfrm>
          <a:prstGeom prst="rect">
            <a:avLst/>
          </a:prstGeom>
        </p:spPr>
      </p:pic>
      <p:sp>
        <p:nvSpPr>
          <p:cNvPr id="14" name="Text 6"/>
          <p:cNvSpPr/>
          <p:nvPr/>
        </p:nvSpPr>
        <p:spPr>
          <a:xfrm>
            <a:off x="685800" y="3273552"/>
            <a:ext cx="269748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Centralize security management</a:t>
            </a:r>
            <a:endParaRPr lang="en-US" sz="1150" dirty="0"/>
          </a:p>
        </p:txBody>
      </p:sp>
      <p:pic>
        <p:nvPicPr>
          <p:cNvPr id="15" name="Image 6" descr="preencoded.png"/>
          <p:cNvPicPr>
            <a:picLocks noChangeAspect="1"/>
          </p:cNvPicPr>
          <p:nvPr/>
        </p:nvPicPr>
        <p:blipFill>
          <a:blip r:embed="rId9"/>
          <a:stretch>
            <a:fillRect/>
          </a:stretch>
        </p:blipFill>
        <p:spPr>
          <a:xfrm>
            <a:off x="228600" y="3749040"/>
            <a:ext cx="384048" cy="384048"/>
          </a:xfrm>
          <a:prstGeom prst="rect">
            <a:avLst/>
          </a:prstGeom>
        </p:spPr>
      </p:pic>
      <p:sp>
        <p:nvSpPr>
          <p:cNvPr id="16" name="Text 7"/>
          <p:cNvSpPr/>
          <p:nvPr/>
        </p:nvSpPr>
        <p:spPr>
          <a:xfrm>
            <a:off x="685800" y="3776472"/>
            <a:ext cx="269748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Conduct regular cybersecurity audits</a:t>
            </a:r>
            <a:endParaRPr lang="en-US" sz="1150" dirty="0"/>
          </a:p>
        </p:txBody>
      </p:sp>
      <p:pic>
        <p:nvPicPr>
          <p:cNvPr id="17" name="Image 7" descr="preencoded.png"/>
          <p:cNvPicPr>
            <a:picLocks noChangeAspect="1"/>
          </p:cNvPicPr>
          <p:nvPr/>
        </p:nvPicPr>
        <p:blipFill>
          <a:blip r:embed="rId10"/>
          <a:stretch>
            <a:fillRect/>
          </a:stretch>
        </p:blipFill>
        <p:spPr>
          <a:xfrm>
            <a:off x="228600" y="4251960"/>
            <a:ext cx="384048" cy="384048"/>
          </a:xfrm>
          <a:prstGeom prst="rect">
            <a:avLst/>
          </a:prstGeom>
        </p:spPr>
      </p:pic>
      <p:sp>
        <p:nvSpPr>
          <p:cNvPr id="18" name="Text 8"/>
          <p:cNvSpPr/>
          <p:nvPr/>
        </p:nvSpPr>
        <p:spPr>
          <a:xfrm>
            <a:off x="685800" y="4279392"/>
            <a:ext cx="269748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Be wary of phishing</a:t>
            </a:r>
            <a:endParaRPr lang="en-US" sz="1150" dirty="0"/>
          </a:p>
        </p:txBody>
      </p:sp>
      <p:pic>
        <p:nvPicPr>
          <p:cNvPr id="19" name="Image 8" descr="preencoded.png"/>
          <p:cNvPicPr>
            <a:picLocks noChangeAspect="1"/>
          </p:cNvPicPr>
          <p:nvPr/>
        </p:nvPicPr>
        <p:blipFill>
          <a:blip r:embed="rId11"/>
          <a:stretch>
            <a:fillRect/>
          </a:stretch>
        </p:blipFill>
        <p:spPr>
          <a:xfrm>
            <a:off x="5788152" y="1234440"/>
            <a:ext cx="384048" cy="384048"/>
          </a:xfrm>
          <a:prstGeom prst="rect">
            <a:avLst/>
          </a:prstGeom>
        </p:spPr>
      </p:pic>
      <p:sp>
        <p:nvSpPr>
          <p:cNvPr id="20" name="Text 9"/>
          <p:cNvSpPr/>
          <p:nvPr/>
        </p:nvSpPr>
        <p:spPr>
          <a:xfrm>
            <a:off x="6245352" y="1261872"/>
            <a:ext cx="265176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Encrypt files</a:t>
            </a:r>
            <a:endParaRPr lang="en-US" sz="1150" dirty="0"/>
          </a:p>
        </p:txBody>
      </p:sp>
      <p:pic>
        <p:nvPicPr>
          <p:cNvPr id="21" name="Image 9" descr="preencoded.png"/>
          <p:cNvPicPr>
            <a:picLocks noChangeAspect="1"/>
          </p:cNvPicPr>
          <p:nvPr/>
        </p:nvPicPr>
        <p:blipFill>
          <a:blip r:embed="rId12"/>
          <a:stretch>
            <a:fillRect/>
          </a:stretch>
        </p:blipFill>
        <p:spPr>
          <a:xfrm>
            <a:off x="5788152" y="1737360"/>
            <a:ext cx="384048" cy="384048"/>
          </a:xfrm>
          <a:prstGeom prst="rect">
            <a:avLst/>
          </a:prstGeom>
        </p:spPr>
      </p:pic>
      <p:sp>
        <p:nvSpPr>
          <p:cNvPr id="22" name="Text 10"/>
          <p:cNvSpPr/>
          <p:nvPr/>
        </p:nvSpPr>
        <p:spPr>
          <a:xfrm>
            <a:off x="6245352" y="1764792"/>
            <a:ext cx="265176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Avoid using public networks</a:t>
            </a:r>
            <a:endParaRPr lang="en-US" sz="1150" dirty="0"/>
          </a:p>
        </p:txBody>
      </p:sp>
      <p:pic>
        <p:nvPicPr>
          <p:cNvPr id="23" name="Image 10" descr="preencoded.png"/>
          <p:cNvPicPr>
            <a:picLocks noChangeAspect="1"/>
          </p:cNvPicPr>
          <p:nvPr/>
        </p:nvPicPr>
        <p:blipFill>
          <a:blip r:embed="rId13"/>
          <a:stretch>
            <a:fillRect/>
          </a:stretch>
        </p:blipFill>
        <p:spPr>
          <a:xfrm>
            <a:off x="5788152" y="2240280"/>
            <a:ext cx="384048" cy="384048"/>
          </a:xfrm>
          <a:prstGeom prst="rect">
            <a:avLst/>
          </a:prstGeom>
        </p:spPr>
      </p:pic>
      <p:sp>
        <p:nvSpPr>
          <p:cNvPr id="24" name="Text 11"/>
          <p:cNvSpPr/>
          <p:nvPr/>
        </p:nvSpPr>
        <p:spPr>
          <a:xfrm>
            <a:off x="6245352" y="2267712"/>
            <a:ext cx="265176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Be wary of phishing (email)</a:t>
            </a:r>
            <a:endParaRPr lang="en-US" sz="1150" dirty="0"/>
          </a:p>
        </p:txBody>
      </p:sp>
      <p:pic>
        <p:nvPicPr>
          <p:cNvPr id="25" name="Image 11" descr="preencoded.png"/>
          <p:cNvPicPr>
            <a:picLocks noChangeAspect="1"/>
          </p:cNvPicPr>
          <p:nvPr/>
        </p:nvPicPr>
        <p:blipFill>
          <a:blip r:embed="rId14"/>
          <a:stretch>
            <a:fillRect/>
          </a:stretch>
        </p:blipFill>
        <p:spPr>
          <a:xfrm>
            <a:off x="5788152" y="2743200"/>
            <a:ext cx="384048" cy="384048"/>
          </a:xfrm>
          <a:prstGeom prst="rect">
            <a:avLst/>
          </a:prstGeom>
        </p:spPr>
      </p:pic>
      <p:sp>
        <p:nvSpPr>
          <p:cNvPr id="26" name="Text 12"/>
          <p:cNvSpPr/>
          <p:nvPr/>
        </p:nvSpPr>
        <p:spPr>
          <a:xfrm>
            <a:off x="6245352" y="2770632"/>
            <a:ext cx="265176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Disable remote connectivity</a:t>
            </a:r>
            <a:endParaRPr lang="en-US" sz="1150" dirty="0"/>
          </a:p>
        </p:txBody>
      </p:sp>
      <p:pic>
        <p:nvPicPr>
          <p:cNvPr id="27" name="Image 12" descr="preencoded.png"/>
          <p:cNvPicPr>
            <a:picLocks noChangeAspect="1"/>
          </p:cNvPicPr>
          <p:nvPr/>
        </p:nvPicPr>
        <p:blipFill>
          <a:blip r:embed="rId9"/>
          <a:stretch>
            <a:fillRect/>
          </a:stretch>
        </p:blipFill>
        <p:spPr>
          <a:xfrm>
            <a:off x="5788152" y="3246120"/>
            <a:ext cx="384048" cy="384048"/>
          </a:xfrm>
          <a:prstGeom prst="rect">
            <a:avLst/>
          </a:prstGeom>
        </p:spPr>
      </p:pic>
      <p:sp>
        <p:nvSpPr>
          <p:cNvPr id="28" name="Text 13"/>
          <p:cNvSpPr/>
          <p:nvPr/>
        </p:nvSpPr>
        <p:spPr>
          <a:xfrm>
            <a:off x="6245352" y="3273552"/>
            <a:ext cx="265176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Vulnerability scanning &amp; patching</a:t>
            </a:r>
            <a:endParaRPr lang="en-US" sz="1150" dirty="0"/>
          </a:p>
        </p:txBody>
      </p:sp>
      <p:pic>
        <p:nvPicPr>
          <p:cNvPr id="29" name="Image 13" descr="preencoded.png"/>
          <p:cNvPicPr>
            <a:picLocks noChangeAspect="1"/>
          </p:cNvPicPr>
          <p:nvPr/>
        </p:nvPicPr>
        <p:blipFill>
          <a:blip r:embed="rId15"/>
          <a:stretch>
            <a:fillRect/>
          </a:stretch>
        </p:blipFill>
        <p:spPr>
          <a:xfrm>
            <a:off x="5788152" y="3749040"/>
            <a:ext cx="384048" cy="384048"/>
          </a:xfrm>
          <a:prstGeom prst="rect">
            <a:avLst/>
          </a:prstGeom>
        </p:spPr>
      </p:pic>
      <p:sp>
        <p:nvSpPr>
          <p:cNvPr id="30" name="Text 14"/>
          <p:cNvSpPr/>
          <p:nvPr/>
        </p:nvSpPr>
        <p:spPr>
          <a:xfrm>
            <a:off x="6245352" y="3776472"/>
            <a:ext cx="265176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Invest in security upgrades</a:t>
            </a:r>
            <a:endParaRPr lang="en-US" sz="1150" dirty="0"/>
          </a:p>
        </p:txBody>
      </p:sp>
      <p:pic>
        <p:nvPicPr>
          <p:cNvPr id="31" name="Image 14" descr="preencoded.png"/>
          <p:cNvPicPr>
            <a:picLocks noChangeAspect="1"/>
          </p:cNvPicPr>
          <p:nvPr/>
        </p:nvPicPr>
        <p:blipFill>
          <a:blip r:embed="rId16"/>
          <a:stretch>
            <a:fillRect/>
          </a:stretch>
        </p:blipFill>
        <p:spPr>
          <a:xfrm>
            <a:off x="5788152" y="4251960"/>
            <a:ext cx="384048" cy="384048"/>
          </a:xfrm>
          <a:prstGeom prst="rect">
            <a:avLst/>
          </a:prstGeom>
        </p:spPr>
      </p:pic>
      <p:sp>
        <p:nvSpPr>
          <p:cNvPr id="32" name="Text 15"/>
          <p:cNvSpPr/>
          <p:nvPr/>
        </p:nvSpPr>
        <p:spPr>
          <a:xfrm>
            <a:off x="6245352" y="4224029"/>
            <a:ext cx="265176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Keep software up to date</a:t>
            </a:r>
            <a:endParaRPr lang="en-US" sz="1150" dirty="0"/>
          </a:p>
        </p:txBody>
      </p:sp>
      <p:pic>
        <p:nvPicPr>
          <p:cNvPr id="33" name="Image 15" descr="preencoded.png"/>
          <p:cNvPicPr>
            <a:picLocks noChangeAspect="1"/>
          </p:cNvPicPr>
          <p:nvPr/>
        </p:nvPicPr>
        <p:blipFill>
          <a:blip r:embed="rId17"/>
          <a:stretch>
            <a:fillRect/>
          </a:stretch>
        </p:blipFill>
        <p:spPr>
          <a:xfrm>
            <a:off x="3227832" y="4636008"/>
            <a:ext cx="384048" cy="384048"/>
          </a:xfrm>
          <a:prstGeom prst="rect">
            <a:avLst/>
          </a:prstGeom>
        </p:spPr>
      </p:pic>
      <p:sp>
        <p:nvSpPr>
          <p:cNvPr id="34" name="Text 16"/>
          <p:cNvSpPr/>
          <p:nvPr/>
        </p:nvSpPr>
        <p:spPr>
          <a:xfrm>
            <a:off x="3695437" y="4698387"/>
            <a:ext cx="2651760" cy="365760"/>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Educate and Train employees</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37160"/>
            <a:ext cx="8321040" cy="685800"/>
          </a:xfrm>
          <a:prstGeom prst="rect">
            <a:avLst/>
          </a:prstGeom>
          <a:noFill/>
          <a:ln/>
        </p:spPr>
        <p:txBody>
          <a:bodyPr wrap="square" rtlCol="0" anchor="ctr"/>
          <a:lstStyle/>
          <a:p>
            <a:pPr marL="0" indent="0">
              <a:buNone/>
            </a:pPr>
            <a:r>
              <a:rPr lang="en-US" sz="1800" b="1" dirty="0">
                <a:solidFill>
                  <a:srgbClr val="0D3D52"/>
                </a:solidFill>
                <a:latin typeface="Calibri" pitchFamily="34" charset="0"/>
                <a:ea typeface="Calibri" pitchFamily="34" charset="-122"/>
                <a:cs typeface="Calibri" pitchFamily="34" charset="-120"/>
              </a:rPr>
              <a:t>Cyber Security and Co-relation with Industry Standards,</a:t>
            </a:r>
            <a:endParaRPr lang="en-US" sz="1800" dirty="0"/>
          </a:p>
          <a:p>
            <a:pPr marL="0" indent="0">
              <a:buNone/>
            </a:pPr>
            <a:r>
              <a:rPr lang="en-US" sz="1800" b="1" dirty="0">
                <a:solidFill>
                  <a:srgbClr val="0D3D52"/>
                </a:solidFill>
                <a:latin typeface="Calibri" pitchFamily="34" charset="0"/>
                <a:ea typeface="Calibri" pitchFamily="34" charset="-122"/>
                <a:cs typeface="Calibri" pitchFamily="34" charset="-120"/>
              </a:rPr>
              <a:t>Compliance and Regulatory Laws</a:t>
            </a:r>
            <a:endParaRPr lang="en-US" sz="1800" dirty="0"/>
          </a:p>
        </p:txBody>
      </p:sp>
      <p:pic>
        <p:nvPicPr>
          <p:cNvPr id="5" name="Image 0" descr="preencoded.png"/>
          <p:cNvPicPr>
            <a:picLocks noChangeAspect="1"/>
          </p:cNvPicPr>
          <p:nvPr/>
        </p:nvPicPr>
        <p:blipFill>
          <a:blip r:embed="rId3"/>
          <a:stretch>
            <a:fillRect/>
          </a:stretch>
        </p:blipFill>
        <p:spPr>
          <a:xfrm>
            <a:off x="274320" y="960120"/>
            <a:ext cx="8595360" cy="3429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International Standards &amp; Frameworks</a:t>
            </a:r>
            <a:endParaRPr lang="en-US" sz="2400" dirty="0"/>
          </a:p>
        </p:txBody>
      </p:sp>
      <p:sp>
        <p:nvSpPr>
          <p:cNvPr id="5" name="Shape 3"/>
          <p:cNvSpPr/>
          <p:nvPr/>
        </p:nvSpPr>
        <p:spPr>
          <a:xfrm>
            <a:off x="411480" y="804672"/>
            <a:ext cx="8321040" cy="694944"/>
          </a:xfrm>
          <a:prstGeom prst="rect">
            <a:avLst/>
          </a:prstGeom>
          <a:solidFill>
            <a:srgbClr val="F5F9FA"/>
          </a:solidFill>
          <a:ln w="19050">
            <a:solidFill>
              <a:srgbClr val="053E51"/>
            </a:solidFill>
            <a:prstDash val="solid"/>
          </a:ln>
        </p:spPr>
      </p:sp>
      <p:sp>
        <p:nvSpPr>
          <p:cNvPr id="6" name="Shape 4"/>
          <p:cNvSpPr/>
          <p:nvPr/>
        </p:nvSpPr>
        <p:spPr>
          <a:xfrm>
            <a:off x="411480" y="804672"/>
            <a:ext cx="73152" cy="694944"/>
          </a:xfrm>
          <a:prstGeom prst="rect">
            <a:avLst/>
          </a:prstGeom>
          <a:solidFill>
            <a:srgbClr val="053E51"/>
          </a:solidFill>
          <a:ln w="12700">
            <a:solidFill>
              <a:srgbClr val="053E51"/>
            </a:solidFill>
            <a:prstDash val="solid"/>
          </a:ln>
        </p:spPr>
      </p:sp>
      <p:sp>
        <p:nvSpPr>
          <p:cNvPr id="7" name="Text 5"/>
          <p:cNvSpPr/>
          <p:nvPr/>
        </p:nvSpPr>
        <p:spPr>
          <a:xfrm>
            <a:off x="594360" y="841248"/>
            <a:ext cx="2286000" cy="274320"/>
          </a:xfrm>
          <a:prstGeom prst="rect">
            <a:avLst/>
          </a:prstGeom>
          <a:noFill/>
          <a:ln/>
        </p:spPr>
        <p:txBody>
          <a:bodyPr wrap="square" rtlCol="0" anchor="ctr"/>
          <a:lstStyle/>
          <a:p>
            <a:pPr marL="0" indent="0">
              <a:buNone/>
            </a:pPr>
            <a:r>
              <a:rPr lang="en-US" sz="1250" b="1" dirty="0">
                <a:solidFill>
                  <a:srgbClr val="0D3D52"/>
                </a:solidFill>
                <a:latin typeface="Calibri" pitchFamily="34" charset="0"/>
                <a:ea typeface="Calibri" pitchFamily="34" charset="-122"/>
                <a:cs typeface="Calibri" pitchFamily="34" charset="-120"/>
              </a:rPr>
              <a:t>ISO/IEC 27001 (ISMS)</a:t>
            </a:r>
            <a:endParaRPr lang="en-US" sz="1250" dirty="0"/>
          </a:p>
        </p:txBody>
      </p:sp>
      <p:sp>
        <p:nvSpPr>
          <p:cNvPr id="8" name="Text 6"/>
          <p:cNvSpPr/>
          <p:nvPr/>
        </p:nvSpPr>
        <p:spPr>
          <a:xfrm>
            <a:off x="594360" y="1133856"/>
            <a:ext cx="7955280" cy="320040"/>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Formal framework for establishing, operating, monitoring, reviewing, and improving the Information Security Management System (ISMS).</a:t>
            </a:r>
            <a:endParaRPr lang="en-US" sz="1150" dirty="0"/>
          </a:p>
        </p:txBody>
      </p:sp>
      <p:sp>
        <p:nvSpPr>
          <p:cNvPr id="9" name="Shape 7"/>
          <p:cNvSpPr/>
          <p:nvPr/>
        </p:nvSpPr>
        <p:spPr>
          <a:xfrm>
            <a:off x="411480" y="1609344"/>
            <a:ext cx="8321040" cy="694944"/>
          </a:xfrm>
          <a:prstGeom prst="rect">
            <a:avLst/>
          </a:prstGeom>
          <a:solidFill>
            <a:srgbClr val="F5F9FA"/>
          </a:solidFill>
          <a:ln w="19050">
            <a:solidFill>
              <a:srgbClr val="0D6E7E"/>
            </a:solidFill>
            <a:prstDash val="solid"/>
          </a:ln>
        </p:spPr>
      </p:sp>
      <p:sp>
        <p:nvSpPr>
          <p:cNvPr id="10" name="Shape 8"/>
          <p:cNvSpPr/>
          <p:nvPr/>
        </p:nvSpPr>
        <p:spPr>
          <a:xfrm>
            <a:off x="411480" y="1609344"/>
            <a:ext cx="73152" cy="694944"/>
          </a:xfrm>
          <a:prstGeom prst="rect">
            <a:avLst/>
          </a:prstGeom>
          <a:solidFill>
            <a:srgbClr val="0D6E7E"/>
          </a:solidFill>
          <a:ln w="12700">
            <a:solidFill>
              <a:srgbClr val="0D6E7E"/>
            </a:solidFill>
            <a:prstDash val="solid"/>
          </a:ln>
        </p:spPr>
      </p:sp>
      <p:sp>
        <p:nvSpPr>
          <p:cNvPr id="11" name="Text 9"/>
          <p:cNvSpPr/>
          <p:nvPr/>
        </p:nvSpPr>
        <p:spPr>
          <a:xfrm>
            <a:off x="594360" y="1645920"/>
            <a:ext cx="2286000" cy="274320"/>
          </a:xfrm>
          <a:prstGeom prst="rect">
            <a:avLst/>
          </a:prstGeom>
          <a:noFill/>
          <a:ln/>
        </p:spPr>
        <p:txBody>
          <a:bodyPr wrap="square" rtlCol="0" anchor="ctr"/>
          <a:lstStyle/>
          <a:p>
            <a:pPr marL="0" indent="0">
              <a:buNone/>
            </a:pPr>
            <a:r>
              <a:rPr lang="en-US" sz="1250" b="1" dirty="0">
                <a:solidFill>
                  <a:srgbClr val="0D3D52"/>
                </a:solidFill>
                <a:latin typeface="Calibri" pitchFamily="34" charset="0"/>
                <a:ea typeface="Calibri" pitchFamily="34" charset="-122"/>
                <a:cs typeface="Calibri" pitchFamily="34" charset="-120"/>
              </a:rPr>
              <a:t>NIST Cybersecurity Framework (CSF)</a:t>
            </a:r>
            <a:endParaRPr lang="en-US" sz="1250" dirty="0"/>
          </a:p>
        </p:txBody>
      </p:sp>
      <p:sp>
        <p:nvSpPr>
          <p:cNvPr id="12" name="Text 10"/>
          <p:cNvSpPr/>
          <p:nvPr/>
        </p:nvSpPr>
        <p:spPr>
          <a:xfrm>
            <a:off x="594360" y="1938528"/>
            <a:ext cx="7955280" cy="320040"/>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Voluntary, risk-based controls across five core functions: Identify, Protect, Detect, Respond, Recover.</a:t>
            </a:r>
            <a:endParaRPr lang="en-US" sz="1150" dirty="0"/>
          </a:p>
        </p:txBody>
      </p:sp>
      <p:sp>
        <p:nvSpPr>
          <p:cNvPr id="13" name="Shape 11"/>
          <p:cNvSpPr/>
          <p:nvPr/>
        </p:nvSpPr>
        <p:spPr>
          <a:xfrm>
            <a:off x="411480" y="2414016"/>
            <a:ext cx="8321040" cy="694944"/>
          </a:xfrm>
          <a:prstGeom prst="rect">
            <a:avLst/>
          </a:prstGeom>
          <a:solidFill>
            <a:srgbClr val="F5F9FA"/>
          </a:solidFill>
          <a:ln w="19050">
            <a:solidFill>
              <a:srgbClr val="1A8FA0"/>
            </a:solidFill>
            <a:prstDash val="solid"/>
          </a:ln>
        </p:spPr>
      </p:sp>
      <p:sp>
        <p:nvSpPr>
          <p:cNvPr id="14" name="Shape 12"/>
          <p:cNvSpPr/>
          <p:nvPr/>
        </p:nvSpPr>
        <p:spPr>
          <a:xfrm>
            <a:off x="411480" y="2414016"/>
            <a:ext cx="73152" cy="694944"/>
          </a:xfrm>
          <a:prstGeom prst="rect">
            <a:avLst/>
          </a:prstGeom>
          <a:solidFill>
            <a:srgbClr val="1A8FA0"/>
          </a:solidFill>
          <a:ln w="12700">
            <a:solidFill>
              <a:srgbClr val="1A8FA0"/>
            </a:solidFill>
            <a:prstDash val="solid"/>
          </a:ln>
        </p:spPr>
      </p:sp>
      <p:sp>
        <p:nvSpPr>
          <p:cNvPr id="15" name="Text 13"/>
          <p:cNvSpPr/>
          <p:nvPr/>
        </p:nvSpPr>
        <p:spPr>
          <a:xfrm>
            <a:off x="594360" y="2450592"/>
            <a:ext cx="2286000" cy="274320"/>
          </a:xfrm>
          <a:prstGeom prst="rect">
            <a:avLst/>
          </a:prstGeom>
          <a:noFill/>
          <a:ln/>
        </p:spPr>
        <p:txBody>
          <a:bodyPr wrap="square" rtlCol="0" anchor="ctr"/>
          <a:lstStyle/>
          <a:p>
            <a:pPr marL="0" indent="0">
              <a:buNone/>
            </a:pPr>
            <a:r>
              <a:rPr lang="en-US" sz="1250" b="1" dirty="0">
                <a:solidFill>
                  <a:srgbClr val="0D3D52"/>
                </a:solidFill>
                <a:latin typeface="Calibri" pitchFamily="34" charset="0"/>
                <a:ea typeface="Calibri" pitchFamily="34" charset="-122"/>
                <a:cs typeface="Calibri" pitchFamily="34" charset="-120"/>
              </a:rPr>
              <a:t>IEC 62443</a:t>
            </a:r>
            <a:endParaRPr lang="en-US" sz="1250" dirty="0"/>
          </a:p>
        </p:txBody>
      </p:sp>
      <p:sp>
        <p:nvSpPr>
          <p:cNvPr id="16" name="Text 14"/>
          <p:cNvSpPr/>
          <p:nvPr/>
        </p:nvSpPr>
        <p:spPr>
          <a:xfrm>
            <a:off x="594360" y="2743200"/>
            <a:ext cx="7955280" cy="320040"/>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Industrial automation and control systems (OT) — mandates secure architecture, component management, and supply-chain auditing.</a:t>
            </a:r>
            <a:endParaRPr lang="en-US" sz="1150" dirty="0"/>
          </a:p>
        </p:txBody>
      </p:sp>
      <p:sp>
        <p:nvSpPr>
          <p:cNvPr id="17" name="Shape 15"/>
          <p:cNvSpPr/>
          <p:nvPr/>
        </p:nvSpPr>
        <p:spPr>
          <a:xfrm>
            <a:off x="411480" y="3218688"/>
            <a:ext cx="8321040" cy="694944"/>
          </a:xfrm>
          <a:prstGeom prst="rect">
            <a:avLst/>
          </a:prstGeom>
          <a:solidFill>
            <a:srgbClr val="F5F9FA"/>
          </a:solidFill>
          <a:ln w="19050">
            <a:solidFill>
              <a:srgbClr val="C8601A"/>
            </a:solidFill>
            <a:prstDash val="solid"/>
          </a:ln>
        </p:spPr>
      </p:sp>
      <p:sp>
        <p:nvSpPr>
          <p:cNvPr id="18" name="Shape 16"/>
          <p:cNvSpPr/>
          <p:nvPr/>
        </p:nvSpPr>
        <p:spPr>
          <a:xfrm>
            <a:off x="411480" y="3218688"/>
            <a:ext cx="73152" cy="694944"/>
          </a:xfrm>
          <a:prstGeom prst="rect">
            <a:avLst/>
          </a:prstGeom>
          <a:solidFill>
            <a:srgbClr val="C8601A"/>
          </a:solidFill>
          <a:ln w="12700">
            <a:solidFill>
              <a:srgbClr val="C8601A"/>
            </a:solidFill>
            <a:prstDash val="solid"/>
          </a:ln>
        </p:spPr>
      </p:sp>
      <p:sp>
        <p:nvSpPr>
          <p:cNvPr id="19" name="Text 17"/>
          <p:cNvSpPr/>
          <p:nvPr/>
        </p:nvSpPr>
        <p:spPr>
          <a:xfrm>
            <a:off x="594360" y="3255264"/>
            <a:ext cx="2286000" cy="274320"/>
          </a:xfrm>
          <a:prstGeom prst="rect">
            <a:avLst/>
          </a:prstGeom>
          <a:noFill/>
          <a:ln/>
        </p:spPr>
        <p:txBody>
          <a:bodyPr wrap="square" rtlCol="0" anchor="ctr"/>
          <a:lstStyle/>
          <a:p>
            <a:pPr marL="0" indent="0">
              <a:buNone/>
            </a:pPr>
            <a:r>
              <a:rPr lang="en-US" sz="1250" b="1" dirty="0">
                <a:solidFill>
                  <a:srgbClr val="0D3D52"/>
                </a:solidFill>
                <a:latin typeface="Calibri" pitchFamily="34" charset="0"/>
                <a:ea typeface="Calibri" pitchFamily="34" charset="-122"/>
                <a:cs typeface="Calibri" pitchFamily="34" charset="-120"/>
              </a:rPr>
              <a:t>Common Criteria (ISO/IEC 15408)</a:t>
            </a:r>
            <a:endParaRPr lang="en-US" sz="1250" dirty="0"/>
          </a:p>
        </p:txBody>
      </p:sp>
      <p:sp>
        <p:nvSpPr>
          <p:cNvPr id="20" name="Text 18"/>
          <p:cNvSpPr/>
          <p:nvPr/>
        </p:nvSpPr>
        <p:spPr>
          <a:xfrm>
            <a:off x="594360" y="3547872"/>
            <a:ext cx="7955280" cy="320040"/>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International standard for evaluating the security of IT products — structured, repeatable process to assess and certify security requirements.</a:t>
            </a:r>
            <a:endParaRPr lang="en-US" sz="1150" dirty="0"/>
          </a:p>
        </p:txBody>
      </p:sp>
      <p:sp>
        <p:nvSpPr>
          <p:cNvPr id="21" name="Shape 19"/>
          <p:cNvSpPr/>
          <p:nvPr/>
        </p:nvSpPr>
        <p:spPr>
          <a:xfrm>
            <a:off x="411480" y="4023360"/>
            <a:ext cx="6819637" cy="694944"/>
          </a:xfrm>
          <a:prstGeom prst="rect">
            <a:avLst/>
          </a:prstGeom>
          <a:solidFill>
            <a:srgbClr val="F5F9FA"/>
          </a:solidFill>
          <a:ln w="19050">
            <a:solidFill>
              <a:srgbClr val="5A6A00"/>
            </a:solidFill>
            <a:prstDash val="solid"/>
          </a:ln>
        </p:spPr>
      </p:sp>
      <p:sp>
        <p:nvSpPr>
          <p:cNvPr id="22" name="Shape 20"/>
          <p:cNvSpPr/>
          <p:nvPr/>
        </p:nvSpPr>
        <p:spPr>
          <a:xfrm>
            <a:off x="411480" y="4023360"/>
            <a:ext cx="73152" cy="694944"/>
          </a:xfrm>
          <a:prstGeom prst="rect">
            <a:avLst/>
          </a:prstGeom>
          <a:solidFill>
            <a:srgbClr val="5A6A00"/>
          </a:solidFill>
          <a:ln w="12700">
            <a:solidFill>
              <a:srgbClr val="5A6A00"/>
            </a:solidFill>
            <a:prstDash val="solid"/>
          </a:ln>
        </p:spPr>
      </p:sp>
      <p:sp>
        <p:nvSpPr>
          <p:cNvPr id="23" name="Text 21"/>
          <p:cNvSpPr/>
          <p:nvPr/>
        </p:nvSpPr>
        <p:spPr>
          <a:xfrm>
            <a:off x="594360" y="4059936"/>
            <a:ext cx="2286000" cy="274320"/>
          </a:xfrm>
          <a:prstGeom prst="rect">
            <a:avLst/>
          </a:prstGeom>
          <a:noFill/>
          <a:ln/>
        </p:spPr>
        <p:txBody>
          <a:bodyPr wrap="square" rtlCol="0" anchor="ctr"/>
          <a:lstStyle/>
          <a:p>
            <a:pPr marL="0" indent="0">
              <a:buNone/>
            </a:pPr>
            <a:r>
              <a:rPr lang="en-US" sz="1250" b="1" dirty="0">
                <a:solidFill>
                  <a:srgbClr val="0D3D52"/>
                </a:solidFill>
                <a:latin typeface="Calibri" pitchFamily="34" charset="0"/>
                <a:ea typeface="Calibri" pitchFamily="34" charset="-122"/>
                <a:cs typeface="Calibri" pitchFamily="34" charset="-120"/>
              </a:rPr>
              <a:t>Cyber Essentials (UK)</a:t>
            </a:r>
            <a:endParaRPr lang="en-US" sz="1250" dirty="0"/>
          </a:p>
        </p:txBody>
      </p:sp>
      <p:sp>
        <p:nvSpPr>
          <p:cNvPr id="24" name="Text 22"/>
          <p:cNvSpPr/>
          <p:nvPr/>
        </p:nvSpPr>
        <p:spPr>
          <a:xfrm>
            <a:off x="594360" y="4352544"/>
            <a:ext cx="6722101" cy="320040"/>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UK government-backed scheme with 5 baseline controls: firewalls, patching, access, malware, and configuration. Basic and Plus certification levels.</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Regulatory Requirements &amp; Laws</a:t>
            </a:r>
            <a:endParaRPr lang="en-US" sz="2400" dirty="0"/>
          </a:p>
        </p:txBody>
      </p:sp>
      <p:sp>
        <p:nvSpPr>
          <p:cNvPr id="5" name="Text 3"/>
          <p:cNvSpPr/>
          <p:nvPr/>
        </p:nvSpPr>
        <p:spPr>
          <a:xfrm>
            <a:off x="411480" y="749808"/>
            <a:ext cx="8046720" cy="292608"/>
          </a:xfrm>
          <a:prstGeom prst="rect">
            <a:avLst/>
          </a:prstGeom>
          <a:noFill/>
          <a:ln/>
        </p:spPr>
        <p:txBody>
          <a:bodyPr wrap="square" rtlCol="0" anchor="ctr"/>
          <a:lstStyle/>
          <a:p>
            <a:pPr marL="0" indent="0">
              <a:buNone/>
            </a:pPr>
            <a:r>
              <a:rPr lang="en-US" sz="1300" dirty="0">
                <a:solidFill>
                  <a:srgbClr val="4A6572"/>
                </a:solidFill>
                <a:latin typeface="Calibri" pitchFamily="34" charset="0"/>
                <a:ea typeface="Calibri" pitchFamily="34" charset="-122"/>
                <a:cs typeface="Calibri" pitchFamily="34" charset="-120"/>
              </a:rPr>
              <a:t>These mandate specific security controls, reporting standards, and governance requirements:</a:t>
            </a:r>
            <a:endParaRPr lang="en-US" sz="1300" dirty="0"/>
          </a:p>
        </p:txBody>
      </p:sp>
      <p:sp>
        <p:nvSpPr>
          <p:cNvPr id="6" name="Shape 4"/>
          <p:cNvSpPr/>
          <p:nvPr/>
        </p:nvSpPr>
        <p:spPr>
          <a:xfrm>
            <a:off x="274320" y="1078992"/>
            <a:ext cx="4224528" cy="822960"/>
          </a:xfrm>
          <a:prstGeom prst="rect">
            <a:avLst/>
          </a:prstGeom>
          <a:solidFill>
            <a:srgbClr val="F5F9FA"/>
          </a:solidFill>
          <a:ln w="15240">
            <a:solidFill>
              <a:srgbClr val="2244AA"/>
            </a:solidFill>
            <a:prstDash val="solid"/>
          </a:ln>
        </p:spPr>
      </p:sp>
      <p:sp>
        <p:nvSpPr>
          <p:cNvPr id="7" name="Shape 5"/>
          <p:cNvSpPr/>
          <p:nvPr/>
        </p:nvSpPr>
        <p:spPr>
          <a:xfrm>
            <a:off x="274320" y="1078992"/>
            <a:ext cx="64008" cy="822960"/>
          </a:xfrm>
          <a:prstGeom prst="rect">
            <a:avLst/>
          </a:prstGeom>
          <a:solidFill>
            <a:srgbClr val="2244AA"/>
          </a:solidFill>
          <a:ln w="12700">
            <a:solidFill>
              <a:srgbClr val="2244AA"/>
            </a:solidFill>
            <a:prstDash val="solid"/>
          </a:ln>
        </p:spPr>
      </p:sp>
      <p:sp>
        <p:nvSpPr>
          <p:cNvPr id="8" name="Text 6"/>
          <p:cNvSpPr/>
          <p:nvPr/>
        </p:nvSpPr>
        <p:spPr>
          <a:xfrm>
            <a:off x="420624" y="1115568"/>
            <a:ext cx="3931920" cy="274320"/>
          </a:xfrm>
          <a:prstGeom prst="rect">
            <a:avLst/>
          </a:prstGeom>
          <a:noFill/>
          <a:ln/>
        </p:spPr>
        <p:txBody>
          <a:bodyPr wrap="square" rtlCol="0" anchor="ctr"/>
          <a:lstStyle/>
          <a:p>
            <a:pPr marL="0" indent="0">
              <a:buNone/>
            </a:pPr>
            <a:r>
              <a:rPr lang="en-US" sz="1250" b="1" dirty="0">
                <a:solidFill>
                  <a:srgbClr val="0D3D52"/>
                </a:solidFill>
                <a:latin typeface="Calibri" pitchFamily="34" charset="0"/>
                <a:ea typeface="Calibri" pitchFamily="34" charset="-122"/>
                <a:cs typeface="Calibri" pitchFamily="34" charset="-120"/>
              </a:rPr>
              <a:t>GDPR (EU)</a:t>
            </a:r>
            <a:endParaRPr lang="en-US" sz="1250" dirty="0"/>
          </a:p>
        </p:txBody>
      </p:sp>
      <p:sp>
        <p:nvSpPr>
          <p:cNvPr id="9" name="Text 7"/>
          <p:cNvSpPr/>
          <p:nvPr/>
        </p:nvSpPr>
        <p:spPr>
          <a:xfrm>
            <a:off x="420624" y="1408176"/>
            <a:ext cx="3931920" cy="457200"/>
          </a:xfrm>
          <a:prstGeom prst="rect">
            <a:avLst/>
          </a:prstGeom>
          <a:noFill/>
          <a:ln/>
        </p:spPr>
        <p:txBody>
          <a:bodyPr wrap="square" rtlCol="0" anchor="ctr"/>
          <a:lstStyle/>
          <a:p>
            <a:pPr marL="0" indent="0">
              <a:buNone/>
            </a:pPr>
            <a:r>
              <a:rPr lang="en-US" sz="1100" dirty="0">
                <a:solidFill>
                  <a:srgbClr val="4A6572"/>
                </a:solidFill>
                <a:latin typeface="Calibri" pitchFamily="34" charset="0"/>
                <a:ea typeface="Calibri" pitchFamily="34" charset="-122"/>
                <a:cs typeface="Calibri" pitchFamily="34" charset="-120"/>
              </a:rPr>
              <a:t>Privacy-by-design, breach reporting within 72 hours, DPIAs, data subject rights. Fines up to €20M / 4% turnover.</a:t>
            </a:r>
            <a:endParaRPr lang="en-US" sz="1100" dirty="0"/>
          </a:p>
        </p:txBody>
      </p:sp>
      <p:sp>
        <p:nvSpPr>
          <p:cNvPr id="10" name="Shape 8"/>
          <p:cNvSpPr/>
          <p:nvPr/>
        </p:nvSpPr>
        <p:spPr>
          <a:xfrm>
            <a:off x="4800600" y="1078992"/>
            <a:ext cx="4224528" cy="822960"/>
          </a:xfrm>
          <a:prstGeom prst="rect">
            <a:avLst/>
          </a:prstGeom>
          <a:solidFill>
            <a:srgbClr val="F5F9FA"/>
          </a:solidFill>
          <a:ln w="15240">
            <a:solidFill>
              <a:srgbClr val="053E51"/>
            </a:solidFill>
            <a:prstDash val="solid"/>
          </a:ln>
        </p:spPr>
      </p:sp>
      <p:sp>
        <p:nvSpPr>
          <p:cNvPr id="11" name="Shape 9"/>
          <p:cNvSpPr/>
          <p:nvPr/>
        </p:nvSpPr>
        <p:spPr>
          <a:xfrm>
            <a:off x="4800600" y="1078992"/>
            <a:ext cx="64008" cy="822960"/>
          </a:xfrm>
          <a:prstGeom prst="rect">
            <a:avLst/>
          </a:prstGeom>
          <a:solidFill>
            <a:srgbClr val="053E51"/>
          </a:solidFill>
          <a:ln w="12700">
            <a:solidFill>
              <a:srgbClr val="053E51"/>
            </a:solidFill>
            <a:prstDash val="solid"/>
          </a:ln>
        </p:spPr>
      </p:sp>
      <p:sp>
        <p:nvSpPr>
          <p:cNvPr id="12" name="Text 10"/>
          <p:cNvSpPr/>
          <p:nvPr/>
        </p:nvSpPr>
        <p:spPr>
          <a:xfrm>
            <a:off x="4946904" y="1115568"/>
            <a:ext cx="3931920" cy="274320"/>
          </a:xfrm>
          <a:prstGeom prst="rect">
            <a:avLst/>
          </a:prstGeom>
          <a:noFill/>
          <a:ln/>
        </p:spPr>
        <p:txBody>
          <a:bodyPr wrap="square" rtlCol="0" anchor="ctr"/>
          <a:lstStyle/>
          <a:p>
            <a:pPr marL="0" indent="0">
              <a:buNone/>
            </a:pPr>
            <a:r>
              <a:rPr lang="en-US" sz="1250" b="1" dirty="0">
                <a:solidFill>
                  <a:srgbClr val="0D3D52"/>
                </a:solidFill>
                <a:latin typeface="Calibri" pitchFamily="34" charset="0"/>
                <a:ea typeface="Calibri" pitchFamily="34" charset="-122"/>
                <a:cs typeface="Calibri" pitchFamily="34" charset="-120"/>
              </a:rPr>
              <a:t>HIPAA (US)</a:t>
            </a:r>
            <a:endParaRPr lang="en-US" sz="1250" dirty="0"/>
          </a:p>
        </p:txBody>
      </p:sp>
      <p:sp>
        <p:nvSpPr>
          <p:cNvPr id="13" name="Text 11"/>
          <p:cNvSpPr/>
          <p:nvPr/>
        </p:nvSpPr>
        <p:spPr>
          <a:xfrm>
            <a:off x="4946904" y="1408176"/>
            <a:ext cx="3931920" cy="457200"/>
          </a:xfrm>
          <a:prstGeom prst="rect">
            <a:avLst/>
          </a:prstGeom>
          <a:noFill/>
          <a:ln/>
        </p:spPr>
        <p:txBody>
          <a:bodyPr wrap="square" rtlCol="0" anchor="ctr"/>
          <a:lstStyle/>
          <a:p>
            <a:pPr marL="0" indent="0">
              <a:buNone/>
            </a:pPr>
            <a:r>
              <a:rPr lang="en-US" sz="1100" dirty="0">
                <a:solidFill>
                  <a:srgbClr val="4A6572"/>
                </a:solidFill>
                <a:latin typeface="Calibri" pitchFamily="34" charset="0"/>
                <a:ea typeface="Calibri" pitchFamily="34" charset="-122"/>
                <a:cs typeface="Calibri" pitchFamily="34" charset="-120"/>
              </a:rPr>
              <a:t>Administrative, physical, and technical safeguards for PHI; breach notifications and risk assessments are foundational.</a:t>
            </a:r>
            <a:endParaRPr lang="en-US" sz="1100" dirty="0"/>
          </a:p>
        </p:txBody>
      </p:sp>
      <p:sp>
        <p:nvSpPr>
          <p:cNvPr id="14" name="Shape 12"/>
          <p:cNvSpPr/>
          <p:nvPr/>
        </p:nvSpPr>
        <p:spPr>
          <a:xfrm>
            <a:off x="274320" y="2011680"/>
            <a:ext cx="4224528" cy="822960"/>
          </a:xfrm>
          <a:prstGeom prst="rect">
            <a:avLst/>
          </a:prstGeom>
          <a:solidFill>
            <a:srgbClr val="F5F9FA"/>
          </a:solidFill>
          <a:ln w="15240">
            <a:solidFill>
              <a:srgbClr val="AA4400"/>
            </a:solidFill>
            <a:prstDash val="solid"/>
          </a:ln>
        </p:spPr>
      </p:sp>
      <p:sp>
        <p:nvSpPr>
          <p:cNvPr id="15" name="Shape 13"/>
          <p:cNvSpPr/>
          <p:nvPr/>
        </p:nvSpPr>
        <p:spPr>
          <a:xfrm>
            <a:off x="274320" y="2011680"/>
            <a:ext cx="64008" cy="822960"/>
          </a:xfrm>
          <a:prstGeom prst="rect">
            <a:avLst/>
          </a:prstGeom>
          <a:solidFill>
            <a:srgbClr val="AA4400"/>
          </a:solidFill>
          <a:ln w="12700">
            <a:solidFill>
              <a:srgbClr val="AA4400"/>
            </a:solidFill>
            <a:prstDash val="solid"/>
          </a:ln>
        </p:spPr>
      </p:sp>
      <p:sp>
        <p:nvSpPr>
          <p:cNvPr id="16" name="Text 14"/>
          <p:cNvSpPr/>
          <p:nvPr/>
        </p:nvSpPr>
        <p:spPr>
          <a:xfrm>
            <a:off x="420624" y="2048256"/>
            <a:ext cx="3931920" cy="274320"/>
          </a:xfrm>
          <a:prstGeom prst="rect">
            <a:avLst/>
          </a:prstGeom>
          <a:noFill/>
          <a:ln/>
        </p:spPr>
        <p:txBody>
          <a:bodyPr wrap="square" rtlCol="0" anchor="ctr"/>
          <a:lstStyle/>
          <a:p>
            <a:pPr marL="0" indent="0">
              <a:buNone/>
            </a:pPr>
            <a:r>
              <a:rPr lang="en-US" sz="1250" b="1" dirty="0">
                <a:solidFill>
                  <a:srgbClr val="0D3D52"/>
                </a:solidFill>
                <a:latin typeface="Calibri" pitchFamily="34" charset="0"/>
                <a:ea typeface="Calibri" pitchFamily="34" charset="-122"/>
                <a:cs typeface="Calibri" pitchFamily="34" charset="-120"/>
              </a:rPr>
              <a:t>PCI-DSS</a:t>
            </a:r>
            <a:endParaRPr lang="en-US" sz="1250" dirty="0"/>
          </a:p>
        </p:txBody>
      </p:sp>
      <p:sp>
        <p:nvSpPr>
          <p:cNvPr id="17" name="Text 15"/>
          <p:cNvSpPr/>
          <p:nvPr/>
        </p:nvSpPr>
        <p:spPr>
          <a:xfrm>
            <a:off x="420624" y="2340864"/>
            <a:ext cx="3931920" cy="457200"/>
          </a:xfrm>
          <a:prstGeom prst="rect">
            <a:avLst/>
          </a:prstGeom>
          <a:noFill/>
          <a:ln/>
        </p:spPr>
        <p:txBody>
          <a:bodyPr wrap="square" rtlCol="0" anchor="ctr"/>
          <a:lstStyle/>
          <a:p>
            <a:pPr marL="0" indent="0">
              <a:buNone/>
            </a:pPr>
            <a:r>
              <a:rPr lang="en-US" sz="1100" dirty="0">
                <a:solidFill>
                  <a:srgbClr val="4A6572"/>
                </a:solidFill>
                <a:latin typeface="Calibri" pitchFamily="34" charset="0"/>
                <a:ea typeface="Calibri" pitchFamily="34" charset="-122"/>
                <a:cs typeface="Calibri" pitchFamily="34" charset="-120"/>
              </a:rPr>
              <a:t>Protection of cardholder data using strict encryption, network, and access controls; applies to all payment processors.</a:t>
            </a:r>
            <a:endParaRPr lang="en-US" sz="1100" dirty="0"/>
          </a:p>
        </p:txBody>
      </p:sp>
      <p:sp>
        <p:nvSpPr>
          <p:cNvPr id="18" name="Shape 16"/>
          <p:cNvSpPr/>
          <p:nvPr/>
        </p:nvSpPr>
        <p:spPr>
          <a:xfrm>
            <a:off x="4800600" y="2011680"/>
            <a:ext cx="4224528" cy="822960"/>
          </a:xfrm>
          <a:prstGeom prst="rect">
            <a:avLst/>
          </a:prstGeom>
          <a:solidFill>
            <a:srgbClr val="F5F9FA"/>
          </a:solidFill>
          <a:ln w="15240">
            <a:solidFill>
              <a:srgbClr val="446600"/>
            </a:solidFill>
            <a:prstDash val="solid"/>
          </a:ln>
        </p:spPr>
      </p:sp>
      <p:sp>
        <p:nvSpPr>
          <p:cNvPr id="19" name="Shape 17"/>
          <p:cNvSpPr/>
          <p:nvPr/>
        </p:nvSpPr>
        <p:spPr>
          <a:xfrm>
            <a:off x="4800600" y="2011680"/>
            <a:ext cx="64008" cy="822960"/>
          </a:xfrm>
          <a:prstGeom prst="rect">
            <a:avLst/>
          </a:prstGeom>
          <a:solidFill>
            <a:srgbClr val="446600"/>
          </a:solidFill>
          <a:ln w="12700">
            <a:solidFill>
              <a:srgbClr val="446600"/>
            </a:solidFill>
            <a:prstDash val="solid"/>
          </a:ln>
        </p:spPr>
      </p:sp>
      <p:sp>
        <p:nvSpPr>
          <p:cNvPr id="20" name="Text 18"/>
          <p:cNvSpPr/>
          <p:nvPr/>
        </p:nvSpPr>
        <p:spPr>
          <a:xfrm>
            <a:off x="4946904" y="2048256"/>
            <a:ext cx="3931920" cy="274320"/>
          </a:xfrm>
          <a:prstGeom prst="rect">
            <a:avLst/>
          </a:prstGeom>
          <a:noFill/>
          <a:ln/>
        </p:spPr>
        <p:txBody>
          <a:bodyPr wrap="square" rtlCol="0" anchor="ctr"/>
          <a:lstStyle/>
          <a:p>
            <a:pPr marL="0" indent="0">
              <a:buNone/>
            </a:pPr>
            <a:r>
              <a:rPr lang="en-US" sz="1250" b="1" dirty="0">
                <a:solidFill>
                  <a:srgbClr val="0D3D52"/>
                </a:solidFill>
                <a:latin typeface="Calibri" pitchFamily="34" charset="0"/>
                <a:ea typeface="Calibri" pitchFamily="34" charset="-122"/>
                <a:cs typeface="Calibri" pitchFamily="34" charset="-120"/>
              </a:rPr>
              <a:t>SOX (US)</a:t>
            </a:r>
            <a:endParaRPr lang="en-US" sz="1250" dirty="0"/>
          </a:p>
        </p:txBody>
      </p:sp>
      <p:sp>
        <p:nvSpPr>
          <p:cNvPr id="21" name="Text 19"/>
          <p:cNvSpPr/>
          <p:nvPr/>
        </p:nvSpPr>
        <p:spPr>
          <a:xfrm>
            <a:off x="4946904" y="2340864"/>
            <a:ext cx="3931920" cy="457200"/>
          </a:xfrm>
          <a:prstGeom prst="rect">
            <a:avLst/>
          </a:prstGeom>
          <a:noFill/>
          <a:ln/>
        </p:spPr>
        <p:txBody>
          <a:bodyPr wrap="square" rtlCol="0" anchor="ctr"/>
          <a:lstStyle/>
          <a:p>
            <a:pPr marL="0" indent="0">
              <a:buNone/>
            </a:pPr>
            <a:r>
              <a:rPr lang="en-US" sz="1100" dirty="0">
                <a:solidFill>
                  <a:srgbClr val="4A6572"/>
                </a:solidFill>
                <a:latin typeface="Calibri" pitchFamily="34" charset="0"/>
                <a:ea typeface="Calibri" pitchFamily="34" charset="-122"/>
                <a:cs typeface="Calibri" pitchFamily="34" charset="-120"/>
              </a:rPr>
              <a:t>Internal controls and secure financial recordkeeping; impacts IT processes, audit trails, and access monitoring.</a:t>
            </a:r>
            <a:endParaRPr lang="en-US" sz="1100" dirty="0"/>
          </a:p>
        </p:txBody>
      </p:sp>
      <p:sp>
        <p:nvSpPr>
          <p:cNvPr id="22" name="Shape 20"/>
          <p:cNvSpPr/>
          <p:nvPr/>
        </p:nvSpPr>
        <p:spPr>
          <a:xfrm>
            <a:off x="274320" y="2944368"/>
            <a:ext cx="4224528" cy="822960"/>
          </a:xfrm>
          <a:prstGeom prst="rect">
            <a:avLst/>
          </a:prstGeom>
          <a:solidFill>
            <a:srgbClr val="F5F9FA"/>
          </a:solidFill>
          <a:ln w="15240">
            <a:solidFill>
              <a:srgbClr val="0D6E7E"/>
            </a:solidFill>
            <a:prstDash val="solid"/>
          </a:ln>
        </p:spPr>
      </p:sp>
      <p:sp>
        <p:nvSpPr>
          <p:cNvPr id="23" name="Shape 21"/>
          <p:cNvSpPr/>
          <p:nvPr/>
        </p:nvSpPr>
        <p:spPr>
          <a:xfrm>
            <a:off x="274320" y="2944368"/>
            <a:ext cx="64008" cy="822960"/>
          </a:xfrm>
          <a:prstGeom prst="rect">
            <a:avLst/>
          </a:prstGeom>
          <a:solidFill>
            <a:srgbClr val="0D6E7E"/>
          </a:solidFill>
          <a:ln w="12700">
            <a:solidFill>
              <a:srgbClr val="0D6E7E"/>
            </a:solidFill>
            <a:prstDash val="solid"/>
          </a:ln>
        </p:spPr>
      </p:sp>
      <p:sp>
        <p:nvSpPr>
          <p:cNvPr id="24" name="Text 22"/>
          <p:cNvSpPr/>
          <p:nvPr/>
        </p:nvSpPr>
        <p:spPr>
          <a:xfrm>
            <a:off x="420624" y="2980944"/>
            <a:ext cx="3931920" cy="274320"/>
          </a:xfrm>
          <a:prstGeom prst="rect">
            <a:avLst/>
          </a:prstGeom>
          <a:noFill/>
          <a:ln/>
        </p:spPr>
        <p:txBody>
          <a:bodyPr wrap="square" rtlCol="0" anchor="ctr"/>
          <a:lstStyle/>
          <a:p>
            <a:pPr marL="0" indent="0">
              <a:buNone/>
            </a:pPr>
            <a:r>
              <a:rPr lang="en-US" sz="1250" b="1" dirty="0">
                <a:solidFill>
                  <a:srgbClr val="0D3D52"/>
                </a:solidFill>
                <a:latin typeface="Calibri" pitchFamily="34" charset="0"/>
                <a:ea typeface="Calibri" pitchFamily="34" charset="-122"/>
                <a:cs typeface="Calibri" pitchFamily="34" charset="-120"/>
              </a:rPr>
              <a:t>FISMA (US Federal)</a:t>
            </a:r>
            <a:endParaRPr lang="en-US" sz="1250" dirty="0"/>
          </a:p>
        </p:txBody>
      </p:sp>
      <p:sp>
        <p:nvSpPr>
          <p:cNvPr id="25" name="Text 23"/>
          <p:cNvSpPr/>
          <p:nvPr/>
        </p:nvSpPr>
        <p:spPr>
          <a:xfrm>
            <a:off x="420624" y="3273552"/>
            <a:ext cx="3931920" cy="457200"/>
          </a:xfrm>
          <a:prstGeom prst="rect">
            <a:avLst/>
          </a:prstGeom>
          <a:noFill/>
          <a:ln/>
        </p:spPr>
        <p:txBody>
          <a:bodyPr wrap="square" rtlCol="0" anchor="ctr"/>
          <a:lstStyle/>
          <a:p>
            <a:pPr marL="0" indent="0">
              <a:buNone/>
            </a:pPr>
            <a:r>
              <a:rPr lang="en-US" sz="1100" dirty="0">
                <a:solidFill>
                  <a:srgbClr val="4A6572"/>
                </a:solidFill>
                <a:latin typeface="Calibri" pitchFamily="34" charset="0"/>
                <a:ea typeface="Calibri" pitchFamily="34" charset="-122"/>
                <a:cs typeface="Calibri" pitchFamily="34" charset="-120"/>
              </a:rPr>
              <a:t>Federal agencies follow NIST SP 800-53 controls, continuous monitoring, and risk-based governance.</a:t>
            </a:r>
            <a:endParaRPr lang="en-US" sz="1100" dirty="0"/>
          </a:p>
        </p:txBody>
      </p:sp>
      <p:sp>
        <p:nvSpPr>
          <p:cNvPr id="26" name="Shape 24"/>
          <p:cNvSpPr/>
          <p:nvPr/>
        </p:nvSpPr>
        <p:spPr>
          <a:xfrm>
            <a:off x="4800600" y="2944368"/>
            <a:ext cx="4224528" cy="822960"/>
          </a:xfrm>
          <a:prstGeom prst="rect">
            <a:avLst/>
          </a:prstGeom>
          <a:solidFill>
            <a:srgbClr val="F5F9FA"/>
          </a:solidFill>
          <a:ln w="15240">
            <a:solidFill>
              <a:srgbClr val="AA2244"/>
            </a:solidFill>
            <a:prstDash val="solid"/>
          </a:ln>
        </p:spPr>
      </p:sp>
      <p:sp>
        <p:nvSpPr>
          <p:cNvPr id="27" name="Shape 25"/>
          <p:cNvSpPr/>
          <p:nvPr/>
        </p:nvSpPr>
        <p:spPr>
          <a:xfrm>
            <a:off x="4800600" y="2944368"/>
            <a:ext cx="64008" cy="822960"/>
          </a:xfrm>
          <a:prstGeom prst="rect">
            <a:avLst/>
          </a:prstGeom>
          <a:solidFill>
            <a:srgbClr val="AA2244"/>
          </a:solidFill>
          <a:ln w="12700">
            <a:solidFill>
              <a:srgbClr val="AA2244"/>
            </a:solidFill>
            <a:prstDash val="solid"/>
          </a:ln>
        </p:spPr>
      </p:sp>
      <p:sp>
        <p:nvSpPr>
          <p:cNvPr id="28" name="Text 26"/>
          <p:cNvSpPr/>
          <p:nvPr/>
        </p:nvSpPr>
        <p:spPr>
          <a:xfrm>
            <a:off x="4946904" y="2980944"/>
            <a:ext cx="3931920" cy="274320"/>
          </a:xfrm>
          <a:prstGeom prst="rect">
            <a:avLst/>
          </a:prstGeom>
          <a:noFill/>
          <a:ln/>
        </p:spPr>
        <p:txBody>
          <a:bodyPr wrap="square" rtlCol="0" anchor="ctr"/>
          <a:lstStyle/>
          <a:p>
            <a:pPr marL="0" indent="0">
              <a:buNone/>
            </a:pPr>
            <a:r>
              <a:rPr lang="en-US" sz="1250" b="1" dirty="0">
                <a:solidFill>
                  <a:srgbClr val="0D3D52"/>
                </a:solidFill>
                <a:latin typeface="Calibri" pitchFamily="34" charset="0"/>
                <a:ea typeface="Calibri" pitchFamily="34" charset="-122"/>
                <a:cs typeface="Calibri" pitchFamily="34" charset="-120"/>
              </a:rPr>
              <a:t>DORA (EU)</a:t>
            </a:r>
            <a:endParaRPr lang="en-US" sz="1250" dirty="0"/>
          </a:p>
        </p:txBody>
      </p:sp>
      <p:sp>
        <p:nvSpPr>
          <p:cNvPr id="29" name="Text 27"/>
          <p:cNvSpPr/>
          <p:nvPr/>
        </p:nvSpPr>
        <p:spPr>
          <a:xfrm>
            <a:off x="4946904" y="3273552"/>
            <a:ext cx="3931920" cy="457200"/>
          </a:xfrm>
          <a:prstGeom prst="rect">
            <a:avLst/>
          </a:prstGeom>
          <a:noFill/>
          <a:ln/>
        </p:spPr>
        <p:txBody>
          <a:bodyPr wrap="square" rtlCol="0" anchor="ctr"/>
          <a:lstStyle/>
          <a:p>
            <a:pPr marL="0" indent="0">
              <a:buNone/>
            </a:pPr>
            <a:r>
              <a:rPr lang="en-US" sz="1100" dirty="0">
                <a:solidFill>
                  <a:srgbClr val="4A6572"/>
                </a:solidFill>
                <a:latin typeface="Calibri" pitchFamily="34" charset="0"/>
                <a:ea typeface="Calibri" pitchFamily="34" charset="-122"/>
                <a:cs typeface="Calibri" pitchFamily="34" charset="-120"/>
              </a:rPr>
              <a:t>Financial institutions — robust ICT risk management, third-party oversight, and operational resilience.</a:t>
            </a:r>
            <a:endParaRPr lang="en-US" sz="1100" dirty="0"/>
          </a:p>
        </p:txBody>
      </p:sp>
      <p:sp>
        <p:nvSpPr>
          <p:cNvPr id="30" name="Shape 28"/>
          <p:cNvSpPr/>
          <p:nvPr/>
        </p:nvSpPr>
        <p:spPr>
          <a:xfrm>
            <a:off x="274320" y="3877056"/>
            <a:ext cx="4224528" cy="822960"/>
          </a:xfrm>
          <a:prstGeom prst="rect">
            <a:avLst/>
          </a:prstGeom>
          <a:solidFill>
            <a:srgbClr val="F5F9FA"/>
          </a:solidFill>
          <a:ln w="15240">
            <a:solidFill>
              <a:srgbClr val="224488"/>
            </a:solidFill>
            <a:prstDash val="solid"/>
          </a:ln>
        </p:spPr>
      </p:sp>
      <p:sp>
        <p:nvSpPr>
          <p:cNvPr id="31" name="Shape 29"/>
          <p:cNvSpPr/>
          <p:nvPr/>
        </p:nvSpPr>
        <p:spPr>
          <a:xfrm>
            <a:off x="274320" y="3877056"/>
            <a:ext cx="64008" cy="822960"/>
          </a:xfrm>
          <a:prstGeom prst="rect">
            <a:avLst/>
          </a:prstGeom>
          <a:solidFill>
            <a:srgbClr val="224488"/>
          </a:solidFill>
          <a:ln w="12700">
            <a:solidFill>
              <a:srgbClr val="224488"/>
            </a:solidFill>
            <a:prstDash val="solid"/>
          </a:ln>
        </p:spPr>
      </p:sp>
      <p:sp>
        <p:nvSpPr>
          <p:cNvPr id="32" name="Text 30"/>
          <p:cNvSpPr/>
          <p:nvPr/>
        </p:nvSpPr>
        <p:spPr>
          <a:xfrm>
            <a:off x="420624" y="3913632"/>
            <a:ext cx="3931920" cy="274320"/>
          </a:xfrm>
          <a:prstGeom prst="rect">
            <a:avLst/>
          </a:prstGeom>
          <a:noFill/>
          <a:ln/>
        </p:spPr>
        <p:txBody>
          <a:bodyPr wrap="square" rtlCol="0" anchor="ctr"/>
          <a:lstStyle/>
          <a:p>
            <a:pPr marL="0" indent="0">
              <a:buNone/>
            </a:pPr>
            <a:r>
              <a:rPr lang="en-US" sz="1250" b="1" dirty="0">
                <a:solidFill>
                  <a:srgbClr val="0D3D52"/>
                </a:solidFill>
                <a:latin typeface="Calibri" pitchFamily="34" charset="0"/>
                <a:ea typeface="Calibri" pitchFamily="34" charset="-122"/>
                <a:cs typeface="Calibri" pitchFamily="34" charset="-120"/>
              </a:rPr>
              <a:t>NIS2 Directive (EU)</a:t>
            </a:r>
            <a:endParaRPr lang="en-US" sz="1250" dirty="0"/>
          </a:p>
        </p:txBody>
      </p:sp>
      <p:sp>
        <p:nvSpPr>
          <p:cNvPr id="33" name="Text 31"/>
          <p:cNvSpPr/>
          <p:nvPr/>
        </p:nvSpPr>
        <p:spPr>
          <a:xfrm>
            <a:off x="420624" y="4206240"/>
            <a:ext cx="3931920" cy="457200"/>
          </a:xfrm>
          <a:prstGeom prst="rect">
            <a:avLst/>
          </a:prstGeom>
          <a:noFill/>
          <a:ln/>
        </p:spPr>
        <p:txBody>
          <a:bodyPr wrap="square" rtlCol="0" anchor="ctr"/>
          <a:lstStyle/>
          <a:p>
            <a:pPr marL="0" indent="0">
              <a:buNone/>
            </a:pPr>
            <a:r>
              <a:rPr lang="en-US" sz="1100" dirty="0">
                <a:solidFill>
                  <a:srgbClr val="4A6572"/>
                </a:solidFill>
                <a:latin typeface="Calibri" pitchFamily="34" charset="0"/>
                <a:ea typeface="Calibri" pitchFamily="34" charset="-122"/>
                <a:cs typeface="Calibri" pitchFamily="34" charset="-120"/>
              </a:rPr>
              <a:t>Cybersecurity mandates for critical infrastructure and digital service providers — maturity and incident transparency.</a:t>
            </a:r>
            <a:endParaRPr lang="en-US" sz="1100" dirty="0"/>
          </a:p>
        </p:txBody>
      </p:sp>
      <p:sp>
        <p:nvSpPr>
          <p:cNvPr id="34" name="Shape 32"/>
          <p:cNvSpPr/>
          <p:nvPr/>
        </p:nvSpPr>
        <p:spPr>
          <a:xfrm>
            <a:off x="4800600" y="3877056"/>
            <a:ext cx="4224528" cy="822960"/>
          </a:xfrm>
          <a:prstGeom prst="rect">
            <a:avLst/>
          </a:prstGeom>
          <a:solidFill>
            <a:srgbClr val="F5F9FA"/>
          </a:solidFill>
          <a:ln w="15240">
            <a:solidFill>
              <a:srgbClr val="884400"/>
            </a:solidFill>
            <a:prstDash val="solid"/>
          </a:ln>
        </p:spPr>
      </p:sp>
      <p:sp>
        <p:nvSpPr>
          <p:cNvPr id="35" name="Shape 33"/>
          <p:cNvSpPr/>
          <p:nvPr/>
        </p:nvSpPr>
        <p:spPr>
          <a:xfrm>
            <a:off x="4800600" y="3877056"/>
            <a:ext cx="64008" cy="822960"/>
          </a:xfrm>
          <a:prstGeom prst="rect">
            <a:avLst/>
          </a:prstGeom>
          <a:solidFill>
            <a:srgbClr val="884400"/>
          </a:solidFill>
          <a:ln w="12700">
            <a:solidFill>
              <a:srgbClr val="884400"/>
            </a:solidFill>
            <a:prstDash val="solid"/>
          </a:ln>
        </p:spPr>
      </p:sp>
      <p:sp>
        <p:nvSpPr>
          <p:cNvPr id="36" name="Text 34"/>
          <p:cNvSpPr/>
          <p:nvPr/>
        </p:nvSpPr>
        <p:spPr>
          <a:xfrm>
            <a:off x="4946904" y="3913632"/>
            <a:ext cx="3931920" cy="274320"/>
          </a:xfrm>
          <a:prstGeom prst="rect">
            <a:avLst/>
          </a:prstGeom>
          <a:noFill/>
          <a:ln/>
        </p:spPr>
        <p:txBody>
          <a:bodyPr wrap="square" rtlCol="0" anchor="ctr"/>
          <a:lstStyle/>
          <a:p>
            <a:pPr marL="0" indent="0">
              <a:buNone/>
            </a:pPr>
            <a:r>
              <a:rPr lang="en-US" sz="1250" b="1" dirty="0">
                <a:solidFill>
                  <a:srgbClr val="0D3D52"/>
                </a:solidFill>
                <a:latin typeface="Calibri" pitchFamily="34" charset="0"/>
                <a:ea typeface="Calibri" pitchFamily="34" charset="-122"/>
                <a:cs typeface="Calibri" pitchFamily="34" charset="-120"/>
              </a:rPr>
              <a:t>EU CRA</a:t>
            </a:r>
            <a:endParaRPr lang="en-US" sz="1250" dirty="0"/>
          </a:p>
        </p:txBody>
      </p:sp>
      <p:sp>
        <p:nvSpPr>
          <p:cNvPr id="37" name="Text 35"/>
          <p:cNvSpPr/>
          <p:nvPr/>
        </p:nvSpPr>
        <p:spPr>
          <a:xfrm>
            <a:off x="4946904" y="4206240"/>
            <a:ext cx="3931920" cy="457200"/>
          </a:xfrm>
          <a:prstGeom prst="rect">
            <a:avLst/>
          </a:prstGeom>
          <a:noFill/>
          <a:ln/>
        </p:spPr>
        <p:txBody>
          <a:bodyPr wrap="square" rtlCol="0" anchor="ctr"/>
          <a:lstStyle/>
          <a:p>
            <a:pPr marL="0" indent="0">
              <a:buNone/>
            </a:pPr>
            <a:r>
              <a:rPr lang="en-US" sz="1100" dirty="0">
                <a:solidFill>
                  <a:srgbClr val="4A6572"/>
                </a:solidFill>
                <a:latin typeface="Calibri" pitchFamily="34" charset="0"/>
                <a:ea typeface="Calibri" pitchFamily="34" charset="-122"/>
                <a:cs typeface="Calibri" pitchFamily="34" charset="-120"/>
              </a:rPr>
              <a:t>Cyber Resilience Act — cybersecurity obligations on manufacturers of connected products, vulnerability management.</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8BDFDC85-DA42-BA9A-3888-D99FC93F63FE}"/>
              </a:ext>
            </a:extLst>
          </p:cNvPr>
          <p:cNvPicPr>
            <a:picLocks noChangeAspect="1"/>
          </p:cNvPicPr>
          <p:nvPr/>
        </p:nvPicPr>
        <p:blipFill>
          <a:blip r:embed="rId3"/>
          <a:stretch>
            <a:fillRect/>
          </a:stretch>
        </p:blipFill>
        <p:spPr>
          <a:xfrm>
            <a:off x="0" y="0"/>
            <a:ext cx="9144000" cy="5143500"/>
          </a:xfrm>
          <a:prstGeom prst="rect">
            <a:avLst/>
          </a:prstGeom>
        </p:spPr>
      </p:pic>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11" name="Shape 9"/>
          <p:cNvSpPr/>
          <p:nvPr/>
        </p:nvSpPr>
        <p:spPr>
          <a:xfrm>
            <a:off x="288607" y="1133856"/>
            <a:ext cx="64008" cy="841248"/>
          </a:xfrm>
          <a:prstGeom prst="rect">
            <a:avLst/>
          </a:prstGeom>
          <a:solidFill>
            <a:srgbClr val="0D6E7E"/>
          </a:solidFill>
          <a:ln w="12700">
            <a:solidFill>
              <a:srgbClr val="0D6E7E"/>
            </a:solidFill>
            <a:prstDash val="solid"/>
          </a:ln>
        </p:spPr>
      </p:sp>
      <p:sp>
        <p:nvSpPr>
          <p:cNvPr id="15" name="Shape 13"/>
          <p:cNvSpPr/>
          <p:nvPr/>
        </p:nvSpPr>
        <p:spPr>
          <a:xfrm>
            <a:off x="274320" y="2039112"/>
            <a:ext cx="64008" cy="841248"/>
          </a:xfrm>
          <a:prstGeom prst="rect">
            <a:avLst/>
          </a:prstGeom>
          <a:solidFill>
            <a:srgbClr val="446600"/>
          </a:solidFill>
          <a:ln w="12700">
            <a:solidFill>
              <a:srgbClr val="446600"/>
            </a:solidFill>
            <a:prstDash val="solid"/>
          </a:ln>
        </p:spPr>
      </p:sp>
      <p:sp>
        <p:nvSpPr>
          <p:cNvPr id="23" name="Shape 21"/>
          <p:cNvSpPr/>
          <p:nvPr/>
        </p:nvSpPr>
        <p:spPr>
          <a:xfrm>
            <a:off x="274320" y="2999232"/>
            <a:ext cx="64008" cy="841248"/>
          </a:xfrm>
          <a:prstGeom prst="rect">
            <a:avLst/>
          </a:prstGeom>
          <a:solidFill>
            <a:srgbClr val="2244AA"/>
          </a:solidFill>
          <a:ln w="12700">
            <a:solidFill>
              <a:srgbClr val="2244AA"/>
            </a:solidFill>
            <a:prstDash val="solid"/>
          </a:ln>
        </p:spPr>
      </p:sp>
      <p:sp>
        <p:nvSpPr>
          <p:cNvPr id="31" name="Shape 29"/>
          <p:cNvSpPr/>
          <p:nvPr/>
        </p:nvSpPr>
        <p:spPr>
          <a:xfrm>
            <a:off x="274320" y="3959352"/>
            <a:ext cx="64008" cy="841248"/>
          </a:xfrm>
          <a:prstGeom prst="rect">
            <a:avLst/>
          </a:prstGeom>
          <a:solidFill>
            <a:srgbClr val="884400"/>
          </a:solidFill>
          <a:ln w="12700">
            <a:solidFill>
              <a:srgbClr val="884400"/>
            </a:solidFill>
            <a:prstDash val="solid"/>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D958F59-874A-EF41-FA40-9C1FA150CA88}"/>
              </a:ext>
            </a:extLst>
          </p:cNvPr>
          <p:cNvPicPr>
            <a:picLocks noChangeAspect="1"/>
          </p:cNvPicPr>
          <p:nvPr/>
        </p:nvPicPr>
        <p:blipFill>
          <a:blip r:embed="rId3"/>
          <a:stretch>
            <a:fillRect/>
          </a:stretch>
        </p:blipFill>
        <p:spPr>
          <a:xfrm>
            <a:off x="411480" y="529729"/>
            <a:ext cx="8007306" cy="3983330"/>
          </a:xfrm>
          <a:prstGeom prst="rect">
            <a:avLst/>
          </a:prstGeom>
        </p:spPr>
      </p:pic>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164592"/>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CISSP - Cybersecurity Domains</a:t>
            </a: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D6EEF8"/>
        </a:solidFill>
        <a:effectLst/>
      </p:bgPr>
    </p:bg>
    <p:spTree>
      <p:nvGrpSpPr>
        <p:cNvPr id="1" name=""/>
        <p:cNvGrpSpPr/>
        <p:nvPr/>
      </p:nvGrpSpPr>
      <p:grpSpPr>
        <a:xfrm>
          <a:off x="0" y="0"/>
          <a:ext cx="0" cy="0"/>
          <a:chOff x="0" y="0"/>
          <a:chExt cx="0" cy="0"/>
        </a:xfrm>
      </p:grpSpPr>
      <p:sp>
        <p:nvSpPr>
          <p:cNvPr id="2" name="Text 0"/>
          <p:cNvSpPr/>
          <p:nvPr/>
        </p:nvSpPr>
        <p:spPr>
          <a:xfrm>
            <a:off x="274320" y="73152"/>
            <a:ext cx="8595360" cy="896112"/>
          </a:xfrm>
          <a:prstGeom prst="rect">
            <a:avLst/>
          </a:prstGeom>
          <a:noFill/>
          <a:ln/>
        </p:spPr>
        <p:txBody>
          <a:bodyPr wrap="square" rtlCol="0" anchor="ctr"/>
          <a:lstStyle/>
          <a:p>
            <a:pPr marL="0" indent="0" algn="ctr">
              <a:buNone/>
            </a:pPr>
            <a:r>
              <a:rPr lang="en-US" sz="2800" b="1" dirty="0">
                <a:solidFill>
                  <a:srgbClr val="0D3D52"/>
                </a:solidFill>
                <a:latin typeface="Calibri" pitchFamily="34" charset="0"/>
                <a:ea typeface="Calibri" pitchFamily="34" charset="-122"/>
                <a:cs typeface="Calibri" pitchFamily="34" charset="-120"/>
              </a:rPr>
              <a:t>EVOLUTION OF</a:t>
            </a:r>
            <a:endParaRPr lang="en-US" sz="2800" dirty="0"/>
          </a:p>
          <a:p>
            <a:pPr marL="0" indent="0" algn="ctr">
              <a:buNone/>
            </a:pPr>
            <a:r>
              <a:rPr lang="en-US" sz="2800" b="1" dirty="0">
                <a:solidFill>
                  <a:srgbClr val="0D3D52"/>
                </a:solidFill>
                <a:latin typeface="Calibri" pitchFamily="34" charset="0"/>
                <a:ea typeface="Calibri" pitchFamily="34" charset="-122"/>
                <a:cs typeface="Calibri" pitchFamily="34" charset="-120"/>
              </a:rPr>
              <a:t>CYBERSECURITY</a:t>
            </a:r>
            <a:endParaRPr lang="en-US" sz="2800" dirty="0"/>
          </a:p>
        </p:txBody>
      </p:sp>
      <p:sp>
        <p:nvSpPr>
          <p:cNvPr id="3" name="Shape 1"/>
          <p:cNvSpPr/>
          <p:nvPr/>
        </p:nvSpPr>
        <p:spPr>
          <a:xfrm>
            <a:off x="274320" y="1024128"/>
            <a:ext cx="1444752" cy="713232"/>
          </a:xfrm>
          <a:prstGeom prst="rect">
            <a:avLst/>
          </a:prstGeom>
          <a:solidFill>
            <a:srgbClr val="053E51"/>
          </a:solidFill>
          <a:ln w="12700">
            <a:solidFill>
              <a:srgbClr val="053E51"/>
            </a:solidFill>
            <a:prstDash val="solid"/>
          </a:ln>
        </p:spPr>
      </p:sp>
      <p:pic>
        <p:nvPicPr>
          <p:cNvPr id="4" name="Image 0" descr="preencoded.png"/>
          <p:cNvPicPr>
            <a:picLocks noChangeAspect="1"/>
          </p:cNvPicPr>
          <p:nvPr/>
        </p:nvPicPr>
        <p:blipFill>
          <a:blip r:embed="rId3"/>
          <a:stretch>
            <a:fillRect/>
          </a:stretch>
        </p:blipFill>
        <p:spPr>
          <a:xfrm>
            <a:off x="320040" y="1097280"/>
            <a:ext cx="512064" cy="512064"/>
          </a:xfrm>
          <a:prstGeom prst="rect">
            <a:avLst/>
          </a:prstGeom>
        </p:spPr>
      </p:pic>
      <p:sp>
        <p:nvSpPr>
          <p:cNvPr id="5" name="Text 2"/>
          <p:cNvSpPr/>
          <p:nvPr/>
        </p:nvSpPr>
        <p:spPr>
          <a:xfrm>
            <a:off x="868680" y="1225296"/>
            <a:ext cx="777240"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1960s – 1980s</a:t>
            </a:r>
            <a:endParaRPr lang="en-US" sz="900" dirty="0"/>
          </a:p>
        </p:txBody>
      </p:sp>
      <p:sp>
        <p:nvSpPr>
          <p:cNvPr id="6" name="Shape 3"/>
          <p:cNvSpPr/>
          <p:nvPr/>
        </p:nvSpPr>
        <p:spPr>
          <a:xfrm>
            <a:off x="1755648" y="1024128"/>
            <a:ext cx="7114032" cy="713232"/>
          </a:xfrm>
          <a:prstGeom prst="rect">
            <a:avLst/>
          </a:prstGeom>
          <a:solidFill>
            <a:srgbClr val="FFFFFF"/>
          </a:solidFill>
          <a:ln w="12700">
            <a:solidFill>
              <a:srgbClr val="053E51"/>
            </a:solidFill>
            <a:prstDash val="solid"/>
          </a:ln>
        </p:spPr>
      </p:sp>
      <p:sp>
        <p:nvSpPr>
          <p:cNvPr id="7" name="Text 4"/>
          <p:cNvSpPr/>
          <p:nvPr/>
        </p:nvSpPr>
        <p:spPr>
          <a:xfrm>
            <a:off x="1874520" y="1060704"/>
            <a:ext cx="2286000" cy="310896"/>
          </a:xfrm>
          <a:prstGeom prst="rect">
            <a:avLst/>
          </a:prstGeom>
          <a:noFill/>
          <a:ln/>
        </p:spPr>
        <p:txBody>
          <a:bodyPr wrap="square" rtlCol="0" anchor="ctr"/>
          <a:lstStyle/>
          <a:p>
            <a:pPr marL="0" indent="0">
              <a:buNone/>
            </a:pPr>
            <a:r>
              <a:rPr lang="en-US" sz="1400" b="1" dirty="0">
                <a:solidFill>
                  <a:srgbClr val="0D3D52"/>
                </a:solidFill>
                <a:latin typeface="Calibri" pitchFamily="34" charset="0"/>
                <a:ea typeface="Calibri" pitchFamily="34" charset="-122"/>
                <a:cs typeface="Calibri" pitchFamily="34" charset="-120"/>
              </a:rPr>
              <a:t>Early Years</a:t>
            </a:r>
            <a:endParaRPr lang="en-US" sz="1400" dirty="0"/>
          </a:p>
        </p:txBody>
      </p:sp>
      <p:sp>
        <p:nvSpPr>
          <p:cNvPr id="8" name="Text 5"/>
          <p:cNvSpPr/>
          <p:nvPr/>
        </p:nvSpPr>
        <p:spPr>
          <a:xfrm>
            <a:off x="1874520" y="1389888"/>
            <a:ext cx="6858000" cy="310896"/>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  Mainframes and basic security models    •  First computer viruses    •  Rise of antivirus software</a:t>
            </a:r>
            <a:endParaRPr lang="en-US" sz="1150" dirty="0"/>
          </a:p>
        </p:txBody>
      </p:sp>
      <p:sp>
        <p:nvSpPr>
          <p:cNvPr id="9" name="Shape 6"/>
          <p:cNvSpPr/>
          <p:nvPr/>
        </p:nvSpPr>
        <p:spPr>
          <a:xfrm>
            <a:off x="274320" y="1828800"/>
            <a:ext cx="1444752" cy="713232"/>
          </a:xfrm>
          <a:prstGeom prst="rect">
            <a:avLst/>
          </a:prstGeom>
          <a:solidFill>
            <a:srgbClr val="0D6E7E"/>
          </a:solidFill>
          <a:ln w="12700">
            <a:solidFill>
              <a:srgbClr val="0D6E7E"/>
            </a:solidFill>
            <a:prstDash val="solid"/>
          </a:ln>
        </p:spPr>
      </p:sp>
      <p:pic>
        <p:nvPicPr>
          <p:cNvPr id="10" name="Image 1" descr="preencoded.png"/>
          <p:cNvPicPr>
            <a:picLocks noChangeAspect="1"/>
          </p:cNvPicPr>
          <p:nvPr/>
        </p:nvPicPr>
        <p:blipFill>
          <a:blip r:embed="rId4"/>
          <a:stretch>
            <a:fillRect/>
          </a:stretch>
        </p:blipFill>
        <p:spPr>
          <a:xfrm>
            <a:off x="320040" y="1901952"/>
            <a:ext cx="512064" cy="512064"/>
          </a:xfrm>
          <a:prstGeom prst="rect">
            <a:avLst/>
          </a:prstGeom>
        </p:spPr>
      </p:pic>
      <p:sp>
        <p:nvSpPr>
          <p:cNvPr id="11" name="Text 7"/>
          <p:cNvSpPr/>
          <p:nvPr/>
        </p:nvSpPr>
        <p:spPr>
          <a:xfrm>
            <a:off x="868680" y="2029968"/>
            <a:ext cx="777240"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1990s</a:t>
            </a:r>
            <a:endParaRPr lang="en-US" sz="900" dirty="0"/>
          </a:p>
        </p:txBody>
      </p:sp>
      <p:sp>
        <p:nvSpPr>
          <p:cNvPr id="12" name="Shape 8"/>
          <p:cNvSpPr/>
          <p:nvPr/>
        </p:nvSpPr>
        <p:spPr>
          <a:xfrm>
            <a:off x="1755648" y="1828800"/>
            <a:ext cx="7114032" cy="713232"/>
          </a:xfrm>
          <a:prstGeom prst="rect">
            <a:avLst/>
          </a:prstGeom>
          <a:solidFill>
            <a:srgbClr val="FFFFFF"/>
          </a:solidFill>
          <a:ln w="12700">
            <a:solidFill>
              <a:srgbClr val="0D6E7E"/>
            </a:solidFill>
            <a:prstDash val="solid"/>
          </a:ln>
        </p:spPr>
      </p:sp>
      <p:sp>
        <p:nvSpPr>
          <p:cNvPr id="13" name="Text 9"/>
          <p:cNvSpPr/>
          <p:nvPr/>
        </p:nvSpPr>
        <p:spPr>
          <a:xfrm>
            <a:off x="1874520" y="1865376"/>
            <a:ext cx="2286000" cy="310896"/>
          </a:xfrm>
          <a:prstGeom prst="rect">
            <a:avLst/>
          </a:prstGeom>
          <a:noFill/>
          <a:ln/>
        </p:spPr>
        <p:txBody>
          <a:bodyPr wrap="square" rtlCol="0" anchor="ctr"/>
          <a:lstStyle/>
          <a:p>
            <a:pPr marL="0" indent="0">
              <a:buNone/>
            </a:pPr>
            <a:r>
              <a:rPr lang="en-US" sz="1400" b="1" dirty="0">
                <a:solidFill>
                  <a:srgbClr val="0D3D52"/>
                </a:solidFill>
                <a:latin typeface="Calibri" pitchFamily="34" charset="0"/>
                <a:ea typeface="Calibri" pitchFamily="34" charset="-122"/>
                <a:cs typeface="Calibri" pitchFamily="34" charset="-120"/>
              </a:rPr>
              <a:t>Internet Boom</a:t>
            </a:r>
            <a:endParaRPr lang="en-US" sz="1400" dirty="0"/>
          </a:p>
        </p:txBody>
      </p:sp>
      <p:sp>
        <p:nvSpPr>
          <p:cNvPr id="14" name="Text 10"/>
          <p:cNvSpPr/>
          <p:nvPr/>
        </p:nvSpPr>
        <p:spPr>
          <a:xfrm>
            <a:off x="1874520" y="2194560"/>
            <a:ext cx="6858000" cy="310896"/>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  Widespread web access    •  Cybercrime and phishing    •  Firewalls and IDS</a:t>
            </a:r>
            <a:endParaRPr lang="en-US" sz="1150" dirty="0"/>
          </a:p>
        </p:txBody>
      </p:sp>
      <p:sp>
        <p:nvSpPr>
          <p:cNvPr id="15" name="Shape 11"/>
          <p:cNvSpPr/>
          <p:nvPr/>
        </p:nvSpPr>
        <p:spPr>
          <a:xfrm>
            <a:off x="274320" y="2633472"/>
            <a:ext cx="1444752" cy="713232"/>
          </a:xfrm>
          <a:prstGeom prst="rect">
            <a:avLst/>
          </a:prstGeom>
          <a:solidFill>
            <a:srgbClr val="446600"/>
          </a:solidFill>
          <a:ln w="12700">
            <a:solidFill>
              <a:srgbClr val="446600"/>
            </a:solidFill>
            <a:prstDash val="solid"/>
          </a:ln>
        </p:spPr>
      </p:sp>
      <p:pic>
        <p:nvPicPr>
          <p:cNvPr id="16" name="Image 2" descr="preencoded.png"/>
          <p:cNvPicPr>
            <a:picLocks noChangeAspect="1"/>
          </p:cNvPicPr>
          <p:nvPr/>
        </p:nvPicPr>
        <p:blipFill>
          <a:blip r:embed="rId5"/>
          <a:stretch>
            <a:fillRect/>
          </a:stretch>
        </p:blipFill>
        <p:spPr>
          <a:xfrm>
            <a:off x="320040" y="2706624"/>
            <a:ext cx="512064" cy="512064"/>
          </a:xfrm>
          <a:prstGeom prst="rect">
            <a:avLst/>
          </a:prstGeom>
        </p:spPr>
      </p:pic>
      <p:sp>
        <p:nvSpPr>
          <p:cNvPr id="17" name="Text 12"/>
          <p:cNvSpPr/>
          <p:nvPr/>
        </p:nvSpPr>
        <p:spPr>
          <a:xfrm>
            <a:off x="868680" y="2834640"/>
            <a:ext cx="777240"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2000s</a:t>
            </a:r>
            <a:endParaRPr lang="en-US" sz="900" dirty="0"/>
          </a:p>
        </p:txBody>
      </p:sp>
      <p:sp>
        <p:nvSpPr>
          <p:cNvPr id="18" name="Shape 13"/>
          <p:cNvSpPr/>
          <p:nvPr/>
        </p:nvSpPr>
        <p:spPr>
          <a:xfrm>
            <a:off x="1755648" y="2633472"/>
            <a:ext cx="7114032" cy="713232"/>
          </a:xfrm>
          <a:prstGeom prst="rect">
            <a:avLst/>
          </a:prstGeom>
          <a:solidFill>
            <a:srgbClr val="FFFFFF"/>
          </a:solidFill>
          <a:ln w="12700">
            <a:solidFill>
              <a:srgbClr val="446600"/>
            </a:solidFill>
            <a:prstDash val="solid"/>
          </a:ln>
        </p:spPr>
      </p:sp>
      <p:sp>
        <p:nvSpPr>
          <p:cNvPr id="19" name="Text 14"/>
          <p:cNvSpPr/>
          <p:nvPr/>
        </p:nvSpPr>
        <p:spPr>
          <a:xfrm>
            <a:off x="1874520" y="2670048"/>
            <a:ext cx="2286000" cy="310896"/>
          </a:xfrm>
          <a:prstGeom prst="rect">
            <a:avLst/>
          </a:prstGeom>
          <a:noFill/>
          <a:ln/>
        </p:spPr>
        <p:txBody>
          <a:bodyPr wrap="square" rtlCol="0" anchor="ctr"/>
          <a:lstStyle/>
          <a:p>
            <a:pPr marL="0" indent="0">
              <a:buNone/>
            </a:pPr>
            <a:r>
              <a:rPr lang="en-US" sz="1400" b="1" dirty="0">
                <a:solidFill>
                  <a:srgbClr val="0D3D52"/>
                </a:solidFill>
                <a:latin typeface="Calibri" pitchFamily="34" charset="0"/>
                <a:ea typeface="Calibri" pitchFamily="34" charset="-122"/>
                <a:cs typeface="Calibri" pitchFamily="34" charset="-120"/>
              </a:rPr>
              <a:t>Web &amp; Email Expansion</a:t>
            </a:r>
            <a:endParaRPr lang="en-US" sz="1400" dirty="0"/>
          </a:p>
        </p:txBody>
      </p:sp>
      <p:sp>
        <p:nvSpPr>
          <p:cNvPr id="20" name="Text 15"/>
          <p:cNvSpPr/>
          <p:nvPr/>
        </p:nvSpPr>
        <p:spPr>
          <a:xfrm>
            <a:off x="1874520" y="2999232"/>
            <a:ext cx="6858000" cy="310896"/>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  Rise of malware and spam    •  VPNs and endpoint protection    •  Security companies grow</a:t>
            </a:r>
            <a:endParaRPr lang="en-US" sz="1150" dirty="0"/>
          </a:p>
        </p:txBody>
      </p:sp>
      <p:sp>
        <p:nvSpPr>
          <p:cNvPr id="21" name="Shape 16"/>
          <p:cNvSpPr/>
          <p:nvPr/>
        </p:nvSpPr>
        <p:spPr>
          <a:xfrm>
            <a:off x="274320" y="3438144"/>
            <a:ext cx="1444752" cy="713232"/>
          </a:xfrm>
          <a:prstGeom prst="rect">
            <a:avLst/>
          </a:prstGeom>
          <a:solidFill>
            <a:srgbClr val="2244AA"/>
          </a:solidFill>
          <a:ln w="12700">
            <a:solidFill>
              <a:srgbClr val="2244AA"/>
            </a:solidFill>
            <a:prstDash val="solid"/>
          </a:ln>
        </p:spPr>
      </p:sp>
      <p:pic>
        <p:nvPicPr>
          <p:cNvPr id="22" name="Image 3" descr="preencoded.png"/>
          <p:cNvPicPr>
            <a:picLocks noChangeAspect="1"/>
          </p:cNvPicPr>
          <p:nvPr/>
        </p:nvPicPr>
        <p:blipFill>
          <a:blip r:embed="rId6"/>
          <a:stretch>
            <a:fillRect/>
          </a:stretch>
        </p:blipFill>
        <p:spPr>
          <a:xfrm>
            <a:off x="320040" y="3511296"/>
            <a:ext cx="512064" cy="512064"/>
          </a:xfrm>
          <a:prstGeom prst="rect">
            <a:avLst/>
          </a:prstGeom>
        </p:spPr>
      </p:pic>
      <p:sp>
        <p:nvSpPr>
          <p:cNvPr id="23" name="Text 17"/>
          <p:cNvSpPr/>
          <p:nvPr/>
        </p:nvSpPr>
        <p:spPr>
          <a:xfrm>
            <a:off x="868680" y="3639312"/>
            <a:ext cx="777240"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2010s</a:t>
            </a:r>
            <a:endParaRPr lang="en-US" sz="900" dirty="0"/>
          </a:p>
        </p:txBody>
      </p:sp>
      <p:sp>
        <p:nvSpPr>
          <p:cNvPr id="24" name="Shape 18"/>
          <p:cNvSpPr/>
          <p:nvPr/>
        </p:nvSpPr>
        <p:spPr>
          <a:xfrm>
            <a:off x="1755648" y="3438144"/>
            <a:ext cx="7114032" cy="713232"/>
          </a:xfrm>
          <a:prstGeom prst="rect">
            <a:avLst/>
          </a:prstGeom>
          <a:solidFill>
            <a:srgbClr val="FFFFFF"/>
          </a:solidFill>
          <a:ln w="12700">
            <a:solidFill>
              <a:srgbClr val="2244AA"/>
            </a:solidFill>
            <a:prstDash val="solid"/>
          </a:ln>
        </p:spPr>
      </p:sp>
      <p:sp>
        <p:nvSpPr>
          <p:cNvPr id="25" name="Text 19"/>
          <p:cNvSpPr/>
          <p:nvPr/>
        </p:nvSpPr>
        <p:spPr>
          <a:xfrm>
            <a:off x="1874520" y="3474720"/>
            <a:ext cx="2286000" cy="310896"/>
          </a:xfrm>
          <a:prstGeom prst="rect">
            <a:avLst/>
          </a:prstGeom>
          <a:noFill/>
          <a:ln/>
        </p:spPr>
        <p:txBody>
          <a:bodyPr wrap="square" rtlCol="0" anchor="ctr"/>
          <a:lstStyle/>
          <a:p>
            <a:pPr marL="0" indent="0">
              <a:buNone/>
            </a:pPr>
            <a:r>
              <a:rPr lang="en-US" sz="1400" b="1" dirty="0">
                <a:solidFill>
                  <a:srgbClr val="0D3D52"/>
                </a:solidFill>
                <a:latin typeface="Calibri" pitchFamily="34" charset="0"/>
                <a:ea typeface="Calibri" pitchFamily="34" charset="-122"/>
                <a:cs typeface="Calibri" pitchFamily="34" charset="-120"/>
              </a:rPr>
              <a:t>Cloud &amp; Mobile Era</a:t>
            </a:r>
            <a:endParaRPr lang="en-US" sz="1400" dirty="0"/>
          </a:p>
        </p:txBody>
      </p:sp>
      <p:sp>
        <p:nvSpPr>
          <p:cNvPr id="26" name="Text 20"/>
          <p:cNvSpPr/>
          <p:nvPr/>
        </p:nvSpPr>
        <p:spPr>
          <a:xfrm>
            <a:off x="1874520" y="3803904"/>
            <a:ext cx="6858000" cy="310896"/>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  Advanced threats (APTs, ransomware)    •  Cloud challenges    •  BYOD</a:t>
            </a:r>
            <a:endParaRPr lang="en-US" sz="1150" dirty="0"/>
          </a:p>
        </p:txBody>
      </p:sp>
      <p:sp>
        <p:nvSpPr>
          <p:cNvPr id="27" name="Shape 21"/>
          <p:cNvSpPr/>
          <p:nvPr/>
        </p:nvSpPr>
        <p:spPr>
          <a:xfrm>
            <a:off x="274320" y="4242816"/>
            <a:ext cx="1444752" cy="713232"/>
          </a:xfrm>
          <a:prstGeom prst="rect">
            <a:avLst/>
          </a:prstGeom>
          <a:solidFill>
            <a:srgbClr val="881444"/>
          </a:solidFill>
          <a:ln w="12700">
            <a:solidFill>
              <a:srgbClr val="881444"/>
            </a:solidFill>
            <a:prstDash val="solid"/>
          </a:ln>
        </p:spPr>
      </p:sp>
      <p:pic>
        <p:nvPicPr>
          <p:cNvPr id="28" name="Image 4" descr="preencoded.png"/>
          <p:cNvPicPr>
            <a:picLocks noChangeAspect="1"/>
          </p:cNvPicPr>
          <p:nvPr/>
        </p:nvPicPr>
        <p:blipFill>
          <a:blip r:embed="rId7"/>
          <a:stretch>
            <a:fillRect/>
          </a:stretch>
        </p:blipFill>
        <p:spPr>
          <a:xfrm>
            <a:off x="320040" y="4315968"/>
            <a:ext cx="512064" cy="512064"/>
          </a:xfrm>
          <a:prstGeom prst="rect">
            <a:avLst/>
          </a:prstGeom>
        </p:spPr>
      </p:pic>
      <p:sp>
        <p:nvSpPr>
          <p:cNvPr id="29" name="Text 22"/>
          <p:cNvSpPr/>
          <p:nvPr/>
        </p:nvSpPr>
        <p:spPr>
          <a:xfrm>
            <a:off x="868680" y="4443984"/>
            <a:ext cx="777240"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2020s– Present</a:t>
            </a:r>
            <a:endParaRPr lang="en-US" sz="900" dirty="0"/>
          </a:p>
        </p:txBody>
      </p:sp>
      <p:sp>
        <p:nvSpPr>
          <p:cNvPr id="30" name="Shape 23"/>
          <p:cNvSpPr/>
          <p:nvPr/>
        </p:nvSpPr>
        <p:spPr>
          <a:xfrm>
            <a:off x="1755648" y="4242816"/>
            <a:ext cx="5402390" cy="713232"/>
          </a:xfrm>
          <a:prstGeom prst="rect">
            <a:avLst/>
          </a:prstGeom>
          <a:solidFill>
            <a:srgbClr val="FFFFFF"/>
          </a:solidFill>
          <a:ln w="12700">
            <a:solidFill>
              <a:srgbClr val="881444"/>
            </a:solidFill>
            <a:prstDash val="solid"/>
          </a:ln>
        </p:spPr>
      </p:sp>
      <p:sp>
        <p:nvSpPr>
          <p:cNvPr id="31" name="Text 24"/>
          <p:cNvSpPr/>
          <p:nvPr/>
        </p:nvSpPr>
        <p:spPr>
          <a:xfrm>
            <a:off x="1874520" y="4279392"/>
            <a:ext cx="2286000" cy="310896"/>
          </a:xfrm>
          <a:prstGeom prst="rect">
            <a:avLst/>
          </a:prstGeom>
          <a:noFill/>
          <a:ln/>
        </p:spPr>
        <p:txBody>
          <a:bodyPr wrap="square" rtlCol="0" anchor="ctr"/>
          <a:lstStyle/>
          <a:p>
            <a:pPr marL="0" indent="0">
              <a:buNone/>
            </a:pPr>
            <a:r>
              <a:rPr lang="en-US" sz="1400" b="1" dirty="0">
                <a:solidFill>
                  <a:srgbClr val="0D3D52"/>
                </a:solidFill>
                <a:latin typeface="Calibri" pitchFamily="34" charset="0"/>
                <a:ea typeface="Calibri" pitchFamily="34" charset="-122"/>
                <a:cs typeface="Calibri" pitchFamily="34" charset="-120"/>
              </a:rPr>
              <a:t>Modern Cybersecurity</a:t>
            </a:r>
            <a:endParaRPr lang="en-US" sz="1400" dirty="0"/>
          </a:p>
        </p:txBody>
      </p:sp>
      <p:sp>
        <p:nvSpPr>
          <p:cNvPr id="32" name="Text 25"/>
          <p:cNvSpPr/>
          <p:nvPr/>
        </p:nvSpPr>
        <p:spPr>
          <a:xfrm>
            <a:off x="1874520" y="4608576"/>
            <a:ext cx="6858000" cy="310896"/>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  Zero trust architecture    •  AI, SOAR, and XDR    •  Supply chain risk</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The Role and Future of AI in Cybersecurity</a:t>
            </a:r>
            <a:endParaRPr lang="en-US" sz="2400" dirty="0"/>
          </a:p>
        </p:txBody>
      </p:sp>
      <p:sp>
        <p:nvSpPr>
          <p:cNvPr id="5" name="Text 3"/>
          <p:cNvSpPr/>
          <p:nvPr/>
        </p:nvSpPr>
        <p:spPr>
          <a:xfrm>
            <a:off x="411480" y="749808"/>
            <a:ext cx="8046720" cy="292608"/>
          </a:xfrm>
          <a:prstGeom prst="rect">
            <a:avLst/>
          </a:prstGeom>
          <a:noFill/>
          <a:ln/>
        </p:spPr>
        <p:txBody>
          <a:bodyPr wrap="square" rtlCol="0" anchor="ctr"/>
          <a:lstStyle/>
          <a:p>
            <a:pPr marL="0" indent="0">
              <a:buNone/>
            </a:pPr>
            <a:r>
              <a:rPr lang="en-US" sz="1300" dirty="0">
                <a:solidFill>
                  <a:srgbClr val="4A6572"/>
                </a:solidFill>
                <a:latin typeface="Calibri" pitchFamily="34" charset="0"/>
                <a:ea typeface="Calibri" pitchFamily="34" charset="-122"/>
                <a:cs typeface="Calibri" pitchFamily="34" charset="-120"/>
              </a:rPr>
              <a:t>AI mimics human decision-making and adapts dynamically to evolving cyber threats.</a:t>
            </a:r>
            <a:endParaRPr lang="en-US" sz="1300" dirty="0"/>
          </a:p>
        </p:txBody>
      </p:sp>
      <p:sp>
        <p:nvSpPr>
          <p:cNvPr id="6" name="Shape 4"/>
          <p:cNvSpPr/>
          <p:nvPr/>
        </p:nvSpPr>
        <p:spPr>
          <a:xfrm>
            <a:off x="274320" y="1078992"/>
            <a:ext cx="4224528" cy="1188720"/>
          </a:xfrm>
          <a:prstGeom prst="rect">
            <a:avLst/>
          </a:prstGeom>
          <a:solidFill>
            <a:srgbClr val="F5F9FA"/>
          </a:solidFill>
          <a:ln w="19050">
            <a:solidFill>
              <a:srgbClr val="AA2244"/>
            </a:solidFill>
            <a:prstDash val="solid"/>
          </a:ln>
        </p:spPr>
      </p:sp>
      <p:sp>
        <p:nvSpPr>
          <p:cNvPr id="7" name="Shape 5"/>
          <p:cNvSpPr/>
          <p:nvPr/>
        </p:nvSpPr>
        <p:spPr>
          <a:xfrm>
            <a:off x="274320" y="1078992"/>
            <a:ext cx="4224528" cy="347472"/>
          </a:xfrm>
          <a:prstGeom prst="rect">
            <a:avLst/>
          </a:prstGeom>
          <a:solidFill>
            <a:srgbClr val="AA2244"/>
          </a:solidFill>
          <a:ln w="12700">
            <a:solidFill>
              <a:srgbClr val="AA2244"/>
            </a:solidFill>
            <a:prstDash val="solid"/>
          </a:ln>
        </p:spPr>
      </p:sp>
      <p:sp>
        <p:nvSpPr>
          <p:cNvPr id="8" name="Text 6"/>
          <p:cNvSpPr/>
          <p:nvPr/>
        </p:nvSpPr>
        <p:spPr>
          <a:xfrm>
            <a:off x="365760" y="1078992"/>
            <a:ext cx="4041648"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AI vs. AI</a:t>
            </a:r>
            <a:endParaRPr lang="en-US" sz="1300" dirty="0"/>
          </a:p>
        </p:txBody>
      </p:sp>
      <p:sp>
        <p:nvSpPr>
          <p:cNvPr id="9" name="Text 7"/>
          <p:cNvSpPr/>
          <p:nvPr/>
        </p:nvSpPr>
        <p:spPr>
          <a:xfrm>
            <a:off x="365760" y="1463040"/>
            <a:ext cx="4041648" cy="768096"/>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Adversarial AI evades detection; Defensive AI evolves to recognize AI-generated threats using neural networks.</a:t>
            </a:r>
            <a:endParaRPr lang="en-US" sz="1150" dirty="0"/>
          </a:p>
        </p:txBody>
      </p:sp>
      <p:sp>
        <p:nvSpPr>
          <p:cNvPr id="10" name="Shape 8"/>
          <p:cNvSpPr/>
          <p:nvPr/>
        </p:nvSpPr>
        <p:spPr>
          <a:xfrm>
            <a:off x="4800600" y="1078992"/>
            <a:ext cx="4224528" cy="1188720"/>
          </a:xfrm>
          <a:prstGeom prst="rect">
            <a:avLst/>
          </a:prstGeom>
          <a:solidFill>
            <a:srgbClr val="F5F9FA"/>
          </a:solidFill>
          <a:ln w="19050">
            <a:solidFill>
              <a:srgbClr val="053E51"/>
            </a:solidFill>
            <a:prstDash val="solid"/>
          </a:ln>
        </p:spPr>
      </p:sp>
      <p:sp>
        <p:nvSpPr>
          <p:cNvPr id="11" name="Shape 9"/>
          <p:cNvSpPr/>
          <p:nvPr/>
        </p:nvSpPr>
        <p:spPr>
          <a:xfrm>
            <a:off x="4800600" y="1078992"/>
            <a:ext cx="4224528" cy="347472"/>
          </a:xfrm>
          <a:prstGeom prst="rect">
            <a:avLst/>
          </a:prstGeom>
          <a:solidFill>
            <a:srgbClr val="053E51"/>
          </a:solidFill>
          <a:ln w="12700">
            <a:solidFill>
              <a:srgbClr val="053E51"/>
            </a:solidFill>
            <a:prstDash val="solid"/>
          </a:ln>
        </p:spPr>
      </p:sp>
      <p:sp>
        <p:nvSpPr>
          <p:cNvPr id="12" name="Text 10"/>
          <p:cNvSpPr/>
          <p:nvPr/>
        </p:nvSpPr>
        <p:spPr>
          <a:xfrm>
            <a:off x="4892040" y="1078992"/>
            <a:ext cx="4041648"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Autonomous Cyber Defense</a:t>
            </a:r>
            <a:endParaRPr lang="en-US" sz="1300" dirty="0"/>
          </a:p>
        </p:txBody>
      </p:sp>
      <p:sp>
        <p:nvSpPr>
          <p:cNvPr id="13" name="Text 11"/>
          <p:cNvSpPr/>
          <p:nvPr/>
        </p:nvSpPr>
        <p:spPr>
          <a:xfrm>
            <a:off x="4892040" y="1463040"/>
            <a:ext cx="4041648" cy="768096"/>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Self-learning AI systems identify, isolate, and respond to threats. Autonomous SOCs running 24/7.</a:t>
            </a:r>
            <a:endParaRPr lang="en-US" sz="1150" dirty="0"/>
          </a:p>
        </p:txBody>
      </p:sp>
      <p:sp>
        <p:nvSpPr>
          <p:cNvPr id="14" name="Shape 12"/>
          <p:cNvSpPr/>
          <p:nvPr/>
        </p:nvSpPr>
        <p:spPr>
          <a:xfrm>
            <a:off x="274320" y="2377440"/>
            <a:ext cx="4224528" cy="1188720"/>
          </a:xfrm>
          <a:prstGeom prst="rect">
            <a:avLst/>
          </a:prstGeom>
          <a:solidFill>
            <a:srgbClr val="F5F9FA"/>
          </a:solidFill>
          <a:ln w="19050">
            <a:solidFill>
              <a:srgbClr val="0D6E7E"/>
            </a:solidFill>
            <a:prstDash val="solid"/>
          </a:ln>
        </p:spPr>
      </p:sp>
      <p:sp>
        <p:nvSpPr>
          <p:cNvPr id="15" name="Shape 13"/>
          <p:cNvSpPr/>
          <p:nvPr/>
        </p:nvSpPr>
        <p:spPr>
          <a:xfrm>
            <a:off x="274320" y="2377440"/>
            <a:ext cx="4224528" cy="347472"/>
          </a:xfrm>
          <a:prstGeom prst="rect">
            <a:avLst/>
          </a:prstGeom>
          <a:solidFill>
            <a:srgbClr val="0D6E7E"/>
          </a:solidFill>
          <a:ln w="12700">
            <a:solidFill>
              <a:srgbClr val="0D6E7E"/>
            </a:solidFill>
            <a:prstDash val="solid"/>
          </a:ln>
        </p:spPr>
      </p:sp>
      <p:sp>
        <p:nvSpPr>
          <p:cNvPr id="16" name="Text 14"/>
          <p:cNvSpPr/>
          <p:nvPr/>
        </p:nvSpPr>
        <p:spPr>
          <a:xfrm>
            <a:off x="365760" y="2377440"/>
            <a:ext cx="4041648"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Cognitive Security</a:t>
            </a:r>
            <a:endParaRPr lang="en-US" sz="1300" dirty="0"/>
          </a:p>
        </p:txBody>
      </p:sp>
      <p:sp>
        <p:nvSpPr>
          <p:cNvPr id="17" name="Text 15"/>
          <p:cNvSpPr/>
          <p:nvPr/>
        </p:nvSpPr>
        <p:spPr>
          <a:xfrm>
            <a:off x="365760" y="2761488"/>
            <a:ext cx="4041648" cy="768096"/>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Integrating AI with cognitive computing — interpret unstructured data (social media, threat reports) to predict attacks.</a:t>
            </a:r>
            <a:endParaRPr lang="en-US" sz="1150" dirty="0"/>
          </a:p>
        </p:txBody>
      </p:sp>
      <p:sp>
        <p:nvSpPr>
          <p:cNvPr id="18" name="Shape 16"/>
          <p:cNvSpPr/>
          <p:nvPr/>
        </p:nvSpPr>
        <p:spPr>
          <a:xfrm>
            <a:off x="4800600" y="2377440"/>
            <a:ext cx="4224528" cy="1188720"/>
          </a:xfrm>
          <a:prstGeom prst="rect">
            <a:avLst/>
          </a:prstGeom>
          <a:solidFill>
            <a:srgbClr val="F5F9FA"/>
          </a:solidFill>
          <a:ln w="19050">
            <a:solidFill>
              <a:srgbClr val="446600"/>
            </a:solidFill>
            <a:prstDash val="solid"/>
          </a:ln>
        </p:spPr>
      </p:sp>
      <p:sp>
        <p:nvSpPr>
          <p:cNvPr id="19" name="Shape 17"/>
          <p:cNvSpPr/>
          <p:nvPr/>
        </p:nvSpPr>
        <p:spPr>
          <a:xfrm>
            <a:off x="4800600" y="2377440"/>
            <a:ext cx="4224528" cy="347472"/>
          </a:xfrm>
          <a:prstGeom prst="rect">
            <a:avLst/>
          </a:prstGeom>
          <a:solidFill>
            <a:srgbClr val="446600"/>
          </a:solidFill>
          <a:ln w="12700">
            <a:solidFill>
              <a:srgbClr val="446600"/>
            </a:solidFill>
            <a:prstDash val="solid"/>
          </a:ln>
        </p:spPr>
      </p:sp>
      <p:sp>
        <p:nvSpPr>
          <p:cNvPr id="20" name="Text 18"/>
          <p:cNvSpPr/>
          <p:nvPr/>
        </p:nvSpPr>
        <p:spPr>
          <a:xfrm>
            <a:off x="4892040" y="2377440"/>
            <a:ext cx="4041648"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AI-Powered Risk Management</a:t>
            </a:r>
            <a:endParaRPr lang="en-US" sz="1300" dirty="0"/>
          </a:p>
        </p:txBody>
      </p:sp>
      <p:sp>
        <p:nvSpPr>
          <p:cNvPr id="21" name="Text 19"/>
          <p:cNvSpPr/>
          <p:nvPr/>
        </p:nvSpPr>
        <p:spPr>
          <a:xfrm>
            <a:off x="4892040" y="2761488"/>
            <a:ext cx="4041648" cy="768096"/>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Continuous risk assessments based on user, asset, and organizational data — enhances GRC capabilities.</a:t>
            </a:r>
            <a:endParaRPr lang="en-US" sz="1150" dirty="0"/>
          </a:p>
        </p:txBody>
      </p:sp>
      <p:sp>
        <p:nvSpPr>
          <p:cNvPr id="22" name="Shape 20"/>
          <p:cNvSpPr/>
          <p:nvPr/>
        </p:nvSpPr>
        <p:spPr>
          <a:xfrm>
            <a:off x="274320" y="3675888"/>
            <a:ext cx="4224528" cy="1188720"/>
          </a:xfrm>
          <a:prstGeom prst="rect">
            <a:avLst/>
          </a:prstGeom>
          <a:solidFill>
            <a:srgbClr val="F5F9FA"/>
          </a:solidFill>
          <a:ln w="19050">
            <a:solidFill>
              <a:srgbClr val="2244AA"/>
            </a:solidFill>
            <a:prstDash val="solid"/>
          </a:ln>
        </p:spPr>
      </p:sp>
      <p:sp>
        <p:nvSpPr>
          <p:cNvPr id="23" name="Shape 21"/>
          <p:cNvSpPr/>
          <p:nvPr/>
        </p:nvSpPr>
        <p:spPr>
          <a:xfrm>
            <a:off x="274320" y="3675888"/>
            <a:ext cx="4224528" cy="347472"/>
          </a:xfrm>
          <a:prstGeom prst="rect">
            <a:avLst/>
          </a:prstGeom>
          <a:solidFill>
            <a:srgbClr val="2244AA"/>
          </a:solidFill>
          <a:ln w="12700">
            <a:solidFill>
              <a:srgbClr val="2244AA"/>
            </a:solidFill>
            <a:prstDash val="solid"/>
          </a:ln>
        </p:spPr>
      </p:sp>
      <p:sp>
        <p:nvSpPr>
          <p:cNvPr id="24" name="Text 22"/>
          <p:cNvSpPr/>
          <p:nvPr/>
        </p:nvSpPr>
        <p:spPr>
          <a:xfrm>
            <a:off x="365760" y="3675888"/>
            <a:ext cx="4041648"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Proactive Threat Hunting</a:t>
            </a:r>
            <a:endParaRPr lang="en-US" sz="1300" dirty="0"/>
          </a:p>
        </p:txBody>
      </p:sp>
      <p:sp>
        <p:nvSpPr>
          <p:cNvPr id="25" name="Text 23"/>
          <p:cNvSpPr/>
          <p:nvPr/>
        </p:nvSpPr>
        <p:spPr>
          <a:xfrm>
            <a:off x="365760" y="4059936"/>
            <a:ext cx="4041648" cy="768096"/>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Predictive cybersecurity via AI — forecast likely attack vectors before exploitation, proactive hardening.</a:t>
            </a:r>
            <a:endParaRPr lang="en-US" sz="1150" dirty="0"/>
          </a:p>
        </p:txBody>
      </p:sp>
      <p:sp>
        <p:nvSpPr>
          <p:cNvPr id="26" name="Shape 24"/>
          <p:cNvSpPr/>
          <p:nvPr/>
        </p:nvSpPr>
        <p:spPr>
          <a:xfrm>
            <a:off x="4800600" y="3675888"/>
            <a:ext cx="4224528" cy="1188720"/>
          </a:xfrm>
          <a:prstGeom prst="rect">
            <a:avLst/>
          </a:prstGeom>
          <a:solidFill>
            <a:srgbClr val="F5F9FA"/>
          </a:solidFill>
          <a:ln w="19050">
            <a:solidFill>
              <a:srgbClr val="884400"/>
            </a:solidFill>
            <a:prstDash val="solid"/>
          </a:ln>
        </p:spPr>
      </p:sp>
      <p:sp>
        <p:nvSpPr>
          <p:cNvPr id="27" name="Shape 25"/>
          <p:cNvSpPr/>
          <p:nvPr/>
        </p:nvSpPr>
        <p:spPr>
          <a:xfrm>
            <a:off x="4800600" y="3675888"/>
            <a:ext cx="4224528" cy="347472"/>
          </a:xfrm>
          <a:prstGeom prst="rect">
            <a:avLst/>
          </a:prstGeom>
          <a:solidFill>
            <a:srgbClr val="884400"/>
          </a:solidFill>
          <a:ln w="12700">
            <a:solidFill>
              <a:srgbClr val="884400"/>
            </a:solidFill>
            <a:prstDash val="solid"/>
          </a:ln>
        </p:spPr>
      </p:sp>
      <p:sp>
        <p:nvSpPr>
          <p:cNvPr id="28" name="Text 26"/>
          <p:cNvSpPr/>
          <p:nvPr/>
        </p:nvSpPr>
        <p:spPr>
          <a:xfrm>
            <a:off x="4892040" y="3675888"/>
            <a:ext cx="4041648"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Integration with Zero Trust</a:t>
            </a:r>
            <a:endParaRPr lang="en-US" sz="1300" dirty="0"/>
          </a:p>
        </p:txBody>
      </p:sp>
      <p:sp>
        <p:nvSpPr>
          <p:cNvPr id="29" name="Text 27"/>
          <p:cNvSpPr/>
          <p:nvPr/>
        </p:nvSpPr>
        <p:spPr>
          <a:xfrm>
            <a:off x="4892040" y="4059936"/>
            <a:ext cx="4041648" cy="768096"/>
          </a:xfrm>
          <a:prstGeom prst="rect">
            <a:avLst/>
          </a:prstGeom>
          <a:noFill/>
          <a:ln/>
        </p:spPr>
        <p:txBody>
          <a:bodyPr wrap="square" rtlCol="0" anchor="ctr"/>
          <a:lstStyle/>
          <a:p>
            <a:pPr marL="0" indent="0">
              <a:buNone/>
            </a:pPr>
            <a:r>
              <a:rPr lang="en-US" sz="1150" dirty="0">
                <a:solidFill>
                  <a:srgbClr val="1A2B35"/>
                </a:solidFill>
                <a:latin typeface="Calibri" pitchFamily="34" charset="0"/>
                <a:ea typeface="Calibri" pitchFamily="34" charset="-122"/>
                <a:cs typeface="Calibri" pitchFamily="34" charset="-120"/>
              </a:rPr>
              <a:t>Dynamic access control supported by AI for real-time identity verification and policy enforcement.</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3D52"/>
        </a:solidFill>
        <a:effectLst/>
      </p:bgPr>
    </p:bg>
    <p:spTree>
      <p:nvGrpSpPr>
        <p:cNvPr id="1" name=""/>
        <p:cNvGrpSpPr/>
        <p:nvPr/>
      </p:nvGrpSpPr>
      <p:grpSpPr>
        <a:xfrm>
          <a:off x="0" y="0"/>
          <a:ext cx="0" cy="0"/>
          <a:chOff x="0" y="0"/>
          <a:chExt cx="0" cy="0"/>
        </a:xfrm>
      </p:grpSpPr>
      <p:sp>
        <p:nvSpPr>
          <p:cNvPr id="2" name="Shape 0"/>
          <p:cNvSpPr/>
          <p:nvPr/>
        </p:nvSpPr>
        <p:spPr>
          <a:xfrm>
            <a:off x="274320" y="73152"/>
            <a:ext cx="8595360" cy="749808"/>
          </a:xfrm>
          <a:prstGeom prst="rect">
            <a:avLst/>
          </a:prstGeom>
          <a:solidFill>
            <a:srgbClr val="053E51"/>
          </a:solidFill>
          <a:ln w="12700">
            <a:solidFill>
              <a:srgbClr val="053E51"/>
            </a:solidFill>
            <a:prstDash val="solid"/>
          </a:ln>
        </p:spPr>
      </p:sp>
      <p:sp>
        <p:nvSpPr>
          <p:cNvPr id="3" name="Text 1"/>
          <p:cNvSpPr/>
          <p:nvPr/>
        </p:nvSpPr>
        <p:spPr>
          <a:xfrm>
            <a:off x="274320" y="73152"/>
            <a:ext cx="8595360" cy="749808"/>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Global Cybersecurity Market Overview</a:t>
            </a:r>
            <a:endParaRPr lang="en-US" sz="2400" dirty="0"/>
          </a:p>
        </p:txBody>
      </p:sp>
      <p:sp>
        <p:nvSpPr>
          <p:cNvPr id="4" name="Shape 2"/>
          <p:cNvSpPr/>
          <p:nvPr/>
        </p:nvSpPr>
        <p:spPr>
          <a:xfrm>
            <a:off x="274320" y="932688"/>
            <a:ext cx="8595360" cy="621792"/>
          </a:xfrm>
          <a:prstGeom prst="rect">
            <a:avLst/>
          </a:prstGeom>
          <a:solidFill>
            <a:srgbClr val="0A2030"/>
          </a:solidFill>
          <a:ln w="10160">
            <a:solidFill>
              <a:srgbClr val="0D6E7E"/>
            </a:solidFill>
            <a:prstDash val="solid"/>
          </a:ln>
        </p:spPr>
      </p:sp>
      <p:sp>
        <p:nvSpPr>
          <p:cNvPr id="5" name="Shape 3"/>
          <p:cNvSpPr/>
          <p:nvPr/>
        </p:nvSpPr>
        <p:spPr>
          <a:xfrm>
            <a:off x="274320" y="932688"/>
            <a:ext cx="1005840" cy="621792"/>
          </a:xfrm>
          <a:prstGeom prst="rect">
            <a:avLst/>
          </a:prstGeom>
          <a:solidFill>
            <a:srgbClr val="053E51"/>
          </a:solidFill>
          <a:ln w="12700">
            <a:solidFill>
              <a:srgbClr val="053E51"/>
            </a:solidFill>
            <a:prstDash val="solid"/>
          </a:ln>
        </p:spPr>
      </p:sp>
      <p:pic>
        <p:nvPicPr>
          <p:cNvPr id="6" name="Image 0" descr="preencoded.png"/>
          <p:cNvPicPr>
            <a:picLocks noChangeAspect="1"/>
          </p:cNvPicPr>
          <p:nvPr/>
        </p:nvPicPr>
        <p:blipFill>
          <a:blip r:embed="rId3"/>
          <a:stretch>
            <a:fillRect/>
          </a:stretch>
        </p:blipFill>
        <p:spPr>
          <a:xfrm>
            <a:off x="438912" y="1024128"/>
            <a:ext cx="438912" cy="438912"/>
          </a:xfrm>
          <a:prstGeom prst="rect">
            <a:avLst/>
          </a:prstGeom>
        </p:spPr>
      </p:pic>
      <p:sp>
        <p:nvSpPr>
          <p:cNvPr id="7" name="Text 4"/>
          <p:cNvSpPr/>
          <p:nvPr/>
        </p:nvSpPr>
        <p:spPr>
          <a:xfrm>
            <a:off x="1389888" y="969264"/>
            <a:ext cx="2194560" cy="274320"/>
          </a:xfrm>
          <a:prstGeom prst="rect">
            <a:avLst/>
          </a:prstGeom>
          <a:noFill/>
          <a:ln/>
        </p:spPr>
        <p:txBody>
          <a:bodyPr wrap="square" rtlCol="0" anchor="ctr"/>
          <a:lstStyle/>
          <a:p>
            <a:pPr marL="0" indent="0">
              <a:buNone/>
            </a:pPr>
            <a:r>
              <a:rPr lang="en-US" sz="1150" b="1" dirty="0">
                <a:solidFill>
                  <a:srgbClr val="20ECE3"/>
                </a:solidFill>
                <a:latin typeface="Calibri" pitchFamily="34" charset="0"/>
                <a:ea typeface="Calibri" pitchFamily="34" charset="-122"/>
                <a:cs typeface="Calibri" pitchFamily="34" charset="-120"/>
              </a:rPr>
              <a:t>IMARC Group:</a:t>
            </a:r>
            <a:endParaRPr lang="en-US" sz="1150" dirty="0"/>
          </a:p>
        </p:txBody>
      </p:sp>
      <p:sp>
        <p:nvSpPr>
          <p:cNvPr id="8" name="Text 5"/>
          <p:cNvSpPr/>
          <p:nvPr/>
        </p:nvSpPr>
        <p:spPr>
          <a:xfrm>
            <a:off x="1389888" y="1243584"/>
            <a:ext cx="7296912" cy="256032"/>
          </a:xfrm>
          <a:prstGeom prst="rect">
            <a:avLst/>
          </a:prstGeom>
          <a:noFill/>
          <a:ln/>
        </p:spPr>
        <p:txBody>
          <a:bodyPr wrap="square" rtlCol="0" anchor="ctr"/>
          <a:lstStyle/>
          <a:p>
            <a:pPr marL="0" indent="0">
              <a:buNone/>
            </a:pPr>
            <a:r>
              <a:rPr lang="en-US" sz="1250" dirty="0">
                <a:solidFill>
                  <a:srgbClr val="CCDDEE"/>
                </a:solidFill>
                <a:latin typeface="Calibri" pitchFamily="34" charset="0"/>
                <a:ea typeface="Calibri" pitchFamily="34" charset="-122"/>
                <a:cs typeface="Calibri" pitchFamily="34" charset="-120"/>
              </a:rPr>
              <a:t>USD 299.6 billion in 2024 → USD 644.4 billion by 2033, CAGR 8.9%</a:t>
            </a:r>
            <a:endParaRPr lang="en-US" sz="1250" dirty="0"/>
          </a:p>
        </p:txBody>
      </p:sp>
      <p:sp>
        <p:nvSpPr>
          <p:cNvPr id="9" name="Text 6"/>
          <p:cNvSpPr/>
          <p:nvPr/>
        </p:nvSpPr>
        <p:spPr>
          <a:xfrm>
            <a:off x="3639312" y="969264"/>
            <a:ext cx="347472"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7"/>
          <p:cNvSpPr/>
          <p:nvPr/>
        </p:nvSpPr>
        <p:spPr>
          <a:xfrm>
            <a:off x="274320" y="1627632"/>
            <a:ext cx="8595360" cy="621792"/>
          </a:xfrm>
          <a:prstGeom prst="rect">
            <a:avLst/>
          </a:prstGeom>
          <a:solidFill>
            <a:srgbClr val="0A2030"/>
          </a:solidFill>
          <a:ln w="10160">
            <a:solidFill>
              <a:srgbClr val="0D6E7E"/>
            </a:solidFill>
            <a:prstDash val="solid"/>
          </a:ln>
        </p:spPr>
      </p:sp>
      <p:sp>
        <p:nvSpPr>
          <p:cNvPr id="11" name="Shape 8"/>
          <p:cNvSpPr/>
          <p:nvPr/>
        </p:nvSpPr>
        <p:spPr>
          <a:xfrm>
            <a:off x="274320" y="1627632"/>
            <a:ext cx="1005840" cy="621792"/>
          </a:xfrm>
          <a:prstGeom prst="rect">
            <a:avLst/>
          </a:prstGeom>
          <a:solidFill>
            <a:srgbClr val="053E51"/>
          </a:solidFill>
          <a:ln w="12700">
            <a:solidFill>
              <a:srgbClr val="053E51"/>
            </a:solidFill>
            <a:prstDash val="solid"/>
          </a:ln>
        </p:spPr>
      </p:sp>
      <p:pic>
        <p:nvPicPr>
          <p:cNvPr id="12" name="Image 1" descr="preencoded.png"/>
          <p:cNvPicPr>
            <a:picLocks noChangeAspect="1"/>
          </p:cNvPicPr>
          <p:nvPr/>
        </p:nvPicPr>
        <p:blipFill>
          <a:blip r:embed="rId4"/>
          <a:stretch>
            <a:fillRect/>
          </a:stretch>
        </p:blipFill>
        <p:spPr>
          <a:xfrm>
            <a:off x="438912" y="1719072"/>
            <a:ext cx="438912" cy="438912"/>
          </a:xfrm>
          <a:prstGeom prst="rect">
            <a:avLst/>
          </a:prstGeom>
        </p:spPr>
      </p:pic>
      <p:sp>
        <p:nvSpPr>
          <p:cNvPr id="13" name="Text 9"/>
          <p:cNvSpPr/>
          <p:nvPr/>
        </p:nvSpPr>
        <p:spPr>
          <a:xfrm>
            <a:off x="1389888" y="1664208"/>
            <a:ext cx="2194560" cy="274320"/>
          </a:xfrm>
          <a:prstGeom prst="rect">
            <a:avLst/>
          </a:prstGeom>
          <a:noFill/>
          <a:ln/>
        </p:spPr>
        <p:txBody>
          <a:bodyPr wrap="square" rtlCol="0" anchor="ctr"/>
          <a:lstStyle/>
          <a:p>
            <a:pPr marL="0" indent="0">
              <a:buNone/>
            </a:pPr>
            <a:r>
              <a:rPr lang="en-US" sz="1150" b="1" dirty="0">
                <a:solidFill>
                  <a:srgbClr val="20ECE3"/>
                </a:solidFill>
                <a:latin typeface="Calibri" pitchFamily="34" charset="0"/>
                <a:ea typeface="Calibri" pitchFamily="34" charset="-122"/>
                <a:cs typeface="Calibri" pitchFamily="34" charset="-120"/>
              </a:rPr>
              <a:t>Fortune Business Insights:</a:t>
            </a:r>
            <a:endParaRPr lang="en-US" sz="1150" dirty="0"/>
          </a:p>
        </p:txBody>
      </p:sp>
      <p:sp>
        <p:nvSpPr>
          <p:cNvPr id="14" name="Text 10"/>
          <p:cNvSpPr/>
          <p:nvPr/>
        </p:nvSpPr>
        <p:spPr>
          <a:xfrm>
            <a:off x="1389888" y="1938528"/>
            <a:ext cx="7296912" cy="256032"/>
          </a:xfrm>
          <a:prstGeom prst="rect">
            <a:avLst/>
          </a:prstGeom>
          <a:noFill/>
          <a:ln/>
        </p:spPr>
        <p:txBody>
          <a:bodyPr wrap="square" rtlCol="0" anchor="ctr"/>
          <a:lstStyle/>
          <a:p>
            <a:pPr marL="0" indent="0">
              <a:buNone/>
            </a:pPr>
            <a:r>
              <a:rPr lang="en-US" sz="1250" dirty="0">
                <a:solidFill>
                  <a:srgbClr val="CCDDEE"/>
                </a:solidFill>
                <a:latin typeface="Calibri" pitchFamily="34" charset="0"/>
                <a:ea typeface="Calibri" pitchFamily="34" charset="-122"/>
                <a:cs typeface="Calibri" pitchFamily="34" charset="-120"/>
              </a:rPr>
              <a:t>USD 225.72 billion in 2025 → USD 443.1 billion by 2032, CAGR 14.3%</a:t>
            </a:r>
            <a:endParaRPr lang="en-US" sz="1250" dirty="0"/>
          </a:p>
        </p:txBody>
      </p:sp>
      <p:sp>
        <p:nvSpPr>
          <p:cNvPr id="15" name="Text 11"/>
          <p:cNvSpPr/>
          <p:nvPr/>
        </p:nvSpPr>
        <p:spPr>
          <a:xfrm>
            <a:off x="3639312" y="1664208"/>
            <a:ext cx="347472"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Shape 12"/>
          <p:cNvSpPr/>
          <p:nvPr/>
        </p:nvSpPr>
        <p:spPr>
          <a:xfrm>
            <a:off x="274320" y="2322576"/>
            <a:ext cx="8595360" cy="621792"/>
          </a:xfrm>
          <a:prstGeom prst="rect">
            <a:avLst/>
          </a:prstGeom>
          <a:solidFill>
            <a:srgbClr val="0A2030"/>
          </a:solidFill>
          <a:ln w="10160">
            <a:solidFill>
              <a:srgbClr val="0D6E7E"/>
            </a:solidFill>
            <a:prstDash val="solid"/>
          </a:ln>
        </p:spPr>
      </p:sp>
      <p:sp>
        <p:nvSpPr>
          <p:cNvPr id="17" name="Shape 13"/>
          <p:cNvSpPr/>
          <p:nvPr/>
        </p:nvSpPr>
        <p:spPr>
          <a:xfrm>
            <a:off x="274320" y="2322576"/>
            <a:ext cx="1005840" cy="621792"/>
          </a:xfrm>
          <a:prstGeom prst="rect">
            <a:avLst/>
          </a:prstGeom>
          <a:solidFill>
            <a:srgbClr val="053E51"/>
          </a:solidFill>
          <a:ln w="12700">
            <a:solidFill>
              <a:srgbClr val="053E51"/>
            </a:solidFill>
            <a:prstDash val="solid"/>
          </a:ln>
        </p:spPr>
      </p:sp>
      <p:pic>
        <p:nvPicPr>
          <p:cNvPr id="18" name="Image 2" descr="preencoded.png"/>
          <p:cNvPicPr>
            <a:picLocks noChangeAspect="1"/>
          </p:cNvPicPr>
          <p:nvPr/>
        </p:nvPicPr>
        <p:blipFill>
          <a:blip r:embed="rId5"/>
          <a:stretch>
            <a:fillRect/>
          </a:stretch>
        </p:blipFill>
        <p:spPr>
          <a:xfrm>
            <a:off x="438912" y="2414016"/>
            <a:ext cx="438912" cy="438912"/>
          </a:xfrm>
          <a:prstGeom prst="rect">
            <a:avLst/>
          </a:prstGeom>
        </p:spPr>
      </p:pic>
      <p:sp>
        <p:nvSpPr>
          <p:cNvPr id="19" name="Text 14"/>
          <p:cNvSpPr/>
          <p:nvPr/>
        </p:nvSpPr>
        <p:spPr>
          <a:xfrm>
            <a:off x="1389888" y="2359152"/>
            <a:ext cx="2194560" cy="274320"/>
          </a:xfrm>
          <a:prstGeom prst="rect">
            <a:avLst/>
          </a:prstGeom>
          <a:noFill/>
          <a:ln/>
        </p:spPr>
        <p:txBody>
          <a:bodyPr wrap="square" rtlCol="0" anchor="ctr"/>
          <a:lstStyle/>
          <a:p>
            <a:pPr marL="0" indent="0">
              <a:buNone/>
            </a:pPr>
            <a:r>
              <a:rPr lang="en-US" sz="1150" b="1" dirty="0">
                <a:solidFill>
                  <a:srgbClr val="20ECE3"/>
                </a:solidFill>
                <a:latin typeface="Calibri" pitchFamily="34" charset="0"/>
                <a:ea typeface="Calibri" pitchFamily="34" charset="-122"/>
                <a:cs typeface="Calibri" pitchFamily="34" charset="-120"/>
              </a:rPr>
              <a:t>Persistence Market Research:</a:t>
            </a:r>
            <a:endParaRPr lang="en-US" sz="1150" dirty="0"/>
          </a:p>
        </p:txBody>
      </p:sp>
      <p:sp>
        <p:nvSpPr>
          <p:cNvPr id="20" name="Text 15"/>
          <p:cNvSpPr/>
          <p:nvPr/>
        </p:nvSpPr>
        <p:spPr>
          <a:xfrm>
            <a:off x="1389888" y="2633472"/>
            <a:ext cx="7296912" cy="256032"/>
          </a:xfrm>
          <a:prstGeom prst="rect">
            <a:avLst/>
          </a:prstGeom>
          <a:noFill/>
          <a:ln/>
        </p:spPr>
        <p:txBody>
          <a:bodyPr wrap="square" rtlCol="0" anchor="ctr"/>
          <a:lstStyle/>
          <a:p>
            <a:pPr marL="0" indent="0">
              <a:buNone/>
            </a:pPr>
            <a:r>
              <a:rPr lang="en-US" sz="1250" dirty="0">
                <a:solidFill>
                  <a:srgbClr val="CCDDEE"/>
                </a:solidFill>
                <a:latin typeface="Calibri" pitchFamily="34" charset="0"/>
                <a:ea typeface="Calibri" pitchFamily="34" charset="-122"/>
                <a:cs typeface="Calibri" pitchFamily="34" charset="-120"/>
              </a:rPr>
              <a:t>USD 225.7 billion in 2025 → USD 443.1 billion by 2032, CAGR 10.2%</a:t>
            </a:r>
            <a:endParaRPr lang="en-US" sz="1250" dirty="0"/>
          </a:p>
        </p:txBody>
      </p:sp>
      <p:sp>
        <p:nvSpPr>
          <p:cNvPr id="21" name="Text 16"/>
          <p:cNvSpPr/>
          <p:nvPr/>
        </p:nvSpPr>
        <p:spPr>
          <a:xfrm>
            <a:off x="3639312" y="2359152"/>
            <a:ext cx="347472"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Shape 17"/>
          <p:cNvSpPr/>
          <p:nvPr/>
        </p:nvSpPr>
        <p:spPr>
          <a:xfrm>
            <a:off x="274320" y="3017520"/>
            <a:ext cx="8595360" cy="621792"/>
          </a:xfrm>
          <a:prstGeom prst="rect">
            <a:avLst/>
          </a:prstGeom>
          <a:solidFill>
            <a:srgbClr val="0A2030"/>
          </a:solidFill>
          <a:ln w="10160">
            <a:solidFill>
              <a:srgbClr val="0D6E7E"/>
            </a:solidFill>
            <a:prstDash val="solid"/>
          </a:ln>
        </p:spPr>
      </p:sp>
      <p:sp>
        <p:nvSpPr>
          <p:cNvPr id="23" name="Shape 18"/>
          <p:cNvSpPr/>
          <p:nvPr/>
        </p:nvSpPr>
        <p:spPr>
          <a:xfrm>
            <a:off x="274320" y="3017520"/>
            <a:ext cx="1005840" cy="621792"/>
          </a:xfrm>
          <a:prstGeom prst="rect">
            <a:avLst/>
          </a:prstGeom>
          <a:solidFill>
            <a:srgbClr val="053E51"/>
          </a:solidFill>
          <a:ln w="12700">
            <a:solidFill>
              <a:srgbClr val="053E51"/>
            </a:solidFill>
            <a:prstDash val="solid"/>
          </a:ln>
        </p:spPr>
      </p:sp>
      <p:pic>
        <p:nvPicPr>
          <p:cNvPr id="24" name="Image 3" descr="preencoded.png"/>
          <p:cNvPicPr>
            <a:picLocks noChangeAspect="1"/>
          </p:cNvPicPr>
          <p:nvPr/>
        </p:nvPicPr>
        <p:blipFill>
          <a:blip r:embed="rId6"/>
          <a:stretch>
            <a:fillRect/>
          </a:stretch>
        </p:blipFill>
        <p:spPr>
          <a:xfrm>
            <a:off x="438912" y="3108960"/>
            <a:ext cx="438912" cy="438912"/>
          </a:xfrm>
          <a:prstGeom prst="rect">
            <a:avLst/>
          </a:prstGeom>
        </p:spPr>
      </p:pic>
      <p:sp>
        <p:nvSpPr>
          <p:cNvPr id="25" name="Text 19"/>
          <p:cNvSpPr/>
          <p:nvPr/>
        </p:nvSpPr>
        <p:spPr>
          <a:xfrm>
            <a:off x="1389888" y="3054096"/>
            <a:ext cx="2194560" cy="274320"/>
          </a:xfrm>
          <a:prstGeom prst="rect">
            <a:avLst/>
          </a:prstGeom>
          <a:noFill/>
          <a:ln/>
        </p:spPr>
        <p:txBody>
          <a:bodyPr wrap="square" rtlCol="0" anchor="ctr"/>
          <a:lstStyle/>
          <a:p>
            <a:pPr marL="0" indent="0">
              <a:buNone/>
            </a:pPr>
            <a:r>
              <a:rPr lang="en-US" sz="1150" b="1" dirty="0">
                <a:solidFill>
                  <a:srgbClr val="20ECE3"/>
                </a:solidFill>
                <a:latin typeface="Calibri" pitchFamily="34" charset="0"/>
                <a:ea typeface="Calibri" pitchFamily="34" charset="-122"/>
                <a:cs typeface="Calibri" pitchFamily="34" charset="-120"/>
              </a:rPr>
              <a:t>Grand View Research:</a:t>
            </a:r>
            <a:endParaRPr lang="en-US" sz="1150" dirty="0"/>
          </a:p>
        </p:txBody>
      </p:sp>
      <p:sp>
        <p:nvSpPr>
          <p:cNvPr id="26" name="Text 20"/>
          <p:cNvSpPr/>
          <p:nvPr/>
        </p:nvSpPr>
        <p:spPr>
          <a:xfrm>
            <a:off x="1389888" y="3328416"/>
            <a:ext cx="7296912" cy="256032"/>
          </a:xfrm>
          <a:prstGeom prst="rect">
            <a:avLst/>
          </a:prstGeom>
          <a:noFill/>
          <a:ln/>
        </p:spPr>
        <p:txBody>
          <a:bodyPr wrap="square" rtlCol="0" anchor="ctr"/>
          <a:lstStyle/>
          <a:p>
            <a:pPr marL="0" indent="0">
              <a:buNone/>
            </a:pPr>
            <a:r>
              <a:rPr lang="en-US" sz="1250" dirty="0">
                <a:solidFill>
                  <a:srgbClr val="CCDDEE"/>
                </a:solidFill>
                <a:latin typeface="Calibri" pitchFamily="34" charset="0"/>
                <a:ea typeface="Calibri" pitchFamily="34" charset="-122"/>
                <a:cs typeface="Calibri" pitchFamily="34" charset="-120"/>
              </a:rPr>
              <a:t>USD 245.62 billion in 2024 → USD 500.70 billion by 2030, CAGR 12.9%</a:t>
            </a:r>
            <a:endParaRPr lang="en-US" sz="1250" dirty="0"/>
          </a:p>
        </p:txBody>
      </p:sp>
      <p:sp>
        <p:nvSpPr>
          <p:cNvPr id="27" name="Text 21"/>
          <p:cNvSpPr/>
          <p:nvPr/>
        </p:nvSpPr>
        <p:spPr>
          <a:xfrm>
            <a:off x="3639312" y="3054096"/>
            <a:ext cx="347472"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Shape 22"/>
          <p:cNvSpPr/>
          <p:nvPr/>
        </p:nvSpPr>
        <p:spPr>
          <a:xfrm>
            <a:off x="274320" y="3712464"/>
            <a:ext cx="8595360" cy="621792"/>
          </a:xfrm>
          <a:prstGeom prst="rect">
            <a:avLst/>
          </a:prstGeom>
          <a:solidFill>
            <a:srgbClr val="0A2030"/>
          </a:solidFill>
          <a:ln w="10160">
            <a:solidFill>
              <a:srgbClr val="0D6E7E"/>
            </a:solidFill>
            <a:prstDash val="solid"/>
          </a:ln>
        </p:spPr>
      </p:sp>
      <p:sp>
        <p:nvSpPr>
          <p:cNvPr id="29" name="Shape 23"/>
          <p:cNvSpPr/>
          <p:nvPr/>
        </p:nvSpPr>
        <p:spPr>
          <a:xfrm>
            <a:off x="274320" y="3712464"/>
            <a:ext cx="1005840" cy="621792"/>
          </a:xfrm>
          <a:prstGeom prst="rect">
            <a:avLst/>
          </a:prstGeom>
          <a:solidFill>
            <a:srgbClr val="053E51"/>
          </a:solidFill>
          <a:ln w="12700">
            <a:solidFill>
              <a:srgbClr val="053E51"/>
            </a:solidFill>
            <a:prstDash val="solid"/>
          </a:ln>
        </p:spPr>
      </p:sp>
      <p:pic>
        <p:nvPicPr>
          <p:cNvPr id="30" name="Image 4" descr="preencoded.png"/>
          <p:cNvPicPr>
            <a:picLocks noChangeAspect="1"/>
          </p:cNvPicPr>
          <p:nvPr/>
        </p:nvPicPr>
        <p:blipFill>
          <a:blip r:embed="rId7"/>
          <a:stretch>
            <a:fillRect/>
          </a:stretch>
        </p:blipFill>
        <p:spPr>
          <a:xfrm>
            <a:off x="438912" y="3803904"/>
            <a:ext cx="438912" cy="438912"/>
          </a:xfrm>
          <a:prstGeom prst="rect">
            <a:avLst/>
          </a:prstGeom>
        </p:spPr>
      </p:pic>
      <p:sp>
        <p:nvSpPr>
          <p:cNvPr id="31" name="Text 24"/>
          <p:cNvSpPr/>
          <p:nvPr/>
        </p:nvSpPr>
        <p:spPr>
          <a:xfrm>
            <a:off x="1389888" y="3749040"/>
            <a:ext cx="2194560" cy="274320"/>
          </a:xfrm>
          <a:prstGeom prst="rect">
            <a:avLst/>
          </a:prstGeom>
          <a:noFill/>
          <a:ln/>
        </p:spPr>
        <p:txBody>
          <a:bodyPr wrap="square" rtlCol="0" anchor="ctr"/>
          <a:lstStyle/>
          <a:p>
            <a:pPr marL="0" indent="0">
              <a:buNone/>
            </a:pPr>
            <a:r>
              <a:rPr lang="en-US" sz="1150" b="1" dirty="0">
                <a:solidFill>
                  <a:srgbClr val="20ECE3"/>
                </a:solidFill>
                <a:latin typeface="Calibri" pitchFamily="34" charset="0"/>
                <a:ea typeface="Calibri" pitchFamily="34" charset="-122"/>
                <a:cs typeface="Calibri" pitchFamily="34" charset="-120"/>
              </a:rPr>
              <a:t>Precedence Research:</a:t>
            </a:r>
            <a:endParaRPr lang="en-US" sz="1150" dirty="0"/>
          </a:p>
        </p:txBody>
      </p:sp>
      <p:sp>
        <p:nvSpPr>
          <p:cNvPr id="32" name="Text 25"/>
          <p:cNvSpPr/>
          <p:nvPr/>
        </p:nvSpPr>
        <p:spPr>
          <a:xfrm>
            <a:off x="1389888" y="4023360"/>
            <a:ext cx="7296912" cy="256032"/>
          </a:xfrm>
          <a:prstGeom prst="rect">
            <a:avLst/>
          </a:prstGeom>
          <a:noFill/>
          <a:ln/>
        </p:spPr>
        <p:txBody>
          <a:bodyPr wrap="square" rtlCol="0" anchor="ctr"/>
          <a:lstStyle/>
          <a:p>
            <a:pPr marL="0" indent="0">
              <a:buNone/>
            </a:pPr>
            <a:r>
              <a:rPr lang="en-US" sz="1250" dirty="0">
                <a:solidFill>
                  <a:srgbClr val="CCDDEE"/>
                </a:solidFill>
                <a:latin typeface="Calibri" pitchFamily="34" charset="0"/>
                <a:ea typeface="Calibri" pitchFamily="34" charset="-122"/>
                <a:cs typeface="Calibri" pitchFamily="34" charset="-120"/>
              </a:rPr>
              <a:t>USD 301.91 billion in 2025 → USD 878.48 billion by 2034, CAGR 12.6%</a:t>
            </a:r>
            <a:endParaRPr lang="en-US" sz="1250" dirty="0"/>
          </a:p>
        </p:txBody>
      </p:sp>
      <p:sp>
        <p:nvSpPr>
          <p:cNvPr id="33" name="Text 26"/>
          <p:cNvSpPr/>
          <p:nvPr/>
        </p:nvSpPr>
        <p:spPr>
          <a:xfrm>
            <a:off x="3639312" y="3749040"/>
            <a:ext cx="347472"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4" name="Shape 27"/>
          <p:cNvSpPr/>
          <p:nvPr/>
        </p:nvSpPr>
        <p:spPr>
          <a:xfrm>
            <a:off x="274320" y="4407408"/>
            <a:ext cx="6914756" cy="621792"/>
          </a:xfrm>
          <a:prstGeom prst="rect">
            <a:avLst/>
          </a:prstGeom>
          <a:solidFill>
            <a:srgbClr val="0A2030"/>
          </a:solidFill>
          <a:ln w="10160">
            <a:solidFill>
              <a:srgbClr val="0D6E7E"/>
            </a:solidFill>
            <a:prstDash val="solid"/>
          </a:ln>
        </p:spPr>
      </p:sp>
      <p:sp>
        <p:nvSpPr>
          <p:cNvPr id="35" name="Shape 28"/>
          <p:cNvSpPr/>
          <p:nvPr/>
        </p:nvSpPr>
        <p:spPr>
          <a:xfrm>
            <a:off x="274320" y="4407408"/>
            <a:ext cx="1005840" cy="621792"/>
          </a:xfrm>
          <a:prstGeom prst="rect">
            <a:avLst/>
          </a:prstGeom>
          <a:solidFill>
            <a:srgbClr val="053E51"/>
          </a:solidFill>
          <a:ln w="12700">
            <a:solidFill>
              <a:srgbClr val="053E51"/>
            </a:solidFill>
            <a:prstDash val="solid"/>
          </a:ln>
        </p:spPr>
      </p:sp>
      <p:pic>
        <p:nvPicPr>
          <p:cNvPr id="36" name="Image 5" descr="preencoded.png"/>
          <p:cNvPicPr>
            <a:picLocks noChangeAspect="1"/>
          </p:cNvPicPr>
          <p:nvPr/>
        </p:nvPicPr>
        <p:blipFill>
          <a:blip r:embed="rId8"/>
          <a:stretch>
            <a:fillRect/>
          </a:stretch>
        </p:blipFill>
        <p:spPr>
          <a:xfrm>
            <a:off x="438912" y="4498848"/>
            <a:ext cx="438912" cy="438912"/>
          </a:xfrm>
          <a:prstGeom prst="rect">
            <a:avLst/>
          </a:prstGeom>
        </p:spPr>
      </p:pic>
      <p:sp>
        <p:nvSpPr>
          <p:cNvPr id="37" name="Text 29"/>
          <p:cNvSpPr/>
          <p:nvPr/>
        </p:nvSpPr>
        <p:spPr>
          <a:xfrm>
            <a:off x="1389888" y="4443984"/>
            <a:ext cx="2194560" cy="274320"/>
          </a:xfrm>
          <a:prstGeom prst="rect">
            <a:avLst/>
          </a:prstGeom>
          <a:noFill/>
          <a:ln/>
        </p:spPr>
        <p:txBody>
          <a:bodyPr wrap="square" rtlCol="0" anchor="ctr"/>
          <a:lstStyle/>
          <a:p>
            <a:pPr marL="0" indent="0">
              <a:buNone/>
            </a:pPr>
            <a:r>
              <a:rPr lang="en-US" sz="1150" b="1" dirty="0">
                <a:solidFill>
                  <a:srgbClr val="20ECE3"/>
                </a:solidFill>
                <a:latin typeface="Calibri" pitchFamily="34" charset="0"/>
                <a:ea typeface="Calibri" pitchFamily="34" charset="-122"/>
                <a:cs typeface="Calibri" pitchFamily="34" charset="-120"/>
              </a:rPr>
              <a:t>Gartner (End-User Spending):</a:t>
            </a:r>
            <a:endParaRPr lang="en-US" sz="1150" dirty="0"/>
          </a:p>
        </p:txBody>
      </p:sp>
      <p:sp>
        <p:nvSpPr>
          <p:cNvPr id="38" name="Text 30"/>
          <p:cNvSpPr/>
          <p:nvPr/>
        </p:nvSpPr>
        <p:spPr>
          <a:xfrm>
            <a:off x="1389888" y="4718304"/>
            <a:ext cx="7296912" cy="256032"/>
          </a:xfrm>
          <a:prstGeom prst="rect">
            <a:avLst/>
          </a:prstGeom>
          <a:noFill/>
          <a:ln/>
        </p:spPr>
        <p:txBody>
          <a:bodyPr wrap="square" rtlCol="0" anchor="ctr"/>
          <a:lstStyle/>
          <a:p>
            <a:pPr marL="0" indent="0">
              <a:buNone/>
            </a:pPr>
            <a:r>
              <a:rPr lang="en-US" sz="1250" dirty="0">
                <a:solidFill>
                  <a:srgbClr val="CCDDEE"/>
                </a:solidFill>
                <a:latin typeface="Calibri" pitchFamily="34" charset="0"/>
                <a:ea typeface="Calibri" pitchFamily="34" charset="-122"/>
                <a:cs typeface="Calibri" pitchFamily="34" charset="-120"/>
              </a:rPr>
              <a:t>USD 183.9 billion in 2024 → USD 212 billion in 2025, +15.1% YoY</a:t>
            </a:r>
            <a:endParaRPr lang="en-US" sz="1250" dirty="0"/>
          </a:p>
        </p:txBody>
      </p:sp>
      <p:sp>
        <p:nvSpPr>
          <p:cNvPr id="39" name="Text 31"/>
          <p:cNvSpPr/>
          <p:nvPr/>
        </p:nvSpPr>
        <p:spPr>
          <a:xfrm>
            <a:off x="3639312" y="4443984"/>
            <a:ext cx="347472"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3E51"/>
          </a:solidFill>
          <a:ln w="12700">
            <a:solidFill>
              <a:srgbClr val="053E51"/>
            </a:solidFill>
            <a:prstDash val="solid"/>
          </a:ln>
        </p:spPr>
      </p:sp>
      <p:sp>
        <p:nvSpPr>
          <p:cNvPr id="3" name="Shape 1"/>
          <p:cNvSpPr/>
          <p:nvPr/>
        </p:nvSpPr>
        <p:spPr>
          <a:xfrm>
            <a:off x="5486400" y="0"/>
            <a:ext cx="3657600" cy="109728"/>
          </a:xfrm>
          <a:prstGeom prst="rect">
            <a:avLst/>
          </a:prstGeom>
          <a:solidFill>
            <a:srgbClr val="0D6E7E"/>
          </a:solidFill>
          <a:ln w="12700">
            <a:solidFill>
              <a:srgbClr val="0D6E7E"/>
            </a:solidFill>
            <a:prstDash val="solid"/>
          </a:ln>
        </p:spPr>
      </p:sp>
      <p:sp>
        <p:nvSpPr>
          <p:cNvPr id="4" name="Text 2"/>
          <p:cNvSpPr/>
          <p:nvPr/>
        </p:nvSpPr>
        <p:spPr>
          <a:xfrm>
            <a:off x="411480" y="201168"/>
            <a:ext cx="8321040" cy="502920"/>
          </a:xfrm>
          <a:prstGeom prst="rect">
            <a:avLst/>
          </a:prstGeom>
          <a:noFill/>
          <a:ln/>
        </p:spPr>
        <p:txBody>
          <a:bodyPr wrap="square" lIns="0" tIns="0" rIns="0" bIns="0" rtlCol="0" anchor="ctr"/>
          <a:lstStyle/>
          <a:p>
            <a:pPr marL="0" indent="0">
              <a:buNone/>
            </a:pPr>
            <a:r>
              <a:rPr lang="en-US" sz="2400" b="1" dirty="0">
                <a:solidFill>
                  <a:srgbClr val="0D3D52"/>
                </a:solidFill>
                <a:latin typeface="Calibri" pitchFamily="34" charset="0"/>
                <a:ea typeface="Calibri" pitchFamily="34" charset="-122"/>
                <a:cs typeface="Calibri" pitchFamily="34" charset="-120"/>
              </a:rPr>
              <a:t>Global Cybersecurity Workforce Gap</a:t>
            </a:r>
            <a:endParaRPr lang="en-US" sz="2400" dirty="0"/>
          </a:p>
        </p:txBody>
      </p:sp>
      <p:sp>
        <p:nvSpPr>
          <p:cNvPr id="5" name="Text 3"/>
          <p:cNvSpPr/>
          <p:nvPr/>
        </p:nvSpPr>
        <p:spPr>
          <a:xfrm>
            <a:off x="411480" y="749808"/>
            <a:ext cx="8046720" cy="292608"/>
          </a:xfrm>
          <a:prstGeom prst="rect">
            <a:avLst/>
          </a:prstGeom>
          <a:noFill/>
          <a:ln/>
        </p:spPr>
        <p:txBody>
          <a:bodyPr wrap="square" rtlCol="0" anchor="ctr"/>
          <a:lstStyle/>
          <a:p>
            <a:pPr marL="0" indent="0">
              <a:buNone/>
            </a:pPr>
            <a:r>
              <a:rPr lang="en-US" sz="1300" dirty="0">
                <a:solidFill>
                  <a:srgbClr val="4A6572"/>
                </a:solidFill>
                <a:latin typeface="Calibri" pitchFamily="34" charset="0"/>
                <a:ea typeface="Calibri" pitchFamily="34" charset="-122"/>
                <a:cs typeface="Calibri" pitchFamily="34" charset="-120"/>
              </a:rPr>
              <a:t>Demand for cybersecurity professionals far outpaces supply — the shortage is growing:</a:t>
            </a:r>
            <a:endParaRPr lang="en-US" sz="1300" dirty="0"/>
          </a:p>
        </p:txBody>
      </p:sp>
      <p:sp>
        <p:nvSpPr>
          <p:cNvPr id="6" name="Shape 4"/>
          <p:cNvSpPr/>
          <p:nvPr/>
        </p:nvSpPr>
        <p:spPr>
          <a:xfrm>
            <a:off x="411480" y="1051560"/>
            <a:ext cx="8321040" cy="804672"/>
          </a:xfrm>
          <a:prstGeom prst="rect">
            <a:avLst/>
          </a:prstGeom>
          <a:solidFill>
            <a:srgbClr val="F5F9FA"/>
          </a:solidFill>
          <a:ln w="19050">
            <a:solidFill>
              <a:srgbClr val="053E51"/>
            </a:solidFill>
            <a:prstDash val="solid"/>
          </a:ln>
        </p:spPr>
      </p:sp>
      <p:sp>
        <p:nvSpPr>
          <p:cNvPr id="7" name="Shape 5"/>
          <p:cNvSpPr/>
          <p:nvPr/>
        </p:nvSpPr>
        <p:spPr>
          <a:xfrm>
            <a:off x="411480" y="1051560"/>
            <a:ext cx="1417320" cy="804672"/>
          </a:xfrm>
          <a:prstGeom prst="rect">
            <a:avLst/>
          </a:prstGeom>
          <a:solidFill>
            <a:srgbClr val="053E51"/>
          </a:solidFill>
          <a:ln w="12700">
            <a:solidFill>
              <a:srgbClr val="053E51"/>
            </a:solidFill>
            <a:prstDash val="solid"/>
          </a:ln>
        </p:spPr>
      </p:sp>
      <p:sp>
        <p:nvSpPr>
          <p:cNvPr id="8" name="Text 6"/>
          <p:cNvSpPr/>
          <p:nvPr/>
        </p:nvSpPr>
        <p:spPr>
          <a:xfrm>
            <a:off x="411480" y="1051560"/>
            <a:ext cx="1417320" cy="804672"/>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5.5M</a:t>
            </a:r>
            <a:endParaRPr lang="en-US" sz="3000" dirty="0"/>
          </a:p>
        </p:txBody>
      </p:sp>
      <p:sp>
        <p:nvSpPr>
          <p:cNvPr id="9" name="Text 7"/>
          <p:cNvSpPr/>
          <p:nvPr/>
        </p:nvSpPr>
        <p:spPr>
          <a:xfrm>
            <a:off x="1965960" y="1106424"/>
            <a:ext cx="6583680" cy="347472"/>
          </a:xfrm>
          <a:prstGeom prst="rect">
            <a:avLst/>
          </a:prstGeom>
          <a:noFill/>
          <a:ln/>
        </p:spPr>
        <p:txBody>
          <a:bodyPr wrap="square" rtlCol="0" anchor="ctr"/>
          <a:lstStyle/>
          <a:p>
            <a:pPr marL="0" indent="0">
              <a:buNone/>
            </a:pPr>
            <a:r>
              <a:rPr lang="en-US" sz="1300" b="1" dirty="0">
                <a:solidFill>
                  <a:srgbClr val="0D3D52"/>
                </a:solidFill>
                <a:latin typeface="Calibri" pitchFamily="34" charset="0"/>
                <a:ea typeface="Calibri" pitchFamily="34" charset="-122"/>
                <a:cs typeface="Calibri" pitchFamily="34" charset="-120"/>
              </a:rPr>
              <a:t>Active global cybersecurity workforce (ISC² 2024)</a:t>
            </a:r>
            <a:endParaRPr lang="en-US" sz="1300" dirty="0"/>
          </a:p>
        </p:txBody>
      </p:sp>
      <p:sp>
        <p:nvSpPr>
          <p:cNvPr id="10" name="Text 8"/>
          <p:cNvSpPr/>
          <p:nvPr/>
        </p:nvSpPr>
        <p:spPr>
          <a:xfrm>
            <a:off x="1965960" y="1472184"/>
            <a:ext cx="6583680" cy="329184"/>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A very modest 0.1% increase from prior year</a:t>
            </a:r>
            <a:endParaRPr lang="en-US" sz="1150" dirty="0"/>
          </a:p>
        </p:txBody>
      </p:sp>
      <p:sp>
        <p:nvSpPr>
          <p:cNvPr id="11" name="Shape 9"/>
          <p:cNvSpPr/>
          <p:nvPr/>
        </p:nvSpPr>
        <p:spPr>
          <a:xfrm>
            <a:off x="411480" y="1965960"/>
            <a:ext cx="8321040" cy="804672"/>
          </a:xfrm>
          <a:prstGeom prst="rect">
            <a:avLst/>
          </a:prstGeom>
          <a:solidFill>
            <a:srgbClr val="F5F9FA"/>
          </a:solidFill>
          <a:ln w="19050">
            <a:solidFill>
              <a:srgbClr val="CC3333"/>
            </a:solidFill>
            <a:prstDash val="solid"/>
          </a:ln>
        </p:spPr>
      </p:sp>
      <p:sp>
        <p:nvSpPr>
          <p:cNvPr id="12" name="Shape 10"/>
          <p:cNvSpPr/>
          <p:nvPr/>
        </p:nvSpPr>
        <p:spPr>
          <a:xfrm>
            <a:off x="411480" y="1965960"/>
            <a:ext cx="1417320" cy="804672"/>
          </a:xfrm>
          <a:prstGeom prst="rect">
            <a:avLst/>
          </a:prstGeom>
          <a:solidFill>
            <a:srgbClr val="CC3333"/>
          </a:solidFill>
          <a:ln w="12700">
            <a:solidFill>
              <a:srgbClr val="CC3333"/>
            </a:solidFill>
            <a:prstDash val="solid"/>
          </a:ln>
        </p:spPr>
      </p:sp>
      <p:sp>
        <p:nvSpPr>
          <p:cNvPr id="13" name="Text 11"/>
          <p:cNvSpPr/>
          <p:nvPr/>
        </p:nvSpPr>
        <p:spPr>
          <a:xfrm>
            <a:off x="411480" y="1965960"/>
            <a:ext cx="1417320" cy="804672"/>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4.8M</a:t>
            </a:r>
            <a:endParaRPr lang="en-US" sz="3000" dirty="0"/>
          </a:p>
        </p:txBody>
      </p:sp>
      <p:sp>
        <p:nvSpPr>
          <p:cNvPr id="14" name="Text 12"/>
          <p:cNvSpPr/>
          <p:nvPr/>
        </p:nvSpPr>
        <p:spPr>
          <a:xfrm>
            <a:off x="1965960" y="2020824"/>
            <a:ext cx="6583680" cy="347472"/>
          </a:xfrm>
          <a:prstGeom prst="rect">
            <a:avLst/>
          </a:prstGeom>
          <a:noFill/>
          <a:ln/>
        </p:spPr>
        <p:txBody>
          <a:bodyPr wrap="square" rtlCol="0" anchor="ctr"/>
          <a:lstStyle/>
          <a:p>
            <a:pPr marL="0" indent="0">
              <a:buNone/>
            </a:pPr>
            <a:r>
              <a:rPr lang="en-US" sz="1300" b="1" dirty="0">
                <a:solidFill>
                  <a:srgbClr val="0D3D52"/>
                </a:solidFill>
                <a:latin typeface="Calibri" pitchFamily="34" charset="0"/>
                <a:ea typeface="Calibri" pitchFamily="34" charset="-122"/>
                <a:cs typeface="Calibri" pitchFamily="34" charset="-120"/>
              </a:rPr>
              <a:t>Global workforce gap — up 19% year-on-year (2024)</a:t>
            </a:r>
            <a:endParaRPr lang="en-US" sz="1300" dirty="0"/>
          </a:p>
        </p:txBody>
      </p:sp>
      <p:sp>
        <p:nvSpPr>
          <p:cNvPr id="15" name="Text 13"/>
          <p:cNvSpPr/>
          <p:nvPr/>
        </p:nvSpPr>
        <p:spPr>
          <a:xfrm>
            <a:off x="1965960" y="2386584"/>
            <a:ext cx="6583680" cy="329184"/>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Total demand: ~10.2 million professionals globally</a:t>
            </a:r>
            <a:endParaRPr lang="en-US" sz="1150" dirty="0"/>
          </a:p>
        </p:txBody>
      </p:sp>
      <p:sp>
        <p:nvSpPr>
          <p:cNvPr id="16" name="Shape 14"/>
          <p:cNvSpPr/>
          <p:nvPr/>
        </p:nvSpPr>
        <p:spPr>
          <a:xfrm>
            <a:off x="411480" y="2880360"/>
            <a:ext cx="8321040" cy="804672"/>
          </a:xfrm>
          <a:prstGeom prst="rect">
            <a:avLst/>
          </a:prstGeom>
          <a:solidFill>
            <a:srgbClr val="F5F9FA"/>
          </a:solidFill>
          <a:ln w="19050">
            <a:solidFill>
              <a:srgbClr val="C8601A"/>
            </a:solidFill>
            <a:prstDash val="solid"/>
          </a:ln>
        </p:spPr>
      </p:sp>
      <p:sp>
        <p:nvSpPr>
          <p:cNvPr id="17" name="Shape 15"/>
          <p:cNvSpPr/>
          <p:nvPr/>
        </p:nvSpPr>
        <p:spPr>
          <a:xfrm>
            <a:off x="411480" y="2880360"/>
            <a:ext cx="1417320" cy="804672"/>
          </a:xfrm>
          <a:prstGeom prst="rect">
            <a:avLst/>
          </a:prstGeom>
          <a:solidFill>
            <a:srgbClr val="C8601A"/>
          </a:solidFill>
          <a:ln w="12700">
            <a:solidFill>
              <a:srgbClr val="C8601A"/>
            </a:solidFill>
            <a:prstDash val="solid"/>
          </a:ln>
        </p:spPr>
      </p:sp>
      <p:sp>
        <p:nvSpPr>
          <p:cNvPr id="18" name="Text 16"/>
          <p:cNvSpPr/>
          <p:nvPr/>
        </p:nvSpPr>
        <p:spPr>
          <a:xfrm>
            <a:off x="411480" y="2880360"/>
            <a:ext cx="1417320" cy="804672"/>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7.1M</a:t>
            </a:r>
            <a:endParaRPr lang="en-US" sz="3000" dirty="0"/>
          </a:p>
        </p:txBody>
      </p:sp>
      <p:sp>
        <p:nvSpPr>
          <p:cNvPr id="19" name="Text 17"/>
          <p:cNvSpPr/>
          <p:nvPr/>
        </p:nvSpPr>
        <p:spPr>
          <a:xfrm>
            <a:off x="1965960" y="2935224"/>
            <a:ext cx="6583680" cy="347472"/>
          </a:xfrm>
          <a:prstGeom prst="rect">
            <a:avLst/>
          </a:prstGeom>
          <a:noFill/>
          <a:ln/>
        </p:spPr>
        <p:txBody>
          <a:bodyPr wrap="square" rtlCol="0" anchor="ctr"/>
          <a:lstStyle/>
          <a:p>
            <a:pPr marL="0" indent="0">
              <a:buNone/>
            </a:pPr>
            <a:r>
              <a:rPr lang="en-US" sz="1300" b="1" dirty="0">
                <a:solidFill>
                  <a:srgbClr val="0D3D52"/>
                </a:solidFill>
                <a:latin typeface="Calibri" pitchFamily="34" charset="0"/>
                <a:ea typeface="Calibri" pitchFamily="34" charset="-122"/>
                <a:cs typeface="Calibri" pitchFamily="34" charset="-120"/>
              </a:rPr>
              <a:t>BCG/GCF estimate: total cybersecurity professionals worldwide</a:t>
            </a:r>
            <a:endParaRPr lang="en-US" sz="1300" dirty="0"/>
          </a:p>
        </p:txBody>
      </p:sp>
      <p:sp>
        <p:nvSpPr>
          <p:cNvPr id="20" name="Text 18"/>
          <p:cNvSpPr/>
          <p:nvPr/>
        </p:nvSpPr>
        <p:spPr>
          <a:xfrm>
            <a:off x="1965960" y="3300984"/>
            <a:ext cx="6583680" cy="329184"/>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~2.8M positions unfilled; Asia-Pacific accounts for 56% of shortage</a:t>
            </a:r>
            <a:endParaRPr lang="en-US" sz="1150" dirty="0"/>
          </a:p>
        </p:txBody>
      </p:sp>
      <p:sp>
        <p:nvSpPr>
          <p:cNvPr id="21" name="Shape 19"/>
          <p:cNvSpPr/>
          <p:nvPr/>
        </p:nvSpPr>
        <p:spPr>
          <a:xfrm>
            <a:off x="411480" y="3794760"/>
            <a:ext cx="8321040" cy="749808"/>
          </a:xfrm>
          <a:prstGeom prst="rect">
            <a:avLst/>
          </a:prstGeom>
          <a:solidFill>
            <a:srgbClr val="F5F9FA"/>
          </a:solidFill>
          <a:ln w="19050">
            <a:solidFill>
              <a:srgbClr val="2244AA"/>
            </a:solidFill>
            <a:prstDash val="solid"/>
          </a:ln>
        </p:spPr>
      </p:sp>
      <p:sp>
        <p:nvSpPr>
          <p:cNvPr id="22" name="Shape 20"/>
          <p:cNvSpPr/>
          <p:nvPr/>
        </p:nvSpPr>
        <p:spPr>
          <a:xfrm>
            <a:off x="411480" y="3794760"/>
            <a:ext cx="1417320" cy="749808"/>
          </a:xfrm>
          <a:prstGeom prst="rect">
            <a:avLst/>
          </a:prstGeom>
          <a:solidFill>
            <a:srgbClr val="2244AA"/>
          </a:solidFill>
          <a:ln w="12700">
            <a:solidFill>
              <a:srgbClr val="2244AA"/>
            </a:solidFill>
            <a:prstDash val="solid"/>
          </a:ln>
        </p:spPr>
      </p:sp>
      <p:sp>
        <p:nvSpPr>
          <p:cNvPr id="23" name="Text 21"/>
          <p:cNvSpPr/>
          <p:nvPr/>
        </p:nvSpPr>
        <p:spPr>
          <a:xfrm>
            <a:off x="411480" y="3794760"/>
            <a:ext cx="1417320" cy="804672"/>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4M+</a:t>
            </a:r>
            <a:endParaRPr lang="en-US" sz="3000" dirty="0"/>
          </a:p>
        </p:txBody>
      </p:sp>
      <p:sp>
        <p:nvSpPr>
          <p:cNvPr id="24" name="Text 22"/>
          <p:cNvSpPr/>
          <p:nvPr/>
        </p:nvSpPr>
        <p:spPr>
          <a:xfrm>
            <a:off x="1965960" y="3849624"/>
            <a:ext cx="6583680" cy="347472"/>
          </a:xfrm>
          <a:prstGeom prst="rect">
            <a:avLst/>
          </a:prstGeom>
          <a:noFill/>
          <a:ln/>
        </p:spPr>
        <p:txBody>
          <a:bodyPr wrap="square" rtlCol="0" anchor="ctr"/>
          <a:lstStyle/>
          <a:p>
            <a:pPr marL="0" indent="0">
              <a:buNone/>
            </a:pPr>
            <a:r>
              <a:rPr lang="en-US" sz="1300" b="1" dirty="0">
                <a:solidFill>
                  <a:srgbClr val="0D3D52"/>
                </a:solidFill>
                <a:latin typeface="Calibri" pitchFamily="34" charset="0"/>
                <a:ea typeface="Calibri" pitchFamily="34" charset="-122"/>
                <a:cs typeface="Calibri" pitchFamily="34" charset="-120"/>
              </a:rPr>
              <a:t>WEF reported shortfall as of mid-2024</a:t>
            </a:r>
            <a:endParaRPr lang="en-US" sz="1300" dirty="0"/>
          </a:p>
        </p:txBody>
      </p:sp>
      <p:sp>
        <p:nvSpPr>
          <p:cNvPr id="25" name="Text 23"/>
          <p:cNvSpPr/>
          <p:nvPr/>
        </p:nvSpPr>
        <p:spPr>
          <a:xfrm>
            <a:off x="1965960" y="4215384"/>
            <a:ext cx="6583680" cy="329184"/>
          </a:xfrm>
          <a:prstGeom prst="rect">
            <a:avLst/>
          </a:prstGeom>
          <a:noFill/>
          <a:ln/>
        </p:spPr>
        <p:txBody>
          <a:bodyPr wrap="square" rtlCol="0" anchor="ctr"/>
          <a:lstStyle/>
          <a:p>
            <a:pPr marL="0" indent="0">
              <a:buNone/>
            </a:pPr>
            <a:r>
              <a:rPr lang="en-US" sz="1150" dirty="0">
                <a:solidFill>
                  <a:srgbClr val="4A6572"/>
                </a:solidFill>
                <a:latin typeface="Calibri" pitchFamily="34" charset="0"/>
                <a:ea typeface="Calibri" pitchFamily="34" charset="-122"/>
                <a:cs typeface="Calibri" pitchFamily="34" charset="-120"/>
              </a:rPr>
              <a:t>Projects shortage to reach 85 million by 2030 → $8.5 trillion unrealized revenue/year</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053E51"/>
          </a:solidFill>
          <a:ln w="12700">
            <a:solidFill>
              <a:srgbClr val="053E51"/>
            </a:solidFill>
            <a:prstDash val="solid"/>
          </a:ln>
        </p:spPr>
      </p:sp>
      <p:sp>
        <p:nvSpPr>
          <p:cNvPr id="3" name="Shape 1"/>
          <p:cNvSpPr/>
          <p:nvPr/>
        </p:nvSpPr>
        <p:spPr>
          <a:xfrm>
            <a:off x="4389120" y="0"/>
            <a:ext cx="91440" cy="5143500"/>
          </a:xfrm>
          <a:prstGeom prst="rect">
            <a:avLst/>
          </a:prstGeom>
          <a:solidFill>
            <a:srgbClr val="20ECE3"/>
          </a:solidFill>
          <a:ln w="12700">
            <a:solidFill>
              <a:srgbClr val="20ECE3"/>
            </a:solidFill>
            <a:prstDash val="solid"/>
          </a:ln>
        </p:spPr>
      </p:sp>
      <p:pic>
        <p:nvPicPr>
          <p:cNvPr id="4" name="Image 0" descr="preencoded.png"/>
          <p:cNvPicPr>
            <a:picLocks noChangeAspect="1"/>
          </p:cNvPicPr>
          <p:nvPr/>
        </p:nvPicPr>
        <p:blipFill>
          <a:blip r:embed="rId3"/>
          <a:stretch>
            <a:fillRect/>
          </a:stretch>
        </p:blipFill>
        <p:spPr>
          <a:xfrm>
            <a:off x="457200" y="502920"/>
            <a:ext cx="3474720" cy="4005072"/>
          </a:xfrm>
          <a:prstGeom prst="rect">
            <a:avLst/>
          </a:prstGeom>
        </p:spPr>
      </p:pic>
      <p:sp>
        <p:nvSpPr>
          <p:cNvPr id="5" name="Text 2"/>
          <p:cNvSpPr/>
          <p:nvPr/>
        </p:nvSpPr>
        <p:spPr>
          <a:xfrm>
            <a:off x="4617720" y="1143000"/>
            <a:ext cx="4206240" cy="777240"/>
          </a:xfrm>
          <a:prstGeom prst="rect">
            <a:avLst/>
          </a:prstGeom>
          <a:noFill/>
          <a:ln/>
        </p:spPr>
        <p:txBody>
          <a:bodyPr wrap="square" rtlCol="0" anchor="ctr"/>
          <a:lstStyle/>
          <a:p>
            <a:pPr marL="0" indent="0" algn="l">
              <a:buNone/>
            </a:pPr>
            <a:r>
              <a:rPr lang="en-US" sz="4400" b="1" dirty="0">
                <a:solidFill>
                  <a:srgbClr val="0D3D52"/>
                </a:solidFill>
                <a:latin typeface="Calibri" pitchFamily="34" charset="0"/>
                <a:ea typeface="Calibri" pitchFamily="34" charset="-122"/>
                <a:cs typeface="Calibri" pitchFamily="34" charset="-120"/>
              </a:rPr>
              <a:t>Cybersecurity</a:t>
            </a:r>
            <a:endParaRPr lang="en-US" sz="4400" dirty="0"/>
          </a:p>
        </p:txBody>
      </p:sp>
      <p:sp>
        <p:nvSpPr>
          <p:cNvPr id="6" name="Text 3"/>
          <p:cNvSpPr/>
          <p:nvPr/>
        </p:nvSpPr>
        <p:spPr>
          <a:xfrm>
            <a:off x="4617720" y="1874520"/>
            <a:ext cx="4206240" cy="777240"/>
          </a:xfrm>
          <a:prstGeom prst="rect">
            <a:avLst/>
          </a:prstGeom>
          <a:noFill/>
          <a:ln/>
        </p:spPr>
        <p:txBody>
          <a:bodyPr wrap="square" rtlCol="0" anchor="ctr"/>
          <a:lstStyle/>
          <a:p>
            <a:pPr marL="0" indent="0" algn="l">
              <a:buNone/>
            </a:pPr>
            <a:r>
              <a:rPr lang="en-US" sz="4400" b="1" dirty="0">
                <a:solidFill>
                  <a:srgbClr val="053E51"/>
                </a:solidFill>
                <a:latin typeface="Calibri" pitchFamily="34" charset="0"/>
                <a:ea typeface="Calibri" pitchFamily="34" charset="-122"/>
                <a:cs typeface="Calibri" pitchFamily="34" charset="-120"/>
              </a:rPr>
              <a:t>Fundamentals</a:t>
            </a:r>
            <a:endParaRPr lang="en-US" sz="4400" dirty="0"/>
          </a:p>
        </p:txBody>
      </p:sp>
      <p:sp>
        <p:nvSpPr>
          <p:cNvPr id="7" name="Shape 4"/>
          <p:cNvSpPr/>
          <p:nvPr/>
        </p:nvSpPr>
        <p:spPr>
          <a:xfrm>
            <a:off x="4617720" y="2788920"/>
            <a:ext cx="3657600" cy="54864"/>
          </a:xfrm>
          <a:prstGeom prst="rect">
            <a:avLst/>
          </a:prstGeom>
          <a:solidFill>
            <a:srgbClr val="20ECE3"/>
          </a:solidFill>
          <a:ln w="12700">
            <a:solidFill>
              <a:srgbClr val="20ECE3"/>
            </a:solidFill>
            <a:prstDash val="solid"/>
          </a:ln>
        </p:spPr>
      </p:sp>
      <p:sp>
        <p:nvSpPr>
          <p:cNvPr id="8" name="Text 5"/>
          <p:cNvSpPr/>
          <p:nvPr/>
        </p:nvSpPr>
        <p:spPr>
          <a:xfrm>
            <a:off x="4617720" y="2944368"/>
            <a:ext cx="4206240" cy="777240"/>
          </a:xfrm>
          <a:prstGeom prst="rect">
            <a:avLst/>
          </a:prstGeom>
          <a:noFill/>
          <a:ln/>
        </p:spPr>
        <p:txBody>
          <a:bodyPr wrap="square" rtlCol="0" anchor="ctr"/>
          <a:lstStyle/>
          <a:p>
            <a:pPr marL="0" indent="0" algn="l">
              <a:buNone/>
            </a:pPr>
            <a:r>
              <a:rPr lang="en-US" sz="1400" dirty="0">
                <a:solidFill>
                  <a:srgbClr val="053E51"/>
                </a:solidFill>
                <a:latin typeface="Calibri" pitchFamily="34" charset="0"/>
                <a:ea typeface="Calibri" pitchFamily="34" charset="-122"/>
                <a:cs typeface="Calibri" pitchFamily="34" charset="-120"/>
              </a:rPr>
              <a:t>Chapter 1 Complete</a:t>
            </a:r>
            <a:endParaRPr lang="en-US" sz="1400" dirty="0"/>
          </a:p>
          <a:p>
            <a:pPr marL="0" indent="0" algn="l">
              <a:buNone/>
            </a:pPr>
            <a:r>
              <a:rPr lang="en-US" sz="1400" dirty="0">
                <a:solidFill>
                  <a:srgbClr val="053E51"/>
                </a:solidFill>
                <a:latin typeface="Calibri" pitchFamily="34" charset="0"/>
                <a:ea typeface="Calibri" pitchFamily="34" charset="-122"/>
                <a:cs typeface="Calibri" pitchFamily="34" charset="-120"/>
              </a:rPr>
              <a:t>Thank you for attending!</a:t>
            </a:r>
            <a:endParaRPr lang="en-US" sz="1400" dirty="0"/>
          </a:p>
        </p:txBody>
      </p:sp>
      <p:pic>
        <p:nvPicPr>
          <p:cNvPr id="9" name="Image 1" descr="preencoded.png"/>
          <p:cNvPicPr>
            <a:picLocks noChangeAspect="1"/>
          </p:cNvPicPr>
          <p:nvPr/>
        </p:nvPicPr>
        <p:blipFill>
          <a:blip r:embed="rId4"/>
          <a:stretch>
            <a:fillRect/>
          </a:stretch>
        </p:blipFill>
        <p:spPr>
          <a:xfrm>
            <a:off x="6995160" y="2816352"/>
            <a:ext cx="1417320" cy="1691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10506</Words>
  <Application>Microsoft Office PowerPoint</Application>
  <PresentationFormat>On-screen Show (16:9)</PresentationFormat>
  <Paragraphs>776</Paragraphs>
  <Slides>44</Slides>
  <Notes>44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Calibri</vt:lpstr>
      <vt:lpstr>Inter</vt:lpstr>
      <vt:lpstr>Inter SemiBold</vt:lpstr>
      <vt:lpstr>Noto Sans Symbols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Fundamentals of Cybersecurity - Alangh Academy</dc:title>
  <dc:subject>PptxGenJS Presentation</dc:subject>
  <dc:creator>PptxGenJS</dc:creator>
  <cp:lastModifiedBy>Hashokmi Pheirim</cp:lastModifiedBy>
  <cp:revision>73</cp:revision>
  <dcterms:created xsi:type="dcterms:W3CDTF">2026-03-20T12:39:14Z</dcterms:created>
  <dcterms:modified xsi:type="dcterms:W3CDTF">2026-03-27T11:51:26Z</dcterms:modified>
</cp:coreProperties>
</file>